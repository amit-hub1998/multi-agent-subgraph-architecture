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14 · Common Mistakes" id="{4ea663ca-5188-4960-3f5e-5da2fa0550d3}">
          <p14:sldIdLst>
            <p14:sldId id="256"/>
          </p14:sldIdLst>
        </p14:section>
        <p14:section name="15 · Choose the Pattern" id="{134ad31c-1edc-53bd-c0ae-6e8ba9fa9e5d}">
          <p14:sldIdLst>
            <p14:sldId id="257"/>
          </p14:sldIdLst>
        </p14:section>
        <p14:section name="16 · Design Principles" id="{0d0a824a-2ef6-34d0-6b7c-838273838498}">
          <p14:sldIdLst>
            <p14:sldId id="258"/>
          </p14:sldIdLst>
        </p14:section>
        <p14:section name="16a · LangChain and LangGraph" id="{37fd0cd9-ad04-c81a-6610-94b3e07f8e5f}">
          <p14:sldIdLst>
            <p14:sldId id="259"/>
          </p14:sldIdLst>
        </p14:section>
        <p14:section name="16b · Reading the Graph" id="{f424ed4d-8af5-c59a-5789-660d6c318817}">
          <p14:sldIdLst>
            <p14:sldId id="260"/>
            <p14:sldId id="261"/>
            <p14:sldId id="262"/>
            <p14:sldId id="263"/>
            <p14:sldId id="264"/>
            <p14:sldId id="265"/>
            <p14:sldId id="26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We've seen the patterns. Now the traps. Almost every multi-agent system that fails in practice fails for a design reason, not because the model was weak.
The first three are about definition. No clear goal or "done": agents loop, or stop early, because nobody wrote down when the task is finished. Vague roles: two agents do the same work, or a step falls between them. No rules: no step limits, no retry budget, every agent can call every tool.
The next three are about wiring. Using multi-agent for a simple task adds cost, latency and failure points for no gain. Agents chatting instead of handing off pass whole histories around, and the context bloats exactly like our single agent on slide 2. And with no independent check or human gate, "done" gets reported when it isn't.
Close: Every mistake here is a missing decision: who does what, when is it done, and who checks.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from the need, not the pattern. Read the left column and find the one that sounds like your problem.
If you need to route each request to the right specialist, that's supervisor–worker. If you have a capability you'll reuse inside bigger flows, wrap it as a subgraph. Long task that needs a plan first: planner–executor. A known, fixed sequence: specialist pipeline. Judgement calls where quality matters more than speed: peer and debate. Many independent sub-tasks that end in a sign-off: parallel swarm with a human gate.
The right-hand column matters as much as the pattern: every pattern has a typical way to fail, and it's cheaper to design for it up front.
Close: Pick the simplest pattern that meets the need. Start with one agent; add structure only when it breaks.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eight habits that prevent the mistakes on slide 14. None of them need a framework; you can apply them to the agent you're building this week.
One job per agent. Define "done" as a structured status, not free text, so the next step doesn't have to guess from finish_reason. Give each agent a handful of tools, with least privilege. Pass state, not chat. Bound everything: steps, retries, timeouts, tokens. Keep the maker and the checker separate. Put a human gate in front of anything irreversible. And trace every hand-off so you can see where it went wrong.
The card on the right is the practical version: before you write any code, write one of these for every agent. If you can't fill it in, the agent's job isn't clear yet.
Close: Write the role card first; the code gets much simpler.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libraries do the same basic job: they connect AI steps into a workflow, using models, prompts, tools and structured output. The difference is the shape. LangChain runs the steps in a fixed sequence: A, then B, then C, each once. That's ideal for pipelines whose steps never change order. LangGraph connects the steps as a graph of nodes sharing a state, so the work can loop back, branch, run in parallel, save its progress and pause for a human.
The two core ideas are node and graph. A node is one job: a Python function that reads the state and returns the keys it changed. Edges are the hand-offs. A conditional edge is a router: here the checker's status decides whether we finish or go back to the worker. That's exactly the explicit hand-off from slide 5, replacing the finish_reason if/else.
The code is the whole thing: a state, two nodes, three edges, compile, invoke. recursion_limit is our bounded execution. And a compiled graph can itself be used as a node, which is how subgraphs work.
Close: Both connect the steps: LangChain in a fixed sequence, LangGraph as a graph. Every pattern in this deck is a LangGraph graph.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same graph as the last slide, but we'll read it one part at a time. Boxes are nodes: who does the work. Solid arrows are edges: who goes next. The dashed arrow is a decision. And the purple panel is the state that every node shares.
Close: Six words cover all of LangGraph. Let's take them one by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node is one step of work. In code it's just a function: it reads the state and returns the part it changed. Here the worker does the job and the checker verifies it. A node can be an LLM agent, a tool call, or plain Python.
Close: Think of a person at a desk with one job.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edge is a fixed hand-off. When the worker finishes, the checker always runs next. Nobody decides this at run time; it is wired in when you build the graph.
Close: Passing the file to the next desk, always the same desk.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conditional edge is a decision point. A small rule looks at the state and picks where to go: if the status is pass we finish, if it's fail we go back to the worker. This is the explicit replacement for the finish_reason if/else we started with on slide 1.
Close: An approval rule: approved goes out, rejected goes back for rework.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state is the shared data. Every node reads it and writes only its own keys: the ticket comes in, the worker writes the result, the checker writes the status. Nodes pass state, not long chat histories, which keeps context small.
Close: One shared case folder that travels with the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subgraph is a whole graph used as a single node. Compile this worker–checker loop and drop it into a bigger flow as fix_ticket: triage, then fix_ticket, then report. From outside it's one box; inside it has its own team and its own loop. This is the "subgraph architecture" in our title.
Close: A department: one box from outside, its own team inside.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checkpointer saves the state after every step. If something fails, the run resumes from the last save instead of starting over. It also lets the graph pause, for example before finishing, and wait for a human to approve.
Close: Save points in a game, plus a manager's sign-off.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5641848" y="6382512"/>
            <a:ext cx="914400" cy="201168"/>
          </a:xfrm>
          <a:prstGeom prst="rect">
            <a:avLst/>
          </a:prstGeom>
          <a:extLst>
            <a:ext uri="{C572A759-6A51-4108-AA02-DFA0A04FC94B}">
              <ma14:wrappingTextBoxFlag xmlns:ma14="http://schemas.microsoft.com/office/mac/drawingml/2011/main" val="0"/>
            </a:ext>
          </a:extLst>
        </p:spPr>
        <p:txBody>
          <a:bodyPr/>
          <a:lstStyle>
            <a:lvl1pPr>
              <a:defRPr sz="1000">
                <a:solidFill>
                  <a:srgbClr val="595959"/>
                </a:solidFill>
                <a:latin typeface="Arial"/>
                <a:ea typeface="Arial"/>
                <a:cs typeface="Arial"/>
              </a:defRPr>
            </a:lvl1pPr>
          </a:lstStyle>
          <a:p>
            <a:pPr algn="ctr"/>
            <a:fld id="{F7021451-1387-4CA6-816F-3879F97B5CBC}" type="slidenum">
              <a:rPr b="0" lang="en-US"/>
              <a:t>1000</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5641848" y="6382512"/>
            <a:ext cx="914400" cy="201168"/>
          </a:xfrm>
          <a:prstGeom prst="rect">
            <a:avLst/>
          </a:prstGeom>
          <a:extLst>
            <a:ext uri="{C572A759-6A51-4108-AA02-DFA0A04FC94B}">
              <ma14:wrappingTextBoxFlag xmlns:ma14="http://schemas.microsoft.com/office/mac/drawingml/2011/main" val="0"/>
            </a:ext>
          </a:extLst>
        </p:spPr>
        <p:txBody>
          <a:bodyPr/>
          <a:lstStyle>
            <a:lvl1pPr>
              <a:defRPr sz="1000">
                <a:solidFill>
                  <a:srgbClr val="595959"/>
                </a:solidFill>
                <a:latin typeface="Arial"/>
                <a:ea typeface="Arial"/>
                <a:cs typeface="Arial"/>
              </a:defRPr>
            </a:lvl1pPr>
          </a:lstStyle>
          <a:p>
            <a:pPr algn="ct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slideLayout" Target="../slideLayouts/slideLayout1.xml"/><Relationship Id="rId8"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 Target="slide9.xml"/><Relationship Id="rId4" Type="http://schemas.openxmlformats.org/officeDocument/2006/relationships/slide" Target="slide6.xml"/><Relationship Id="rId5" Type="http://schemas.openxmlformats.org/officeDocument/2006/relationships/slide" Target="slide7.xml"/><Relationship Id="rId6" Type="http://schemas.openxmlformats.org/officeDocument/2006/relationships/slide" Target="slide8.xml"/><Relationship Id="rId7" Type="http://schemas.openxmlformats.org/officeDocument/2006/relationships/slide" Target="slide10.xml"/><Relationship Id="rId8" Type="http://schemas.openxmlformats.org/officeDocument/2006/relationships/slide" Target="slide11.xml"/><Relationship Id="rId9" Type="http://schemas.openxmlformats.org/officeDocument/2006/relationships/slideLayout" Target="../slideLayouts/slideLayout1.xml"/><Relationship Id="rId10"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 Target="slide5.xml"/><Relationship Id="rId2" Type="http://schemas.openxmlformats.org/officeDocument/2006/relationships/slide" Target="slide6.xml"/><Relationship Id="rId3" Type="http://schemas.openxmlformats.org/officeDocument/2006/relationships/slide" Target="slide7.xml"/><Relationship Id="rId4" Type="http://schemas.openxmlformats.org/officeDocument/2006/relationships/slide" Target="slide8.xml"/><Relationship Id="rId5" Type="http://schemas.openxmlformats.org/officeDocument/2006/relationships/slide" Target="slide9.xml"/><Relationship Id="rId6" Type="http://schemas.openxmlformats.org/officeDocument/2006/relationships/slide" Target="slide10.xml"/><Relationship Id="rId7" Type="http://schemas.openxmlformats.org/officeDocument/2006/relationships/slide" Target="slide11.xml"/><Relationship Id="rId8" Type="http://schemas.openxmlformats.org/officeDocument/2006/relationships/slideLayout" Target="../slideLayouts/slideLayout1.xml"/><Relationship Id="rId9"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 Target="slide5.xml"/><Relationship Id="rId2" Type="http://schemas.openxmlformats.org/officeDocument/2006/relationships/slide" Target="slide6.xml"/><Relationship Id="rId3" Type="http://schemas.openxmlformats.org/officeDocument/2006/relationships/slide" Target="slide7.xml"/><Relationship Id="rId4" Type="http://schemas.openxmlformats.org/officeDocument/2006/relationships/slide" Target="slide8.xml"/><Relationship Id="rId5" Type="http://schemas.openxmlformats.org/officeDocument/2006/relationships/slide" Target="slide9.xml"/><Relationship Id="rId6" Type="http://schemas.openxmlformats.org/officeDocument/2006/relationships/slide" Target="slide10.xml"/><Relationship Id="rId7" Type="http://schemas.openxmlformats.org/officeDocument/2006/relationships/slide" Target="slide11.xml"/><Relationship Id="rId8" Type="http://schemas.openxmlformats.org/officeDocument/2006/relationships/slideLayout" Target="../slideLayouts/slideLayout1.xml"/><Relationship Id="rId9"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 Target="slide5.xml"/><Relationship Id="rId2" Type="http://schemas.openxmlformats.org/officeDocument/2006/relationships/slide" Target="slide6.xml"/><Relationship Id="rId3" Type="http://schemas.openxmlformats.org/officeDocument/2006/relationships/slide" Target="slide7.xml"/><Relationship Id="rId4" Type="http://schemas.openxmlformats.org/officeDocument/2006/relationships/slide" Target="slide8.xml"/><Relationship Id="rId5" Type="http://schemas.openxmlformats.org/officeDocument/2006/relationships/slide" Target="slide9.xml"/><Relationship Id="rId6" Type="http://schemas.openxmlformats.org/officeDocument/2006/relationships/slide" Target="slide10.xml"/><Relationship Id="rId7" Type="http://schemas.openxmlformats.org/officeDocument/2006/relationships/slide" Target="slide11.xml"/><Relationship Id="rId8" Type="http://schemas.openxmlformats.org/officeDocument/2006/relationships/slideLayout" Target="../slideLayouts/slideLayout1.xml"/><Relationship Id="rId9"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 Target="slide5.xml"/><Relationship Id="rId2" Type="http://schemas.openxmlformats.org/officeDocument/2006/relationships/slide" Target="slide6.xml"/><Relationship Id="rId3" Type="http://schemas.openxmlformats.org/officeDocument/2006/relationships/slide" Target="slide7.xml"/><Relationship Id="rId4" Type="http://schemas.openxmlformats.org/officeDocument/2006/relationships/slide" Target="slide8.xml"/><Relationship Id="rId5" Type="http://schemas.openxmlformats.org/officeDocument/2006/relationships/slide" Target="slide9.xml"/><Relationship Id="rId6" Type="http://schemas.openxmlformats.org/officeDocument/2006/relationships/slide" Target="slide10.xml"/><Relationship Id="rId7" Type="http://schemas.openxmlformats.org/officeDocument/2006/relationships/slide" Target="slide11.xml"/><Relationship Id="rId8" Type="http://schemas.openxmlformats.org/officeDocument/2006/relationships/slideLayout" Target="../slideLayouts/slideLayout1.xml"/><Relationship Id="rId9"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 Target="slide5.xml"/><Relationship Id="rId2" Type="http://schemas.openxmlformats.org/officeDocument/2006/relationships/slide" Target="slide6.xml"/><Relationship Id="rId3" Type="http://schemas.openxmlformats.org/officeDocument/2006/relationships/slide" Target="slide7.xml"/><Relationship Id="rId4" Type="http://schemas.openxmlformats.org/officeDocument/2006/relationships/slide" Target="slide8.xml"/><Relationship Id="rId5" Type="http://schemas.openxmlformats.org/officeDocument/2006/relationships/slide" Target="slide9.xml"/><Relationship Id="rId6" Type="http://schemas.openxmlformats.org/officeDocument/2006/relationships/slide" Target="slide10.xml"/><Relationship Id="rId7" Type="http://schemas.openxmlformats.org/officeDocument/2006/relationships/slide" Target="slide11.xml"/><Relationship Id="rId8" Type="http://schemas.openxmlformats.org/officeDocument/2006/relationships/slideLayout" Target="../slideLayouts/slideLayout1.xml"/><Relationship Id="rId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 Target="slide5.xml"/><Relationship Id="rId2" Type="http://schemas.openxmlformats.org/officeDocument/2006/relationships/slide" Target="slide6.xml"/><Relationship Id="rId3" Type="http://schemas.openxmlformats.org/officeDocument/2006/relationships/slide" Target="slide7.xml"/><Relationship Id="rId4" Type="http://schemas.openxmlformats.org/officeDocument/2006/relationships/slide" Target="slide8.xml"/><Relationship Id="rId5" Type="http://schemas.openxmlformats.org/officeDocument/2006/relationships/slide" Target="slide9.xml"/><Relationship Id="rId6" Type="http://schemas.openxmlformats.org/officeDocument/2006/relationships/slide" Target="slide10.xml"/><Relationship Id="rId7" Type="http://schemas.openxmlformats.org/officeDocument/2006/relationships/slide" Target="slide11.xml"/><Relationship Id="rId8" Type="http://schemas.openxmlformats.org/officeDocument/2006/relationships/slideLayout" Target="../slideLayouts/slideLayout1.xml"/><Relationship Id="rId9"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1.png"/><Relationship Id="rId3" Type="http://schemas.openxmlformats.org/officeDocument/2006/relationships/slide" Target="slide5.xml"/><Relationship Id="rId4" Type="http://schemas.openxmlformats.org/officeDocument/2006/relationships/slide" Target="slide6.xml"/><Relationship Id="rId5" Type="http://schemas.openxmlformats.org/officeDocument/2006/relationships/slide" Target="slide7.xml"/><Relationship Id="rId6" Type="http://schemas.openxmlformats.org/officeDocument/2006/relationships/slide" Target="slide8.xml"/><Relationship Id="rId7" Type="http://schemas.openxmlformats.org/officeDocument/2006/relationships/slide" Target="slide9.xml"/><Relationship Id="rId8" Type="http://schemas.openxmlformats.org/officeDocument/2006/relationships/slide" Target="slide10.xml"/><Relationship Id="rId9" Type="http://schemas.openxmlformats.org/officeDocument/2006/relationships/slide" Target="slide11.xml"/><Relationship Id="rId10" Type="http://schemas.openxmlformats.org/officeDocument/2006/relationships/slideLayout" Target="../slideLayouts/slideLayout1.xml"/><Relationship Id="rId11"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itle"/>
          <p:cNvSpPr txBox="1"/>
          <p:nvPr/>
        </p:nvSpPr>
        <p:spPr>
          <a:xfrm>
            <a:off x="411480" y="201168"/>
            <a:ext cx="11338560" cy="530352"/>
          </a:xfrm>
          <a:prstGeom prst="rect">
            <a:avLst/>
          </a:prstGeom>
          <a:noFill/>
          <a:ln/>
        </p:spPr>
        <p:txBody>
          <a:bodyPr wrap="square" lIns="0" tIns="0" rIns="0" bIns="0" rtlCol="0" anchor="b"/>
          <a:lstStyle/>
          <a:p>
            <a:pPr algn="l" indent="0" marL="0">
              <a:buNone/>
            </a:pPr>
            <a:r>
              <a:rPr lang="en-US" sz="2600" b="1" dirty="0">
                <a:solidFill>
                  <a:srgbClr val="1A1A1A"/>
                </a:solidFill>
                <a:latin typeface="Calibri" pitchFamily="34" charset="0"/>
                <a:ea typeface="Calibri" pitchFamily="34" charset="-122"/>
                <a:cs typeface="Calibri" pitchFamily="34" charset="-120"/>
              </a:rPr>
              <a:t>Common Mistakes in Multi-Agent Design</a:t>
            </a:r>
            <a:endParaRPr lang="en-US" sz="2600" dirty="0"/>
          </a:p>
        </p:txBody>
      </p:sp>
      <p:sp>
        <p:nvSpPr>
          <p:cNvPr id="3" name="!!rule"/>
          <p:cNvSpPr/>
          <p:nvPr/>
        </p:nvSpPr>
        <p:spPr>
          <a:xfrm>
            <a:off x="411480" y="804672"/>
            <a:ext cx="11365992" cy="914"/>
          </a:xfrm>
          <a:prstGeom prst="line">
            <a:avLst/>
          </a:prstGeom>
          <a:noFill/>
          <a:ln w="9525">
            <a:solidFill>
              <a:srgbClr val="7F7F7F"/>
            </a:solidFill>
            <a:prstDash val="solid"/>
          </a:ln>
        </p:spPr>
        <p:txBody>
          <a:bodyPr/>
          <a:p/>
        </p:txBody>
      </p:sp>
      <p:sp>
        <p:nvSpPr>
          <p:cNvPr id="4" name="!!lead"/>
          <p:cNvSpPr txBox="1"/>
          <p:nvPr/>
        </p:nvSpPr>
        <p:spPr>
          <a:xfrm>
            <a:off x="411480" y="886968"/>
            <a:ext cx="11338560" cy="438912"/>
          </a:xfrm>
          <a:prstGeom prst="rect">
            <a:avLst/>
          </a:prstGeom>
          <a:noFill/>
          <a:ln/>
        </p:spPr>
        <p:txBody>
          <a:bodyPr wrap="square" lIns="0" tIns="0" rIns="0" bIns="0" rtlCol="0" anchor="t"/>
          <a:lstStyle/>
          <a:p>
            <a:pPr indent="0" marL="0">
              <a:buNone/>
            </a:pPr>
            <a:r>
              <a:rPr lang="en-US" sz="1400" dirty="0">
                <a:solidFill>
                  <a:srgbClr val="404040"/>
                </a:solidFill>
                <a:latin typeface="Arial" pitchFamily="34" charset="0"/>
                <a:ea typeface="Arial" pitchFamily="34" charset="-122"/>
                <a:cs typeface="Arial" pitchFamily="34" charset="-120"/>
              </a:rPr>
              <a:t>Most multi-agent failures are design mistakes, not model mistakes. Each card shows the symptom you will see and the fix that prevents it.</a:t>
            </a:r>
            <a:endParaRPr lang="en-US" sz="1400" dirty="0"/>
          </a:p>
        </p:txBody>
      </p:sp>
      <p:sp>
        <p:nvSpPr>
          <p:cNvPr id="5" name="!!card1"/>
          <p:cNvSpPr/>
          <p:nvPr/>
        </p:nvSpPr>
        <p:spPr>
          <a:xfrm>
            <a:off x="502920" y="1371600"/>
            <a:ext cx="3611880" cy="2176272"/>
          </a:xfrm>
          <a:prstGeom prst="roundRect">
            <a:avLst>
              <a:gd name="adj" fmla="val 4202"/>
            </a:avLst>
          </a:prstGeom>
          <a:solidFill>
            <a:srgbClr val="FFFFFF"/>
          </a:solidFill>
          <a:ln w="12700">
            <a:solidFill>
              <a:srgbClr val="D3D1C7"/>
            </a:solidFill>
            <a:prstDash val="solid"/>
          </a:ln>
        </p:spPr>
        <p:txBody>
          <a:bodyPr wrap="square" lIns="50800" tIns="50800" rIns="50800" bIns="50800" rtlCol="0" anchor="ctr"/>
          <a:lstStyle/>
          <a:p>
            <a:pPr algn="ctr" indent="0" marL="0">
              <a:buNone/>
            </a:pPr>
            <a:endParaRPr lang="en-US" sz="1200" dirty="0"/>
          </a:p>
        </p:txBody>
      </p:sp>
      <p:sp>
        <p:nvSpPr>
          <p:cNvPr id="6" name="!!dot1"/>
          <p:cNvSpPr/>
          <p:nvPr/>
        </p:nvSpPr>
        <p:spPr>
          <a:xfrm>
            <a:off x="704088" y="1572768"/>
            <a:ext cx="457200" cy="457200"/>
          </a:xfrm>
          <a:prstGeom prst="ellipse">
            <a:avLst/>
          </a:prstGeom>
          <a:solidFill>
            <a:srgbClr val="FAECE7"/>
          </a:solidFill>
          <a:ln w="9525">
            <a:solidFill>
              <a:srgbClr val="993C1D"/>
            </a:solidFill>
            <a:prstDash val="solid"/>
          </a:ln>
        </p:spPr>
        <p:txBody>
          <a:bodyPr wrap="square" lIns="50800" tIns="50800" rIns="50800" bIns="50800" rtlCol="0" anchor="ctr"/>
          <a:lstStyle/>
          <a:p>
            <a:pPr algn="ctr" indent="0" marL="0">
              <a:buNone/>
            </a:pPr>
            <a:endParaRPr lang="en-US" sz="1200" dirty="0"/>
          </a:p>
        </p:txBody>
      </p:sp>
      <p:pic>
        <p:nvPicPr>
          <p:cNvPr id="7" name="!!ic1" descr="/tmp/deck-icons/TbTarget_993C1D.png">    </p:cNvPr>
          <p:cNvPicPr>
            <a:picLocks noChangeAspect="1"/>
          </p:cNvPicPr>
          <p:nvPr/>
        </p:nvPicPr>
        <p:blipFill>
          <a:blip r:embed="rId1"/>
          <a:stretch>
            <a:fillRect/>
          </a:stretch>
        </p:blipFill>
        <p:spPr>
          <a:xfrm>
            <a:off x="795528" y="1664208"/>
            <a:ext cx="274320" cy="274320"/>
          </a:xfrm>
          <a:prstGeom prst="rect">
            <a:avLst/>
          </a:prstGeom>
        </p:spPr>
      </p:pic>
      <p:sp>
        <p:nvSpPr>
          <p:cNvPr id="8" name="!!mt1"/>
          <p:cNvSpPr txBox="1"/>
          <p:nvPr/>
        </p:nvSpPr>
        <p:spPr>
          <a:xfrm>
            <a:off x="1289304" y="1554480"/>
            <a:ext cx="2697480" cy="502920"/>
          </a:xfrm>
          <a:prstGeom prst="rect">
            <a:avLst/>
          </a:prstGeom>
          <a:noFill/>
          <a:ln/>
        </p:spPr>
        <p:txBody>
          <a:bodyPr wrap="square" lIns="0" tIns="0" rIns="0" bIns="0" rtlCol="0" anchor="ctr"/>
          <a:lstStyle/>
          <a:p>
            <a:pPr algn="l" indent="0" marL="0">
              <a:buNone/>
            </a:pPr>
            <a:r>
              <a:rPr lang="en-US" sz="1600" b="1" dirty="0">
                <a:solidFill>
                  <a:srgbClr val="712B13"/>
                </a:solidFill>
                <a:latin typeface="Calibri" pitchFamily="34" charset="0"/>
                <a:ea typeface="Calibri" pitchFamily="34" charset="-122"/>
                <a:cs typeface="Calibri" pitchFamily="34" charset="-120"/>
              </a:rPr>
              <a:t>No clear goal or “done”</a:t>
            </a:r>
            <a:endParaRPr lang="en-US" sz="1600" dirty="0"/>
          </a:p>
        </p:txBody>
      </p:sp>
      <p:sp>
        <p:nvSpPr>
          <p:cNvPr id="9" name="!!mw1"/>
          <p:cNvSpPr txBox="1"/>
          <p:nvPr/>
        </p:nvSpPr>
        <p:spPr>
          <a:xfrm>
            <a:off x="704088" y="2176272"/>
            <a:ext cx="3209544" cy="640080"/>
          </a:xfrm>
          <a:prstGeom prst="rect">
            <a:avLst/>
          </a:prstGeom>
          <a:noFill/>
          <a:ln/>
        </p:spPr>
        <p:txBody>
          <a:bodyPr wrap="square" lIns="0" tIns="0" rIns="0" bIns="0" rtlCol="0" anchor="t"/>
          <a:lstStyle/>
          <a:p>
            <a:pPr algn="l" indent="0" marL="0">
              <a:buNone/>
            </a:pPr>
            <a:r>
              <a:rPr lang="en-US" sz="1300" dirty="0">
                <a:solidFill>
                  <a:srgbClr val="2C2C2A"/>
                </a:solidFill>
                <a:latin typeface="Calibri" pitchFamily="34" charset="0"/>
                <a:ea typeface="Calibri" pitchFamily="34" charset="-122"/>
                <a:cs typeface="Calibri" pitchFamily="34" charset="-120"/>
              </a:rPr>
              <a:t>Agents loop or stop early; nobody knows when the task is finished.</a:t>
            </a:r>
            <a:endParaRPr lang="en-US" sz="1300" dirty="0"/>
          </a:p>
        </p:txBody>
      </p:sp>
      <p:sp>
        <p:nvSpPr>
          <p:cNvPr id="10" name="!!fix1"/>
          <p:cNvSpPr/>
          <p:nvPr/>
        </p:nvSpPr>
        <p:spPr>
          <a:xfrm>
            <a:off x="704088" y="2816352"/>
            <a:ext cx="3209544" cy="548640"/>
          </a:xfrm>
          <a:prstGeom prst="roundRect">
            <a:avLst>
              <a:gd name="adj" fmla="val 10000"/>
            </a:avLst>
          </a:prstGeom>
          <a:solidFill>
            <a:srgbClr val="E1F5EE"/>
          </a:solidFill>
          <a:ln w="6350">
            <a:solidFill>
              <a:srgbClr val="0F6E56"/>
            </a:solidFill>
            <a:prstDash val="solid"/>
          </a:ln>
        </p:spPr>
        <p:txBody>
          <a:bodyPr wrap="square" lIns="101600" tIns="101600" rIns="101600" bIns="101600" rtlCol="0" anchor="ctr"/>
          <a:lstStyle/>
          <a:p>
            <a:pPr algn="l" indent="0" marL="0">
              <a:buNone/>
            </a:pPr>
            <a:r>
              <a:rPr lang="en-US" sz="1250" b="1" dirty="0">
                <a:solidFill>
                  <a:srgbClr val="085041"/>
                </a:solidFill>
                <a:latin typeface="Calibri" pitchFamily="34" charset="0"/>
                <a:ea typeface="Calibri" pitchFamily="34" charset="-122"/>
                <a:cs typeface="Calibri" pitchFamily="34" charset="-120"/>
              </a:rPr>
              <a:t>Fix  </a:t>
            </a:r>
            <a:pPr algn="l" indent="0" marL="0">
              <a:buNone/>
            </a:pPr>
            <a:r>
              <a:rPr lang="en-US" sz="1250" dirty="0">
                <a:solidFill>
                  <a:srgbClr val="085041"/>
                </a:solidFill>
                <a:latin typeface="Calibri" pitchFamily="34" charset="0"/>
                <a:ea typeface="Calibri" pitchFamily="34" charset="-122"/>
                <a:cs typeface="Calibri" pitchFamily="34" charset="-120"/>
              </a:rPr>
              <a:t>Write success criteria and an exit condition for every agent.</a:t>
            </a:r>
            <a:endParaRPr lang="en-US" sz="1250" dirty="0"/>
          </a:p>
        </p:txBody>
      </p:sp>
      <p:sp>
        <p:nvSpPr>
          <p:cNvPr id="11" name="!!card2"/>
          <p:cNvSpPr/>
          <p:nvPr/>
        </p:nvSpPr>
        <p:spPr>
          <a:xfrm>
            <a:off x="4279392" y="1371600"/>
            <a:ext cx="3611880" cy="2176272"/>
          </a:xfrm>
          <a:prstGeom prst="roundRect">
            <a:avLst>
              <a:gd name="adj" fmla="val 4202"/>
            </a:avLst>
          </a:prstGeom>
          <a:solidFill>
            <a:srgbClr val="FFFFFF"/>
          </a:solidFill>
          <a:ln w="12700">
            <a:solidFill>
              <a:srgbClr val="D3D1C7"/>
            </a:solidFill>
            <a:prstDash val="solid"/>
          </a:ln>
        </p:spPr>
        <p:txBody>
          <a:bodyPr wrap="square" lIns="50800" tIns="50800" rIns="50800" bIns="50800" rtlCol="0" anchor="ctr"/>
          <a:lstStyle/>
          <a:p>
            <a:pPr algn="ctr" indent="0" marL="0">
              <a:buNone/>
            </a:pPr>
            <a:endParaRPr lang="en-US" sz="1200" dirty="0"/>
          </a:p>
        </p:txBody>
      </p:sp>
      <p:sp>
        <p:nvSpPr>
          <p:cNvPr id="12" name="!!dot2"/>
          <p:cNvSpPr/>
          <p:nvPr/>
        </p:nvSpPr>
        <p:spPr>
          <a:xfrm>
            <a:off x="4480560" y="1572768"/>
            <a:ext cx="457200" cy="457200"/>
          </a:xfrm>
          <a:prstGeom prst="ellipse">
            <a:avLst/>
          </a:prstGeom>
          <a:solidFill>
            <a:srgbClr val="FAECE7"/>
          </a:solidFill>
          <a:ln w="9525">
            <a:solidFill>
              <a:srgbClr val="993C1D"/>
            </a:solidFill>
            <a:prstDash val="solid"/>
          </a:ln>
        </p:spPr>
        <p:txBody>
          <a:bodyPr wrap="square" lIns="50800" tIns="50800" rIns="50800" bIns="50800" rtlCol="0" anchor="ctr"/>
          <a:lstStyle/>
          <a:p>
            <a:pPr algn="ctr" indent="0" marL="0">
              <a:buNone/>
            </a:pPr>
            <a:endParaRPr lang="en-US" sz="1200" dirty="0"/>
          </a:p>
        </p:txBody>
      </p:sp>
      <p:pic>
        <p:nvPicPr>
          <p:cNvPr id="13" name="!!ic2" descr="/tmp/deck-icons/TbUsers_993C1D.png">    </p:cNvPr>
          <p:cNvPicPr>
            <a:picLocks noChangeAspect="1"/>
          </p:cNvPicPr>
          <p:nvPr/>
        </p:nvPicPr>
        <p:blipFill>
          <a:blip r:embed="rId2"/>
          <a:stretch>
            <a:fillRect/>
          </a:stretch>
        </p:blipFill>
        <p:spPr>
          <a:xfrm>
            <a:off x="4572000" y="1664208"/>
            <a:ext cx="274320" cy="274320"/>
          </a:xfrm>
          <a:prstGeom prst="rect">
            <a:avLst/>
          </a:prstGeom>
        </p:spPr>
      </p:pic>
      <p:sp>
        <p:nvSpPr>
          <p:cNvPr id="14" name="!!mt2"/>
          <p:cNvSpPr txBox="1"/>
          <p:nvPr/>
        </p:nvSpPr>
        <p:spPr>
          <a:xfrm>
            <a:off x="5065776" y="1554480"/>
            <a:ext cx="2697480" cy="502920"/>
          </a:xfrm>
          <a:prstGeom prst="rect">
            <a:avLst/>
          </a:prstGeom>
          <a:noFill/>
          <a:ln/>
        </p:spPr>
        <p:txBody>
          <a:bodyPr wrap="square" lIns="0" tIns="0" rIns="0" bIns="0" rtlCol="0" anchor="ctr"/>
          <a:lstStyle/>
          <a:p>
            <a:pPr algn="l" indent="0" marL="0">
              <a:buNone/>
            </a:pPr>
            <a:r>
              <a:rPr lang="en-US" sz="1600" b="1" dirty="0">
                <a:solidFill>
                  <a:srgbClr val="712B13"/>
                </a:solidFill>
                <a:latin typeface="Calibri" pitchFamily="34" charset="0"/>
                <a:ea typeface="Calibri" pitchFamily="34" charset="-122"/>
                <a:cs typeface="Calibri" pitchFamily="34" charset="-120"/>
              </a:rPr>
              <a:t>Vague, overlapping roles</a:t>
            </a:r>
            <a:endParaRPr lang="en-US" sz="1600" dirty="0"/>
          </a:p>
        </p:txBody>
      </p:sp>
      <p:sp>
        <p:nvSpPr>
          <p:cNvPr id="15" name="!!mw2"/>
          <p:cNvSpPr txBox="1"/>
          <p:nvPr/>
        </p:nvSpPr>
        <p:spPr>
          <a:xfrm>
            <a:off x="4480560" y="2176272"/>
            <a:ext cx="3209544" cy="640080"/>
          </a:xfrm>
          <a:prstGeom prst="rect">
            <a:avLst/>
          </a:prstGeom>
          <a:noFill/>
          <a:ln/>
        </p:spPr>
        <p:txBody>
          <a:bodyPr wrap="square" lIns="0" tIns="0" rIns="0" bIns="0" rtlCol="0" anchor="t"/>
          <a:lstStyle/>
          <a:p>
            <a:pPr algn="l" indent="0" marL="0">
              <a:buNone/>
            </a:pPr>
            <a:r>
              <a:rPr lang="en-US" sz="1300" dirty="0">
                <a:solidFill>
                  <a:srgbClr val="2C2C2A"/>
                </a:solidFill>
                <a:latin typeface="Calibri" pitchFamily="34" charset="0"/>
                <a:ea typeface="Calibri" pitchFamily="34" charset="-122"/>
                <a:cs typeface="Calibri" pitchFamily="34" charset="-120"/>
              </a:rPr>
              <a:t>Two agents do the same work, or a step falls between them.</a:t>
            </a:r>
            <a:endParaRPr lang="en-US" sz="1300" dirty="0"/>
          </a:p>
        </p:txBody>
      </p:sp>
      <p:sp>
        <p:nvSpPr>
          <p:cNvPr id="16" name="!!fix2"/>
          <p:cNvSpPr/>
          <p:nvPr/>
        </p:nvSpPr>
        <p:spPr>
          <a:xfrm>
            <a:off x="4480560" y="2816352"/>
            <a:ext cx="3209544" cy="548640"/>
          </a:xfrm>
          <a:prstGeom prst="roundRect">
            <a:avLst>
              <a:gd name="adj" fmla="val 10000"/>
            </a:avLst>
          </a:prstGeom>
          <a:solidFill>
            <a:srgbClr val="E1F5EE"/>
          </a:solidFill>
          <a:ln w="6350">
            <a:solidFill>
              <a:srgbClr val="0F6E56"/>
            </a:solidFill>
            <a:prstDash val="solid"/>
          </a:ln>
        </p:spPr>
        <p:txBody>
          <a:bodyPr wrap="square" lIns="101600" tIns="101600" rIns="101600" bIns="101600" rtlCol="0" anchor="ctr"/>
          <a:lstStyle/>
          <a:p>
            <a:pPr algn="l" indent="0" marL="0">
              <a:buNone/>
            </a:pPr>
            <a:r>
              <a:rPr lang="en-US" sz="1250" b="1" dirty="0">
                <a:solidFill>
                  <a:srgbClr val="085041"/>
                </a:solidFill>
                <a:latin typeface="Calibri" pitchFamily="34" charset="0"/>
                <a:ea typeface="Calibri" pitchFamily="34" charset="-122"/>
                <a:cs typeface="Calibri" pitchFamily="34" charset="-120"/>
              </a:rPr>
              <a:t>Fix  </a:t>
            </a:r>
            <a:pPr algn="l" indent="0" marL="0">
              <a:buNone/>
            </a:pPr>
            <a:r>
              <a:rPr lang="en-US" sz="1250" dirty="0">
                <a:solidFill>
                  <a:srgbClr val="085041"/>
                </a:solidFill>
                <a:latin typeface="Calibri" pitchFamily="34" charset="0"/>
                <a:ea typeface="Calibri" pitchFamily="34" charset="-122"/>
                <a:cs typeface="Calibri" pitchFamily="34" charset="-120"/>
              </a:rPr>
              <a:t>One job per agent, with written inputs and outputs.</a:t>
            </a:r>
            <a:endParaRPr lang="en-US" sz="1250" dirty="0"/>
          </a:p>
        </p:txBody>
      </p:sp>
      <p:sp>
        <p:nvSpPr>
          <p:cNvPr id="17" name="!!card3"/>
          <p:cNvSpPr/>
          <p:nvPr/>
        </p:nvSpPr>
        <p:spPr>
          <a:xfrm>
            <a:off x="8055864" y="1371600"/>
            <a:ext cx="3611880" cy="2176272"/>
          </a:xfrm>
          <a:prstGeom prst="roundRect">
            <a:avLst>
              <a:gd name="adj" fmla="val 4202"/>
            </a:avLst>
          </a:prstGeom>
          <a:solidFill>
            <a:srgbClr val="FFFFFF"/>
          </a:solidFill>
          <a:ln w="12700">
            <a:solidFill>
              <a:srgbClr val="D3D1C7"/>
            </a:solidFill>
            <a:prstDash val="solid"/>
          </a:ln>
        </p:spPr>
        <p:txBody>
          <a:bodyPr wrap="square" lIns="50800" tIns="50800" rIns="50800" bIns="50800" rtlCol="0" anchor="ctr"/>
          <a:lstStyle/>
          <a:p>
            <a:pPr algn="ctr" indent="0" marL="0">
              <a:buNone/>
            </a:pPr>
            <a:endParaRPr lang="en-US" sz="1200" dirty="0"/>
          </a:p>
        </p:txBody>
      </p:sp>
      <p:sp>
        <p:nvSpPr>
          <p:cNvPr id="18" name="!!dot3"/>
          <p:cNvSpPr/>
          <p:nvPr/>
        </p:nvSpPr>
        <p:spPr>
          <a:xfrm>
            <a:off x="8257032" y="1572768"/>
            <a:ext cx="457200" cy="457200"/>
          </a:xfrm>
          <a:prstGeom prst="ellipse">
            <a:avLst/>
          </a:prstGeom>
          <a:solidFill>
            <a:srgbClr val="FAECE7"/>
          </a:solidFill>
          <a:ln w="9525">
            <a:solidFill>
              <a:srgbClr val="993C1D"/>
            </a:solidFill>
            <a:prstDash val="solid"/>
          </a:ln>
        </p:spPr>
        <p:txBody>
          <a:bodyPr wrap="square" lIns="50800" tIns="50800" rIns="50800" bIns="50800" rtlCol="0" anchor="ctr"/>
          <a:lstStyle/>
          <a:p>
            <a:pPr algn="ctr" indent="0" marL="0">
              <a:buNone/>
            </a:pPr>
            <a:endParaRPr lang="en-US" sz="1200" dirty="0"/>
          </a:p>
        </p:txBody>
      </p:sp>
      <p:pic>
        <p:nvPicPr>
          <p:cNvPr id="19" name="!!ic3" descr="/tmp/deck-icons/TbInfinity_993C1D.png">    </p:cNvPr>
          <p:cNvPicPr>
            <a:picLocks noChangeAspect="1"/>
          </p:cNvPicPr>
          <p:nvPr/>
        </p:nvPicPr>
        <p:blipFill>
          <a:blip r:embed="rId3"/>
          <a:stretch>
            <a:fillRect/>
          </a:stretch>
        </p:blipFill>
        <p:spPr>
          <a:xfrm>
            <a:off x="8348472" y="1664208"/>
            <a:ext cx="274320" cy="274320"/>
          </a:xfrm>
          <a:prstGeom prst="rect">
            <a:avLst/>
          </a:prstGeom>
        </p:spPr>
      </p:pic>
      <p:sp>
        <p:nvSpPr>
          <p:cNvPr id="20" name="!!mt3"/>
          <p:cNvSpPr txBox="1"/>
          <p:nvPr/>
        </p:nvSpPr>
        <p:spPr>
          <a:xfrm>
            <a:off x="8842248" y="1554480"/>
            <a:ext cx="2697480" cy="502920"/>
          </a:xfrm>
          <a:prstGeom prst="rect">
            <a:avLst/>
          </a:prstGeom>
          <a:noFill/>
          <a:ln/>
        </p:spPr>
        <p:txBody>
          <a:bodyPr wrap="square" lIns="0" tIns="0" rIns="0" bIns="0" rtlCol="0" anchor="ctr"/>
          <a:lstStyle/>
          <a:p>
            <a:pPr algn="l" indent="0" marL="0">
              <a:buNone/>
            </a:pPr>
            <a:r>
              <a:rPr lang="en-US" sz="1600" b="1" dirty="0">
                <a:solidFill>
                  <a:srgbClr val="712B13"/>
                </a:solidFill>
                <a:latin typeface="Calibri" pitchFamily="34" charset="0"/>
                <a:ea typeface="Calibri" pitchFamily="34" charset="-122"/>
                <a:cs typeface="Calibri" pitchFamily="34" charset="-120"/>
              </a:rPr>
              <a:t>No rules or limits</a:t>
            </a:r>
            <a:endParaRPr lang="en-US" sz="1600" dirty="0"/>
          </a:p>
        </p:txBody>
      </p:sp>
      <p:sp>
        <p:nvSpPr>
          <p:cNvPr id="21" name="!!mw3"/>
          <p:cNvSpPr txBox="1"/>
          <p:nvPr/>
        </p:nvSpPr>
        <p:spPr>
          <a:xfrm>
            <a:off x="8257032" y="2176272"/>
            <a:ext cx="3209544" cy="640080"/>
          </a:xfrm>
          <a:prstGeom prst="rect">
            <a:avLst/>
          </a:prstGeom>
          <a:noFill/>
          <a:ln/>
        </p:spPr>
        <p:txBody>
          <a:bodyPr wrap="square" lIns="0" tIns="0" rIns="0" bIns="0" rtlCol="0" anchor="t"/>
          <a:lstStyle/>
          <a:p>
            <a:pPr algn="l" indent="0" marL="0">
              <a:buNone/>
            </a:pPr>
            <a:r>
              <a:rPr lang="en-US" sz="1300" dirty="0">
                <a:solidFill>
                  <a:srgbClr val="2C2C2A"/>
                </a:solidFill>
                <a:latin typeface="Calibri" pitchFamily="34" charset="0"/>
                <a:ea typeface="Calibri" pitchFamily="34" charset="-122"/>
                <a:cs typeface="Calibri" pitchFamily="34" charset="-120"/>
              </a:rPr>
              <a:t>Endless retries, runaway cost, any agent can call any tool.</a:t>
            </a:r>
            <a:endParaRPr lang="en-US" sz="1300" dirty="0"/>
          </a:p>
        </p:txBody>
      </p:sp>
      <p:sp>
        <p:nvSpPr>
          <p:cNvPr id="22" name="!!fix3"/>
          <p:cNvSpPr/>
          <p:nvPr/>
        </p:nvSpPr>
        <p:spPr>
          <a:xfrm>
            <a:off x="8257032" y="2816352"/>
            <a:ext cx="3209544" cy="548640"/>
          </a:xfrm>
          <a:prstGeom prst="roundRect">
            <a:avLst>
              <a:gd name="adj" fmla="val 10000"/>
            </a:avLst>
          </a:prstGeom>
          <a:solidFill>
            <a:srgbClr val="E1F5EE"/>
          </a:solidFill>
          <a:ln w="6350">
            <a:solidFill>
              <a:srgbClr val="0F6E56"/>
            </a:solidFill>
            <a:prstDash val="solid"/>
          </a:ln>
        </p:spPr>
        <p:txBody>
          <a:bodyPr wrap="square" lIns="101600" tIns="101600" rIns="101600" bIns="101600" rtlCol="0" anchor="ctr"/>
          <a:lstStyle/>
          <a:p>
            <a:pPr algn="l" indent="0" marL="0">
              <a:buNone/>
            </a:pPr>
            <a:r>
              <a:rPr lang="en-US" sz="1250" b="1" dirty="0">
                <a:solidFill>
                  <a:srgbClr val="085041"/>
                </a:solidFill>
                <a:latin typeface="Calibri" pitchFamily="34" charset="0"/>
                <a:ea typeface="Calibri" pitchFamily="34" charset="-122"/>
                <a:cs typeface="Calibri" pitchFamily="34" charset="-120"/>
              </a:rPr>
              <a:t>Fix  </a:t>
            </a:r>
            <a:pPr algn="l" indent="0" marL="0">
              <a:buNone/>
            </a:pPr>
            <a:r>
              <a:rPr lang="en-US" sz="1250" dirty="0">
                <a:solidFill>
                  <a:srgbClr val="085041"/>
                </a:solidFill>
                <a:latin typeface="Calibri" pitchFamily="34" charset="0"/>
                <a:ea typeface="Calibri" pitchFamily="34" charset="-122"/>
                <a:cs typeface="Calibri" pitchFamily="34" charset="-120"/>
              </a:rPr>
              <a:t>Step limits, retry budgets and least-privilege tools.</a:t>
            </a:r>
            <a:endParaRPr lang="en-US" sz="1250" dirty="0"/>
          </a:p>
        </p:txBody>
      </p:sp>
      <p:sp>
        <p:nvSpPr>
          <p:cNvPr id="23" name="!!card4"/>
          <p:cNvSpPr/>
          <p:nvPr/>
        </p:nvSpPr>
        <p:spPr>
          <a:xfrm>
            <a:off x="502920" y="3730752"/>
            <a:ext cx="3611880" cy="2176272"/>
          </a:xfrm>
          <a:prstGeom prst="roundRect">
            <a:avLst>
              <a:gd name="adj" fmla="val 4202"/>
            </a:avLst>
          </a:prstGeom>
          <a:solidFill>
            <a:srgbClr val="FFFFFF"/>
          </a:solidFill>
          <a:ln w="12700">
            <a:solidFill>
              <a:srgbClr val="D3D1C7"/>
            </a:solidFill>
            <a:prstDash val="solid"/>
          </a:ln>
        </p:spPr>
        <p:txBody>
          <a:bodyPr wrap="square" lIns="50800" tIns="50800" rIns="50800" bIns="50800" rtlCol="0" anchor="ctr"/>
          <a:lstStyle/>
          <a:p>
            <a:pPr algn="ctr" indent="0" marL="0">
              <a:buNone/>
            </a:pPr>
            <a:endParaRPr lang="en-US" sz="1200" dirty="0"/>
          </a:p>
        </p:txBody>
      </p:sp>
      <p:sp>
        <p:nvSpPr>
          <p:cNvPr id="24" name="!!dot4"/>
          <p:cNvSpPr/>
          <p:nvPr/>
        </p:nvSpPr>
        <p:spPr>
          <a:xfrm>
            <a:off x="704088" y="3931920"/>
            <a:ext cx="457200" cy="457200"/>
          </a:xfrm>
          <a:prstGeom prst="ellipse">
            <a:avLst/>
          </a:prstGeom>
          <a:solidFill>
            <a:srgbClr val="FAECE7"/>
          </a:solidFill>
          <a:ln w="9525">
            <a:solidFill>
              <a:srgbClr val="993C1D"/>
            </a:solidFill>
            <a:prstDash val="solid"/>
          </a:ln>
        </p:spPr>
        <p:txBody>
          <a:bodyPr wrap="square" lIns="50800" tIns="50800" rIns="50800" bIns="50800" rtlCol="0" anchor="ctr"/>
          <a:lstStyle/>
          <a:p>
            <a:pPr algn="ctr" indent="0" marL="0">
              <a:buNone/>
            </a:pPr>
            <a:endParaRPr lang="en-US" sz="1200" dirty="0"/>
          </a:p>
        </p:txBody>
      </p:sp>
      <p:pic>
        <p:nvPicPr>
          <p:cNvPr id="25" name="!!ic4" descr="/tmp/deck-icons/TbHammer_993C1D.png">    </p:cNvPr>
          <p:cNvPicPr>
            <a:picLocks noChangeAspect="1"/>
          </p:cNvPicPr>
          <p:nvPr/>
        </p:nvPicPr>
        <p:blipFill>
          <a:blip r:embed="rId4"/>
          <a:stretch>
            <a:fillRect/>
          </a:stretch>
        </p:blipFill>
        <p:spPr>
          <a:xfrm>
            <a:off x="795528" y="4023360"/>
            <a:ext cx="274320" cy="274320"/>
          </a:xfrm>
          <a:prstGeom prst="rect">
            <a:avLst/>
          </a:prstGeom>
        </p:spPr>
      </p:pic>
      <p:sp>
        <p:nvSpPr>
          <p:cNvPr id="26" name="!!mt4"/>
          <p:cNvSpPr txBox="1"/>
          <p:nvPr/>
        </p:nvSpPr>
        <p:spPr>
          <a:xfrm>
            <a:off x="1289304" y="3913632"/>
            <a:ext cx="2697480" cy="502920"/>
          </a:xfrm>
          <a:prstGeom prst="rect">
            <a:avLst/>
          </a:prstGeom>
          <a:noFill/>
          <a:ln/>
        </p:spPr>
        <p:txBody>
          <a:bodyPr wrap="square" lIns="0" tIns="0" rIns="0" bIns="0" rtlCol="0" anchor="ctr"/>
          <a:lstStyle/>
          <a:p>
            <a:pPr algn="l" indent="0" marL="0">
              <a:buNone/>
            </a:pPr>
            <a:r>
              <a:rPr lang="en-US" sz="1600" b="1" dirty="0">
                <a:solidFill>
                  <a:srgbClr val="712B13"/>
                </a:solidFill>
                <a:latin typeface="Calibri" pitchFamily="34" charset="0"/>
                <a:ea typeface="Calibri" pitchFamily="34" charset="-122"/>
                <a:cs typeface="Calibri" pitchFamily="34" charset="-120"/>
              </a:rPr>
              <a:t>Wrong use case</a:t>
            </a:r>
            <a:endParaRPr lang="en-US" sz="1600" dirty="0"/>
          </a:p>
        </p:txBody>
      </p:sp>
      <p:sp>
        <p:nvSpPr>
          <p:cNvPr id="27" name="!!mw4"/>
          <p:cNvSpPr txBox="1"/>
          <p:nvPr/>
        </p:nvSpPr>
        <p:spPr>
          <a:xfrm>
            <a:off x="704088" y="4535424"/>
            <a:ext cx="3209544" cy="640080"/>
          </a:xfrm>
          <a:prstGeom prst="rect">
            <a:avLst/>
          </a:prstGeom>
          <a:noFill/>
          <a:ln/>
        </p:spPr>
        <p:txBody>
          <a:bodyPr wrap="square" lIns="0" tIns="0" rIns="0" bIns="0" rtlCol="0" anchor="t"/>
          <a:lstStyle/>
          <a:p>
            <a:pPr algn="l" indent="0" marL="0">
              <a:buNone/>
            </a:pPr>
            <a:r>
              <a:rPr lang="en-US" sz="1300" dirty="0">
                <a:solidFill>
                  <a:srgbClr val="2C2C2A"/>
                </a:solidFill>
                <a:latin typeface="Calibri" pitchFamily="34" charset="0"/>
                <a:ea typeface="Calibri" pitchFamily="34" charset="-122"/>
                <a:cs typeface="Calibri" pitchFamily="34" charset="-120"/>
              </a:rPr>
              <a:t>Multi-agent for a simple task: more cost, latency and failure points.</a:t>
            </a:r>
            <a:endParaRPr lang="en-US" sz="1300" dirty="0"/>
          </a:p>
        </p:txBody>
      </p:sp>
      <p:sp>
        <p:nvSpPr>
          <p:cNvPr id="28" name="!!fix4"/>
          <p:cNvSpPr/>
          <p:nvPr/>
        </p:nvSpPr>
        <p:spPr>
          <a:xfrm>
            <a:off x="704088" y="5175504"/>
            <a:ext cx="3209544" cy="548640"/>
          </a:xfrm>
          <a:prstGeom prst="roundRect">
            <a:avLst>
              <a:gd name="adj" fmla="val 10000"/>
            </a:avLst>
          </a:prstGeom>
          <a:solidFill>
            <a:srgbClr val="E1F5EE"/>
          </a:solidFill>
          <a:ln w="6350">
            <a:solidFill>
              <a:srgbClr val="0F6E56"/>
            </a:solidFill>
            <a:prstDash val="solid"/>
          </a:ln>
        </p:spPr>
        <p:txBody>
          <a:bodyPr wrap="square" lIns="101600" tIns="101600" rIns="101600" bIns="101600" rtlCol="0" anchor="ctr"/>
          <a:lstStyle/>
          <a:p>
            <a:pPr algn="l" indent="0" marL="0">
              <a:buNone/>
            </a:pPr>
            <a:r>
              <a:rPr lang="en-US" sz="1250" b="1" dirty="0">
                <a:solidFill>
                  <a:srgbClr val="085041"/>
                </a:solidFill>
                <a:latin typeface="Calibri" pitchFamily="34" charset="0"/>
                <a:ea typeface="Calibri" pitchFamily="34" charset="-122"/>
                <a:cs typeface="Calibri" pitchFamily="34" charset="-120"/>
              </a:rPr>
              <a:t>Fix  </a:t>
            </a:r>
            <a:pPr algn="l" indent="0" marL="0">
              <a:buNone/>
            </a:pPr>
            <a:r>
              <a:rPr lang="en-US" sz="1250" dirty="0">
                <a:solidFill>
                  <a:srgbClr val="085041"/>
                </a:solidFill>
                <a:latin typeface="Calibri" pitchFamily="34" charset="0"/>
                <a:ea typeface="Calibri" pitchFamily="34" charset="-122"/>
                <a:cs typeface="Calibri" pitchFamily="34" charset="-120"/>
              </a:rPr>
              <a:t>Start with one agent or a fixed workflow; split when it breaks.</a:t>
            </a:r>
            <a:endParaRPr lang="en-US" sz="1250" dirty="0"/>
          </a:p>
        </p:txBody>
      </p:sp>
      <p:sp>
        <p:nvSpPr>
          <p:cNvPr id="29" name="!!card5"/>
          <p:cNvSpPr/>
          <p:nvPr/>
        </p:nvSpPr>
        <p:spPr>
          <a:xfrm>
            <a:off x="4279392" y="3730752"/>
            <a:ext cx="3611880" cy="2176272"/>
          </a:xfrm>
          <a:prstGeom prst="roundRect">
            <a:avLst>
              <a:gd name="adj" fmla="val 4202"/>
            </a:avLst>
          </a:prstGeom>
          <a:solidFill>
            <a:srgbClr val="FFFFFF"/>
          </a:solidFill>
          <a:ln w="12700">
            <a:solidFill>
              <a:srgbClr val="D3D1C7"/>
            </a:solidFill>
            <a:prstDash val="solid"/>
          </a:ln>
        </p:spPr>
        <p:txBody>
          <a:bodyPr wrap="square" lIns="50800" tIns="50800" rIns="50800" bIns="50800" rtlCol="0" anchor="ctr"/>
          <a:lstStyle/>
          <a:p>
            <a:pPr algn="ctr" indent="0" marL="0">
              <a:buNone/>
            </a:pPr>
            <a:endParaRPr lang="en-US" sz="1200" dirty="0"/>
          </a:p>
        </p:txBody>
      </p:sp>
      <p:sp>
        <p:nvSpPr>
          <p:cNvPr id="30" name="!!dot5"/>
          <p:cNvSpPr/>
          <p:nvPr/>
        </p:nvSpPr>
        <p:spPr>
          <a:xfrm>
            <a:off x="4480560" y="3931920"/>
            <a:ext cx="457200" cy="457200"/>
          </a:xfrm>
          <a:prstGeom prst="ellipse">
            <a:avLst/>
          </a:prstGeom>
          <a:solidFill>
            <a:srgbClr val="FAECE7"/>
          </a:solidFill>
          <a:ln w="9525">
            <a:solidFill>
              <a:srgbClr val="993C1D"/>
            </a:solidFill>
            <a:prstDash val="solid"/>
          </a:ln>
        </p:spPr>
        <p:txBody>
          <a:bodyPr wrap="square" lIns="50800" tIns="50800" rIns="50800" bIns="50800" rtlCol="0" anchor="ctr"/>
          <a:lstStyle/>
          <a:p>
            <a:pPr algn="ctr" indent="0" marL="0">
              <a:buNone/>
            </a:pPr>
            <a:endParaRPr lang="en-US" sz="1200" dirty="0"/>
          </a:p>
        </p:txBody>
      </p:sp>
      <p:pic>
        <p:nvPicPr>
          <p:cNvPr id="31" name="!!ic5" descr="/tmp/deck-icons/TbMessages_993C1D.png">    </p:cNvPr>
          <p:cNvPicPr>
            <a:picLocks noChangeAspect="1"/>
          </p:cNvPicPr>
          <p:nvPr/>
        </p:nvPicPr>
        <p:blipFill>
          <a:blip r:embed="rId5"/>
          <a:stretch>
            <a:fillRect/>
          </a:stretch>
        </p:blipFill>
        <p:spPr>
          <a:xfrm>
            <a:off x="4572000" y="4023360"/>
            <a:ext cx="274320" cy="274320"/>
          </a:xfrm>
          <a:prstGeom prst="rect">
            <a:avLst/>
          </a:prstGeom>
        </p:spPr>
      </p:pic>
      <p:sp>
        <p:nvSpPr>
          <p:cNvPr id="32" name="!!mt5"/>
          <p:cNvSpPr txBox="1"/>
          <p:nvPr/>
        </p:nvSpPr>
        <p:spPr>
          <a:xfrm>
            <a:off x="5065776" y="3913632"/>
            <a:ext cx="2697480" cy="502920"/>
          </a:xfrm>
          <a:prstGeom prst="rect">
            <a:avLst/>
          </a:prstGeom>
          <a:noFill/>
          <a:ln/>
        </p:spPr>
        <p:txBody>
          <a:bodyPr wrap="square" lIns="0" tIns="0" rIns="0" bIns="0" rtlCol="0" anchor="ctr"/>
          <a:lstStyle/>
          <a:p>
            <a:pPr algn="l" indent="0" marL="0">
              <a:buNone/>
            </a:pPr>
            <a:r>
              <a:rPr lang="en-US" sz="1600" b="1" dirty="0">
                <a:solidFill>
                  <a:srgbClr val="712B13"/>
                </a:solidFill>
                <a:latin typeface="Calibri" pitchFamily="34" charset="0"/>
                <a:ea typeface="Calibri" pitchFamily="34" charset="-122"/>
                <a:cs typeface="Calibri" pitchFamily="34" charset="-120"/>
              </a:rPr>
              <a:t>Agents chat instead of hand off</a:t>
            </a:r>
            <a:endParaRPr lang="en-US" sz="1600" dirty="0"/>
          </a:p>
        </p:txBody>
      </p:sp>
      <p:sp>
        <p:nvSpPr>
          <p:cNvPr id="33" name="!!mw5"/>
          <p:cNvSpPr txBox="1"/>
          <p:nvPr/>
        </p:nvSpPr>
        <p:spPr>
          <a:xfrm>
            <a:off x="4480560" y="4535424"/>
            <a:ext cx="3209544" cy="640080"/>
          </a:xfrm>
          <a:prstGeom prst="rect">
            <a:avLst/>
          </a:prstGeom>
          <a:noFill/>
          <a:ln/>
        </p:spPr>
        <p:txBody>
          <a:bodyPr wrap="square" lIns="0" tIns="0" rIns="0" bIns="0" rtlCol="0" anchor="t"/>
          <a:lstStyle/>
          <a:p>
            <a:pPr algn="l" indent="0" marL="0">
              <a:buNone/>
            </a:pPr>
            <a:r>
              <a:rPr lang="en-US" sz="1300" dirty="0">
                <a:solidFill>
                  <a:srgbClr val="2C2C2A"/>
                </a:solidFill>
                <a:latin typeface="Calibri" pitchFamily="34" charset="0"/>
                <a:ea typeface="Calibri" pitchFamily="34" charset="-122"/>
                <a:cs typeface="Calibri" pitchFamily="34" charset="-120"/>
              </a:rPr>
              <a:t>Full histories passed around; context bloats and decisions drift.</a:t>
            </a:r>
            <a:endParaRPr lang="en-US" sz="1300" dirty="0"/>
          </a:p>
        </p:txBody>
      </p:sp>
      <p:sp>
        <p:nvSpPr>
          <p:cNvPr id="34" name="!!fix5"/>
          <p:cNvSpPr/>
          <p:nvPr/>
        </p:nvSpPr>
        <p:spPr>
          <a:xfrm>
            <a:off x="4480560" y="5175504"/>
            <a:ext cx="3209544" cy="548640"/>
          </a:xfrm>
          <a:prstGeom prst="roundRect">
            <a:avLst>
              <a:gd name="adj" fmla="val 10000"/>
            </a:avLst>
          </a:prstGeom>
          <a:solidFill>
            <a:srgbClr val="E1F5EE"/>
          </a:solidFill>
          <a:ln w="6350">
            <a:solidFill>
              <a:srgbClr val="0F6E56"/>
            </a:solidFill>
            <a:prstDash val="solid"/>
          </a:ln>
        </p:spPr>
        <p:txBody>
          <a:bodyPr wrap="square" lIns="101600" tIns="101600" rIns="101600" bIns="101600" rtlCol="0" anchor="ctr"/>
          <a:lstStyle/>
          <a:p>
            <a:pPr algn="l" indent="0" marL="0">
              <a:buNone/>
            </a:pPr>
            <a:r>
              <a:rPr lang="en-US" sz="1250" b="1" dirty="0">
                <a:solidFill>
                  <a:srgbClr val="085041"/>
                </a:solidFill>
                <a:latin typeface="Calibri" pitchFamily="34" charset="0"/>
                <a:ea typeface="Calibri" pitchFamily="34" charset="-122"/>
                <a:cs typeface="Calibri" pitchFamily="34" charset="-120"/>
              </a:rPr>
              <a:t>Fix  </a:t>
            </a:r>
            <a:pPr algn="l" indent="0" marL="0">
              <a:buNone/>
            </a:pPr>
            <a:r>
              <a:rPr lang="en-US" sz="1250" dirty="0">
                <a:solidFill>
                  <a:srgbClr val="085041"/>
                </a:solidFill>
                <a:latin typeface="Calibri" pitchFamily="34" charset="0"/>
                <a:ea typeface="Calibri" pitchFamily="34" charset="-122"/>
                <a:cs typeface="Calibri" pitchFamily="34" charset="-120"/>
              </a:rPr>
              <a:t>Pass structured results through a small shared state.</a:t>
            </a:r>
            <a:endParaRPr lang="en-US" sz="1250" dirty="0"/>
          </a:p>
        </p:txBody>
      </p:sp>
      <p:sp>
        <p:nvSpPr>
          <p:cNvPr id="35" name="!!card6"/>
          <p:cNvSpPr/>
          <p:nvPr/>
        </p:nvSpPr>
        <p:spPr>
          <a:xfrm>
            <a:off x="8055864" y="3730752"/>
            <a:ext cx="3611880" cy="2176272"/>
          </a:xfrm>
          <a:prstGeom prst="roundRect">
            <a:avLst>
              <a:gd name="adj" fmla="val 4202"/>
            </a:avLst>
          </a:prstGeom>
          <a:solidFill>
            <a:srgbClr val="FFFFFF"/>
          </a:solidFill>
          <a:ln w="12700">
            <a:solidFill>
              <a:srgbClr val="D3D1C7"/>
            </a:solidFill>
            <a:prstDash val="solid"/>
          </a:ln>
        </p:spPr>
        <p:txBody>
          <a:bodyPr wrap="square" lIns="50800" tIns="50800" rIns="50800" bIns="50800" rtlCol="0" anchor="ctr"/>
          <a:lstStyle/>
          <a:p>
            <a:pPr algn="ctr" indent="0" marL="0">
              <a:buNone/>
            </a:pPr>
            <a:endParaRPr lang="en-US" sz="1200" dirty="0"/>
          </a:p>
        </p:txBody>
      </p:sp>
      <p:sp>
        <p:nvSpPr>
          <p:cNvPr id="36" name="!!dot6"/>
          <p:cNvSpPr/>
          <p:nvPr/>
        </p:nvSpPr>
        <p:spPr>
          <a:xfrm>
            <a:off x="8257032" y="3931920"/>
            <a:ext cx="457200" cy="457200"/>
          </a:xfrm>
          <a:prstGeom prst="ellipse">
            <a:avLst/>
          </a:prstGeom>
          <a:solidFill>
            <a:srgbClr val="FAECE7"/>
          </a:solidFill>
          <a:ln w="9525">
            <a:solidFill>
              <a:srgbClr val="993C1D"/>
            </a:solidFill>
            <a:prstDash val="solid"/>
          </a:ln>
        </p:spPr>
        <p:txBody>
          <a:bodyPr wrap="square" lIns="50800" tIns="50800" rIns="50800" bIns="50800" rtlCol="0" anchor="ctr"/>
          <a:lstStyle/>
          <a:p>
            <a:pPr algn="ctr" indent="0" marL="0">
              <a:buNone/>
            </a:pPr>
            <a:endParaRPr lang="en-US" sz="1200" dirty="0"/>
          </a:p>
        </p:txBody>
      </p:sp>
      <p:pic>
        <p:nvPicPr>
          <p:cNvPr id="37" name="!!ic6" descr="/tmp/deck-icons/TbEyeOff_993C1D.png">    </p:cNvPr>
          <p:cNvPicPr>
            <a:picLocks noChangeAspect="1"/>
          </p:cNvPicPr>
          <p:nvPr/>
        </p:nvPicPr>
        <p:blipFill>
          <a:blip r:embed="rId6"/>
          <a:stretch>
            <a:fillRect/>
          </a:stretch>
        </p:blipFill>
        <p:spPr>
          <a:xfrm>
            <a:off x="8348472" y="4023360"/>
            <a:ext cx="274320" cy="274320"/>
          </a:xfrm>
          <a:prstGeom prst="rect">
            <a:avLst/>
          </a:prstGeom>
        </p:spPr>
      </p:pic>
      <p:sp>
        <p:nvSpPr>
          <p:cNvPr id="38" name="!!mt6"/>
          <p:cNvSpPr txBox="1"/>
          <p:nvPr/>
        </p:nvSpPr>
        <p:spPr>
          <a:xfrm>
            <a:off x="8842248" y="3913632"/>
            <a:ext cx="2697480" cy="502920"/>
          </a:xfrm>
          <a:prstGeom prst="rect">
            <a:avLst/>
          </a:prstGeom>
          <a:noFill/>
          <a:ln/>
        </p:spPr>
        <p:txBody>
          <a:bodyPr wrap="square" lIns="0" tIns="0" rIns="0" bIns="0" rtlCol="0" anchor="ctr"/>
          <a:lstStyle/>
          <a:p>
            <a:pPr algn="l" indent="0" marL="0">
              <a:buNone/>
            </a:pPr>
            <a:r>
              <a:rPr lang="en-US" sz="1600" b="1" dirty="0">
                <a:solidFill>
                  <a:srgbClr val="712B13"/>
                </a:solidFill>
                <a:latin typeface="Calibri" pitchFamily="34" charset="0"/>
                <a:ea typeface="Calibri" pitchFamily="34" charset="-122"/>
                <a:cs typeface="Calibri" pitchFamily="34" charset="-120"/>
              </a:rPr>
              <a:t>No independent check or human gate</a:t>
            </a:r>
            <a:endParaRPr lang="en-US" sz="1600" dirty="0"/>
          </a:p>
        </p:txBody>
      </p:sp>
      <p:sp>
        <p:nvSpPr>
          <p:cNvPr id="39" name="!!mw6"/>
          <p:cNvSpPr txBox="1"/>
          <p:nvPr/>
        </p:nvSpPr>
        <p:spPr>
          <a:xfrm>
            <a:off x="8257032" y="4535424"/>
            <a:ext cx="3209544" cy="640080"/>
          </a:xfrm>
          <a:prstGeom prst="rect">
            <a:avLst/>
          </a:prstGeom>
          <a:noFill/>
          <a:ln/>
        </p:spPr>
        <p:txBody>
          <a:bodyPr wrap="square" lIns="0" tIns="0" rIns="0" bIns="0" rtlCol="0" anchor="t"/>
          <a:lstStyle/>
          <a:p>
            <a:pPr algn="l" indent="0" marL="0">
              <a:buNone/>
            </a:pPr>
            <a:r>
              <a:rPr lang="en-US" sz="1300" dirty="0">
                <a:solidFill>
                  <a:srgbClr val="2C2C2A"/>
                </a:solidFill>
                <a:latin typeface="Calibri" pitchFamily="34" charset="0"/>
                <a:ea typeface="Calibri" pitchFamily="34" charset="-122"/>
                <a:cs typeface="Calibri" pitchFamily="34" charset="-120"/>
              </a:rPr>
              <a:t>“Done” is reported when it isn't; risky actions go out unreviewed.</a:t>
            </a:r>
            <a:endParaRPr lang="en-US" sz="1300" dirty="0"/>
          </a:p>
        </p:txBody>
      </p:sp>
      <p:sp>
        <p:nvSpPr>
          <p:cNvPr id="40" name="!!fix6"/>
          <p:cNvSpPr/>
          <p:nvPr/>
        </p:nvSpPr>
        <p:spPr>
          <a:xfrm>
            <a:off x="8257032" y="5175504"/>
            <a:ext cx="3209544" cy="548640"/>
          </a:xfrm>
          <a:prstGeom prst="roundRect">
            <a:avLst>
              <a:gd name="adj" fmla="val 10000"/>
            </a:avLst>
          </a:prstGeom>
          <a:solidFill>
            <a:srgbClr val="E1F5EE"/>
          </a:solidFill>
          <a:ln w="6350">
            <a:solidFill>
              <a:srgbClr val="0F6E56"/>
            </a:solidFill>
            <a:prstDash val="solid"/>
          </a:ln>
        </p:spPr>
        <p:txBody>
          <a:bodyPr wrap="square" lIns="101600" tIns="101600" rIns="101600" bIns="101600" rtlCol="0" anchor="ctr"/>
          <a:lstStyle/>
          <a:p>
            <a:pPr algn="l" indent="0" marL="0">
              <a:buNone/>
            </a:pPr>
            <a:r>
              <a:rPr lang="en-US" sz="1250" b="1" dirty="0">
                <a:solidFill>
                  <a:srgbClr val="085041"/>
                </a:solidFill>
                <a:latin typeface="Calibri" pitchFamily="34" charset="0"/>
                <a:ea typeface="Calibri" pitchFamily="34" charset="-122"/>
                <a:cs typeface="Calibri" pitchFamily="34" charset="-120"/>
              </a:rPr>
              <a:t>Fix  </a:t>
            </a:r>
            <a:pPr algn="l" indent="0" marL="0">
              <a:buNone/>
            </a:pPr>
            <a:r>
              <a:rPr lang="en-US" sz="1250" dirty="0">
                <a:solidFill>
                  <a:srgbClr val="085041"/>
                </a:solidFill>
                <a:latin typeface="Calibri" pitchFamily="34" charset="0"/>
                <a:ea typeface="Calibri" pitchFamily="34" charset="-122"/>
                <a:cs typeface="Calibri" pitchFamily="34" charset="-120"/>
              </a:rPr>
              <a:t>A separate checker, plus human approval for irreversible steps.</a:t>
            </a:r>
            <a:endParaRPr lang="en-US" sz="1250" dirty="0"/>
          </a:p>
        </p:txBody>
      </p:sp>
      <p:sp>
        <p:nvSpPr>
          <p:cNvPr id="41" name="!!take"/>
          <p:cNvSpPr txBox="1"/>
          <p:nvPr/>
        </p:nvSpPr>
        <p:spPr>
          <a:xfrm>
            <a:off x="502920" y="5971032"/>
            <a:ext cx="11155680" cy="365760"/>
          </a:xfrm>
          <a:prstGeom prst="rect">
            <a:avLst/>
          </a:prstGeom>
          <a:noFill/>
          <a:ln/>
        </p:spPr>
        <p:txBody>
          <a:bodyPr wrap="square" lIns="0" tIns="0" rIns="0" bIns="0" rtlCol="0" anchor="t"/>
          <a:lstStyle/>
          <a:p>
            <a:pPr algn="ctr" indent="0" marL="0">
              <a:buNone/>
            </a:pPr>
            <a:r>
              <a:rPr lang="en-US" sz="1600" b="1" i="1" dirty="0">
                <a:solidFill>
                  <a:srgbClr val="2C2C2A"/>
                </a:solidFill>
                <a:latin typeface="Calibri" pitchFamily="34" charset="0"/>
                <a:ea typeface="Calibri" pitchFamily="34" charset="-122"/>
                <a:cs typeface="Calibri" pitchFamily="34" charset="-120"/>
              </a:rPr>
              <a:t>Every mistake here is a missing decision: who does what, when is it done, and who checks.</a:t>
            </a:r>
            <a:endParaRPr lang="en-US" sz="1600" dirty="0"/>
          </a:p>
        </p:txBody>
      </p:sp>
      <p:sp>
        <p:nvSpPr>
          <p:cNvPr id="25" name="Slide Number Placeholder 0"/>
          <p:cNvSpPr>
            <a:spLocks noGrp="1"/>
          </p:cNvSpPr>
          <p:nvPr>
            <p:ph type="sldNum" sz="quarter" idx="4294967295"/>
          </p:nvPr>
        </p:nvSpPr>
        <p:spPr>
          <a:xfrm>
            <a:off x="5641848" y="6382512"/>
            <a:ext cx="914400" cy="201168"/>
          </a:xfrm>
          <a:prstGeom prst="rect">
            <a:avLst/>
          </a:prstGeom>
          <a:extLst>
            <a:ext uri="{C572A759-6A51-4108-AA02-DFA0A04FC94B}">
              <ma14:wrappingTextBoxFlag xmlns:ma14="http://schemas.microsoft.com/office/mac/drawingml/2011/main" val="0"/>
            </a:ext>
          </a:extLst>
        </p:spPr>
        <p:txBody>
          <a:bodyPr/>
          <a:lstStyle>
            <a:lvl1pPr>
              <a:defRPr sz="1000">
                <a:solidFill>
                  <a:srgbClr val="595959"/>
                </a:solidFill>
                <a:latin typeface="Arial"/>
                <a:ea typeface="Arial"/>
                <a:cs typeface="Arial"/>
              </a:defRPr>
            </a:lvl1pPr>
          </a:lstStyle>
          <a:p>
            <a:pPr algn="ct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itle"/>
          <p:cNvSpPr txBox="1"/>
          <p:nvPr/>
        </p:nvSpPr>
        <p:spPr>
          <a:xfrm>
            <a:off x="411480" y="201168"/>
            <a:ext cx="11338560" cy="530352"/>
          </a:xfrm>
          <a:prstGeom prst="rect">
            <a:avLst/>
          </a:prstGeom>
          <a:noFill/>
          <a:ln/>
        </p:spPr>
        <p:txBody>
          <a:bodyPr wrap="square" lIns="0" tIns="0" rIns="0" bIns="0" rtlCol="0" anchor="b"/>
          <a:lstStyle/>
          <a:p>
            <a:pPr algn="l" indent="0" marL="0">
              <a:buNone/>
            </a:pPr>
            <a:r>
              <a:rPr lang="en-US" sz="2600" b="1" dirty="0">
                <a:solidFill>
                  <a:srgbClr val="1A1A1A"/>
                </a:solidFill>
                <a:latin typeface="Calibri" pitchFamily="34" charset="0"/>
                <a:ea typeface="Calibri" pitchFamily="34" charset="-122"/>
                <a:cs typeface="Calibri" pitchFamily="34" charset="-120"/>
              </a:rPr>
              <a:t>How to Choose the Right Pattern</a:t>
            </a:r>
            <a:endParaRPr lang="en-US" sz="2600" dirty="0"/>
          </a:p>
        </p:txBody>
      </p:sp>
      <p:sp>
        <p:nvSpPr>
          <p:cNvPr id="3" name="!!rule"/>
          <p:cNvSpPr/>
          <p:nvPr/>
        </p:nvSpPr>
        <p:spPr>
          <a:xfrm>
            <a:off x="411480" y="804672"/>
            <a:ext cx="11365992" cy="914"/>
          </a:xfrm>
          <a:prstGeom prst="line">
            <a:avLst/>
          </a:prstGeom>
          <a:noFill/>
          <a:ln w="9525">
            <a:solidFill>
              <a:srgbClr val="7F7F7F"/>
            </a:solidFill>
            <a:prstDash val="solid"/>
          </a:ln>
        </p:spPr>
        <p:txBody>
          <a:bodyPr/>
          <a:p/>
        </p:txBody>
      </p:sp>
      <p:sp>
        <p:nvSpPr>
          <p:cNvPr id="4" name="!!lead"/>
          <p:cNvSpPr txBox="1"/>
          <p:nvPr/>
        </p:nvSpPr>
        <p:spPr>
          <a:xfrm>
            <a:off x="411480" y="886968"/>
            <a:ext cx="11338560" cy="438912"/>
          </a:xfrm>
          <a:prstGeom prst="rect">
            <a:avLst/>
          </a:prstGeom>
          <a:noFill/>
          <a:ln/>
        </p:spPr>
        <p:txBody>
          <a:bodyPr wrap="square" lIns="0" tIns="0" rIns="0" bIns="0" rtlCol="0" anchor="t"/>
          <a:lstStyle/>
          <a:p>
            <a:pPr indent="0" marL="0">
              <a:buNone/>
            </a:pPr>
            <a:r>
              <a:rPr lang="en-US" sz="1400" dirty="0">
                <a:solidFill>
                  <a:srgbClr val="404040"/>
                </a:solidFill>
                <a:latin typeface="Arial" pitchFamily="34" charset="0"/>
                <a:ea typeface="Arial" pitchFamily="34" charset="-122"/>
                <a:cs typeface="Arial" pitchFamily="34" charset="-120"/>
              </a:rPr>
              <a:t>Start from the need, not the pattern. Find the row that sounds like your problem, then plan for its typical failure before you build.</a:t>
            </a:r>
            <a:endParaRPr lang="en-US" sz="1400" dirty="0"/>
          </a:p>
        </p:txBody>
      </p:sp>
      <p:graphicFrame>
        <p:nvGraphicFramePr>
          <p:cNvPr id="3" name="!!table"/>
          <p:cNvGraphicFramePr>
            <a:graphicFrameLocks noGrp="1"/>
          </p:cNvGraphicFramePr>
          <p:nvPr>
            <p:extLst>
              <p:ext uri="{D42A27DB-BD31-4B8C-83A1-F6EECF244321}">
                <p14:modId xmlns:p14="http://schemas.microsoft.com/office/powerpoint/2010/main" val="1579011935"/>
              </p:ext>
            </p:extLst>
          </p:nvPr>
        </p:nvGraphicFramePr>
        <p:xfrm>
          <a:off x="502920" y="1371600"/>
          <a:ext cx="11183112" cy="914400"/>
        </p:xfrm>
        <a:graphic>
          <a:graphicData uri="http://schemas.openxmlformats.org/drawingml/2006/table">
            <a:tbl>
              <a:tblPr/>
              <a:tblGrid>
                <a:gridCol w="3063240"/>
                <a:gridCol w="2331720"/>
                <a:gridCol w="3246120"/>
                <a:gridCol w="2542032"/>
              </a:tblGrid>
              <a:tr h="384048">
                <a:tc>
                  <a:txBody>
                    <a:bodyPr/>
                    <a:lstStyle/>
                    <a:p>
                      <a:pPr indent="0" marL="0">
                        <a:buNone/>
                      </a:pPr>
                      <a:r>
                        <a:rPr lang="en-US" sz="1300" b="1" dirty="0">
                          <a:solidFill>
                            <a:srgbClr val="2C2C2A"/>
                          </a:solidFill>
                          <a:latin typeface="Calibri" pitchFamily="34" charset="0"/>
                          <a:ea typeface="Calibri" pitchFamily="34" charset="-122"/>
                          <a:cs typeface="Calibri" pitchFamily="34" charset="-120"/>
                        </a:rPr>
                        <a:t>If you need…</a:t>
                      </a:r>
                      <a:endParaRPr lang="en-US" sz="1300" dirty="0">
                        <a:latin typeface="Calibri" charset="0"/>
                        <a:ea typeface="Calibri" charset="0"/>
                        <a:cs typeface="Calibri" charset="0"/>
                      </a:endParaRPr>
                    </a:p>
                  </a:txBody>
                  <a:tcPr marL="101600" marR="101600" marT="50800" marB="50800" anchor="ctr">
                    <a:lnL w="9525" cap="flat" cmpd="sng" algn="ctr">
                      <a:solidFill>
                        <a:srgbClr val="D3D1C7"/>
                      </a:solidFill>
                      <a:prstDash val="solid"/>
                      <a:round/>
                      <a:headEnd type="none" w="med" len="med"/>
                      <a:tailEnd type="none" w="med" len="med"/>
                    </a:lnL>
                    <a:lnR w="9525" cap="flat" cmpd="sng" algn="ctr">
                      <a:solidFill>
                        <a:srgbClr val="D3D1C7"/>
                      </a:solidFill>
                      <a:prstDash val="solid"/>
                      <a:round/>
                      <a:headEnd type="none" w="med" len="med"/>
                      <a:tailEnd type="none" w="med" len="med"/>
                    </a:lnR>
                    <a:lnT w="9525" cap="flat" cmpd="sng" algn="ctr">
                      <a:solidFill>
                        <a:srgbClr val="D3D1C7"/>
                      </a:solidFill>
                      <a:prstDash val="solid"/>
                      <a:round/>
                      <a:headEnd type="none" w="med" len="med"/>
                      <a:tailEnd type="none" w="med" len="med"/>
                    </a:lnT>
                    <a:lnB w="9525" cap="flat" cmpd="sng" algn="ctr">
                      <a:solidFill>
                        <a:srgbClr val="D3D1C7"/>
                      </a:solidFill>
                      <a:prstDash val="solid"/>
                      <a:round/>
                      <a:headEnd type="none" w="med" len="med"/>
                      <a:tailEnd type="none" w="med" len="med"/>
                    </a:lnB>
                    <a:solidFill>
                      <a:srgbClr val="F1EFE8"/>
                    </a:solidFill>
                  </a:tcPr>
                </a:tc>
                <a:tc>
                  <a:txBody>
                    <a:bodyPr/>
                    <a:lstStyle/>
                    <a:p>
                      <a:pPr indent="0" marL="0">
                        <a:buNone/>
                      </a:pPr>
                      <a:r>
                        <a:rPr lang="en-US" sz="1300" b="1" dirty="0">
                          <a:solidFill>
                            <a:srgbClr val="3C3489"/>
                          </a:solidFill>
                          <a:latin typeface="Calibri" pitchFamily="34" charset="0"/>
                          <a:ea typeface="Calibri" pitchFamily="34" charset="-122"/>
                          <a:cs typeface="Calibri" pitchFamily="34" charset="-120"/>
                        </a:rPr>
                        <a:t>Use this pattern</a:t>
                      </a:r>
                      <a:endParaRPr lang="en-US" sz="1300" dirty="0">
                        <a:latin typeface="Calibri" charset="0"/>
                        <a:ea typeface="Calibri" charset="0"/>
                        <a:cs typeface="Calibri" charset="0"/>
                      </a:endParaRPr>
                    </a:p>
                  </a:txBody>
                  <a:tcPr marL="101600" marR="101600" marT="50800" marB="50800" anchor="ctr">
                    <a:lnL w="9525" cap="flat" cmpd="sng" algn="ctr">
                      <a:solidFill>
                        <a:srgbClr val="D3D1C7"/>
                      </a:solidFill>
                      <a:prstDash val="solid"/>
                      <a:round/>
                      <a:headEnd type="none" w="med" len="med"/>
                      <a:tailEnd type="none" w="med" len="med"/>
                    </a:lnL>
                    <a:lnR w="9525" cap="flat" cmpd="sng" algn="ctr">
                      <a:solidFill>
                        <a:srgbClr val="D3D1C7"/>
                      </a:solidFill>
                      <a:prstDash val="solid"/>
                      <a:round/>
                      <a:headEnd type="none" w="med" len="med"/>
                      <a:tailEnd type="none" w="med" len="med"/>
                    </a:lnR>
                    <a:lnT w="9525" cap="flat" cmpd="sng" algn="ctr">
                      <a:solidFill>
                        <a:srgbClr val="D3D1C7"/>
                      </a:solidFill>
                      <a:prstDash val="solid"/>
                      <a:round/>
                      <a:headEnd type="none" w="med" len="med"/>
                      <a:tailEnd type="none" w="med" len="med"/>
                    </a:lnT>
                    <a:lnB w="9525" cap="flat" cmpd="sng" algn="ctr">
                      <a:solidFill>
                        <a:srgbClr val="D3D1C7"/>
                      </a:solidFill>
                      <a:prstDash val="solid"/>
                      <a:round/>
                      <a:headEnd type="none" w="med" len="med"/>
                      <a:tailEnd type="none" w="med" len="med"/>
                    </a:lnB>
                    <a:solidFill>
                      <a:srgbClr val="EEEDFE"/>
                    </a:solidFill>
                  </a:tcPr>
                </a:tc>
                <a:tc>
                  <a:txBody>
                    <a:bodyPr/>
                    <a:lstStyle/>
                    <a:p>
                      <a:pPr indent="0" marL="0">
                        <a:buNone/>
                      </a:pPr>
                      <a:r>
                        <a:rPr lang="en-US" sz="1300" b="1" dirty="0">
                          <a:solidFill>
                            <a:srgbClr val="2C2C2A"/>
                          </a:solidFill>
                          <a:latin typeface="Calibri" pitchFamily="34" charset="0"/>
                          <a:ea typeface="Calibri" pitchFamily="34" charset="-122"/>
                          <a:cs typeface="Calibri" pitchFamily="34" charset="-120"/>
                        </a:rPr>
                        <a:t>Example</a:t>
                      </a:r>
                      <a:endParaRPr lang="en-US" sz="1300" dirty="0">
                        <a:latin typeface="Calibri" charset="0"/>
                        <a:ea typeface="Calibri" charset="0"/>
                        <a:cs typeface="Calibri" charset="0"/>
                      </a:endParaRPr>
                    </a:p>
                  </a:txBody>
                  <a:tcPr marL="101600" marR="101600" marT="50800" marB="50800" anchor="ctr">
                    <a:lnL w="9525" cap="flat" cmpd="sng" algn="ctr">
                      <a:solidFill>
                        <a:srgbClr val="D3D1C7"/>
                      </a:solidFill>
                      <a:prstDash val="solid"/>
                      <a:round/>
                      <a:headEnd type="none" w="med" len="med"/>
                      <a:tailEnd type="none" w="med" len="med"/>
                    </a:lnL>
                    <a:lnR w="9525" cap="flat" cmpd="sng" algn="ctr">
                      <a:solidFill>
                        <a:srgbClr val="D3D1C7"/>
                      </a:solidFill>
                      <a:prstDash val="solid"/>
                      <a:round/>
                      <a:headEnd type="none" w="med" len="med"/>
                      <a:tailEnd type="none" w="med" len="med"/>
                    </a:lnR>
                    <a:lnT w="9525" cap="flat" cmpd="sng" algn="ctr">
                      <a:solidFill>
                        <a:srgbClr val="D3D1C7"/>
                      </a:solidFill>
                      <a:prstDash val="solid"/>
                      <a:round/>
                      <a:headEnd type="none" w="med" len="med"/>
                      <a:tailEnd type="none" w="med" len="med"/>
                    </a:lnT>
                    <a:lnB w="9525" cap="flat" cmpd="sng" algn="ctr">
                      <a:solidFill>
                        <a:srgbClr val="D3D1C7"/>
                      </a:solidFill>
                      <a:prstDash val="solid"/>
                      <a:round/>
                      <a:headEnd type="none" w="med" len="med"/>
                      <a:tailEnd type="none" w="med" len="med"/>
                    </a:lnB>
                    <a:solidFill>
                      <a:srgbClr val="F1EFE8"/>
                    </a:solidFill>
                  </a:tcPr>
                </a:tc>
                <a:tc>
                  <a:txBody>
                    <a:bodyPr/>
                    <a:lstStyle/>
                    <a:p>
                      <a:pPr indent="0" marL="0">
                        <a:buNone/>
                      </a:pPr>
                      <a:r>
                        <a:rPr lang="en-US" sz="1300" b="1" dirty="0">
                          <a:solidFill>
                            <a:srgbClr val="712B13"/>
                          </a:solidFill>
                          <a:latin typeface="Calibri" pitchFamily="34" charset="0"/>
                          <a:ea typeface="Calibri" pitchFamily="34" charset="-122"/>
                          <a:cs typeface="Calibri" pitchFamily="34" charset="-120"/>
                        </a:rPr>
                        <a:t>Watch out for</a:t>
                      </a:r>
                      <a:endParaRPr lang="en-US" sz="1300" dirty="0">
                        <a:latin typeface="Calibri" charset="0"/>
                        <a:ea typeface="Calibri" charset="0"/>
                        <a:cs typeface="Calibri" charset="0"/>
                      </a:endParaRPr>
                    </a:p>
                  </a:txBody>
                  <a:tcPr marL="101600" marR="101600" marT="50800" marB="50800" anchor="ctr">
                    <a:lnL w="9525" cap="flat" cmpd="sng" algn="ctr">
                      <a:solidFill>
                        <a:srgbClr val="D3D1C7"/>
                      </a:solidFill>
                      <a:prstDash val="solid"/>
                      <a:round/>
                      <a:headEnd type="none" w="med" len="med"/>
                      <a:tailEnd type="none" w="med" len="med"/>
                    </a:lnL>
                    <a:lnR w="9525" cap="flat" cmpd="sng" algn="ctr">
                      <a:solidFill>
                        <a:srgbClr val="D3D1C7"/>
                      </a:solidFill>
                      <a:prstDash val="solid"/>
                      <a:round/>
                      <a:headEnd type="none" w="med" len="med"/>
                      <a:tailEnd type="none" w="med" len="med"/>
                    </a:lnR>
                    <a:lnT w="9525" cap="flat" cmpd="sng" algn="ctr">
                      <a:solidFill>
                        <a:srgbClr val="D3D1C7"/>
                      </a:solidFill>
                      <a:prstDash val="solid"/>
                      <a:round/>
                      <a:headEnd type="none" w="med" len="med"/>
                      <a:tailEnd type="none" w="med" len="med"/>
                    </a:lnT>
                    <a:lnB w="9525" cap="flat" cmpd="sng" algn="ctr">
                      <a:solidFill>
                        <a:srgbClr val="D3D1C7"/>
                      </a:solidFill>
                      <a:prstDash val="solid"/>
                      <a:round/>
                      <a:headEnd type="none" w="med" len="med"/>
                      <a:tailEnd type="none" w="med" len="med"/>
                    </a:lnB>
                    <a:solidFill>
                      <a:srgbClr val="FAECE7"/>
                    </a:solidFill>
                  </a:tcPr>
                </a:tc>
              </a:tr>
              <a:tr h="603504">
                <a:tc>
                  <a:txBody>
                    <a:bodyPr/>
                    <a:lstStyle/>
                    <a:p>
                      <a:pPr indent="0" marL="0">
                        <a:buNone/>
                      </a:pPr>
                      <a:r>
                        <a:rPr lang="en-US" sz="1300" dirty="0">
                          <a:solidFill>
                            <a:srgbClr val="2C2C2A"/>
                          </a:solidFill>
                          <a:latin typeface="Calibri" pitchFamily="34" charset="0"/>
                          <a:ea typeface="Calibri" pitchFamily="34" charset="-122"/>
                          <a:cs typeface="Calibri" pitchFamily="34" charset="-120"/>
                        </a:rPr>
                        <a:t>Route each request to the right specialist</a:t>
                      </a:r>
                      <a:endParaRPr lang="en-US" sz="1300" dirty="0">
                        <a:latin typeface="Calibri" charset="0"/>
                        <a:ea typeface="Calibri" charset="0"/>
                        <a:cs typeface="Calibri" charset="0"/>
                      </a:endParaRPr>
                    </a:p>
                  </a:txBody>
                  <a:tcPr marL="101600" marR="101600" marT="50800" marB="50800" anchor="ctr">
                    <a:lnL w="9525" cap="flat" cmpd="sng" algn="ctr">
                      <a:solidFill>
                        <a:srgbClr val="D3D1C7"/>
                      </a:solidFill>
                      <a:prstDash val="solid"/>
                      <a:round/>
                      <a:headEnd type="none" w="med" len="med"/>
                      <a:tailEnd type="none" w="med" len="med"/>
                    </a:lnL>
                    <a:lnR w="9525" cap="flat" cmpd="sng" algn="ctr">
                      <a:solidFill>
                        <a:srgbClr val="D3D1C7"/>
                      </a:solidFill>
                      <a:prstDash val="solid"/>
                      <a:round/>
                      <a:headEnd type="none" w="med" len="med"/>
                      <a:tailEnd type="none" w="med" len="med"/>
                    </a:lnR>
                    <a:lnT w="9525" cap="flat" cmpd="sng" algn="ctr">
                      <a:solidFill>
                        <a:srgbClr val="D3D1C7"/>
                      </a:solidFill>
                      <a:prstDash val="solid"/>
                      <a:round/>
                      <a:headEnd type="none" w="med" len="med"/>
                      <a:tailEnd type="none" w="med" len="med"/>
                    </a:lnT>
                    <a:lnB w="9525" cap="flat" cmpd="sng" algn="ctr">
                      <a:solidFill>
                        <a:srgbClr val="D3D1C7"/>
                      </a:solidFill>
                      <a:prstDash val="solid"/>
                      <a:round/>
                      <a:headEnd type="none" w="med" len="med"/>
                      <a:tailEnd type="none" w="med" len="med"/>
                    </a:lnB>
                  </a:tcPr>
                </a:tc>
                <a:tc>
                  <a:txBody>
                    <a:bodyPr/>
                    <a:lstStyle/>
                    <a:p>
                      <a:pPr indent="0" marL="0">
                        <a:buNone/>
                      </a:pPr>
                      <a:r>
                        <a:rPr lang="en-US" sz="1350" b="1" dirty="0">
                          <a:solidFill>
                            <a:srgbClr val="3C3489"/>
                          </a:solidFill>
                          <a:latin typeface="Calibri" pitchFamily="34" charset="0"/>
                          <a:ea typeface="Calibri" pitchFamily="34" charset="-122"/>
                          <a:cs typeface="Calibri" pitchFamily="34" charset="-120"/>
                        </a:rPr>
                        <a:t>Supervisor–Worker</a:t>
                      </a:r>
                      <a:endParaRPr lang="en-US" sz="1350" dirty="0">
                        <a:latin typeface="Calibri" charset="0"/>
                        <a:ea typeface="Calibri" charset="0"/>
                        <a:cs typeface="Calibri" charset="0"/>
                      </a:endParaRPr>
                    </a:p>
                  </a:txBody>
                  <a:tcPr marL="101600" marR="101600" marT="50800" marB="50800" anchor="ctr">
                    <a:lnL w="9525" cap="flat" cmpd="sng" algn="ctr">
                      <a:solidFill>
                        <a:srgbClr val="D3D1C7"/>
                      </a:solidFill>
                      <a:prstDash val="solid"/>
                      <a:round/>
                      <a:headEnd type="none" w="med" len="med"/>
                      <a:tailEnd type="none" w="med" len="med"/>
                    </a:lnL>
                    <a:lnR w="9525" cap="flat" cmpd="sng" algn="ctr">
                      <a:solidFill>
                        <a:srgbClr val="D3D1C7"/>
                      </a:solidFill>
                      <a:prstDash val="solid"/>
                      <a:round/>
                      <a:headEnd type="none" w="med" len="med"/>
                      <a:tailEnd type="none" w="med" len="med"/>
                    </a:lnR>
                    <a:lnT w="9525" cap="flat" cmpd="sng" algn="ctr">
                      <a:solidFill>
                        <a:srgbClr val="D3D1C7"/>
                      </a:solidFill>
                      <a:prstDash val="solid"/>
                      <a:round/>
                      <a:headEnd type="none" w="med" len="med"/>
                      <a:tailEnd type="none" w="med" len="med"/>
                    </a:lnT>
                    <a:lnB w="9525" cap="flat" cmpd="sng" algn="ctr">
                      <a:solidFill>
                        <a:srgbClr val="D3D1C7"/>
                      </a:solidFill>
                      <a:prstDash val="solid"/>
                      <a:round/>
                      <a:headEnd type="none" w="med" len="med"/>
                      <a:tailEnd type="none" w="med" len="med"/>
                    </a:lnB>
                  </a:tcPr>
                </a:tc>
                <a:tc>
                  <a:txBody>
                    <a:bodyPr/>
                    <a:lstStyle/>
                    <a:p>
                      <a:pPr indent="0" marL="0">
                        <a:buNone/>
                      </a:pPr>
                      <a:r>
                        <a:rPr lang="en-US" sz="1250" dirty="0">
                          <a:solidFill>
                            <a:srgbClr val="5F5E5A"/>
                          </a:solidFill>
                          <a:latin typeface="Calibri" pitchFamily="34" charset="0"/>
                          <a:ea typeface="Calibri" pitchFamily="34" charset="-122"/>
                          <a:cs typeface="Calibri" pitchFamily="34" charset="-120"/>
                        </a:rPr>
                        <a:t>A service desk sends each query to billing, tech support or refunds</a:t>
                      </a:r>
                      <a:endParaRPr lang="en-US" sz="1250" dirty="0">
                        <a:latin typeface="Calibri" charset="0"/>
                        <a:ea typeface="Calibri" charset="0"/>
                        <a:cs typeface="Calibri" charset="0"/>
                      </a:endParaRPr>
                    </a:p>
                  </a:txBody>
                  <a:tcPr marL="101600" marR="101600" marT="50800" marB="50800" anchor="ctr">
                    <a:lnL w="9525" cap="flat" cmpd="sng" algn="ctr">
                      <a:solidFill>
                        <a:srgbClr val="D3D1C7"/>
                      </a:solidFill>
                      <a:prstDash val="solid"/>
                      <a:round/>
                      <a:headEnd type="none" w="med" len="med"/>
                      <a:tailEnd type="none" w="med" len="med"/>
                    </a:lnL>
                    <a:lnR w="9525" cap="flat" cmpd="sng" algn="ctr">
                      <a:solidFill>
                        <a:srgbClr val="D3D1C7"/>
                      </a:solidFill>
                      <a:prstDash val="solid"/>
                      <a:round/>
                      <a:headEnd type="none" w="med" len="med"/>
                      <a:tailEnd type="none" w="med" len="med"/>
                    </a:lnR>
                    <a:lnT w="9525" cap="flat" cmpd="sng" algn="ctr">
                      <a:solidFill>
                        <a:srgbClr val="D3D1C7"/>
                      </a:solidFill>
                      <a:prstDash val="solid"/>
                      <a:round/>
                      <a:headEnd type="none" w="med" len="med"/>
                      <a:tailEnd type="none" w="med" len="med"/>
                    </a:lnT>
                    <a:lnB w="9525" cap="flat" cmpd="sng" algn="ctr">
                      <a:solidFill>
                        <a:srgbClr val="D3D1C7"/>
                      </a:solidFill>
                      <a:prstDash val="solid"/>
                      <a:round/>
                      <a:headEnd type="none" w="med" len="med"/>
                      <a:tailEnd type="none" w="med" len="med"/>
                    </a:lnB>
                  </a:tcPr>
                </a:tc>
                <a:tc>
                  <a:txBody>
                    <a:bodyPr/>
                    <a:lstStyle/>
                    <a:p>
                      <a:pPr indent="0" marL="0">
                        <a:buNone/>
                      </a:pPr>
                      <a:r>
                        <a:rPr lang="en-US" sz="1250" dirty="0">
                          <a:solidFill>
                            <a:srgbClr val="712B13"/>
                          </a:solidFill>
                          <a:latin typeface="Calibri" pitchFamily="34" charset="0"/>
                          <a:ea typeface="Calibri" pitchFamily="34" charset="-122"/>
                          <a:cs typeface="Calibri" pitchFamily="34" charset="-120"/>
                        </a:rPr>
                        <a:t>The supervisor becomes a bottleneck</a:t>
                      </a:r>
                      <a:endParaRPr lang="en-US" sz="1250" dirty="0">
                        <a:latin typeface="Calibri" charset="0"/>
                        <a:ea typeface="Calibri" charset="0"/>
                        <a:cs typeface="Calibri" charset="0"/>
                      </a:endParaRPr>
                    </a:p>
                  </a:txBody>
                  <a:tcPr marL="101600" marR="101600" marT="50800" marB="50800" anchor="ctr">
                    <a:lnL w="9525" cap="flat" cmpd="sng" algn="ctr">
                      <a:solidFill>
                        <a:srgbClr val="D3D1C7"/>
                      </a:solidFill>
                      <a:prstDash val="solid"/>
                      <a:round/>
                      <a:headEnd type="none" w="med" len="med"/>
                      <a:tailEnd type="none" w="med" len="med"/>
                    </a:lnL>
                    <a:lnR w="9525" cap="flat" cmpd="sng" algn="ctr">
                      <a:solidFill>
                        <a:srgbClr val="D3D1C7"/>
                      </a:solidFill>
                      <a:prstDash val="solid"/>
                      <a:round/>
                      <a:headEnd type="none" w="med" len="med"/>
                      <a:tailEnd type="none" w="med" len="med"/>
                    </a:lnR>
                    <a:lnT w="9525" cap="flat" cmpd="sng" algn="ctr">
                      <a:solidFill>
                        <a:srgbClr val="D3D1C7"/>
                      </a:solidFill>
                      <a:prstDash val="solid"/>
                      <a:round/>
                      <a:headEnd type="none" w="med" len="med"/>
                      <a:tailEnd type="none" w="med" len="med"/>
                    </a:lnT>
                    <a:lnB w="9525" cap="flat" cmpd="sng" algn="ctr">
                      <a:solidFill>
                        <a:srgbClr val="D3D1C7"/>
                      </a:solidFill>
                      <a:prstDash val="solid"/>
                      <a:round/>
                      <a:headEnd type="none" w="med" len="med"/>
                      <a:tailEnd type="none" w="med" len="med"/>
                    </a:lnB>
                  </a:tcPr>
                </a:tc>
              </a:tr>
              <a:tr h="603504">
                <a:tc>
                  <a:txBody>
                    <a:bodyPr/>
                    <a:lstStyle/>
                    <a:p>
                      <a:pPr indent="0" marL="0">
                        <a:buNone/>
                      </a:pPr>
                      <a:r>
                        <a:rPr lang="en-US" sz="1300" dirty="0">
                          <a:solidFill>
                            <a:srgbClr val="2C2C2A"/>
                          </a:solidFill>
                          <a:latin typeface="Calibri" pitchFamily="34" charset="0"/>
                          <a:ea typeface="Calibri" pitchFamily="34" charset="-122"/>
                          <a:cs typeface="Calibri" pitchFamily="34" charset="-120"/>
                        </a:rPr>
                        <a:t>Reuse a self-contained capability inside bigger flows</a:t>
                      </a:r>
                      <a:endParaRPr lang="en-US" sz="1300" dirty="0">
                        <a:latin typeface="Calibri" charset="0"/>
                        <a:ea typeface="Calibri" charset="0"/>
                        <a:cs typeface="Calibri" charset="0"/>
                      </a:endParaRPr>
                    </a:p>
                  </a:txBody>
                  <a:tcPr marL="101600" marR="101600" marT="50800" marB="50800" anchor="ctr">
                    <a:lnL w="9525" cap="flat" cmpd="sng" algn="ctr">
                      <a:solidFill>
                        <a:srgbClr val="D3D1C7"/>
                      </a:solidFill>
                      <a:prstDash val="solid"/>
                      <a:round/>
                      <a:headEnd type="none" w="med" len="med"/>
                      <a:tailEnd type="none" w="med" len="med"/>
                    </a:lnL>
                    <a:lnR w="9525" cap="flat" cmpd="sng" algn="ctr">
                      <a:solidFill>
                        <a:srgbClr val="D3D1C7"/>
                      </a:solidFill>
                      <a:prstDash val="solid"/>
                      <a:round/>
                      <a:headEnd type="none" w="med" len="med"/>
                      <a:tailEnd type="none" w="med" len="med"/>
                    </a:lnR>
                    <a:lnT w="9525" cap="flat" cmpd="sng" algn="ctr">
                      <a:solidFill>
                        <a:srgbClr val="D3D1C7"/>
                      </a:solidFill>
                      <a:prstDash val="solid"/>
                      <a:round/>
                      <a:headEnd type="none" w="med" len="med"/>
                      <a:tailEnd type="none" w="med" len="med"/>
                    </a:lnT>
                    <a:lnB w="9525" cap="flat" cmpd="sng" algn="ctr">
                      <a:solidFill>
                        <a:srgbClr val="D3D1C7"/>
                      </a:solidFill>
                      <a:prstDash val="solid"/>
                      <a:round/>
                      <a:headEnd type="none" w="med" len="med"/>
                      <a:tailEnd type="none" w="med" len="med"/>
                    </a:lnB>
                  </a:tcPr>
                </a:tc>
                <a:tc>
                  <a:txBody>
                    <a:bodyPr/>
                    <a:lstStyle/>
                    <a:p>
                      <a:pPr indent="0" marL="0">
                        <a:buNone/>
                      </a:pPr>
                      <a:r>
                        <a:rPr lang="en-US" sz="1350" b="1" dirty="0">
                          <a:solidFill>
                            <a:srgbClr val="3C3489"/>
                          </a:solidFill>
                          <a:latin typeface="Calibri" pitchFamily="34" charset="0"/>
                          <a:ea typeface="Calibri" pitchFamily="34" charset="-122"/>
                          <a:cs typeface="Calibri" pitchFamily="34" charset="-120"/>
                        </a:rPr>
                        <a:t>Subgraph</a:t>
                      </a:r>
                      <a:endParaRPr lang="en-US" sz="1350" dirty="0">
                        <a:latin typeface="Calibri" charset="0"/>
                        <a:ea typeface="Calibri" charset="0"/>
                        <a:cs typeface="Calibri" charset="0"/>
                      </a:endParaRPr>
                    </a:p>
                  </a:txBody>
                  <a:tcPr marL="101600" marR="101600" marT="50800" marB="50800" anchor="ctr">
                    <a:lnL w="9525" cap="flat" cmpd="sng" algn="ctr">
                      <a:solidFill>
                        <a:srgbClr val="D3D1C7"/>
                      </a:solidFill>
                      <a:prstDash val="solid"/>
                      <a:round/>
                      <a:headEnd type="none" w="med" len="med"/>
                      <a:tailEnd type="none" w="med" len="med"/>
                    </a:lnL>
                    <a:lnR w="9525" cap="flat" cmpd="sng" algn="ctr">
                      <a:solidFill>
                        <a:srgbClr val="D3D1C7"/>
                      </a:solidFill>
                      <a:prstDash val="solid"/>
                      <a:round/>
                      <a:headEnd type="none" w="med" len="med"/>
                      <a:tailEnd type="none" w="med" len="med"/>
                    </a:lnR>
                    <a:lnT w="9525" cap="flat" cmpd="sng" algn="ctr">
                      <a:solidFill>
                        <a:srgbClr val="D3D1C7"/>
                      </a:solidFill>
                      <a:prstDash val="solid"/>
                      <a:round/>
                      <a:headEnd type="none" w="med" len="med"/>
                      <a:tailEnd type="none" w="med" len="med"/>
                    </a:lnT>
                    <a:lnB w="9525" cap="flat" cmpd="sng" algn="ctr">
                      <a:solidFill>
                        <a:srgbClr val="D3D1C7"/>
                      </a:solidFill>
                      <a:prstDash val="solid"/>
                      <a:round/>
                      <a:headEnd type="none" w="med" len="med"/>
                      <a:tailEnd type="none" w="med" len="med"/>
                    </a:lnB>
                  </a:tcPr>
                </a:tc>
                <a:tc>
                  <a:txBody>
                    <a:bodyPr/>
                    <a:lstStyle/>
                    <a:p>
                      <a:pPr indent="0" marL="0">
                        <a:buNone/>
                      </a:pPr>
                      <a:r>
                        <a:rPr lang="en-US" sz="1250" dirty="0">
                          <a:solidFill>
                            <a:srgbClr val="5F5E5A"/>
                          </a:solidFill>
                          <a:latin typeface="Calibri" pitchFamily="34" charset="0"/>
                          <a:ea typeface="Calibri" pitchFamily="34" charset="-122"/>
                          <a:cs typeface="Calibri" pitchFamily="34" charset="-120"/>
                        </a:rPr>
                        <a:t>One identity check reused in account opening, payments and complaints</a:t>
                      </a:r>
                      <a:endParaRPr lang="en-US" sz="1250" dirty="0">
                        <a:latin typeface="Calibri" charset="0"/>
                        <a:ea typeface="Calibri" charset="0"/>
                        <a:cs typeface="Calibri" charset="0"/>
                      </a:endParaRPr>
                    </a:p>
                  </a:txBody>
                  <a:tcPr marL="101600" marR="101600" marT="50800" marB="50800" anchor="ctr">
                    <a:lnL w="9525" cap="flat" cmpd="sng" algn="ctr">
                      <a:solidFill>
                        <a:srgbClr val="D3D1C7"/>
                      </a:solidFill>
                      <a:prstDash val="solid"/>
                      <a:round/>
                      <a:headEnd type="none" w="med" len="med"/>
                      <a:tailEnd type="none" w="med" len="med"/>
                    </a:lnL>
                    <a:lnR w="9525" cap="flat" cmpd="sng" algn="ctr">
                      <a:solidFill>
                        <a:srgbClr val="D3D1C7"/>
                      </a:solidFill>
                      <a:prstDash val="solid"/>
                      <a:round/>
                      <a:headEnd type="none" w="med" len="med"/>
                      <a:tailEnd type="none" w="med" len="med"/>
                    </a:lnR>
                    <a:lnT w="9525" cap="flat" cmpd="sng" algn="ctr">
                      <a:solidFill>
                        <a:srgbClr val="D3D1C7"/>
                      </a:solidFill>
                      <a:prstDash val="solid"/>
                      <a:round/>
                      <a:headEnd type="none" w="med" len="med"/>
                      <a:tailEnd type="none" w="med" len="med"/>
                    </a:lnT>
                    <a:lnB w="9525" cap="flat" cmpd="sng" algn="ctr">
                      <a:solidFill>
                        <a:srgbClr val="D3D1C7"/>
                      </a:solidFill>
                      <a:prstDash val="solid"/>
                      <a:round/>
                      <a:headEnd type="none" w="med" len="med"/>
                      <a:tailEnd type="none" w="med" len="med"/>
                    </a:lnB>
                  </a:tcPr>
                </a:tc>
                <a:tc>
                  <a:txBody>
                    <a:bodyPr/>
                    <a:lstStyle/>
                    <a:p>
                      <a:pPr indent="0" marL="0">
                        <a:buNone/>
                      </a:pPr>
                      <a:r>
                        <a:rPr lang="en-US" sz="1250" dirty="0">
                          <a:solidFill>
                            <a:srgbClr val="712B13"/>
                          </a:solidFill>
                          <a:latin typeface="Calibri" pitchFamily="34" charset="0"/>
                          <a:ea typeface="Calibri" pitchFamily="34" charset="-122"/>
                          <a:cs typeface="Calibri" pitchFamily="34" charset="-120"/>
                        </a:rPr>
                        <a:t>Keep its input and output state small and explicit</a:t>
                      </a:r>
                      <a:endParaRPr lang="en-US" sz="1250" dirty="0">
                        <a:latin typeface="Calibri" charset="0"/>
                        <a:ea typeface="Calibri" charset="0"/>
                        <a:cs typeface="Calibri" charset="0"/>
                      </a:endParaRPr>
                    </a:p>
                  </a:txBody>
                  <a:tcPr marL="101600" marR="101600" marT="50800" marB="50800" anchor="ctr">
                    <a:lnL w="9525" cap="flat" cmpd="sng" algn="ctr">
                      <a:solidFill>
                        <a:srgbClr val="D3D1C7"/>
                      </a:solidFill>
                      <a:prstDash val="solid"/>
                      <a:round/>
                      <a:headEnd type="none" w="med" len="med"/>
                      <a:tailEnd type="none" w="med" len="med"/>
                    </a:lnL>
                    <a:lnR w="9525" cap="flat" cmpd="sng" algn="ctr">
                      <a:solidFill>
                        <a:srgbClr val="D3D1C7"/>
                      </a:solidFill>
                      <a:prstDash val="solid"/>
                      <a:round/>
                      <a:headEnd type="none" w="med" len="med"/>
                      <a:tailEnd type="none" w="med" len="med"/>
                    </a:lnR>
                    <a:lnT w="9525" cap="flat" cmpd="sng" algn="ctr">
                      <a:solidFill>
                        <a:srgbClr val="D3D1C7"/>
                      </a:solidFill>
                      <a:prstDash val="solid"/>
                      <a:round/>
                      <a:headEnd type="none" w="med" len="med"/>
                      <a:tailEnd type="none" w="med" len="med"/>
                    </a:lnT>
                    <a:lnB w="9525" cap="flat" cmpd="sng" algn="ctr">
                      <a:solidFill>
                        <a:srgbClr val="D3D1C7"/>
                      </a:solidFill>
                      <a:prstDash val="solid"/>
                      <a:round/>
                      <a:headEnd type="none" w="med" len="med"/>
                      <a:tailEnd type="none" w="med" len="med"/>
                    </a:lnB>
                  </a:tcPr>
                </a:tc>
              </a:tr>
              <a:tr h="603504">
                <a:tc>
                  <a:txBody>
                    <a:bodyPr/>
                    <a:lstStyle/>
                    <a:p>
                      <a:pPr indent="0" marL="0">
                        <a:buNone/>
                      </a:pPr>
                      <a:r>
                        <a:rPr lang="en-US" sz="1300" dirty="0">
                          <a:solidFill>
                            <a:srgbClr val="2C2C2A"/>
                          </a:solidFill>
                          <a:latin typeface="Calibri" pitchFamily="34" charset="0"/>
                          <a:ea typeface="Calibri" pitchFamily="34" charset="-122"/>
                          <a:cs typeface="Calibri" pitchFamily="34" charset="-120"/>
                        </a:rPr>
                        <a:t>A long task that needs a plan before doing</a:t>
                      </a:r>
                      <a:endParaRPr lang="en-US" sz="1300" dirty="0">
                        <a:latin typeface="Calibri" charset="0"/>
                        <a:ea typeface="Calibri" charset="0"/>
                        <a:cs typeface="Calibri" charset="0"/>
                      </a:endParaRPr>
                    </a:p>
                  </a:txBody>
                  <a:tcPr marL="101600" marR="101600" marT="50800" marB="50800" anchor="ctr">
                    <a:lnL w="9525" cap="flat" cmpd="sng" algn="ctr">
                      <a:solidFill>
                        <a:srgbClr val="D3D1C7"/>
                      </a:solidFill>
                      <a:prstDash val="solid"/>
                      <a:round/>
                      <a:headEnd type="none" w="med" len="med"/>
                      <a:tailEnd type="none" w="med" len="med"/>
                    </a:lnL>
                    <a:lnR w="9525" cap="flat" cmpd="sng" algn="ctr">
                      <a:solidFill>
                        <a:srgbClr val="D3D1C7"/>
                      </a:solidFill>
                      <a:prstDash val="solid"/>
                      <a:round/>
                      <a:headEnd type="none" w="med" len="med"/>
                      <a:tailEnd type="none" w="med" len="med"/>
                    </a:lnR>
                    <a:lnT w="9525" cap="flat" cmpd="sng" algn="ctr">
                      <a:solidFill>
                        <a:srgbClr val="D3D1C7"/>
                      </a:solidFill>
                      <a:prstDash val="solid"/>
                      <a:round/>
                      <a:headEnd type="none" w="med" len="med"/>
                      <a:tailEnd type="none" w="med" len="med"/>
                    </a:lnT>
                    <a:lnB w="9525" cap="flat" cmpd="sng" algn="ctr">
                      <a:solidFill>
                        <a:srgbClr val="D3D1C7"/>
                      </a:solidFill>
                      <a:prstDash val="solid"/>
                      <a:round/>
                      <a:headEnd type="none" w="med" len="med"/>
                      <a:tailEnd type="none" w="med" len="med"/>
                    </a:lnB>
                  </a:tcPr>
                </a:tc>
                <a:tc>
                  <a:txBody>
                    <a:bodyPr/>
                    <a:lstStyle/>
                    <a:p>
                      <a:pPr indent="0" marL="0">
                        <a:buNone/>
                      </a:pPr>
                      <a:r>
                        <a:rPr lang="en-US" sz="1350" b="1" dirty="0">
                          <a:solidFill>
                            <a:srgbClr val="3C3489"/>
                          </a:solidFill>
                          <a:latin typeface="Calibri" pitchFamily="34" charset="0"/>
                          <a:ea typeface="Calibri" pitchFamily="34" charset="-122"/>
                          <a:cs typeface="Calibri" pitchFamily="34" charset="-120"/>
                        </a:rPr>
                        <a:t>Planner–Executor</a:t>
                      </a:r>
                      <a:endParaRPr lang="en-US" sz="1350" dirty="0">
                        <a:latin typeface="Calibri" charset="0"/>
                        <a:ea typeface="Calibri" charset="0"/>
                        <a:cs typeface="Calibri" charset="0"/>
                      </a:endParaRPr>
                    </a:p>
                  </a:txBody>
                  <a:tcPr marL="101600" marR="101600" marT="50800" marB="50800" anchor="ctr">
                    <a:lnL w="9525" cap="flat" cmpd="sng" algn="ctr">
                      <a:solidFill>
                        <a:srgbClr val="D3D1C7"/>
                      </a:solidFill>
                      <a:prstDash val="solid"/>
                      <a:round/>
                      <a:headEnd type="none" w="med" len="med"/>
                      <a:tailEnd type="none" w="med" len="med"/>
                    </a:lnL>
                    <a:lnR w="9525" cap="flat" cmpd="sng" algn="ctr">
                      <a:solidFill>
                        <a:srgbClr val="D3D1C7"/>
                      </a:solidFill>
                      <a:prstDash val="solid"/>
                      <a:round/>
                      <a:headEnd type="none" w="med" len="med"/>
                      <a:tailEnd type="none" w="med" len="med"/>
                    </a:lnR>
                    <a:lnT w="9525" cap="flat" cmpd="sng" algn="ctr">
                      <a:solidFill>
                        <a:srgbClr val="D3D1C7"/>
                      </a:solidFill>
                      <a:prstDash val="solid"/>
                      <a:round/>
                      <a:headEnd type="none" w="med" len="med"/>
                      <a:tailEnd type="none" w="med" len="med"/>
                    </a:lnT>
                    <a:lnB w="9525" cap="flat" cmpd="sng" algn="ctr">
                      <a:solidFill>
                        <a:srgbClr val="D3D1C7"/>
                      </a:solidFill>
                      <a:prstDash val="solid"/>
                      <a:round/>
                      <a:headEnd type="none" w="med" len="med"/>
                      <a:tailEnd type="none" w="med" len="med"/>
                    </a:lnB>
                  </a:tcPr>
                </a:tc>
                <a:tc>
                  <a:txBody>
                    <a:bodyPr/>
                    <a:lstStyle/>
                    <a:p>
                      <a:pPr indent="0" marL="0">
                        <a:buNone/>
                      </a:pPr>
                      <a:r>
                        <a:rPr lang="en-US" sz="1250" dirty="0">
                          <a:solidFill>
                            <a:srgbClr val="5F5E5A"/>
                          </a:solidFill>
                          <a:latin typeface="Calibri" pitchFamily="34" charset="0"/>
                          <a:ea typeface="Calibri" pitchFamily="34" charset="-122"/>
                          <a:cs typeface="Calibri" pitchFamily="34" charset="-120"/>
                        </a:rPr>
                        <a:t>Plan a market-research report, then research and write each section</a:t>
                      </a:r>
                      <a:endParaRPr lang="en-US" sz="1250" dirty="0">
                        <a:latin typeface="Calibri" charset="0"/>
                        <a:ea typeface="Calibri" charset="0"/>
                        <a:cs typeface="Calibri" charset="0"/>
                      </a:endParaRPr>
                    </a:p>
                  </a:txBody>
                  <a:tcPr marL="101600" marR="101600" marT="50800" marB="50800" anchor="ctr">
                    <a:lnL w="9525" cap="flat" cmpd="sng" algn="ctr">
                      <a:solidFill>
                        <a:srgbClr val="D3D1C7"/>
                      </a:solidFill>
                      <a:prstDash val="solid"/>
                      <a:round/>
                      <a:headEnd type="none" w="med" len="med"/>
                      <a:tailEnd type="none" w="med" len="med"/>
                    </a:lnL>
                    <a:lnR w="9525" cap="flat" cmpd="sng" algn="ctr">
                      <a:solidFill>
                        <a:srgbClr val="D3D1C7"/>
                      </a:solidFill>
                      <a:prstDash val="solid"/>
                      <a:round/>
                      <a:headEnd type="none" w="med" len="med"/>
                      <a:tailEnd type="none" w="med" len="med"/>
                    </a:lnR>
                    <a:lnT w="9525" cap="flat" cmpd="sng" algn="ctr">
                      <a:solidFill>
                        <a:srgbClr val="D3D1C7"/>
                      </a:solidFill>
                      <a:prstDash val="solid"/>
                      <a:round/>
                      <a:headEnd type="none" w="med" len="med"/>
                      <a:tailEnd type="none" w="med" len="med"/>
                    </a:lnT>
                    <a:lnB w="9525" cap="flat" cmpd="sng" algn="ctr">
                      <a:solidFill>
                        <a:srgbClr val="D3D1C7"/>
                      </a:solidFill>
                      <a:prstDash val="solid"/>
                      <a:round/>
                      <a:headEnd type="none" w="med" len="med"/>
                      <a:tailEnd type="none" w="med" len="med"/>
                    </a:lnB>
                  </a:tcPr>
                </a:tc>
                <a:tc>
                  <a:txBody>
                    <a:bodyPr/>
                    <a:lstStyle/>
                    <a:p>
                      <a:pPr indent="0" marL="0">
                        <a:buNone/>
                      </a:pPr>
                      <a:r>
                        <a:rPr lang="en-US" sz="1250" dirty="0">
                          <a:solidFill>
                            <a:srgbClr val="712B13"/>
                          </a:solidFill>
                          <a:latin typeface="Calibri" pitchFamily="34" charset="0"/>
                          <a:ea typeface="Calibri" pitchFamily="34" charset="-122"/>
                          <a:cs typeface="Calibri" pitchFamily="34" charset="-120"/>
                        </a:rPr>
                        <a:t>Re-plan when a step fails; don't push on</a:t>
                      </a:r>
                      <a:endParaRPr lang="en-US" sz="1250" dirty="0">
                        <a:latin typeface="Calibri" charset="0"/>
                        <a:ea typeface="Calibri" charset="0"/>
                        <a:cs typeface="Calibri" charset="0"/>
                      </a:endParaRPr>
                    </a:p>
                  </a:txBody>
                  <a:tcPr marL="101600" marR="101600" marT="50800" marB="50800" anchor="ctr">
                    <a:lnL w="9525" cap="flat" cmpd="sng" algn="ctr">
                      <a:solidFill>
                        <a:srgbClr val="D3D1C7"/>
                      </a:solidFill>
                      <a:prstDash val="solid"/>
                      <a:round/>
                      <a:headEnd type="none" w="med" len="med"/>
                      <a:tailEnd type="none" w="med" len="med"/>
                    </a:lnL>
                    <a:lnR w="9525" cap="flat" cmpd="sng" algn="ctr">
                      <a:solidFill>
                        <a:srgbClr val="D3D1C7"/>
                      </a:solidFill>
                      <a:prstDash val="solid"/>
                      <a:round/>
                      <a:headEnd type="none" w="med" len="med"/>
                      <a:tailEnd type="none" w="med" len="med"/>
                    </a:lnR>
                    <a:lnT w="9525" cap="flat" cmpd="sng" algn="ctr">
                      <a:solidFill>
                        <a:srgbClr val="D3D1C7"/>
                      </a:solidFill>
                      <a:prstDash val="solid"/>
                      <a:round/>
                      <a:headEnd type="none" w="med" len="med"/>
                      <a:tailEnd type="none" w="med" len="med"/>
                    </a:lnT>
                    <a:lnB w="9525" cap="flat" cmpd="sng" algn="ctr">
                      <a:solidFill>
                        <a:srgbClr val="D3D1C7"/>
                      </a:solidFill>
                      <a:prstDash val="solid"/>
                      <a:round/>
                      <a:headEnd type="none" w="med" len="med"/>
                      <a:tailEnd type="none" w="med" len="med"/>
                    </a:lnB>
                  </a:tcPr>
                </a:tc>
              </a:tr>
              <a:tr h="603504">
                <a:tc>
                  <a:txBody>
                    <a:bodyPr/>
                    <a:lstStyle/>
                    <a:p>
                      <a:pPr indent="0" marL="0">
                        <a:buNone/>
                      </a:pPr>
                      <a:r>
                        <a:rPr lang="en-US" sz="1300" dirty="0">
                          <a:solidFill>
                            <a:srgbClr val="2C2C2A"/>
                          </a:solidFill>
                          <a:latin typeface="Calibri" pitchFamily="34" charset="0"/>
                          <a:ea typeface="Calibri" pitchFamily="34" charset="-122"/>
                          <a:cs typeface="Calibri" pitchFamily="34" charset="-120"/>
                        </a:rPr>
                        <a:t>A known, fixed sequence of stages</a:t>
                      </a:r>
                      <a:endParaRPr lang="en-US" sz="1300" dirty="0">
                        <a:latin typeface="Calibri" charset="0"/>
                        <a:ea typeface="Calibri" charset="0"/>
                        <a:cs typeface="Calibri" charset="0"/>
                      </a:endParaRPr>
                    </a:p>
                  </a:txBody>
                  <a:tcPr marL="101600" marR="101600" marT="50800" marB="50800" anchor="ctr">
                    <a:lnL w="9525" cap="flat" cmpd="sng" algn="ctr">
                      <a:solidFill>
                        <a:srgbClr val="D3D1C7"/>
                      </a:solidFill>
                      <a:prstDash val="solid"/>
                      <a:round/>
                      <a:headEnd type="none" w="med" len="med"/>
                      <a:tailEnd type="none" w="med" len="med"/>
                    </a:lnL>
                    <a:lnR w="9525" cap="flat" cmpd="sng" algn="ctr">
                      <a:solidFill>
                        <a:srgbClr val="D3D1C7"/>
                      </a:solidFill>
                      <a:prstDash val="solid"/>
                      <a:round/>
                      <a:headEnd type="none" w="med" len="med"/>
                      <a:tailEnd type="none" w="med" len="med"/>
                    </a:lnR>
                    <a:lnT w="9525" cap="flat" cmpd="sng" algn="ctr">
                      <a:solidFill>
                        <a:srgbClr val="D3D1C7"/>
                      </a:solidFill>
                      <a:prstDash val="solid"/>
                      <a:round/>
                      <a:headEnd type="none" w="med" len="med"/>
                      <a:tailEnd type="none" w="med" len="med"/>
                    </a:lnT>
                    <a:lnB w="9525" cap="flat" cmpd="sng" algn="ctr">
                      <a:solidFill>
                        <a:srgbClr val="D3D1C7"/>
                      </a:solidFill>
                      <a:prstDash val="solid"/>
                      <a:round/>
                      <a:headEnd type="none" w="med" len="med"/>
                      <a:tailEnd type="none" w="med" len="med"/>
                    </a:lnB>
                  </a:tcPr>
                </a:tc>
                <a:tc>
                  <a:txBody>
                    <a:bodyPr/>
                    <a:lstStyle/>
                    <a:p>
                      <a:pPr indent="0" marL="0">
                        <a:buNone/>
                      </a:pPr>
                      <a:r>
                        <a:rPr lang="en-US" sz="1350" b="1" dirty="0">
                          <a:solidFill>
                            <a:srgbClr val="3C3489"/>
                          </a:solidFill>
                          <a:latin typeface="Calibri" pitchFamily="34" charset="0"/>
                          <a:ea typeface="Calibri" pitchFamily="34" charset="-122"/>
                          <a:cs typeface="Calibri" pitchFamily="34" charset="-120"/>
                        </a:rPr>
                        <a:t>Specialist Pipeline</a:t>
                      </a:r>
                      <a:endParaRPr lang="en-US" sz="1350" dirty="0">
                        <a:latin typeface="Calibri" charset="0"/>
                        <a:ea typeface="Calibri" charset="0"/>
                        <a:cs typeface="Calibri" charset="0"/>
                      </a:endParaRPr>
                    </a:p>
                  </a:txBody>
                  <a:tcPr marL="101600" marR="101600" marT="50800" marB="50800" anchor="ctr">
                    <a:lnL w="9525" cap="flat" cmpd="sng" algn="ctr">
                      <a:solidFill>
                        <a:srgbClr val="D3D1C7"/>
                      </a:solidFill>
                      <a:prstDash val="solid"/>
                      <a:round/>
                      <a:headEnd type="none" w="med" len="med"/>
                      <a:tailEnd type="none" w="med" len="med"/>
                    </a:lnL>
                    <a:lnR w="9525" cap="flat" cmpd="sng" algn="ctr">
                      <a:solidFill>
                        <a:srgbClr val="D3D1C7"/>
                      </a:solidFill>
                      <a:prstDash val="solid"/>
                      <a:round/>
                      <a:headEnd type="none" w="med" len="med"/>
                      <a:tailEnd type="none" w="med" len="med"/>
                    </a:lnR>
                    <a:lnT w="9525" cap="flat" cmpd="sng" algn="ctr">
                      <a:solidFill>
                        <a:srgbClr val="D3D1C7"/>
                      </a:solidFill>
                      <a:prstDash val="solid"/>
                      <a:round/>
                      <a:headEnd type="none" w="med" len="med"/>
                      <a:tailEnd type="none" w="med" len="med"/>
                    </a:lnT>
                    <a:lnB w="9525" cap="flat" cmpd="sng" algn="ctr">
                      <a:solidFill>
                        <a:srgbClr val="D3D1C7"/>
                      </a:solidFill>
                      <a:prstDash val="solid"/>
                      <a:round/>
                      <a:headEnd type="none" w="med" len="med"/>
                      <a:tailEnd type="none" w="med" len="med"/>
                    </a:lnB>
                  </a:tcPr>
                </a:tc>
                <a:tc>
                  <a:txBody>
                    <a:bodyPr/>
                    <a:lstStyle/>
                    <a:p>
                      <a:pPr indent="0" marL="0">
                        <a:buNone/>
                      </a:pPr>
                      <a:r>
                        <a:rPr lang="en-US" sz="1250" dirty="0">
                          <a:solidFill>
                            <a:srgbClr val="5F5E5A"/>
                          </a:solidFill>
                          <a:latin typeface="Calibri" pitchFamily="34" charset="0"/>
                          <a:ea typeface="Calibri" pitchFamily="34" charset="-122"/>
                          <a:cs typeface="Calibri" pitchFamily="34" charset="-120"/>
                        </a:rPr>
                        <a:t>Invoices: read → extract → validate → post to accounts</a:t>
                      </a:r>
                      <a:endParaRPr lang="en-US" sz="1250" dirty="0">
                        <a:latin typeface="Calibri" charset="0"/>
                        <a:ea typeface="Calibri" charset="0"/>
                        <a:cs typeface="Calibri" charset="0"/>
                      </a:endParaRPr>
                    </a:p>
                  </a:txBody>
                  <a:tcPr marL="101600" marR="101600" marT="50800" marB="50800" anchor="ctr">
                    <a:lnL w="9525" cap="flat" cmpd="sng" algn="ctr">
                      <a:solidFill>
                        <a:srgbClr val="D3D1C7"/>
                      </a:solidFill>
                      <a:prstDash val="solid"/>
                      <a:round/>
                      <a:headEnd type="none" w="med" len="med"/>
                      <a:tailEnd type="none" w="med" len="med"/>
                    </a:lnL>
                    <a:lnR w="9525" cap="flat" cmpd="sng" algn="ctr">
                      <a:solidFill>
                        <a:srgbClr val="D3D1C7"/>
                      </a:solidFill>
                      <a:prstDash val="solid"/>
                      <a:round/>
                      <a:headEnd type="none" w="med" len="med"/>
                      <a:tailEnd type="none" w="med" len="med"/>
                    </a:lnR>
                    <a:lnT w="9525" cap="flat" cmpd="sng" algn="ctr">
                      <a:solidFill>
                        <a:srgbClr val="D3D1C7"/>
                      </a:solidFill>
                      <a:prstDash val="solid"/>
                      <a:round/>
                      <a:headEnd type="none" w="med" len="med"/>
                      <a:tailEnd type="none" w="med" len="med"/>
                    </a:lnT>
                    <a:lnB w="9525" cap="flat" cmpd="sng" algn="ctr">
                      <a:solidFill>
                        <a:srgbClr val="D3D1C7"/>
                      </a:solidFill>
                      <a:prstDash val="solid"/>
                      <a:round/>
                      <a:headEnd type="none" w="med" len="med"/>
                      <a:tailEnd type="none" w="med" len="med"/>
                    </a:lnB>
                  </a:tcPr>
                </a:tc>
                <a:tc>
                  <a:txBody>
                    <a:bodyPr/>
                    <a:lstStyle/>
                    <a:p>
                      <a:pPr indent="0" marL="0">
                        <a:buNone/>
                      </a:pPr>
                      <a:r>
                        <a:rPr lang="en-US" sz="1250" dirty="0">
                          <a:solidFill>
                            <a:srgbClr val="712B13"/>
                          </a:solidFill>
                          <a:latin typeface="Calibri" pitchFamily="34" charset="0"/>
                          <a:ea typeface="Calibri" pitchFamily="34" charset="-122"/>
                          <a:cs typeface="Calibri" pitchFamily="34" charset="-120"/>
                        </a:rPr>
                        <a:t>Errors flow downstream; check between stages</a:t>
                      </a:r>
                      <a:endParaRPr lang="en-US" sz="1250" dirty="0">
                        <a:latin typeface="Calibri" charset="0"/>
                        <a:ea typeface="Calibri" charset="0"/>
                        <a:cs typeface="Calibri" charset="0"/>
                      </a:endParaRPr>
                    </a:p>
                  </a:txBody>
                  <a:tcPr marL="101600" marR="101600" marT="50800" marB="50800" anchor="ctr">
                    <a:lnL w="9525" cap="flat" cmpd="sng" algn="ctr">
                      <a:solidFill>
                        <a:srgbClr val="D3D1C7"/>
                      </a:solidFill>
                      <a:prstDash val="solid"/>
                      <a:round/>
                      <a:headEnd type="none" w="med" len="med"/>
                      <a:tailEnd type="none" w="med" len="med"/>
                    </a:lnL>
                    <a:lnR w="9525" cap="flat" cmpd="sng" algn="ctr">
                      <a:solidFill>
                        <a:srgbClr val="D3D1C7"/>
                      </a:solidFill>
                      <a:prstDash val="solid"/>
                      <a:round/>
                      <a:headEnd type="none" w="med" len="med"/>
                      <a:tailEnd type="none" w="med" len="med"/>
                    </a:lnR>
                    <a:lnT w="9525" cap="flat" cmpd="sng" algn="ctr">
                      <a:solidFill>
                        <a:srgbClr val="D3D1C7"/>
                      </a:solidFill>
                      <a:prstDash val="solid"/>
                      <a:round/>
                      <a:headEnd type="none" w="med" len="med"/>
                      <a:tailEnd type="none" w="med" len="med"/>
                    </a:lnT>
                    <a:lnB w="9525" cap="flat" cmpd="sng" algn="ctr">
                      <a:solidFill>
                        <a:srgbClr val="D3D1C7"/>
                      </a:solidFill>
                      <a:prstDash val="solid"/>
                      <a:round/>
                      <a:headEnd type="none" w="med" len="med"/>
                      <a:tailEnd type="none" w="med" len="med"/>
                    </a:lnB>
                  </a:tcPr>
                </a:tc>
              </a:tr>
              <a:tr h="603504">
                <a:tc>
                  <a:txBody>
                    <a:bodyPr/>
                    <a:lstStyle/>
                    <a:p>
                      <a:pPr indent="0" marL="0">
                        <a:buNone/>
                      </a:pPr>
                      <a:r>
                        <a:rPr lang="en-US" sz="1300" dirty="0">
                          <a:solidFill>
                            <a:srgbClr val="2C2C2A"/>
                          </a:solidFill>
                          <a:latin typeface="Calibri" pitchFamily="34" charset="0"/>
                          <a:ea typeface="Calibri" pitchFamily="34" charset="-122"/>
                          <a:cs typeface="Calibri" pitchFamily="34" charset="-120"/>
                        </a:rPr>
                        <a:t>Judgement calls where quality beats speed</a:t>
                      </a:r>
                      <a:endParaRPr lang="en-US" sz="1300" dirty="0">
                        <a:latin typeface="Calibri" charset="0"/>
                        <a:ea typeface="Calibri" charset="0"/>
                        <a:cs typeface="Calibri" charset="0"/>
                      </a:endParaRPr>
                    </a:p>
                  </a:txBody>
                  <a:tcPr marL="101600" marR="101600" marT="50800" marB="50800" anchor="ctr">
                    <a:lnL w="9525" cap="flat" cmpd="sng" algn="ctr">
                      <a:solidFill>
                        <a:srgbClr val="D3D1C7"/>
                      </a:solidFill>
                      <a:prstDash val="solid"/>
                      <a:round/>
                      <a:headEnd type="none" w="med" len="med"/>
                      <a:tailEnd type="none" w="med" len="med"/>
                    </a:lnL>
                    <a:lnR w="9525" cap="flat" cmpd="sng" algn="ctr">
                      <a:solidFill>
                        <a:srgbClr val="D3D1C7"/>
                      </a:solidFill>
                      <a:prstDash val="solid"/>
                      <a:round/>
                      <a:headEnd type="none" w="med" len="med"/>
                      <a:tailEnd type="none" w="med" len="med"/>
                    </a:lnR>
                    <a:lnT w="9525" cap="flat" cmpd="sng" algn="ctr">
                      <a:solidFill>
                        <a:srgbClr val="D3D1C7"/>
                      </a:solidFill>
                      <a:prstDash val="solid"/>
                      <a:round/>
                      <a:headEnd type="none" w="med" len="med"/>
                      <a:tailEnd type="none" w="med" len="med"/>
                    </a:lnT>
                    <a:lnB w="9525" cap="flat" cmpd="sng" algn="ctr">
                      <a:solidFill>
                        <a:srgbClr val="D3D1C7"/>
                      </a:solidFill>
                      <a:prstDash val="solid"/>
                      <a:round/>
                      <a:headEnd type="none" w="med" len="med"/>
                      <a:tailEnd type="none" w="med" len="med"/>
                    </a:lnB>
                  </a:tcPr>
                </a:tc>
                <a:tc>
                  <a:txBody>
                    <a:bodyPr/>
                    <a:lstStyle/>
                    <a:p>
                      <a:pPr indent="0" marL="0">
                        <a:buNone/>
                      </a:pPr>
                      <a:r>
                        <a:rPr lang="en-US" sz="1350" b="1" dirty="0">
                          <a:solidFill>
                            <a:srgbClr val="3C3489"/>
                          </a:solidFill>
                          <a:latin typeface="Calibri" pitchFamily="34" charset="0"/>
                          <a:ea typeface="Calibri" pitchFamily="34" charset="-122"/>
                          <a:cs typeface="Calibri" pitchFamily="34" charset="-120"/>
                        </a:rPr>
                        <a:t>Peer + Debate</a:t>
                      </a:r>
                      <a:endParaRPr lang="en-US" sz="1350" dirty="0">
                        <a:latin typeface="Calibri" charset="0"/>
                        <a:ea typeface="Calibri" charset="0"/>
                        <a:cs typeface="Calibri" charset="0"/>
                      </a:endParaRPr>
                    </a:p>
                  </a:txBody>
                  <a:tcPr marL="101600" marR="101600" marT="50800" marB="50800" anchor="ctr">
                    <a:lnL w="9525" cap="flat" cmpd="sng" algn="ctr">
                      <a:solidFill>
                        <a:srgbClr val="D3D1C7"/>
                      </a:solidFill>
                      <a:prstDash val="solid"/>
                      <a:round/>
                      <a:headEnd type="none" w="med" len="med"/>
                      <a:tailEnd type="none" w="med" len="med"/>
                    </a:lnL>
                    <a:lnR w="9525" cap="flat" cmpd="sng" algn="ctr">
                      <a:solidFill>
                        <a:srgbClr val="D3D1C7"/>
                      </a:solidFill>
                      <a:prstDash val="solid"/>
                      <a:round/>
                      <a:headEnd type="none" w="med" len="med"/>
                      <a:tailEnd type="none" w="med" len="med"/>
                    </a:lnR>
                    <a:lnT w="9525" cap="flat" cmpd="sng" algn="ctr">
                      <a:solidFill>
                        <a:srgbClr val="D3D1C7"/>
                      </a:solidFill>
                      <a:prstDash val="solid"/>
                      <a:round/>
                      <a:headEnd type="none" w="med" len="med"/>
                      <a:tailEnd type="none" w="med" len="med"/>
                    </a:lnT>
                    <a:lnB w="9525" cap="flat" cmpd="sng" algn="ctr">
                      <a:solidFill>
                        <a:srgbClr val="D3D1C7"/>
                      </a:solidFill>
                      <a:prstDash val="solid"/>
                      <a:round/>
                      <a:headEnd type="none" w="med" len="med"/>
                      <a:tailEnd type="none" w="med" len="med"/>
                    </a:lnB>
                  </a:tcPr>
                </a:tc>
                <a:tc>
                  <a:txBody>
                    <a:bodyPr/>
                    <a:lstStyle/>
                    <a:p>
                      <a:pPr indent="0" marL="0">
                        <a:buNone/>
                      </a:pPr>
                      <a:r>
                        <a:rPr lang="en-US" sz="1250" dirty="0">
                          <a:solidFill>
                            <a:srgbClr val="5F5E5A"/>
                          </a:solidFill>
                          <a:latin typeface="Calibri" pitchFamily="34" charset="0"/>
                          <a:ea typeface="Calibri" pitchFamily="34" charset="-122"/>
                          <a:cs typeface="Calibri" pitchFamily="34" charset="-120"/>
                        </a:rPr>
                        <a:t>Two reviewers challenge a contract summary before it goes out</a:t>
                      </a:r>
                      <a:endParaRPr lang="en-US" sz="1250" dirty="0">
                        <a:latin typeface="Calibri" charset="0"/>
                        <a:ea typeface="Calibri" charset="0"/>
                        <a:cs typeface="Calibri" charset="0"/>
                      </a:endParaRPr>
                    </a:p>
                  </a:txBody>
                  <a:tcPr marL="101600" marR="101600" marT="50800" marB="50800" anchor="ctr">
                    <a:lnL w="9525" cap="flat" cmpd="sng" algn="ctr">
                      <a:solidFill>
                        <a:srgbClr val="D3D1C7"/>
                      </a:solidFill>
                      <a:prstDash val="solid"/>
                      <a:round/>
                      <a:headEnd type="none" w="med" len="med"/>
                      <a:tailEnd type="none" w="med" len="med"/>
                    </a:lnL>
                    <a:lnR w="9525" cap="flat" cmpd="sng" algn="ctr">
                      <a:solidFill>
                        <a:srgbClr val="D3D1C7"/>
                      </a:solidFill>
                      <a:prstDash val="solid"/>
                      <a:round/>
                      <a:headEnd type="none" w="med" len="med"/>
                      <a:tailEnd type="none" w="med" len="med"/>
                    </a:lnR>
                    <a:lnT w="9525" cap="flat" cmpd="sng" algn="ctr">
                      <a:solidFill>
                        <a:srgbClr val="D3D1C7"/>
                      </a:solidFill>
                      <a:prstDash val="solid"/>
                      <a:round/>
                      <a:headEnd type="none" w="med" len="med"/>
                      <a:tailEnd type="none" w="med" len="med"/>
                    </a:lnT>
                    <a:lnB w="9525" cap="flat" cmpd="sng" algn="ctr">
                      <a:solidFill>
                        <a:srgbClr val="D3D1C7"/>
                      </a:solidFill>
                      <a:prstDash val="solid"/>
                      <a:round/>
                      <a:headEnd type="none" w="med" len="med"/>
                      <a:tailEnd type="none" w="med" len="med"/>
                    </a:lnB>
                  </a:tcPr>
                </a:tc>
                <a:tc>
                  <a:txBody>
                    <a:bodyPr/>
                    <a:lstStyle/>
                    <a:p>
                      <a:pPr indent="0" marL="0">
                        <a:buNone/>
                      </a:pPr>
                      <a:r>
                        <a:rPr lang="en-US" sz="1250" dirty="0">
                          <a:solidFill>
                            <a:srgbClr val="712B13"/>
                          </a:solidFill>
                          <a:latin typeface="Calibri" pitchFamily="34" charset="0"/>
                          <a:ea typeface="Calibri" pitchFamily="34" charset="-122"/>
                          <a:cs typeface="Calibri" pitchFamily="34" charset="-120"/>
                        </a:rPr>
                        <a:t>Cost and time; cap the number of rounds</a:t>
                      </a:r>
                      <a:endParaRPr lang="en-US" sz="1250" dirty="0">
                        <a:latin typeface="Calibri" charset="0"/>
                        <a:ea typeface="Calibri" charset="0"/>
                        <a:cs typeface="Calibri" charset="0"/>
                      </a:endParaRPr>
                    </a:p>
                  </a:txBody>
                  <a:tcPr marL="101600" marR="101600" marT="50800" marB="50800" anchor="ctr">
                    <a:lnL w="9525" cap="flat" cmpd="sng" algn="ctr">
                      <a:solidFill>
                        <a:srgbClr val="D3D1C7"/>
                      </a:solidFill>
                      <a:prstDash val="solid"/>
                      <a:round/>
                      <a:headEnd type="none" w="med" len="med"/>
                      <a:tailEnd type="none" w="med" len="med"/>
                    </a:lnL>
                    <a:lnR w="9525" cap="flat" cmpd="sng" algn="ctr">
                      <a:solidFill>
                        <a:srgbClr val="D3D1C7"/>
                      </a:solidFill>
                      <a:prstDash val="solid"/>
                      <a:round/>
                      <a:headEnd type="none" w="med" len="med"/>
                      <a:tailEnd type="none" w="med" len="med"/>
                    </a:lnR>
                    <a:lnT w="9525" cap="flat" cmpd="sng" algn="ctr">
                      <a:solidFill>
                        <a:srgbClr val="D3D1C7"/>
                      </a:solidFill>
                      <a:prstDash val="solid"/>
                      <a:round/>
                      <a:headEnd type="none" w="med" len="med"/>
                      <a:tailEnd type="none" w="med" len="med"/>
                    </a:lnT>
                    <a:lnB w="9525" cap="flat" cmpd="sng" algn="ctr">
                      <a:solidFill>
                        <a:srgbClr val="D3D1C7"/>
                      </a:solidFill>
                      <a:prstDash val="solid"/>
                      <a:round/>
                      <a:headEnd type="none" w="med" len="med"/>
                      <a:tailEnd type="none" w="med" len="med"/>
                    </a:lnB>
                  </a:tcPr>
                </a:tc>
              </a:tr>
              <a:tr h="603504">
                <a:tc>
                  <a:txBody>
                    <a:bodyPr/>
                    <a:lstStyle/>
                    <a:p>
                      <a:pPr indent="0" marL="0">
                        <a:buNone/>
                      </a:pPr>
                      <a:r>
                        <a:rPr lang="en-US" sz="1300" dirty="0">
                          <a:solidFill>
                            <a:srgbClr val="2C2C2A"/>
                          </a:solidFill>
                          <a:latin typeface="Calibri" pitchFamily="34" charset="0"/>
                          <a:ea typeface="Calibri" pitchFamily="34" charset="-122"/>
                          <a:cs typeface="Calibri" pitchFamily="34" charset="-120"/>
                        </a:rPr>
                        <a:t>Many independent sub-tasks, then a sign-off</a:t>
                      </a:r>
                      <a:endParaRPr lang="en-US" sz="1300" dirty="0">
                        <a:latin typeface="Calibri" charset="0"/>
                        <a:ea typeface="Calibri" charset="0"/>
                        <a:cs typeface="Calibri" charset="0"/>
                      </a:endParaRPr>
                    </a:p>
                  </a:txBody>
                  <a:tcPr marL="101600" marR="101600" marT="50800" marB="50800" anchor="ctr">
                    <a:lnL w="9525" cap="flat" cmpd="sng" algn="ctr">
                      <a:solidFill>
                        <a:srgbClr val="D3D1C7"/>
                      </a:solidFill>
                      <a:prstDash val="solid"/>
                      <a:round/>
                      <a:headEnd type="none" w="med" len="med"/>
                      <a:tailEnd type="none" w="med" len="med"/>
                    </a:lnL>
                    <a:lnR w="9525" cap="flat" cmpd="sng" algn="ctr">
                      <a:solidFill>
                        <a:srgbClr val="D3D1C7"/>
                      </a:solidFill>
                      <a:prstDash val="solid"/>
                      <a:round/>
                      <a:headEnd type="none" w="med" len="med"/>
                      <a:tailEnd type="none" w="med" len="med"/>
                    </a:lnR>
                    <a:lnT w="9525" cap="flat" cmpd="sng" algn="ctr">
                      <a:solidFill>
                        <a:srgbClr val="D3D1C7"/>
                      </a:solidFill>
                      <a:prstDash val="solid"/>
                      <a:round/>
                      <a:headEnd type="none" w="med" len="med"/>
                      <a:tailEnd type="none" w="med" len="med"/>
                    </a:lnT>
                    <a:lnB w="9525" cap="flat" cmpd="sng" algn="ctr">
                      <a:solidFill>
                        <a:srgbClr val="D3D1C7"/>
                      </a:solidFill>
                      <a:prstDash val="solid"/>
                      <a:round/>
                      <a:headEnd type="none" w="med" len="med"/>
                      <a:tailEnd type="none" w="med" len="med"/>
                    </a:lnB>
                  </a:tcPr>
                </a:tc>
                <a:tc>
                  <a:txBody>
                    <a:bodyPr/>
                    <a:lstStyle/>
                    <a:p>
                      <a:pPr indent="0" marL="0">
                        <a:buNone/>
                      </a:pPr>
                      <a:r>
                        <a:rPr lang="en-US" sz="1350" b="1" dirty="0">
                          <a:solidFill>
                            <a:srgbClr val="3C3489"/>
                          </a:solidFill>
                          <a:latin typeface="Calibri" pitchFamily="34" charset="0"/>
                          <a:ea typeface="Calibri" pitchFamily="34" charset="-122"/>
                          <a:cs typeface="Calibri" pitchFamily="34" charset="-120"/>
                        </a:rPr>
                        <a:t>Parallel Swarm + Human Gate</a:t>
                      </a:r>
                      <a:endParaRPr lang="en-US" sz="1350" dirty="0">
                        <a:latin typeface="Calibri" charset="0"/>
                        <a:ea typeface="Calibri" charset="0"/>
                        <a:cs typeface="Calibri" charset="0"/>
                      </a:endParaRPr>
                    </a:p>
                  </a:txBody>
                  <a:tcPr marL="101600" marR="101600" marT="50800" marB="50800" anchor="ctr">
                    <a:lnL w="9525" cap="flat" cmpd="sng" algn="ctr">
                      <a:solidFill>
                        <a:srgbClr val="D3D1C7"/>
                      </a:solidFill>
                      <a:prstDash val="solid"/>
                      <a:round/>
                      <a:headEnd type="none" w="med" len="med"/>
                      <a:tailEnd type="none" w="med" len="med"/>
                    </a:lnL>
                    <a:lnR w="9525" cap="flat" cmpd="sng" algn="ctr">
                      <a:solidFill>
                        <a:srgbClr val="D3D1C7"/>
                      </a:solidFill>
                      <a:prstDash val="solid"/>
                      <a:round/>
                      <a:headEnd type="none" w="med" len="med"/>
                      <a:tailEnd type="none" w="med" len="med"/>
                    </a:lnR>
                    <a:lnT w="9525" cap="flat" cmpd="sng" algn="ctr">
                      <a:solidFill>
                        <a:srgbClr val="D3D1C7"/>
                      </a:solidFill>
                      <a:prstDash val="solid"/>
                      <a:round/>
                      <a:headEnd type="none" w="med" len="med"/>
                      <a:tailEnd type="none" w="med" len="med"/>
                    </a:lnT>
                    <a:lnB w="9525" cap="flat" cmpd="sng" algn="ctr">
                      <a:solidFill>
                        <a:srgbClr val="D3D1C7"/>
                      </a:solidFill>
                      <a:prstDash val="solid"/>
                      <a:round/>
                      <a:headEnd type="none" w="med" len="med"/>
                      <a:tailEnd type="none" w="med" len="med"/>
                    </a:lnB>
                  </a:tcPr>
                </a:tc>
                <a:tc>
                  <a:txBody>
                    <a:bodyPr/>
                    <a:lstStyle/>
                    <a:p>
                      <a:pPr indent="0" marL="0">
                        <a:buNone/>
                      </a:pPr>
                      <a:r>
                        <a:rPr lang="en-US" sz="1250" dirty="0">
                          <a:solidFill>
                            <a:srgbClr val="5F5E5A"/>
                          </a:solidFill>
                          <a:latin typeface="Calibri" pitchFamily="34" charset="0"/>
                          <a:ea typeface="Calibri" pitchFamily="34" charset="-122"/>
                          <a:cs typeface="Calibri" pitchFamily="34" charset="-120"/>
                        </a:rPr>
                        <a:t>Screen 50 supplier documents in parallel; a manager approves the shortlist</a:t>
                      </a:r>
                      <a:endParaRPr lang="en-US" sz="1250" dirty="0">
                        <a:latin typeface="Calibri" charset="0"/>
                        <a:ea typeface="Calibri" charset="0"/>
                        <a:cs typeface="Calibri" charset="0"/>
                      </a:endParaRPr>
                    </a:p>
                  </a:txBody>
                  <a:tcPr marL="101600" marR="101600" marT="50800" marB="50800" anchor="ctr">
                    <a:lnL w="9525" cap="flat" cmpd="sng" algn="ctr">
                      <a:solidFill>
                        <a:srgbClr val="D3D1C7"/>
                      </a:solidFill>
                      <a:prstDash val="solid"/>
                      <a:round/>
                      <a:headEnd type="none" w="med" len="med"/>
                      <a:tailEnd type="none" w="med" len="med"/>
                    </a:lnL>
                    <a:lnR w="9525" cap="flat" cmpd="sng" algn="ctr">
                      <a:solidFill>
                        <a:srgbClr val="D3D1C7"/>
                      </a:solidFill>
                      <a:prstDash val="solid"/>
                      <a:round/>
                      <a:headEnd type="none" w="med" len="med"/>
                      <a:tailEnd type="none" w="med" len="med"/>
                    </a:lnR>
                    <a:lnT w="9525" cap="flat" cmpd="sng" algn="ctr">
                      <a:solidFill>
                        <a:srgbClr val="D3D1C7"/>
                      </a:solidFill>
                      <a:prstDash val="solid"/>
                      <a:round/>
                      <a:headEnd type="none" w="med" len="med"/>
                      <a:tailEnd type="none" w="med" len="med"/>
                    </a:lnT>
                    <a:lnB w="9525" cap="flat" cmpd="sng" algn="ctr">
                      <a:solidFill>
                        <a:srgbClr val="D3D1C7"/>
                      </a:solidFill>
                      <a:prstDash val="solid"/>
                      <a:round/>
                      <a:headEnd type="none" w="med" len="med"/>
                      <a:tailEnd type="none" w="med" len="med"/>
                    </a:lnB>
                  </a:tcPr>
                </a:tc>
                <a:tc>
                  <a:txBody>
                    <a:bodyPr/>
                    <a:lstStyle/>
                    <a:p>
                      <a:pPr indent="0" marL="0">
                        <a:buNone/>
                      </a:pPr>
                      <a:r>
                        <a:rPr lang="en-US" sz="1250" dirty="0">
                          <a:solidFill>
                            <a:srgbClr val="712B13"/>
                          </a:solidFill>
                          <a:latin typeface="Calibri" pitchFamily="34" charset="0"/>
                          <a:ea typeface="Calibri" pitchFamily="34" charset="-122"/>
                          <a:cs typeface="Calibri" pitchFamily="34" charset="-120"/>
                        </a:rPr>
                        <a:t>Merging results, and approval fatigue</a:t>
                      </a:r>
                      <a:endParaRPr lang="en-US" sz="1250" dirty="0">
                        <a:latin typeface="Calibri" charset="0"/>
                        <a:ea typeface="Calibri" charset="0"/>
                        <a:cs typeface="Calibri" charset="0"/>
                      </a:endParaRPr>
                    </a:p>
                  </a:txBody>
                  <a:tcPr marL="101600" marR="101600" marT="50800" marB="50800" anchor="ctr">
                    <a:lnL w="9525" cap="flat" cmpd="sng" algn="ctr">
                      <a:solidFill>
                        <a:srgbClr val="D3D1C7"/>
                      </a:solidFill>
                      <a:prstDash val="solid"/>
                      <a:round/>
                      <a:headEnd type="none" w="med" len="med"/>
                      <a:tailEnd type="none" w="med" len="med"/>
                    </a:lnL>
                    <a:lnR w="9525" cap="flat" cmpd="sng" algn="ctr">
                      <a:solidFill>
                        <a:srgbClr val="D3D1C7"/>
                      </a:solidFill>
                      <a:prstDash val="solid"/>
                      <a:round/>
                      <a:headEnd type="none" w="med" len="med"/>
                      <a:tailEnd type="none" w="med" len="med"/>
                    </a:lnR>
                    <a:lnT w="9525" cap="flat" cmpd="sng" algn="ctr">
                      <a:solidFill>
                        <a:srgbClr val="D3D1C7"/>
                      </a:solidFill>
                      <a:prstDash val="solid"/>
                      <a:round/>
                      <a:headEnd type="none" w="med" len="med"/>
                      <a:tailEnd type="none" w="med" len="med"/>
                    </a:lnT>
                    <a:lnB w="9525" cap="flat" cmpd="sng" algn="ctr">
                      <a:solidFill>
                        <a:srgbClr val="D3D1C7"/>
                      </a:solidFill>
                      <a:prstDash val="solid"/>
                      <a:round/>
                      <a:headEnd type="none" w="med" len="med"/>
                      <a:tailEnd type="none" w="med" len="med"/>
                    </a:lnB>
                  </a:tcPr>
                </a:tc>
              </a:tr>
            </a:tbl>
          </a:graphicData>
        </a:graphic>
      </p:graphicFrame>
      <p:sp>
        <p:nvSpPr>
          <p:cNvPr id="6" name="!!rule"/>
          <p:cNvSpPr/>
          <p:nvPr/>
        </p:nvSpPr>
        <p:spPr>
          <a:xfrm>
            <a:off x="502920" y="5806440"/>
            <a:ext cx="11183112" cy="502920"/>
          </a:xfrm>
          <a:prstGeom prst="roundRect">
            <a:avLst>
              <a:gd name="adj" fmla="val 18182"/>
            </a:avLst>
          </a:prstGeom>
          <a:solidFill>
            <a:srgbClr val="E1F5EE"/>
          </a:solidFill>
          <a:ln w="12700">
            <a:solidFill>
              <a:srgbClr val="0F6E56"/>
            </a:solidFill>
            <a:prstDash val="solid"/>
          </a:ln>
        </p:spPr>
        <p:txBody>
          <a:bodyPr wrap="square" lIns="152400" tIns="152400" rIns="152400" bIns="152400" rtlCol="0" anchor="ctr"/>
          <a:lstStyle/>
          <a:p>
            <a:pPr algn="l" indent="0" marL="0">
              <a:buNone/>
            </a:pPr>
            <a:r>
              <a:rPr lang="en-US" sz="1400" b="1" dirty="0">
                <a:solidFill>
                  <a:srgbClr val="085041"/>
                </a:solidFill>
                <a:latin typeface="Calibri" pitchFamily="34" charset="0"/>
                <a:ea typeface="Calibri" pitchFamily="34" charset="-122"/>
                <a:cs typeface="Calibri" pitchFamily="34" charset="-120"/>
              </a:rPr>
              <a:t>Rule of thumb  </a:t>
            </a:r>
            <a:pPr algn="l" indent="0" marL="0">
              <a:buNone/>
            </a:pPr>
            <a:r>
              <a:rPr lang="en-US" sz="1400" dirty="0">
                <a:solidFill>
                  <a:srgbClr val="085041"/>
                </a:solidFill>
                <a:latin typeface="Calibri" pitchFamily="34" charset="0"/>
                <a:ea typeface="Calibri" pitchFamily="34" charset="-122"/>
                <a:cs typeface="Calibri" pitchFamily="34" charset="-120"/>
              </a:rPr>
              <a:t>Pick the simplest pattern that meets the need. Start with one agent; add structure only when it breaks.</a:t>
            </a:r>
            <a:endParaRPr lang="en-US" sz="1400" dirty="0"/>
          </a:p>
        </p:txBody>
      </p:sp>
      <p:sp>
        <p:nvSpPr>
          <p:cNvPr id="25" name="Slide Number Placeholder 0"/>
          <p:cNvSpPr>
            <a:spLocks noGrp="1"/>
          </p:cNvSpPr>
          <p:nvPr>
            <p:ph type="sldNum" sz="quarter" idx="4294967295"/>
          </p:nvPr>
        </p:nvSpPr>
        <p:spPr>
          <a:xfrm>
            <a:off x="5641848" y="6382512"/>
            <a:ext cx="914400" cy="201168"/>
          </a:xfrm>
          <a:prstGeom prst="rect">
            <a:avLst/>
          </a:prstGeom>
          <a:extLst>
            <a:ext uri="{C572A759-6A51-4108-AA02-DFA0A04FC94B}">
              <ma14:wrappingTextBoxFlag xmlns:ma14="http://schemas.microsoft.com/office/mac/drawingml/2011/main" val="0"/>
            </a:ext>
          </a:extLst>
        </p:spPr>
        <p:txBody>
          <a:bodyPr/>
          <a:lstStyle>
            <a:lvl1pPr>
              <a:defRPr sz="1000">
                <a:solidFill>
                  <a:srgbClr val="595959"/>
                </a:solidFill>
                <a:latin typeface="Arial"/>
                <a:ea typeface="Arial"/>
                <a:cs typeface="Arial"/>
              </a:defRPr>
            </a:lvl1pPr>
          </a:lstStyle>
          <a:p>
            <a:pPr algn="ct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itle"/>
          <p:cNvSpPr txBox="1"/>
          <p:nvPr/>
        </p:nvSpPr>
        <p:spPr>
          <a:xfrm>
            <a:off x="411480" y="201168"/>
            <a:ext cx="11338560" cy="530352"/>
          </a:xfrm>
          <a:prstGeom prst="rect">
            <a:avLst/>
          </a:prstGeom>
          <a:noFill/>
          <a:ln/>
        </p:spPr>
        <p:txBody>
          <a:bodyPr wrap="square" lIns="0" tIns="0" rIns="0" bIns="0" rtlCol="0" anchor="b"/>
          <a:lstStyle/>
          <a:p>
            <a:pPr algn="l" indent="0" marL="0">
              <a:buNone/>
            </a:pPr>
            <a:r>
              <a:rPr lang="en-US" sz="2600" b="1" dirty="0">
                <a:solidFill>
                  <a:srgbClr val="1A1A1A"/>
                </a:solidFill>
                <a:latin typeface="Calibri" pitchFamily="34" charset="0"/>
                <a:ea typeface="Calibri" pitchFamily="34" charset="-122"/>
                <a:cs typeface="Calibri" pitchFamily="34" charset="-120"/>
              </a:rPr>
              <a:t>Design Principles You Can Apply Tomorrow</a:t>
            </a:r>
            <a:endParaRPr lang="en-US" sz="2600" dirty="0"/>
          </a:p>
        </p:txBody>
      </p:sp>
      <p:sp>
        <p:nvSpPr>
          <p:cNvPr id="3" name="!!rule"/>
          <p:cNvSpPr/>
          <p:nvPr/>
        </p:nvSpPr>
        <p:spPr>
          <a:xfrm>
            <a:off x="411480" y="804672"/>
            <a:ext cx="11365992" cy="914"/>
          </a:xfrm>
          <a:prstGeom prst="line">
            <a:avLst/>
          </a:prstGeom>
          <a:noFill/>
          <a:ln w="9525">
            <a:solidFill>
              <a:srgbClr val="7F7F7F"/>
            </a:solidFill>
            <a:prstDash val="solid"/>
          </a:ln>
        </p:spPr>
        <p:txBody>
          <a:bodyPr/>
          <a:p/>
        </p:txBody>
      </p:sp>
      <p:sp>
        <p:nvSpPr>
          <p:cNvPr id="4" name="!!lead"/>
          <p:cNvSpPr txBox="1"/>
          <p:nvPr/>
        </p:nvSpPr>
        <p:spPr>
          <a:xfrm>
            <a:off x="411480" y="886968"/>
            <a:ext cx="11338560" cy="438912"/>
          </a:xfrm>
          <a:prstGeom prst="rect">
            <a:avLst/>
          </a:prstGeom>
          <a:noFill/>
          <a:ln/>
        </p:spPr>
        <p:txBody>
          <a:bodyPr wrap="square" lIns="0" tIns="0" rIns="0" bIns="0" rtlCol="0" anchor="t"/>
          <a:lstStyle/>
          <a:p>
            <a:pPr indent="0" marL="0">
              <a:buNone/>
            </a:pPr>
            <a:r>
              <a:rPr lang="en-US" sz="1400" dirty="0">
                <a:solidFill>
                  <a:srgbClr val="404040"/>
                </a:solidFill>
                <a:latin typeface="Arial" pitchFamily="34" charset="0"/>
                <a:ea typeface="Arial" pitchFamily="34" charset="-122"/>
                <a:cs typeface="Arial" pitchFamily="34" charset="-120"/>
              </a:rPr>
              <a:t>Eight habits that prevent the mistakes on slide 14. Capture them in a role card for every agent before any code is written.</a:t>
            </a:r>
            <a:endParaRPr lang="en-US" sz="1400" dirty="0"/>
          </a:p>
        </p:txBody>
      </p:sp>
      <p:sp>
        <p:nvSpPr>
          <p:cNvPr id="5" name="!!pn1"/>
          <p:cNvSpPr/>
          <p:nvPr/>
        </p:nvSpPr>
        <p:spPr>
          <a:xfrm>
            <a:off x="502920" y="1463040"/>
            <a:ext cx="384048" cy="384048"/>
          </a:xfrm>
          <a:prstGeom prst="ellipse">
            <a:avLst/>
          </a:prstGeom>
          <a:solidFill>
            <a:srgbClr val="534AB7"/>
          </a:solidFill>
          <a:ln w="12700">
            <a:solidFill>
              <a:srgbClr val="534AB7"/>
            </a:solidFill>
            <a:prstDash val="solid"/>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6" name="!!pt1"/>
          <p:cNvSpPr txBox="1"/>
          <p:nvPr/>
        </p:nvSpPr>
        <p:spPr>
          <a:xfrm>
            <a:off x="1033272" y="1417320"/>
            <a:ext cx="2743200" cy="868680"/>
          </a:xfrm>
          <a:prstGeom prst="rect">
            <a:avLst/>
          </a:prstGeom>
          <a:noFill/>
          <a:ln/>
        </p:spPr>
        <p:txBody>
          <a:bodyPr wrap="square" lIns="0" tIns="0" rIns="0" bIns="0" rtlCol="0" anchor="t"/>
          <a:lstStyle/>
          <a:p>
            <a:pPr algn="l" indent="0" marL="0">
              <a:buNone/>
            </a:pPr>
            <a:r>
              <a:rPr lang="en-US" sz="1550" b="1" dirty="0">
                <a:solidFill>
                  <a:srgbClr val="3C3489"/>
                </a:solidFill>
                <a:latin typeface="Calibri" pitchFamily="34" charset="0"/>
                <a:ea typeface="Calibri" pitchFamily="34" charset="-122"/>
                <a:cs typeface="Calibri" pitchFamily="34" charset="-120"/>
              </a:rPr>
              <a:t>One job per agent</a:t>
            </a:r>
            <a:endParaRPr lang="en-US" sz="1400" dirty="0"/>
          </a:p>
          <a:p>
            <a:pPr algn="l" indent="0" marL="0">
              <a:buNone/>
            </a:pPr>
            <a:r>
              <a:rPr lang="en-US" sz="1300" dirty="0">
                <a:solidFill>
                  <a:srgbClr val="5F5E5A"/>
                </a:solidFill>
                <a:latin typeface="Calibri" pitchFamily="34" charset="0"/>
                <a:ea typeface="Calibri" pitchFamily="34" charset="-122"/>
                <a:cs typeface="Calibri" pitchFamily="34" charset="-120"/>
              </a:rPr>
              <a:t>A clear goal, its own tools, inputs and outputs.</a:t>
            </a:r>
            <a:endParaRPr lang="en-US" sz="1400" dirty="0"/>
          </a:p>
        </p:txBody>
      </p:sp>
      <p:sp>
        <p:nvSpPr>
          <p:cNvPr id="7" name="!!pn2"/>
          <p:cNvSpPr/>
          <p:nvPr/>
        </p:nvSpPr>
        <p:spPr>
          <a:xfrm>
            <a:off x="3977640" y="1463040"/>
            <a:ext cx="384048" cy="384048"/>
          </a:xfrm>
          <a:prstGeom prst="ellipse">
            <a:avLst/>
          </a:prstGeom>
          <a:solidFill>
            <a:srgbClr val="534AB7"/>
          </a:solidFill>
          <a:ln w="12700">
            <a:solidFill>
              <a:srgbClr val="534AB7"/>
            </a:solidFill>
            <a:prstDash val="solid"/>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8" name="!!pt2"/>
          <p:cNvSpPr txBox="1"/>
          <p:nvPr/>
        </p:nvSpPr>
        <p:spPr>
          <a:xfrm>
            <a:off x="4507992" y="1417320"/>
            <a:ext cx="2743200" cy="868680"/>
          </a:xfrm>
          <a:prstGeom prst="rect">
            <a:avLst/>
          </a:prstGeom>
          <a:noFill/>
          <a:ln/>
        </p:spPr>
        <p:txBody>
          <a:bodyPr wrap="square" lIns="0" tIns="0" rIns="0" bIns="0" rtlCol="0" anchor="t"/>
          <a:lstStyle/>
          <a:p>
            <a:pPr algn="l" indent="0" marL="0">
              <a:buNone/>
            </a:pPr>
            <a:r>
              <a:rPr lang="en-US" sz="1550" b="1" dirty="0">
                <a:solidFill>
                  <a:srgbClr val="3C3489"/>
                </a:solidFill>
                <a:latin typeface="Calibri" pitchFamily="34" charset="0"/>
                <a:ea typeface="Calibri" pitchFamily="34" charset="-122"/>
                <a:cs typeface="Calibri" pitchFamily="34" charset="-120"/>
              </a:rPr>
              <a:t>Define “done”</a:t>
            </a:r>
            <a:endParaRPr lang="en-US" sz="1400" dirty="0"/>
          </a:p>
          <a:p>
            <a:pPr algn="l" indent="0" marL="0">
              <a:buNone/>
            </a:pPr>
            <a:r>
              <a:rPr lang="en-US" sz="1300" dirty="0">
                <a:solidFill>
                  <a:srgbClr val="5F5E5A"/>
                </a:solidFill>
                <a:latin typeface="Calibri" pitchFamily="34" charset="0"/>
                <a:ea typeface="Calibri" pitchFamily="34" charset="-122"/>
                <a:cs typeface="Calibri" pitchFamily="34" charset="-120"/>
              </a:rPr>
              <a:t>Return a structured status, not free text.</a:t>
            </a:r>
            <a:endParaRPr lang="en-US" sz="1400" dirty="0"/>
          </a:p>
        </p:txBody>
      </p:sp>
      <p:sp>
        <p:nvSpPr>
          <p:cNvPr id="9" name="!!pn3"/>
          <p:cNvSpPr/>
          <p:nvPr/>
        </p:nvSpPr>
        <p:spPr>
          <a:xfrm>
            <a:off x="502920" y="2578608"/>
            <a:ext cx="384048" cy="384048"/>
          </a:xfrm>
          <a:prstGeom prst="ellipse">
            <a:avLst/>
          </a:prstGeom>
          <a:solidFill>
            <a:srgbClr val="534AB7"/>
          </a:solidFill>
          <a:ln w="12700">
            <a:solidFill>
              <a:srgbClr val="534AB7"/>
            </a:solidFill>
            <a:prstDash val="solid"/>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0" name="!!pt3"/>
          <p:cNvSpPr txBox="1"/>
          <p:nvPr/>
        </p:nvSpPr>
        <p:spPr>
          <a:xfrm>
            <a:off x="1033272" y="2532888"/>
            <a:ext cx="2743200" cy="868680"/>
          </a:xfrm>
          <a:prstGeom prst="rect">
            <a:avLst/>
          </a:prstGeom>
          <a:noFill/>
          <a:ln/>
        </p:spPr>
        <p:txBody>
          <a:bodyPr wrap="square" lIns="0" tIns="0" rIns="0" bIns="0" rtlCol="0" anchor="t"/>
          <a:lstStyle/>
          <a:p>
            <a:pPr algn="l" indent="0" marL="0">
              <a:buNone/>
            </a:pPr>
            <a:r>
              <a:rPr lang="en-US" sz="1550" b="1" dirty="0">
                <a:solidFill>
                  <a:srgbClr val="3C3489"/>
                </a:solidFill>
                <a:latin typeface="Calibri" pitchFamily="34" charset="0"/>
                <a:ea typeface="Calibri" pitchFamily="34" charset="-122"/>
                <a:cs typeface="Calibri" pitchFamily="34" charset="-120"/>
              </a:rPr>
              <a:t>Few tools, least privilege</a:t>
            </a:r>
            <a:endParaRPr lang="en-US" sz="1400" dirty="0"/>
          </a:p>
          <a:p>
            <a:pPr algn="l" indent="0" marL="0">
              <a:buNone/>
            </a:pPr>
            <a:r>
              <a:rPr lang="en-US" sz="1300" dirty="0">
                <a:solidFill>
                  <a:srgbClr val="5F5E5A"/>
                </a:solidFill>
                <a:latin typeface="Calibri" pitchFamily="34" charset="0"/>
                <a:ea typeface="Calibri" pitchFamily="34" charset="-122"/>
                <a:cs typeface="Calibri" pitchFamily="34" charset="-120"/>
              </a:rPr>
              <a:t>A handful of tools per agent, read-only where possible.</a:t>
            </a:r>
            <a:endParaRPr lang="en-US" sz="1400" dirty="0"/>
          </a:p>
        </p:txBody>
      </p:sp>
      <p:sp>
        <p:nvSpPr>
          <p:cNvPr id="11" name="!!pn4"/>
          <p:cNvSpPr/>
          <p:nvPr/>
        </p:nvSpPr>
        <p:spPr>
          <a:xfrm>
            <a:off x="3977640" y="2578608"/>
            <a:ext cx="384048" cy="384048"/>
          </a:xfrm>
          <a:prstGeom prst="ellipse">
            <a:avLst/>
          </a:prstGeom>
          <a:solidFill>
            <a:srgbClr val="534AB7"/>
          </a:solidFill>
          <a:ln w="12700">
            <a:solidFill>
              <a:srgbClr val="534AB7"/>
            </a:solidFill>
            <a:prstDash val="solid"/>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2" name="!!pt4"/>
          <p:cNvSpPr txBox="1"/>
          <p:nvPr/>
        </p:nvSpPr>
        <p:spPr>
          <a:xfrm>
            <a:off x="4507992" y="2532888"/>
            <a:ext cx="2743200" cy="868680"/>
          </a:xfrm>
          <a:prstGeom prst="rect">
            <a:avLst/>
          </a:prstGeom>
          <a:noFill/>
          <a:ln/>
        </p:spPr>
        <p:txBody>
          <a:bodyPr wrap="square" lIns="0" tIns="0" rIns="0" bIns="0" rtlCol="0" anchor="t"/>
          <a:lstStyle/>
          <a:p>
            <a:pPr algn="l" indent="0" marL="0">
              <a:buNone/>
            </a:pPr>
            <a:r>
              <a:rPr lang="en-US" sz="1550" b="1" dirty="0">
                <a:solidFill>
                  <a:srgbClr val="3C3489"/>
                </a:solidFill>
                <a:latin typeface="Calibri" pitchFamily="34" charset="0"/>
                <a:ea typeface="Calibri" pitchFamily="34" charset="-122"/>
                <a:cs typeface="Calibri" pitchFamily="34" charset="-120"/>
              </a:rPr>
              <a:t>Pass state, not chat</a:t>
            </a:r>
            <a:endParaRPr lang="en-US" sz="1400" dirty="0"/>
          </a:p>
          <a:p>
            <a:pPr algn="l" indent="0" marL="0">
              <a:buNone/>
            </a:pPr>
            <a:r>
              <a:rPr lang="en-US" sz="1300" dirty="0">
                <a:solidFill>
                  <a:srgbClr val="5F5E5A"/>
                </a:solidFill>
                <a:latin typeface="Calibri" pitchFamily="34" charset="0"/>
                <a:ea typeface="Calibri" pitchFamily="34" charset="-122"/>
                <a:cs typeface="Calibri" pitchFamily="34" charset="-120"/>
              </a:rPr>
              <a:t>A small typed state; each agent writes only its keys.</a:t>
            </a:r>
            <a:endParaRPr lang="en-US" sz="1400" dirty="0"/>
          </a:p>
        </p:txBody>
      </p:sp>
      <p:sp>
        <p:nvSpPr>
          <p:cNvPr id="13" name="!!pn5"/>
          <p:cNvSpPr/>
          <p:nvPr/>
        </p:nvSpPr>
        <p:spPr>
          <a:xfrm>
            <a:off x="502920" y="3694176"/>
            <a:ext cx="384048" cy="384048"/>
          </a:xfrm>
          <a:prstGeom prst="ellipse">
            <a:avLst/>
          </a:prstGeom>
          <a:solidFill>
            <a:srgbClr val="534AB7"/>
          </a:solidFill>
          <a:ln w="12700">
            <a:solidFill>
              <a:srgbClr val="534AB7"/>
            </a:solidFill>
            <a:prstDash val="solid"/>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14" name="!!pt5"/>
          <p:cNvSpPr txBox="1"/>
          <p:nvPr/>
        </p:nvSpPr>
        <p:spPr>
          <a:xfrm>
            <a:off x="1033272" y="3648456"/>
            <a:ext cx="2743200" cy="868680"/>
          </a:xfrm>
          <a:prstGeom prst="rect">
            <a:avLst/>
          </a:prstGeom>
          <a:noFill/>
          <a:ln/>
        </p:spPr>
        <p:txBody>
          <a:bodyPr wrap="square" lIns="0" tIns="0" rIns="0" bIns="0" rtlCol="0" anchor="t"/>
          <a:lstStyle/>
          <a:p>
            <a:pPr algn="l" indent="0" marL="0">
              <a:buNone/>
            </a:pPr>
            <a:r>
              <a:rPr lang="en-US" sz="1550" b="1" dirty="0">
                <a:solidFill>
                  <a:srgbClr val="3C3489"/>
                </a:solidFill>
                <a:latin typeface="Calibri" pitchFamily="34" charset="0"/>
                <a:ea typeface="Calibri" pitchFamily="34" charset="-122"/>
                <a:cs typeface="Calibri" pitchFamily="34" charset="-120"/>
              </a:rPr>
              <a:t>Bound everything</a:t>
            </a:r>
            <a:endParaRPr lang="en-US" sz="1400" dirty="0"/>
          </a:p>
          <a:p>
            <a:pPr algn="l" indent="0" marL="0">
              <a:buNone/>
            </a:pPr>
            <a:r>
              <a:rPr lang="en-US" sz="1300" dirty="0">
                <a:solidFill>
                  <a:srgbClr val="5F5E5A"/>
                </a:solidFill>
                <a:latin typeface="Calibri" pitchFamily="34" charset="0"/>
                <a:ea typeface="Calibri" pitchFamily="34" charset="-122"/>
                <a:cs typeface="Calibri" pitchFamily="34" charset="-120"/>
              </a:rPr>
              <a:t>Max steps, retries, timeouts and tokens.</a:t>
            </a:r>
            <a:endParaRPr lang="en-US" sz="1400" dirty="0"/>
          </a:p>
        </p:txBody>
      </p:sp>
      <p:sp>
        <p:nvSpPr>
          <p:cNvPr id="15" name="!!pn6"/>
          <p:cNvSpPr/>
          <p:nvPr/>
        </p:nvSpPr>
        <p:spPr>
          <a:xfrm>
            <a:off x="3977640" y="3694176"/>
            <a:ext cx="384048" cy="384048"/>
          </a:xfrm>
          <a:prstGeom prst="ellipse">
            <a:avLst/>
          </a:prstGeom>
          <a:solidFill>
            <a:srgbClr val="534AB7"/>
          </a:solidFill>
          <a:ln w="12700">
            <a:solidFill>
              <a:srgbClr val="534AB7"/>
            </a:solidFill>
            <a:prstDash val="solid"/>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6</a:t>
            </a:r>
            <a:endParaRPr lang="en-US" sz="1400" dirty="0"/>
          </a:p>
        </p:txBody>
      </p:sp>
      <p:sp>
        <p:nvSpPr>
          <p:cNvPr id="16" name="!!pt6"/>
          <p:cNvSpPr txBox="1"/>
          <p:nvPr/>
        </p:nvSpPr>
        <p:spPr>
          <a:xfrm>
            <a:off x="4507992" y="3648456"/>
            <a:ext cx="2743200" cy="868680"/>
          </a:xfrm>
          <a:prstGeom prst="rect">
            <a:avLst/>
          </a:prstGeom>
          <a:noFill/>
          <a:ln/>
        </p:spPr>
        <p:txBody>
          <a:bodyPr wrap="square" lIns="0" tIns="0" rIns="0" bIns="0" rtlCol="0" anchor="t"/>
          <a:lstStyle/>
          <a:p>
            <a:pPr algn="l" indent="0" marL="0">
              <a:buNone/>
            </a:pPr>
            <a:r>
              <a:rPr lang="en-US" sz="1550" b="1" dirty="0">
                <a:solidFill>
                  <a:srgbClr val="3C3489"/>
                </a:solidFill>
                <a:latin typeface="Calibri" pitchFamily="34" charset="0"/>
                <a:ea typeface="Calibri" pitchFamily="34" charset="-122"/>
                <a:cs typeface="Calibri" pitchFamily="34" charset="-120"/>
              </a:rPr>
              <a:t>Separate maker and checker</a:t>
            </a:r>
            <a:endParaRPr lang="en-US" sz="1400" dirty="0"/>
          </a:p>
          <a:p>
            <a:pPr algn="l" indent="0" marL="0">
              <a:buNone/>
            </a:pPr>
            <a:r>
              <a:rPr lang="en-US" sz="1300" dirty="0">
                <a:solidFill>
                  <a:srgbClr val="5F5E5A"/>
                </a:solidFill>
                <a:latin typeface="Calibri" pitchFamily="34" charset="0"/>
                <a:ea typeface="Calibri" pitchFamily="34" charset="-122"/>
                <a:cs typeface="Calibri" pitchFamily="34" charset="-120"/>
              </a:rPr>
              <a:t>The agent that does the work never grades it.</a:t>
            </a:r>
            <a:endParaRPr lang="en-US" sz="1400" dirty="0"/>
          </a:p>
        </p:txBody>
      </p:sp>
      <p:sp>
        <p:nvSpPr>
          <p:cNvPr id="17" name="!!pn7"/>
          <p:cNvSpPr/>
          <p:nvPr/>
        </p:nvSpPr>
        <p:spPr>
          <a:xfrm>
            <a:off x="502920" y="4809744"/>
            <a:ext cx="384048" cy="384048"/>
          </a:xfrm>
          <a:prstGeom prst="ellipse">
            <a:avLst/>
          </a:prstGeom>
          <a:solidFill>
            <a:srgbClr val="534AB7"/>
          </a:solidFill>
          <a:ln w="12700">
            <a:solidFill>
              <a:srgbClr val="534AB7"/>
            </a:solidFill>
            <a:prstDash val="solid"/>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7</a:t>
            </a:r>
            <a:endParaRPr lang="en-US" sz="1400" dirty="0"/>
          </a:p>
        </p:txBody>
      </p:sp>
      <p:sp>
        <p:nvSpPr>
          <p:cNvPr id="18" name="!!pt7"/>
          <p:cNvSpPr txBox="1"/>
          <p:nvPr/>
        </p:nvSpPr>
        <p:spPr>
          <a:xfrm>
            <a:off x="1033272" y="4764024"/>
            <a:ext cx="2743200" cy="868680"/>
          </a:xfrm>
          <a:prstGeom prst="rect">
            <a:avLst/>
          </a:prstGeom>
          <a:noFill/>
          <a:ln/>
        </p:spPr>
        <p:txBody>
          <a:bodyPr wrap="square" lIns="0" tIns="0" rIns="0" bIns="0" rtlCol="0" anchor="t"/>
          <a:lstStyle/>
          <a:p>
            <a:pPr algn="l" indent="0" marL="0">
              <a:buNone/>
            </a:pPr>
            <a:r>
              <a:rPr lang="en-US" sz="1550" b="1" dirty="0">
                <a:solidFill>
                  <a:srgbClr val="3C3489"/>
                </a:solidFill>
                <a:latin typeface="Calibri" pitchFamily="34" charset="0"/>
                <a:ea typeface="Calibri" pitchFamily="34" charset="-122"/>
                <a:cs typeface="Calibri" pitchFamily="34" charset="-120"/>
              </a:rPr>
              <a:t>Human gate for the irreversible</a:t>
            </a:r>
            <a:endParaRPr lang="en-US" sz="1400" dirty="0"/>
          </a:p>
          <a:p>
            <a:pPr algn="l" indent="0" marL="0">
              <a:buNone/>
            </a:pPr>
            <a:r>
              <a:rPr lang="en-US" sz="1300" dirty="0">
                <a:solidFill>
                  <a:srgbClr val="5F5E5A"/>
                </a:solidFill>
                <a:latin typeface="Calibri" pitchFamily="34" charset="0"/>
                <a:ea typeface="Calibri" pitchFamily="34" charset="-122"/>
                <a:cs typeface="Calibri" pitchFamily="34" charset="-120"/>
              </a:rPr>
              <a:t>Approve before send, deploy, delete or close.</a:t>
            </a:r>
            <a:endParaRPr lang="en-US" sz="1400" dirty="0"/>
          </a:p>
        </p:txBody>
      </p:sp>
      <p:sp>
        <p:nvSpPr>
          <p:cNvPr id="19" name="!!pn8"/>
          <p:cNvSpPr/>
          <p:nvPr/>
        </p:nvSpPr>
        <p:spPr>
          <a:xfrm>
            <a:off x="3977640" y="4809744"/>
            <a:ext cx="384048" cy="384048"/>
          </a:xfrm>
          <a:prstGeom prst="ellipse">
            <a:avLst/>
          </a:prstGeom>
          <a:solidFill>
            <a:srgbClr val="534AB7"/>
          </a:solidFill>
          <a:ln w="12700">
            <a:solidFill>
              <a:srgbClr val="534AB7"/>
            </a:solidFill>
            <a:prstDash val="solid"/>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8</a:t>
            </a:r>
            <a:endParaRPr lang="en-US" sz="1400" dirty="0"/>
          </a:p>
        </p:txBody>
      </p:sp>
      <p:sp>
        <p:nvSpPr>
          <p:cNvPr id="20" name="!!pt8"/>
          <p:cNvSpPr txBox="1"/>
          <p:nvPr/>
        </p:nvSpPr>
        <p:spPr>
          <a:xfrm>
            <a:off x="4507992" y="4764024"/>
            <a:ext cx="2743200" cy="868680"/>
          </a:xfrm>
          <a:prstGeom prst="rect">
            <a:avLst/>
          </a:prstGeom>
          <a:noFill/>
          <a:ln/>
        </p:spPr>
        <p:txBody>
          <a:bodyPr wrap="square" lIns="0" tIns="0" rIns="0" bIns="0" rtlCol="0" anchor="t"/>
          <a:lstStyle/>
          <a:p>
            <a:pPr algn="l" indent="0" marL="0">
              <a:buNone/>
            </a:pPr>
            <a:r>
              <a:rPr lang="en-US" sz="1550" b="1" dirty="0">
                <a:solidFill>
                  <a:srgbClr val="3C3489"/>
                </a:solidFill>
                <a:latin typeface="Calibri" pitchFamily="34" charset="0"/>
                <a:ea typeface="Calibri" pitchFamily="34" charset="-122"/>
                <a:cs typeface="Calibri" pitchFamily="34" charset="-120"/>
              </a:rPr>
              <a:t>Make it observable</a:t>
            </a:r>
            <a:endParaRPr lang="en-US" sz="1400" dirty="0"/>
          </a:p>
          <a:p>
            <a:pPr algn="l" indent="0" marL="0">
              <a:buNone/>
            </a:pPr>
            <a:r>
              <a:rPr lang="en-US" sz="1300" dirty="0">
                <a:solidFill>
                  <a:srgbClr val="5F5E5A"/>
                </a:solidFill>
                <a:latin typeface="Calibri" pitchFamily="34" charset="0"/>
                <a:ea typeface="Calibri" pitchFamily="34" charset="-122"/>
                <a:cs typeface="Calibri" pitchFamily="34" charset="-120"/>
              </a:rPr>
              <a:t>Trace every hand-off: status, tokens, latency.</a:t>
            </a:r>
            <a:endParaRPr lang="en-US" sz="1400" dirty="0"/>
          </a:p>
        </p:txBody>
      </p:sp>
      <p:sp>
        <p:nvSpPr>
          <p:cNvPr id="21" name="!!card"/>
          <p:cNvSpPr/>
          <p:nvPr/>
        </p:nvSpPr>
        <p:spPr>
          <a:xfrm>
            <a:off x="7543800" y="1371600"/>
            <a:ext cx="4142232" cy="4343400"/>
          </a:xfrm>
          <a:prstGeom prst="roundRect">
            <a:avLst>
              <a:gd name="adj" fmla="val 2649"/>
            </a:avLst>
          </a:prstGeom>
          <a:solidFill>
            <a:srgbClr val="E1F5EE"/>
          </a:solidFill>
          <a:ln w="15875">
            <a:solidFill>
              <a:srgbClr val="0F6E56"/>
            </a:solidFill>
            <a:prstDash val="solid"/>
          </a:ln>
        </p:spPr>
        <p:txBody>
          <a:bodyPr wrap="square" lIns="50800" tIns="50800" rIns="50800" bIns="50800" rtlCol="0" anchor="ctr"/>
          <a:lstStyle/>
          <a:p>
            <a:pPr algn="ctr" indent="0" marL="0">
              <a:buNone/>
            </a:pPr>
            <a:endParaRPr lang="en-US" sz="1200" dirty="0"/>
          </a:p>
        </p:txBody>
      </p:sp>
      <p:pic>
        <p:nvPicPr>
          <p:cNvPr id="22" name="!!cardic" descr="/tmp/deck-icons/TbId_0F6E56.png">    </p:cNvPr>
          <p:cNvPicPr>
            <a:picLocks noChangeAspect="1"/>
          </p:cNvPicPr>
          <p:nvPr/>
        </p:nvPicPr>
        <p:blipFill>
          <a:blip r:embed="rId1"/>
          <a:stretch>
            <a:fillRect/>
          </a:stretch>
        </p:blipFill>
        <p:spPr>
          <a:xfrm>
            <a:off x="7772400" y="1572768"/>
            <a:ext cx="347472" cy="347472"/>
          </a:xfrm>
          <a:prstGeom prst="rect">
            <a:avLst/>
          </a:prstGeom>
        </p:spPr>
      </p:pic>
      <p:sp>
        <p:nvSpPr>
          <p:cNvPr id="23" name="!!cardh"/>
          <p:cNvSpPr txBox="1"/>
          <p:nvPr/>
        </p:nvSpPr>
        <p:spPr>
          <a:xfrm>
            <a:off x="8229600" y="1527048"/>
            <a:ext cx="3319272" cy="548640"/>
          </a:xfrm>
          <a:prstGeom prst="rect">
            <a:avLst/>
          </a:prstGeom>
          <a:noFill/>
          <a:ln/>
        </p:spPr>
        <p:txBody>
          <a:bodyPr wrap="square" lIns="0" tIns="0" rIns="0" bIns="0" rtlCol="0" anchor="t"/>
          <a:lstStyle/>
          <a:p>
            <a:pPr algn="l" indent="0" marL="0">
              <a:buNone/>
            </a:pPr>
            <a:r>
              <a:rPr lang="en-US" sz="1600" b="1" dirty="0">
                <a:solidFill>
                  <a:srgbClr val="085041"/>
                </a:solidFill>
                <a:latin typeface="Calibri" pitchFamily="34" charset="0"/>
                <a:ea typeface="Calibri" pitchFamily="34" charset="-122"/>
                <a:cs typeface="Calibri" pitchFamily="34" charset="-120"/>
              </a:rPr>
              <a:t>Role card · Research agent</a:t>
            </a:r>
            <a:endParaRPr lang="en-US" sz="1400" dirty="0"/>
          </a:p>
          <a:p>
            <a:pPr algn="l" indent="0" marL="0">
              <a:buNone/>
            </a:pPr>
            <a:r>
              <a:rPr lang="en-US" sz="1200" dirty="0">
                <a:solidFill>
                  <a:srgbClr val="0F6E56"/>
                </a:solidFill>
                <a:latin typeface="Calibri" pitchFamily="34" charset="0"/>
                <a:ea typeface="Calibri" pitchFamily="34" charset="-122"/>
                <a:cs typeface="Calibri" pitchFamily="34" charset="-120"/>
              </a:rPr>
              <a:t>Market brief</a:t>
            </a:r>
            <a:endParaRPr lang="en-US" sz="1400" dirty="0"/>
          </a:p>
        </p:txBody>
      </p:sp>
      <p:sp>
        <p:nvSpPr>
          <p:cNvPr id="24" name="!!ck0"/>
          <p:cNvSpPr txBox="1"/>
          <p:nvPr/>
        </p:nvSpPr>
        <p:spPr>
          <a:xfrm>
            <a:off x="7772400" y="2240280"/>
            <a:ext cx="1143000" cy="411480"/>
          </a:xfrm>
          <a:prstGeom prst="rect">
            <a:avLst/>
          </a:prstGeom>
          <a:noFill/>
          <a:ln/>
        </p:spPr>
        <p:txBody>
          <a:bodyPr wrap="square" lIns="0" tIns="0" rIns="0" bIns="0" rtlCol="0" anchor="ctr"/>
          <a:lstStyle/>
          <a:p>
            <a:pPr algn="l" indent="0" marL="0">
              <a:buNone/>
            </a:pPr>
            <a:r>
              <a:rPr lang="en-US" sz="1200" b="1" dirty="0">
                <a:solidFill>
                  <a:srgbClr val="085041"/>
                </a:solidFill>
                <a:latin typeface="Calibri" pitchFamily="34" charset="0"/>
                <a:ea typeface="Calibri" pitchFamily="34" charset="-122"/>
                <a:cs typeface="Calibri" pitchFamily="34" charset="-120"/>
              </a:rPr>
              <a:t>Goal</a:t>
            </a:r>
            <a:endParaRPr lang="en-US" sz="1200" dirty="0"/>
          </a:p>
        </p:txBody>
      </p:sp>
      <p:sp>
        <p:nvSpPr>
          <p:cNvPr id="25" name="!!cv0"/>
          <p:cNvSpPr txBox="1"/>
          <p:nvPr/>
        </p:nvSpPr>
        <p:spPr>
          <a:xfrm>
            <a:off x="8915400" y="2240280"/>
            <a:ext cx="2542032" cy="411480"/>
          </a:xfrm>
          <a:prstGeom prst="rect">
            <a:avLst/>
          </a:prstGeom>
          <a:noFill/>
          <a:ln/>
        </p:spPr>
        <p:txBody>
          <a:bodyPr wrap="square" lIns="0" tIns="0" rIns="0" bIns="0" rtlCol="0" anchor="ctr"/>
          <a:lstStyle/>
          <a:p>
            <a:pPr algn="l" indent="0" marL="0">
              <a:buNone/>
            </a:pPr>
            <a:r>
              <a:rPr lang="en-US" sz="1200" dirty="0">
                <a:solidFill>
                  <a:srgbClr val="2C2C2A"/>
                </a:solidFill>
                <a:latin typeface="Calibri" pitchFamily="34" charset="0"/>
                <a:ea typeface="Calibri" pitchFamily="34" charset="-122"/>
                <a:cs typeface="Calibri" pitchFamily="34" charset="-120"/>
              </a:rPr>
              <a:t>Gather the latest facts for one market brief</a:t>
            </a:r>
            <a:endParaRPr lang="en-US" sz="1200" dirty="0"/>
          </a:p>
        </p:txBody>
      </p:sp>
      <p:sp>
        <p:nvSpPr>
          <p:cNvPr id="26" name="Shape 23"/>
          <p:cNvSpPr/>
          <p:nvPr/>
        </p:nvSpPr>
        <p:spPr>
          <a:xfrm>
            <a:off x="7772400" y="2670048"/>
            <a:ext cx="3685032" cy="914"/>
          </a:xfrm>
          <a:prstGeom prst="line">
            <a:avLst/>
          </a:prstGeom>
          <a:noFill/>
          <a:ln w="6350">
            <a:solidFill>
              <a:srgbClr val="9FE1CB"/>
            </a:solidFill>
            <a:prstDash val="solid"/>
          </a:ln>
        </p:spPr>
        <p:txBody>
          <a:bodyPr/>
          <a:p/>
        </p:txBody>
      </p:sp>
      <p:sp>
        <p:nvSpPr>
          <p:cNvPr id="27" name="!!ck1"/>
          <p:cNvSpPr txBox="1"/>
          <p:nvPr/>
        </p:nvSpPr>
        <p:spPr>
          <a:xfrm>
            <a:off x="7772400" y="2715768"/>
            <a:ext cx="1143000" cy="411480"/>
          </a:xfrm>
          <a:prstGeom prst="rect">
            <a:avLst/>
          </a:prstGeom>
          <a:noFill/>
          <a:ln/>
        </p:spPr>
        <p:txBody>
          <a:bodyPr wrap="square" lIns="0" tIns="0" rIns="0" bIns="0" rtlCol="0" anchor="ctr"/>
          <a:lstStyle/>
          <a:p>
            <a:pPr algn="l" indent="0" marL="0">
              <a:buNone/>
            </a:pPr>
            <a:r>
              <a:rPr lang="en-US" sz="1200" b="1" dirty="0">
                <a:solidFill>
                  <a:srgbClr val="085041"/>
                </a:solidFill>
                <a:latin typeface="Calibri" pitchFamily="34" charset="0"/>
                <a:ea typeface="Calibri" pitchFamily="34" charset="-122"/>
                <a:cs typeface="Calibri" pitchFamily="34" charset="-120"/>
              </a:rPr>
              <a:t>Tools</a:t>
            </a:r>
            <a:endParaRPr lang="en-US" sz="1200" dirty="0"/>
          </a:p>
        </p:txBody>
      </p:sp>
      <p:sp>
        <p:nvSpPr>
          <p:cNvPr id="28" name="!!cv1"/>
          <p:cNvSpPr txBox="1"/>
          <p:nvPr/>
        </p:nvSpPr>
        <p:spPr>
          <a:xfrm>
            <a:off x="8915400" y="2715768"/>
            <a:ext cx="2542032" cy="411480"/>
          </a:xfrm>
          <a:prstGeom prst="rect">
            <a:avLst/>
          </a:prstGeom>
          <a:noFill/>
          <a:ln/>
        </p:spPr>
        <p:txBody>
          <a:bodyPr wrap="square" lIns="0" tIns="0" rIns="0" bIns="0" rtlCol="0" anchor="ctr"/>
          <a:lstStyle/>
          <a:p>
            <a:pPr algn="l" indent="0" marL="0">
              <a:buNone/>
            </a:pPr>
            <a:r>
              <a:rPr lang="en-US" sz="1200" dirty="0">
                <a:solidFill>
                  <a:srgbClr val="2C2C2A"/>
                </a:solidFill>
                <a:latin typeface="Calibri" pitchFamily="34" charset="0"/>
                <a:ea typeface="Calibri" pitchFamily="34" charset="-122"/>
                <a:cs typeface="Calibri" pitchFamily="34" charset="-120"/>
              </a:rPr>
              <a:t>web_search, read_document (read-only)</a:t>
            </a:r>
            <a:endParaRPr lang="en-US" sz="1200" dirty="0"/>
          </a:p>
        </p:txBody>
      </p:sp>
      <p:sp>
        <p:nvSpPr>
          <p:cNvPr id="29" name="Shape 26"/>
          <p:cNvSpPr/>
          <p:nvPr/>
        </p:nvSpPr>
        <p:spPr>
          <a:xfrm>
            <a:off x="7772400" y="3145536"/>
            <a:ext cx="3685032" cy="914"/>
          </a:xfrm>
          <a:prstGeom prst="line">
            <a:avLst/>
          </a:prstGeom>
          <a:noFill/>
          <a:ln w="6350">
            <a:solidFill>
              <a:srgbClr val="9FE1CB"/>
            </a:solidFill>
            <a:prstDash val="solid"/>
          </a:ln>
        </p:spPr>
        <p:txBody>
          <a:bodyPr/>
          <a:p/>
        </p:txBody>
      </p:sp>
      <p:sp>
        <p:nvSpPr>
          <p:cNvPr id="30" name="!!ck2"/>
          <p:cNvSpPr txBox="1"/>
          <p:nvPr/>
        </p:nvSpPr>
        <p:spPr>
          <a:xfrm>
            <a:off x="7772400" y="3191256"/>
            <a:ext cx="1143000" cy="411480"/>
          </a:xfrm>
          <a:prstGeom prst="rect">
            <a:avLst/>
          </a:prstGeom>
          <a:noFill/>
          <a:ln/>
        </p:spPr>
        <p:txBody>
          <a:bodyPr wrap="square" lIns="0" tIns="0" rIns="0" bIns="0" rtlCol="0" anchor="ctr"/>
          <a:lstStyle/>
          <a:p>
            <a:pPr algn="l" indent="0" marL="0">
              <a:buNone/>
            </a:pPr>
            <a:r>
              <a:rPr lang="en-US" sz="1200" b="1" dirty="0">
                <a:solidFill>
                  <a:srgbClr val="085041"/>
                </a:solidFill>
                <a:latin typeface="Calibri" pitchFamily="34" charset="0"/>
                <a:ea typeface="Calibri" pitchFamily="34" charset="-122"/>
                <a:cs typeface="Calibri" pitchFamily="34" charset="-120"/>
              </a:rPr>
              <a:t>Reads</a:t>
            </a:r>
            <a:endParaRPr lang="en-US" sz="1200" dirty="0"/>
          </a:p>
        </p:txBody>
      </p:sp>
      <p:sp>
        <p:nvSpPr>
          <p:cNvPr id="31" name="!!cv2"/>
          <p:cNvSpPr txBox="1"/>
          <p:nvPr/>
        </p:nvSpPr>
        <p:spPr>
          <a:xfrm>
            <a:off x="8915400" y="3191256"/>
            <a:ext cx="2542032" cy="411480"/>
          </a:xfrm>
          <a:prstGeom prst="rect">
            <a:avLst/>
          </a:prstGeom>
          <a:noFill/>
          <a:ln/>
        </p:spPr>
        <p:txBody>
          <a:bodyPr wrap="square" lIns="0" tIns="0" rIns="0" bIns="0" rtlCol="0" anchor="ctr"/>
          <a:lstStyle/>
          <a:p>
            <a:pPr algn="l" indent="0" marL="0">
              <a:buNone/>
            </a:pPr>
            <a:r>
              <a:rPr lang="en-US" sz="1200" dirty="0">
                <a:solidFill>
                  <a:srgbClr val="2C2C2A"/>
                </a:solidFill>
                <a:latin typeface="Calibri" pitchFamily="34" charset="0"/>
                <a:ea typeface="Calibri" pitchFamily="34" charset="-122"/>
                <a:cs typeface="Calibri" pitchFamily="34" charset="-120"/>
              </a:rPr>
              <a:t>brief, plan</a:t>
            </a:r>
            <a:endParaRPr lang="en-US" sz="1200" dirty="0"/>
          </a:p>
        </p:txBody>
      </p:sp>
      <p:sp>
        <p:nvSpPr>
          <p:cNvPr id="32" name="Shape 29"/>
          <p:cNvSpPr/>
          <p:nvPr/>
        </p:nvSpPr>
        <p:spPr>
          <a:xfrm>
            <a:off x="7772400" y="3621024"/>
            <a:ext cx="3685032" cy="914"/>
          </a:xfrm>
          <a:prstGeom prst="line">
            <a:avLst/>
          </a:prstGeom>
          <a:noFill/>
          <a:ln w="6350">
            <a:solidFill>
              <a:srgbClr val="9FE1CB"/>
            </a:solidFill>
            <a:prstDash val="solid"/>
          </a:ln>
        </p:spPr>
        <p:txBody>
          <a:bodyPr/>
          <a:p/>
        </p:txBody>
      </p:sp>
      <p:sp>
        <p:nvSpPr>
          <p:cNvPr id="33" name="!!ck3"/>
          <p:cNvSpPr txBox="1"/>
          <p:nvPr/>
        </p:nvSpPr>
        <p:spPr>
          <a:xfrm>
            <a:off x="7772400" y="3666744"/>
            <a:ext cx="1143000" cy="411480"/>
          </a:xfrm>
          <a:prstGeom prst="rect">
            <a:avLst/>
          </a:prstGeom>
          <a:noFill/>
          <a:ln/>
        </p:spPr>
        <p:txBody>
          <a:bodyPr wrap="square" lIns="0" tIns="0" rIns="0" bIns="0" rtlCol="0" anchor="ctr"/>
          <a:lstStyle/>
          <a:p>
            <a:pPr algn="l" indent="0" marL="0">
              <a:buNone/>
            </a:pPr>
            <a:r>
              <a:rPr lang="en-US" sz="1200" b="1" dirty="0">
                <a:solidFill>
                  <a:srgbClr val="085041"/>
                </a:solidFill>
                <a:latin typeface="Calibri" pitchFamily="34" charset="0"/>
                <a:ea typeface="Calibri" pitchFamily="34" charset="-122"/>
                <a:cs typeface="Calibri" pitchFamily="34" charset="-120"/>
              </a:rPr>
              <a:t>Writes</a:t>
            </a:r>
            <a:endParaRPr lang="en-US" sz="1200" dirty="0"/>
          </a:p>
        </p:txBody>
      </p:sp>
      <p:sp>
        <p:nvSpPr>
          <p:cNvPr id="34" name="!!cv3"/>
          <p:cNvSpPr txBox="1"/>
          <p:nvPr/>
        </p:nvSpPr>
        <p:spPr>
          <a:xfrm>
            <a:off x="8915400" y="3666744"/>
            <a:ext cx="2542032" cy="411480"/>
          </a:xfrm>
          <a:prstGeom prst="rect">
            <a:avLst/>
          </a:prstGeom>
          <a:noFill/>
          <a:ln/>
        </p:spPr>
        <p:txBody>
          <a:bodyPr wrap="square" lIns="0" tIns="0" rIns="0" bIns="0" rtlCol="0" anchor="ctr"/>
          <a:lstStyle/>
          <a:p>
            <a:pPr algn="l" indent="0" marL="0">
              <a:buNone/>
            </a:pPr>
            <a:r>
              <a:rPr lang="en-US" sz="1200" dirty="0">
                <a:solidFill>
                  <a:srgbClr val="2C2C2A"/>
                </a:solidFill>
                <a:latin typeface="Calibri" pitchFamily="34" charset="0"/>
                <a:ea typeface="Calibri" pitchFamily="34" charset="-122"/>
                <a:cs typeface="Calibri" pitchFamily="34" charset="-120"/>
              </a:rPr>
              <a:t>findings, status</a:t>
            </a:r>
            <a:endParaRPr lang="en-US" sz="1200" dirty="0"/>
          </a:p>
        </p:txBody>
      </p:sp>
      <p:sp>
        <p:nvSpPr>
          <p:cNvPr id="35" name="Shape 32"/>
          <p:cNvSpPr/>
          <p:nvPr/>
        </p:nvSpPr>
        <p:spPr>
          <a:xfrm>
            <a:off x="7772400" y="4096512"/>
            <a:ext cx="3685032" cy="914"/>
          </a:xfrm>
          <a:prstGeom prst="line">
            <a:avLst/>
          </a:prstGeom>
          <a:noFill/>
          <a:ln w="6350">
            <a:solidFill>
              <a:srgbClr val="9FE1CB"/>
            </a:solidFill>
            <a:prstDash val="solid"/>
          </a:ln>
        </p:spPr>
        <p:txBody>
          <a:bodyPr/>
          <a:p/>
        </p:txBody>
      </p:sp>
      <p:sp>
        <p:nvSpPr>
          <p:cNvPr id="36" name="!!ck4"/>
          <p:cNvSpPr txBox="1"/>
          <p:nvPr/>
        </p:nvSpPr>
        <p:spPr>
          <a:xfrm>
            <a:off x="7772400" y="4142232"/>
            <a:ext cx="1143000" cy="411480"/>
          </a:xfrm>
          <a:prstGeom prst="rect">
            <a:avLst/>
          </a:prstGeom>
          <a:noFill/>
          <a:ln/>
        </p:spPr>
        <p:txBody>
          <a:bodyPr wrap="square" lIns="0" tIns="0" rIns="0" bIns="0" rtlCol="0" anchor="ctr"/>
          <a:lstStyle/>
          <a:p>
            <a:pPr algn="l" indent="0" marL="0">
              <a:buNone/>
            </a:pPr>
            <a:r>
              <a:rPr lang="en-US" sz="1200" b="1" dirty="0">
                <a:solidFill>
                  <a:srgbClr val="085041"/>
                </a:solidFill>
                <a:latin typeface="Calibri" pitchFamily="34" charset="0"/>
                <a:ea typeface="Calibri" pitchFamily="34" charset="-122"/>
                <a:cs typeface="Calibri" pitchFamily="34" charset="-120"/>
              </a:rPr>
              <a:t>Done when</a:t>
            </a:r>
            <a:endParaRPr lang="en-US" sz="1200" dirty="0"/>
          </a:p>
        </p:txBody>
      </p:sp>
      <p:sp>
        <p:nvSpPr>
          <p:cNvPr id="37" name="!!cv4"/>
          <p:cNvSpPr txBox="1"/>
          <p:nvPr/>
        </p:nvSpPr>
        <p:spPr>
          <a:xfrm>
            <a:off x="8915400" y="4142232"/>
            <a:ext cx="2542032" cy="411480"/>
          </a:xfrm>
          <a:prstGeom prst="rect">
            <a:avLst/>
          </a:prstGeom>
          <a:noFill/>
          <a:ln/>
        </p:spPr>
        <p:txBody>
          <a:bodyPr wrap="square" lIns="0" tIns="0" rIns="0" bIns="0" rtlCol="0" anchor="ctr"/>
          <a:lstStyle/>
          <a:p>
            <a:pPr algn="l" indent="0" marL="0">
              <a:buNone/>
            </a:pPr>
            <a:r>
              <a:rPr lang="en-US" sz="1200" dirty="0">
                <a:solidFill>
                  <a:srgbClr val="2C2C2A"/>
                </a:solidFill>
                <a:latin typeface="Calibri" pitchFamily="34" charset="0"/>
                <a:ea typeface="Calibri" pitchFamily="34" charset="-122"/>
                <a:cs typeface="Calibri" pitchFamily="34" charset="-120"/>
              </a:rPr>
              <a:t>every key point has a cited source</a:t>
            </a:r>
            <a:endParaRPr lang="en-US" sz="1200" dirty="0"/>
          </a:p>
        </p:txBody>
      </p:sp>
      <p:sp>
        <p:nvSpPr>
          <p:cNvPr id="38" name="Shape 35"/>
          <p:cNvSpPr/>
          <p:nvPr/>
        </p:nvSpPr>
        <p:spPr>
          <a:xfrm>
            <a:off x="7772400" y="4572000"/>
            <a:ext cx="3685032" cy="914"/>
          </a:xfrm>
          <a:prstGeom prst="line">
            <a:avLst/>
          </a:prstGeom>
          <a:noFill/>
          <a:ln w="6350">
            <a:solidFill>
              <a:srgbClr val="9FE1CB"/>
            </a:solidFill>
            <a:prstDash val="solid"/>
          </a:ln>
        </p:spPr>
        <p:txBody>
          <a:bodyPr/>
          <a:p/>
        </p:txBody>
      </p:sp>
      <p:sp>
        <p:nvSpPr>
          <p:cNvPr id="39" name="!!ck5"/>
          <p:cNvSpPr txBox="1"/>
          <p:nvPr/>
        </p:nvSpPr>
        <p:spPr>
          <a:xfrm>
            <a:off x="7772400" y="4617720"/>
            <a:ext cx="1143000" cy="411480"/>
          </a:xfrm>
          <a:prstGeom prst="rect">
            <a:avLst/>
          </a:prstGeom>
          <a:noFill/>
          <a:ln/>
        </p:spPr>
        <p:txBody>
          <a:bodyPr wrap="square" lIns="0" tIns="0" rIns="0" bIns="0" rtlCol="0" anchor="ctr"/>
          <a:lstStyle/>
          <a:p>
            <a:pPr algn="l" indent="0" marL="0">
              <a:buNone/>
            </a:pPr>
            <a:r>
              <a:rPr lang="en-US" sz="1200" b="1" dirty="0">
                <a:solidFill>
                  <a:srgbClr val="085041"/>
                </a:solidFill>
                <a:latin typeface="Calibri" pitchFamily="34" charset="0"/>
                <a:ea typeface="Calibri" pitchFamily="34" charset="-122"/>
                <a:cs typeface="Calibri" pitchFamily="34" charset="-120"/>
              </a:rPr>
              <a:t>Limits</a:t>
            </a:r>
            <a:endParaRPr lang="en-US" sz="1200" dirty="0"/>
          </a:p>
        </p:txBody>
      </p:sp>
      <p:sp>
        <p:nvSpPr>
          <p:cNvPr id="40" name="!!cv5"/>
          <p:cNvSpPr txBox="1"/>
          <p:nvPr/>
        </p:nvSpPr>
        <p:spPr>
          <a:xfrm>
            <a:off x="8915400" y="4617720"/>
            <a:ext cx="2542032" cy="411480"/>
          </a:xfrm>
          <a:prstGeom prst="rect">
            <a:avLst/>
          </a:prstGeom>
          <a:noFill/>
          <a:ln/>
        </p:spPr>
        <p:txBody>
          <a:bodyPr wrap="square" lIns="0" tIns="0" rIns="0" bIns="0" rtlCol="0" anchor="ctr"/>
          <a:lstStyle/>
          <a:p>
            <a:pPr algn="l" indent="0" marL="0">
              <a:buNone/>
            </a:pPr>
            <a:r>
              <a:rPr lang="en-US" sz="1200" dirty="0">
                <a:solidFill>
                  <a:srgbClr val="2C2C2A"/>
                </a:solidFill>
                <a:latin typeface="Calibri" pitchFamily="34" charset="0"/>
                <a:ea typeface="Calibri" pitchFamily="34" charset="-122"/>
                <a:cs typeface="Calibri" pitchFamily="34" charset="-120"/>
              </a:rPr>
              <a:t>6 steps · 2 retries · 20k tokens</a:t>
            </a:r>
            <a:endParaRPr lang="en-US" sz="1200" dirty="0"/>
          </a:p>
        </p:txBody>
      </p:sp>
      <p:sp>
        <p:nvSpPr>
          <p:cNvPr id="41" name="Shape 38"/>
          <p:cNvSpPr/>
          <p:nvPr/>
        </p:nvSpPr>
        <p:spPr>
          <a:xfrm>
            <a:off x="7772400" y="5047488"/>
            <a:ext cx="3685032" cy="914"/>
          </a:xfrm>
          <a:prstGeom prst="line">
            <a:avLst/>
          </a:prstGeom>
          <a:noFill/>
          <a:ln w="6350">
            <a:solidFill>
              <a:srgbClr val="9FE1CB"/>
            </a:solidFill>
            <a:prstDash val="solid"/>
          </a:ln>
        </p:spPr>
        <p:txBody>
          <a:bodyPr/>
          <a:p/>
        </p:txBody>
      </p:sp>
      <p:sp>
        <p:nvSpPr>
          <p:cNvPr id="42" name="!!ck6"/>
          <p:cNvSpPr txBox="1"/>
          <p:nvPr/>
        </p:nvSpPr>
        <p:spPr>
          <a:xfrm>
            <a:off x="7772400" y="5093208"/>
            <a:ext cx="1143000" cy="411480"/>
          </a:xfrm>
          <a:prstGeom prst="rect">
            <a:avLst/>
          </a:prstGeom>
          <a:noFill/>
          <a:ln/>
        </p:spPr>
        <p:txBody>
          <a:bodyPr wrap="square" lIns="0" tIns="0" rIns="0" bIns="0" rtlCol="0" anchor="ctr"/>
          <a:lstStyle/>
          <a:p>
            <a:pPr algn="l" indent="0" marL="0">
              <a:buNone/>
            </a:pPr>
            <a:r>
              <a:rPr lang="en-US" sz="1200" b="1" dirty="0">
                <a:solidFill>
                  <a:srgbClr val="085041"/>
                </a:solidFill>
                <a:latin typeface="Calibri" pitchFamily="34" charset="0"/>
                <a:ea typeface="Calibri" pitchFamily="34" charset="-122"/>
                <a:cs typeface="Calibri" pitchFamily="34" charset="-120"/>
              </a:rPr>
              <a:t>Hands off to</a:t>
            </a:r>
            <a:endParaRPr lang="en-US" sz="1200" dirty="0"/>
          </a:p>
        </p:txBody>
      </p:sp>
      <p:sp>
        <p:nvSpPr>
          <p:cNvPr id="43" name="!!cv6"/>
          <p:cNvSpPr txBox="1"/>
          <p:nvPr/>
        </p:nvSpPr>
        <p:spPr>
          <a:xfrm>
            <a:off x="8915400" y="5093208"/>
            <a:ext cx="2542032" cy="411480"/>
          </a:xfrm>
          <a:prstGeom prst="rect">
            <a:avLst/>
          </a:prstGeom>
          <a:noFill/>
          <a:ln/>
        </p:spPr>
        <p:txBody>
          <a:bodyPr wrap="square" lIns="0" tIns="0" rIns="0" bIns="0" rtlCol="0" anchor="ctr"/>
          <a:lstStyle/>
          <a:p>
            <a:pPr algn="l" indent="0" marL="0">
              <a:buNone/>
            </a:pPr>
            <a:r>
              <a:rPr lang="en-US" sz="1200" dirty="0">
                <a:solidFill>
                  <a:srgbClr val="2C2C2A"/>
                </a:solidFill>
                <a:latin typeface="Calibri" pitchFamily="34" charset="0"/>
                <a:ea typeface="Calibri" pitchFamily="34" charset="-122"/>
                <a:cs typeface="Calibri" pitchFamily="34" charset="-120"/>
              </a:rPr>
              <a:t>Checker</a:t>
            </a:r>
            <a:endParaRPr lang="en-US" sz="1200" dirty="0"/>
          </a:p>
        </p:txBody>
      </p:sp>
      <p:sp>
        <p:nvSpPr>
          <p:cNvPr id="44" name="!!cardcap"/>
          <p:cNvSpPr txBox="1"/>
          <p:nvPr/>
        </p:nvSpPr>
        <p:spPr>
          <a:xfrm>
            <a:off x="7543800" y="5852160"/>
            <a:ext cx="4142232" cy="548640"/>
          </a:xfrm>
          <a:prstGeom prst="rect">
            <a:avLst/>
          </a:prstGeom>
          <a:noFill/>
          <a:ln/>
        </p:spPr>
        <p:txBody>
          <a:bodyPr wrap="square" lIns="0" tIns="0" rIns="0" bIns="0" rtlCol="0" anchor="t"/>
          <a:lstStyle/>
          <a:p>
            <a:pPr algn="l" indent="0" marL="0">
              <a:buNone/>
            </a:pPr>
            <a:r>
              <a:rPr lang="en-US" sz="1250" i="1" dirty="0">
                <a:solidFill>
                  <a:srgbClr val="5F5E5A"/>
                </a:solidFill>
                <a:latin typeface="Calibri" pitchFamily="34" charset="0"/>
                <a:ea typeface="Calibri" pitchFamily="34" charset="-122"/>
                <a:cs typeface="Calibri" pitchFamily="34" charset="-120"/>
              </a:rPr>
              <a:t>Write the role card before the code. If you can't fill it in, the agent's job isn't clear yet.</a:t>
            </a:r>
            <a:endParaRPr lang="en-US" sz="1250" dirty="0"/>
          </a:p>
        </p:txBody>
      </p:sp>
      <p:sp>
        <p:nvSpPr>
          <p:cNvPr id="25" name="Slide Number Placeholder 0"/>
          <p:cNvSpPr>
            <a:spLocks noGrp="1"/>
          </p:cNvSpPr>
          <p:nvPr>
            <p:ph type="sldNum" sz="quarter" idx="4294967295"/>
          </p:nvPr>
        </p:nvSpPr>
        <p:spPr>
          <a:xfrm>
            <a:off x="5641848" y="6382512"/>
            <a:ext cx="914400" cy="201168"/>
          </a:xfrm>
          <a:prstGeom prst="rect">
            <a:avLst/>
          </a:prstGeom>
          <a:extLst>
            <a:ext uri="{C572A759-6A51-4108-AA02-DFA0A04FC94B}">
              <ma14:wrappingTextBoxFlag xmlns:ma14="http://schemas.microsoft.com/office/mac/drawingml/2011/main" val="0"/>
            </a:ext>
          </a:extLst>
        </p:spPr>
        <p:txBody>
          <a:bodyPr/>
          <a:lstStyle>
            <a:lvl1pPr>
              <a:defRPr sz="1000">
                <a:solidFill>
                  <a:srgbClr val="595959"/>
                </a:solidFill>
                <a:latin typeface="Arial"/>
                <a:ea typeface="Arial"/>
                <a:cs typeface="Arial"/>
              </a:defRPr>
            </a:lvl1pPr>
          </a:lstStyle>
          <a:p>
            <a:pPr algn="ct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itle"/>
          <p:cNvSpPr txBox="1"/>
          <p:nvPr/>
        </p:nvSpPr>
        <p:spPr>
          <a:xfrm>
            <a:off x="411480" y="201168"/>
            <a:ext cx="11338560" cy="530352"/>
          </a:xfrm>
          <a:prstGeom prst="rect">
            <a:avLst/>
          </a:prstGeom>
          <a:noFill/>
          <a:ln/>
        </p:spPr>
        <p:txBody>
          <a:bodyPr wrap="square" lIns="0" tIns="0" rIns="0" bIns="0" rtlCol="0" anchor="b"/>
          <a:lstStyle/>
          <a:p>
            <a:pPr algn="l" indent="0" marL="0">
              <a:buNone/>
            </a:pPr>
            <a:r>
              <a:rPr lang="en-US" sz="2600" b="1" dirty="0">
                <a:solidFill>
                  <a:srgbClr val="1A1A1A"/>
                </a:solidFill>
                <a:latin typeface="Calibri" pitchFamily="34" charset="0"/>
                <a:ea typeface="Calibri" pitchFamily="34" charset="-122"/>
                <a:cs typeface="Calibri" pitchFamily="34" charset="-120"/>
              </a:rPr>
              <a:t>LangChain and LangGraph</a:t>
            </a:r>
            <a:endParaRPr lang="en-US" sz="2600" dirty="0"/>
          </a:p>
        </p:txBody>
      </p:sp>
      <p:sp>
        <p:nvSpPr>
          <p:cNvPr id="3" name="!!rule"/>
          <p:cNvSpPr/>
          <p:nvPr/>
        </p:nvSpPr>
        <p:spPr>
          <a:xfrm>
            <a:off x="411480" y="804672"/>
            <a:ext cx="11365992" cy="914"/>
          </a:xfrm>
          <a:prstGeom prst="line">
            <a:avLst/>
          </a:prstGeom>
          <a:noFill/>
          <a:ln w="9525">
            <a:solidFill>
              <a:srgbClr val="7F7F7F"/>
            </a:solidFill>
            <a:prstDash val="solid"/>
          </a:ln>
        </p:spPr>
        <p:txBody>
          <a:bodyPr/>
          <a:p/>
        </p:txBody>
      </p:sp>
      <p:sp>
        <p:nvSpPr>
          <p:cNvPr id="4" name="!!lead"/>
          <p:cNvSpPr txBox="1"/>
          <p:nvPr/>
        </p:nvSpPr>
        <p:spPr>
          <a:xfrm>
            <a:off x="411480" y="886968"/>
            <a:ext cx="11338560" cy="438912"/>
          </a:xfrm>
          <a:prstGeom prst="rect">
            <a:avLst/>
          </a:prstGeom>
          <a:noFill/>
          <a:ln/>
        </p:spPr>
        <p:txBody>
          <a:bodyPr wrap="square" lIns="0" tIns="0" rIns="0" bIns="0" rtlCol="0" anchor="t"/>
          <a:lstStyle/>
          <a:p>
            <a:pPr indent="0" marL="0">
              <a:buNone/>
            </a:pPr>
            <a:r>
              <a:rPr lang="en-US" sz="1400" dirty="0">
                <a:solidFill>
                  <a:srgbClr val="404040"/>
                </a:solidFill>
                <a:latin typeface="Arial" pitchFamily="34" charset="0"/>
                <a:ea typeface="Arial" pitchFamily="34" charset="-122"/>
                <a:cs typeface="Arial" pitchFamily="34" charset="-120"/>
              </a:rPr>
              <a:t>Both connect AI steps into a workflow. LangChain runs them in a fixed sequence; LangGraph connects them as a graph, so steps can loop, branch and pause for a person.</a:t>
            </a:r>
            <a:endParaRPr lang="en-US" sz="1400" dirty="0"/>
          </a:p>
        </p:txBody>
      </p:sp>
      <p:sp>
        <p:nvSpPr>
          <p:cNvPr id="5" name="!!lcbox"/>
          <p:cNvSpPr/>
          <p:nvPr/>
        </p:nvSpPr>
        <p:spPr>
          <a:xfrm>
            <a:off x="502920" y="1371600"/>
            <a:ext cx="3520440" cy="1965960"/>
          </a:xfrm>
          <a:prstGeom prst="roundRect">
            <a:avLst>
              <a:gd name="adj" fmla="val 4651"/>
            </a:avLst>
          </a:prstGeom>
          <a:solidFill>
            <a:srgbClr val="EEEDFE"/>
          </a:solidFill>
          <a:ln w="12700">
            <a:solidFill>
              <a:srgbClr val="534AB7"/>
            </a:solidFill>
            <a:prstDash val="solid"/>
          </a:ln>
        </p:spPr>
        <p:txBody>
          <a:bodyPr wrap="square" lIns="50800" tIns="50800" rIns="50800" bIns="50800" rtlCol="0" anchor="ctr"/>
          <a:lstStyle/>
          <a:p>
            <a:pPr algn="ctr" indent="0" marL="0">
              <a:buNone/>
            </a:pPr>
            <a:endParaRPr lang="en-US" sz="1200" dirty="0"/>
          </a:p>
        </p:txBody>
      </p:sp>
      <p:pic>
        <p:nvPicPr>
          <p:cNvPr id="6" name="!!lcic" descr="/tmp/deck-icons/TbPuzzle_534AB7.png">    </p:cNvPr>
          <p:cNvPicPr>
            <a:picLocks noChangeAspect="1"/>
          </p:cNvPicPr>
          <p:nvPr/>
        </p:nvPicPr>
        <p:blipFill>
          <a:blip r:embed="rId1"/>
          <a:stretch>
            <a:fillRect/>
          </a:stretch>
        </p:blipFill>
        <p:spPr>
          <a:xfrm>
            <a:off x="685800" y="1517904"/>
            <a:ext cx="310896" cy="310896"/>
          </a:xfrm>
          <a:prstGeom prst="rect">
            <a:avLst/>
          </a:prstGeom>
        </p:spPr>
      </p:pic>
      <p:sp>
        <p:nvSpPr>
          <p:cNvPr id="7" name="!!lch"/>
          <p:cNvSpPr txBox="1"/>
          <p:nvPr/>
        </p:nvSpPr>
        <p:spPr>
          <a:xfrm>
            <a:off x="1069848" y="1499616"/>
            <a:ext cx="2834640" cy="365760"/>
          </a:xfrm>
          <a:prstGeom prst="rect">
            <a:avLst/>
          </a:prstGeom>
          <a:noFill/>
          <a:ln/>
        </p:spPr>
        <p:txBody>
          <a:bodyPr wrap="square" lIns="0" tIns="0" rIns="0" bIns="0" rtlCol="0" anchor="ctr"/>
          <a:lstStyle/>
          <a:p>
            <a:pPr algn="l" indent="0" marL="0">
              <a:buNone/>
            </a:pPr>
            <a:r>
              <a:rPr lang="en-US" sz="1500" b="1" dirty="0">
                <a:solidFill>
                  <a:srgbClr val="3C3489"/>
                </a:solidFill>
                <a:latin typeface="Calibri" pitchFamily="34" charset="0"/>
                <a:ea typeface="Calibri" pitchFamily="34" charset="-122"/>
                <a:cs typeface="Calibri" pitchFamily="34" charset="-120"/>
              </a:rPr>
              <a:t>LangChain · sequential chains</a:t>
            </a:r>
            <a:endParaRPr lang="en-US" sz="1500" dirty="0"/>
          </a:p>
        </p:txBody>
      </p:sp>
      <p:sp>
        <p:nvSpPr>
          <p:cNvPr id="8" name="!!lcb"/>
          <p:cNvSpPr txBox="1"/>
          <p:nvPr/>
        </p:nvSpPr>
        <p:spPr>
          <a:xfrm>
            <a:off x="685800" y="1920240"/>
            <a:ext cx="3200400" cy="1325880"/>
          </a:xfrm>
          <a:prstGeom prst="rect">
            <a:avLst/>
          </a:prstGeom>
          <a:noFill/>
          <a:ln/>
        </p:spPr>
        <p:txBody>
          <a:bodyPr wrap="square" lIns="0" tIns="0" rIns="0" bIns="0" rtlCol="0" anchor="t"/>
          <a:lstStyle/>
          <a:p>
            <a:pPr algn="l" marL="342900" indent="-342900">
              <a:spcAft>
                <a:spcPts val="400"/>
              </a:spcAft>
              <a:buSzPct val="100000"/>
              <a:buChar char="•"/>
            </a:pPr>
            <a:r>
              <a:rPr lang="en-US" sz="1250" dirty="0">
                <a:solidFill>
                  <a:srgbClr val="2C2C2A"/>
                </a:solidFill>
                <a:latin typeface="Calibri" pitchFamily="34" charset="0"/>
                <a:ea typeface="Calibri" pitchFamily="34" charset="-122"/>
                <a:cs typeface="Calibri" pitchFamily="34" charset="-120"/>
              </a:rPr>
              <a:t>Steps run in a fixed sequence: A → B → C</a:t>
            </a:r>
            <a:endParaRPr lang="en-US" sz="1250" dirty="0"/>
          </a:p>
          <a:p>
            <a:pPr algn="l" marL="342900" indent="-342900">
              <a:spcAft>
                <a:spcPts val="400"/>
              </a:spcAft>
              <a:buSzPct val="100000"/>
              <a:buChar char="•"/>
            </a:pPr>
            <a:r>
              <a:rPr lang="en-US" sz="1250" dirty="0">
                <a:solidFill>
                  <a:srgbClr val="2C2C2A"/>
                </a:solidFill>
                <a:latin typeface="Calibri" pitchFamily="34" charset="0"/>
                <a:ea typeface="Calibri" pitchFamily="34" charset="-122"/>
                <a:cs typeface="Calibri" pitchFamily="34" charset="-120"/>
              </a:rPr>
              <a:t>One interface for chat models (e.g. ChatGroq, ChatAnthropic)</a:t>
            </a:r>
            <a:endParaRPr lang="en-US" sz="1250" dirty="0"/>
          </a:p>
          <a:p>
            <a:pPr algn="l" marL="342900" indent="-342900">
              <a:spcAft>
                <a:spcPts val="400"/>
              </a:spcAft>
              <a:buSzPct val="100000"/>
              <a:buChar char="•"/>
            </a:pPr>
            <a:r>
              <a:rPr lang="en-US" sz="1250" dirty="0">
                <a:solidFill>
                  <a:srgbClr val="2C2C2A"/>
                </a:solidFill>
                <a:latin typeface="Calibri" pitchFamily="34" charset="0"/>
                <a:ea typeface="Calibri" pitchFamily="34" charset="-122"/>
                <a:cs typeface="Calibri" pitchFamily="34" charset="-120"/>
              </a:rPr>
              <a:t>Prompts, tools (@tool) and structured output</a:t>
            </a:r>
            <a:endParaRPr lang="en-US" sz="1250" dirty="0"/>
          </a:p>
        </p:txBody>
      </p:sp>
      <p:sp>
        <p:nvSpPr>
          <p:cNvPr id="9" name="!!lgbox"/>
          <p:cNvSpPr/>
          <p:nvPr/>
        </p:nvSpPr>
        <p:spPr>
          <a:xfrm>
            <a:off x="502920" y="3520440"/>
            <a:ext cx="3520440" cy="1965960"/>
          </a:xfrm>
          <a:prstGeom prst="roundRect">
            <a:avLst>
              <a:gd name="adj" fmla="val 4651"/>
            </a:avLst>
          </a:prstGeom>
          <a:solidFill>
            <a:srgbClr val="E1F5EE"/>
          </a:solidFill>
          <a:ln w="12700">
            <a:solidFill>
              <a:srgbClr val="0F6E56"/>
            </a:solidFill>
            <a:prstDash val="solid"/>
          </a:ln>
        </p:spPr>
        <p:txBody>
          <a:bodyPr wrap="square" lIns="50800" tIns="50800" rIns="50800" bIns="50800" rtlCol="0" anchor="ctr"/>
          <a:lstStyle/>
          <a:p>
            <a:pPr algn="ctr" indent="0" marL="0">
              <a:buNone/>
            </a:pPr>
            <a:endParaRPr lang="en-US" sz="1200" dirty="0"/>
          </a:p>
        </p:txBody>
      </p:sp>
      <p:pic>
        <p:nvPicPr>
          <p:cNvPr id="10" name="!!lgic" descr="/tmp/deck-icons/TbGitBranch_0F6E56.png">    </p:cNvPr>
          <p:cNvPicPr>
            <a:picLocks noChangeAspect="1"/>
          </p:cNvPicPr>
          <p:nvPr/>
        </p:nvPicPr>
        <p:blipFill>
          <a:blip r:embed="rId2"/>
          <a:stretch>
            <a:fillRect/>
          </a:stretch>
        </p:blipFill>
        <p:spPr>
          <a:xfrm>
            <a:off x="685800" y="3666744"/>
            <a:ext cx="310896" cy="310896"/>
          </a:xfrm>
          <a:prstGeom prst="rect">
            <a:avLst/>
          </a:prstGeom>
        </p:spPr>
      </p:pic>
      <p:sp>
        <p:nvSpPr>
          <p:cNvPr id="11" name="!!lgh"/>
          <p:cNvSpPr txBox="1"/>
          <p:nvPr/>
        </p:nvSpPr>
        <p:spPr>
          <a:xfrm>
            <a:off x="1069848" y="3648456"/>
            <a:ext cx="2834640" cy="365760"/>
          </a:xfrm>
          <a:prstGeom prst="rect">
            <a:avLst/>
          </a:prstGeom>
          <a:noFill/>
          <a:ln/>
        </p:spPr>
        <p:txBody>
          <a:bodyPr wrap="square" lIns="0" tIns="0" rIns="0" bIns="0" rtlCol="0" anchor="ctr"/>
          <a:lstStyle/>
          <a:p>
            <a:pPr algn="l" indent="0" marL="0">
              <a:buNone/>
            </a:pPr>
            <a:r>
              <a:rPr lang="en-US" sz="1500" b="1" dirty="0">
                <a:solidFill>
                  <a:srgbClr val="085041"/>
                </a:solidFill>
                <a:latin typeface="Calibri" pitchFamily="34" charset="0"/>
                <a:ea typeface="Calibri" pitchFamily="34" charset="-122"/>
                <a:cs typeface="Calibri" pitchFamily="34" charset="-120"/>
              </a:rPr>
              <a:t>LangGraph · graphs</a:t>
            </a:r>
            <a:endParaRPr lang="en-US" sz="1500" dirty="0"/>
          </a:p>
        </p:txBody>
      </p:sp>
      <p:sp>
        <p:nvSpPr>
          <p:cNvPr id="12" name="!!lgb"/>
          <p:cNvSpPr txBox="1"/>
          <p:nvPr/>
        </p:nvSpPr>
        <p:spPr>
          <a:xfrm>
            <a:off x="685800" y="4069080"/>
            <a:ext cx="3200400" cy="1325880"/>
          </a:xfrm>
          <a:prstGeom prst="rect">
            <a:avLst/>
          </a:prstGeom>
          <a:noFill/>
          <a:ln/>
        </p:spPr>
        <p:txBody>
          <a:bodyPr wrap="square" lIns="0" tIns="0" rIns="0" bIns="0" rtlCol="0" anchor="t"/>
          <a:lstStyle/>
          <a:p>
            <a:pPr algn="l" marL="342900" indent="-342900">
              <a:spcAft>
                <a:spcPts val="400"/>
              </a:spcAft>
              <a:buSzPct val="100000"/>
              <a:buChar char="•"/>
            </a:pPr>
            <a:r>
              <a:rPr lang="en-US" sz="1250" dirty="0">
                <a:solidFill>
                  <a:srgbClr val="2C2C2A"/>
                </a:solidFill>
                <a:latin typeface="Calibri" pitchFamily="34" charset="0"/>
                <a:ea typeface="Calibri" pitchFamily="34" charset="-122"/>
                <a:cs typeface="Calibri" pitchFamily="34" charset="-120"/>
              </a:rPr>
              <a:t>Steps in any order: loops, branches, parallel</a:t>
            </a:r>
            <a:endParaRPr lang="en-US" sz="1250" dirty="0"/>
          </a:p>
          <a:p>
            <a:pPr algn="l" marL="342900" indent="-342900">
              <a:spcAft>
                <a:spcPts val="400"/>
              </a:spcAft>
              <a:buSzPct val="100000"/>
              <a:buChar char="•"/>
            </a:pPr>
            <a:r>
              <a:rPr lang="en-US" sz="1250" dirty="0">
                <a:solidFill>
                  <a:srgbClr val="2C2C2A"/>
                </a:solidFill>
                <a:latin typeface="Calibri" pitchFamily="34" charset="0"/>
                <a:ea typeface="Calibri" pitchFamily="34" charset="-122"/>
                <a:cs typeface="Calibri" pitchFamily="34" charset="-120"/>
              </a:rPr>
              <a:t>Nodes + edges over a shared state</a:t>
            </a:r>
            <a:endParaRPr lang="en-US" sz="1250" dirty="0"/>
          </a:p>
          <a:p>
            <a:pPr algn="l" marL="342900" indent="-342900">
              <a:spcAft>
                <a:spcPts val="400"/>
              </a:spcAft>
              <a:buSzPct val="100000"/>
              <a:buChar char="•"/>
            </a:pPr>
            <a:r>
              <a:rPr lang="en-US" sz="1250" dirty="0">
                <a:solidFill>
                  <a:srgbClr val="2C2C2A"/>
                </a:solidFill>
                <a:latin typeface="Calibri" pitchFamily="34" charset="0"/>
                <a:ea typeface="Calibri" pitchFamily="34" charset="-122"/>
                <a:cs typeface="Calibri" pitchFamily="34" charset="-120"/>
              </a:rPr>
              <a:t>Checkpoints: resume, and pause for a human</a:t>
            </a:r>
            <a:endParaRPr lang="en-US" sz="1250" dirty="0"/>
          </a:p>
        </p:txBody>
      </p:sp>
      <p:sp>
        <p:nvSpPr>
          <p:cNvPr id="13" name="!!gt"/>
          <p:cNvSpPr txBox="1"/>
          <p:nvPr/>
        </p:nvSpPr>
        <p:spPr>
          <a:xfrm>
            <a:off x="4343400" y="1371600"/>
            <a:ext cx="2697480" cy="274320"/>
          </a:xfrm>
          <a:prstGeom prst="rect">
            <a:avLst/>
          </a:prstGeom>
          <a:noFill/>
          <a:ln/>
        </p:spPr>
        <p:txBody>
          <a:bodyPr wrap="square" lIns="0" tIns="0" rIns="0" bIns="0" rtlCol="0" anchor="t"/>
          <a:lstStyle/>
          <a:p>
            <a:pPr algn="ctr" indent="0" marL="0">
              <a:buNone/>
            </a:pPr>
            <a:r>
              <a:rPr lang="en-US" sz="1300" b="1" dirty="0">
                <a:solidFill>
                  <a:srgbClr val="5F5E5A"/>
                </a:solidFill>
                <a:latin typeface="Calibri" pitchFamily="34" charset="0"/>
                <a:ea typeface="Calibri" pitchFamily="34" charset="-122"/>
                <a:cs typeface="Calibri" pitchFamily="34" charset="-120"/>
              </a:rPr>
              <a:t>The graph</a:t>
            </a:r>
            <a:endParaRPr lang="en-US" sz="1300" dirty="0"/>
          </a:p>
        </p:txBody>
      </p:sp>
      <p:sp>
        <p:nvSpPr>
          <p:cNvPr id="14" name="!!gs"/>
          <p:cNvSpPr/>
          <p:nvPr/>
        </p:nvSpPr>
        <p:spPr>
          <a:xfrm>
            <a:off x="5189220" y="1719072"/>
            <a:ext cx="1005840" cy="329184"/>
          </a:xfrm>
          <a:prstGeom prst="roundRect">
            <a:avLst>
              <a:gd name="adj" fmla="val 50000"/>
            </a:avLst>
          </a:prstGeom>
          <a:solidFill>
            <a:srgbClr val="F1EFE8"/>
          </a:solidFill>
          <a:ln w="12700">
            <a:solidFill>
              <a:srgbClr val="888780"/>
            </a:solidFill>
            <a:prstDash val="solid"/>
          </a:ln>
        </p:spPr>
        <p:txBody>
          <a:bodyPr wrap="square" lIns="50800" tIns="50800" rIns="50800" bIns="50800" rtlCol="0" anchor="ctr"/>
          <a:lstStyle/>
          <a:p>
            <a:pPr algn="ctr" indent="0" marL="0">
              <a:buNone/>
            </a:pPr>
            <a:r>
              <a:rPr lang="en-US" sz="1100" b="1" dirty="0">
                <a:solidFill>
                  <a:srgbClr val="2C2C2A"/>
                </a:solidFill>
                <a:latin typeface="Consolas" pitchFamily="34" charset="0"/>
                <a:ea typeface="Consolas" pitchFamily="34" charset="-122"/>
                <a:cs typeface="Consolas" pitchFamily="34" charset="-120"/>
              </a:rPr>
              <a:t>START</a:t>
            </a:r>
            <a:endParaRPr lang="en-US" sz="1100" dirty="0"/>
          </a:p>
        </p:txBody>
      </p:sp>
      <p:sp>
        <p:nvSpPr>
          <p:cNvPr id="15" name="!!ge1"/>
          <p:cNvSpPr/>
          <p:nvPr/>
        </p:nvSpPr>
        <p:spPr>
          <a:xfrm>
            <a:off x="5692140" y="2048256"/>
            <a:ext cx="914" cy="292608"/>
          </a:xfrm>
          <a:prstGeom prst="line">
            <a:avLst/>
          </a:prstGeom>
          <a:noFill/>
          <a:ln w="15875">
            <a:solidFill>
              <a:srgbClr val="5F5E5A"/>
            </a:solidFill>
            <a:prstDash val="solid"/>
            <a:tailEnd type="triangle"/>
          </a:ln>
        </p:spPr>
        <p:txBody>
          <a:bodyPr/>
          <a:p/>
        </p:txBody>
      </p:sp>
      <p:sp>
        <p:nvSpPr>
          <p:cNvPr id="16" name="!!gw"/>
          <p:cNvSpPr/>
          <p:nvPr/>
        </p:nvSpPr>
        <p:spPr>
          <a:xfrm>
            <a:off x="4823460" y="2377440"/>
            <a:ext cx="1737360" cy="658368"/>
          </a:xfrm>
          <a:prstGeom prst="roundRect">
            <a:avLst>
              <a:gd name="adj" fmla="val 11111"/>
            </a:avLst>
          </a:prstGeom>
          <a:solidFill>
            <a:srgbClr val="E1F5EE"/>
          </a:solidFill>
          <a:ln w="12700">
            <a:solidFill>
              <a:srgbClr val="0F6E56"/>
            </a:solidFill>
            <a:prstDash val="solid"/>
          </a:ln>
        </p:spPr>
        <p:txBody>
          <a:bodyPr wrap="square" lIns="50800" tIns="50800" rIns="50800" bIns="50800" rtlCol="0" anchor="ctr"/>
          <a:lstStyle/>
          <a:p>
            <a:pPr algn="ctr" indent="0" marL="0">
              <a:buNone/>
            </a:pPr>
            <a:r>
              <a:rPr lang="en-US" sz="1400" b="1" dirty="0">
                <a:solidFill>
                  <a:srgbClr val="085041"/>
                </a:solidFill>
                <a:latin typeface="Calibri" pitchFamily="34" charset="0"/>
                <a:ea typeface="Calibri" pitchFamily="34" charset="-122"/>
                <a:cs typeface="Calibri" pitchFamily="34" charset="-120"/>
              </a:rPr>
              <a:t>worker</a:t>
            </a:r>
            <a:endParaRPr lang="en-US" sz="1200" dirty="0"/>
          </a:p>
          <a:p>
            <a:pPr algn="ctr" indent="0" marL="0">
              <a:buNone/>
            </a:pPr>
            <a:r>
              <a:rPr lang="en-US" sz="1100" dirty="0">
                <a:solidFill>
                  <a:srgbClr val="085041"/>
                </a:solidFill>
                <a:latin typeface="Calibri" pitchFamily="34" charset="0"/>
                <a:ea typeface="Calibri" pitchFamily="34" charset="-122"/>
                <a:cs typeface="Calibri" pitchFamily="34" charset="-120"/>
              </a:rPr>
              <a:t>node · does the job</a:t>
            </a:r>
            <a:endParaRPr lang="en-US" sz="1200" dirty="0"/>
          </a:p>
        </p:txBody>
      </p:sp>
      <p:sp>
        <p:nvSpPr>
          <p:cNvPr id="17" name="!!ge2"/>
          <p:cNvSpPr/>
          <p:nvPr/>
        </p:nvSpPr>
        <p:spPr>
          <a:xfrm>
            <a:off x="5692140" y="3035808"/>
            <a:ext cx="914" cy="384048"/>
          </a:xfrm>
          <a:prstGeom prst="line">
            <a:avLst/>
          </a:prstGeom>
          <a:noFill/>
          <a:ln w="15875">
            <a:solidFill>
              <a:srgbClr val="5F5E5A"/>
            </a:solidFill>
            <a:prstDash val="solid"/>
            <a:tailEnd type="triangle"/>
          </a:ln>
        </p:spPr>
        <p:txBody>
          <a:bodyPr/>
          <a:p/>
        </p:txBody>
      </p:sp>
      <p:sp>
        <p:nvSpPr>
          <p:cNvPr id="18" name="!!gc"/>
          <p:cNvSpPr/>
          <p:nvPr/>
        </p:nvSpPr>
        <p:spPr>
          <a:xfrm>
            <a:off x="4823460" y="3456432"/>
            <a:ext cx="1737360" cy="658368"/>
          </a:xfrm>
          <a:prstGeom prst="roundRect">
            <a:avLst>
              <a:gd name="adj" fmla="val 11111"/>
            </a:avLst>
          </a:prstGeom>
          <a:solidFill>
            <a:srgbClr val="FAECE7"/>
          </a:solidFill>
          <a:ln w="12700">
            <a:solidFill>
              <a:srgbClr val="993C1D"/>
            </a:solidFill>
            <a:prstDash val="solid"/>
          </a:ln>
        </p:spPr>
        <p:txBody>
          <a:bodyPr wrap="square" lIns="50800" tIns="50800" rIns="50800" bIns="50800" rtlCol="0" anchor="ctr"/>
          <a:lstStyle/>
          <a:p>
            <a:pPr algn="ctr" indent="0" marL="0">
              <a:buNone/>
            </a:pPr>
            <a:r>
              <a:rPr lang="en-US" sz="1400" b="1" dirty="0">
                <a:solidFill>
                  <a:srgbClr val="712B13"/>
                </a:solidFill>
                <a:latin typeface="Calibri" pitchFamily="34" charset="0"/>
                <a:ea typeface="Calibri" pitchFamily="34" charset="-122"/>
                <a:cs typeface="Calibri" pitchFamily="34" charset="-120"/>
              </a:rPr>
              <a:t>checker</a:t>
            </a:r>
            <a:endParaRPr lang="en-US" sz="1200" dirty="0"/>
          </a:p>
          <a:p>
            <a:pPr algn="ctr" indent="0" marL="0">
              <a:buNone/>
            </a:pPr>
            <a:r>
              <a:rPr lang="en-US" sz="1100" dirty="0">
                <a:solidFill>
                  <a:srgbClr val="712B13"/>
                </a:solidFill>
                <a:latin typeface="Calibri" pitchFamily="34" charset="0"/>
                <a:ea typeface="Calibri" pitchFamily="34" charset="-122"/>
                <a:cs typeface="Calibri" pitchFamily="34" charset="-120"/>
              </a:rPr>
              <a:t>node · verifies</a:t>
            </a:r>
            <a:endParaRPr lang="en-US" sz="1200" dirty="0"/>
          </a:p>
        </p:txBody>
      </p:sp>
      <p:sp>
        <p:nvSpPr>
          <p:cNvPr id="19" name="!!ge3"/>
          <p:cNvSpPr/>
          <p:nvPr/>
        </p:nvSpPr>
        <p:spPr>
          <a:xfrm>
            <a:off x="5692140" y="4114800"/>
            <a:ext cx="914" cy="438912"/>
          </a:xfrm>
          <a:prstGeom prst="line">
            <a:avLst/>
          </a:prstGeom>
          <a:noFill/>
          <a:ln w="15875">
            <a:solidFill>
              <a:srgbClr val="5F5E5A"/>
            </a:solidFill>
            <a:prstDash val="solid"/>
            <a:tailEnd type="triangle"/>
          </a:ln>
        </p:spPr>
        <p:txBody>
          <a:bodyPr/>
          <a:p/>
        </p:txBody>
      </p:sp>
      <p:sp>
        <p:nvSpPr>
          <p:cNvPr id="20" name="!!gpass"/>
          <p:cNvSpPr txBox="1"/>
          <p:nvPr/>
        </p:nvSpPr>
        <p:spPr>
          <a:xfrm>
            <a:off x="5765292" y="4187952"/>
            <a:ext cx="548640" cy="274320"/>
          </a:xfrm>
          <a:prstGeom prst="rect">
            <a:avLst/>
          </a:prstGeom>
          <a:noFill/>
          <a:ln/>
        </p:spPr>
        <p:txBody>
          <a:bodyPr wrap="square" lIns="0" tIns="0" rIns="0" bIns="0" rtlCol="0" anchor="t"/>
          <a:lstStyle/>
          <a:p>
            <a:pPr algn="l" indent="0" marL="0">
              <a:buNone/>
            </a:pPr>
            <a:r>
              <a:rPr lang="en-US" sz="1100" b="1" dirty="0">
                <a:solidFill>
                  <a:srgbClr val="085041"/>
                </a:solidFill>
                <a:latin typeface="Calibri" pitchFamily="34" charset="0"/>
                <a:ea typeface="Calibri" pitchFamily="34" charset="-122"/>
                <a:cs typeface="Calibri" pitchFamily="34" charset="-120"/>
              </a:rPr>
              <a:t>pass</a:t>
            </a:r>
            <a:endParaRPr lang="en-US" sz="1100" dirty="0"/>
          </a:p>
        </p:txBody>
      </p:sp>
      <p:sp>
        <p:nvSpPr>
          <p:cNvPr id="21" name="!!gend"/>
          <p:cNvSpPr/>
          <p:nvPr/>
        </p:nvSpPr>
        <p:spPr>
          <a:xfrm>
            <a:off x="5189220" y="4590288"/>
            <a:ext cx="1005840" cy="329184"/>
          </a:xfrm>
          <a:prstGeom prst="roundRect">
            <a:avLst>
              <a:gd name="adj" fmla="val 50000"/>
            </a:avLst>
          </a:prstGeom>
          <a:solidFill>
            <a:srgbClr val="F1EFE8"/>
          </a:solidFill>
          <a:ln w="12700">
            <a:solidFill>
              <a:srgbClr val="888780"/>
            </a:solidFill>
            <a:prstDash val="solid"/>
          </a:ln>
        </p:spPr>
        <p:txBody>
          <a:bodyPr wrap="square" lIns="50800" tIns="50800" rIns="50800" bIns="50800" rtlCol="0" anchor="ctr"/>
          <a:lstStyle/>
          <a:p>
            <a:pPr algn="ctr" indent="0" marL="0">
              <a:buNone/>
            </a:pPr>
            <a:r>
              <a:rPr lang="en-US" sz="1100" b="1" dirty="0">
                <a:solidFill>
                  <a:srgbClr val="2C2C2A"/>
                </a:solidFill>
                <a:latin typeface="Consolas" pitchFamily="34" charset="0"/>
                <a:ea typeface="Consolas" pitchFamily="34" charset="-122"/>
                <a:cs typeface="Consolas" pitchFamily="34" charset="-120"/>
              </a:rPr>
              <a:t>END</a:t>
            </a:r>
            <a:endParaRPr lang="en-US" sz="1100" dirty="0"/>
          </a:p>
        </p:txBody>
      </p:sp>
      <p:sp>
        <p:nvSpPr>
          <p:cNvPr id="22" name="!!gf1"/>
          <p:cNvSpPr/>
          <p:nvPr/>
        </p:nvSpPr>
        <p:spPr>
          <a:xfrm flipH="1">
            <a:off x="4453128" y="3785616"/>
            <a:ext cx="370332" cy="914"/>
          </a:xfrm>
          <a:prstGeom prst="line">
            <a:avLst/>
          </a:prstGeom>
          <a:noFill/>
          <a:ln w="15875">
            <a:solidFill>
              <a:srgbClr val="993C1D"/>
            </a:solidFill>
            <a:prstDash val="dash"/>
          </a:ln>
        </p:spPr>
        <p:txBody>
          <a:bodyPr/>
          <a:p/>
        </p:txBody>
      </p:sp>
      <p:sp>
        <p:nvSpPr>
          <p:cNvPr id="23" name="!!gf2"/>
          <p:cNvSpPr/>
          <p:nvPr/>
        </p:nvSpPr>
        <p:spPr>
          <a:xfrm flipV="1">
            <a:off x="4453128" y="2706624"/>
            <a:ext cx="914" cy="1078992"/>
          </a:xfrm>
          <a:prstGeom prst="line">
            <a:avLst/>
          </a:prstGeom>
          <a:noFill/>
          <a:ln w="15875">
            <a:solidFill>
              <a:srgbClr val="993C1D"/>
            </a:solidFill>
            <a:prstDash val="dash"/>
          </a:ln>
        </p:spPr>
        <p:txBody>
          <a:bodyPr/>
          <a:p/>
        </p:txBody>
      </p:sp>
      <p:sp>
        <p:nvSpPr>
          <p:cNvPr id="24" name="!!gf3"/>
          <p:cNvSpPr/>
          <p:nvPr/>
        </p:nvSpPr>
        <p:spPr>
          <a:xfrm>
            <a:off x="4453128" y="2706624"/>
            <a:ext cx="352044" cy="914"/>
          </a:xfrm>
          <a:prstGeom prst="line">
            <a:avLst/>
          </a:prstGeom>
          <a:noFill/>
          <a:ln w="15875">
            <a:solidFill>
              <a:srgbClr val="993C1D"/>
            </a:solidFill>
            <a:prstDash val="dash"/>
            <a:tailEnd type="triangle"/>
          </a:ln>
        </p:spPr>
        <p:txBody>
          <a:bodyPr/>
          <a:p/>
        </p:txBody>
      </p:sp>
      <p:sp>
        <p:nvSpPr>
          <p:cNvPr id="25" name="!!gfail"/>
          <p:cNvSpPr txBox="1"/>
          <p:nvPr/>
        </p:nvSpPr>
        <p:spPr>
          <a:xfrm>
            <a:off x="4526280" y="3090672"/>
            <a:ext cx="548640" cy="274320"/>
          </a:xfrm>
          <a:prstGeom prst="rect">
            <a:avLst/>
          </a:prstGeom>
          <a:noFill/>
          <a:ln/>
        </p:spPr>
        <p:txBody>
          <a:bodyPr wrap="square" lIns="0" tIns="0" rIns="0" bIns="0" rtlCol="0" anchor="t"/>
          <a:lstStyle/>
          <a:p>
            <a:pPr algn="l" indent="0" marL="0">
              <a:buNone/>
            </a:pPr>
            <a:r>
              <a:rPr lang="en-US" sz="1100" b="1" dirty="0">
                <a:solidFill>
                  <a:srgbClr val="712B13"/>
                </a:solidFill>
                <a:latin typeface="Calibri" pitchFamily="34" charset="0"/>
                <a:ea typeface="Calibri" pitchFamily="34" charset="-122"/>
                <a:cs typeface="Calibri" pitchFamily="34" charset="-120"/>
              </a:rPr>
              <a:t>fail</a:t>
            </a:r>
            <a:endParaRPr lang="en-US" sz="1100" dirty="0"/>
          </a:p>
        </p:txBody>
      </p:sp>
      <p:sp>
        <p:nvSpPr>
          <p:cNvPr id="26" name="!!gstate"/>
          <p:cNvSpPr/>
          <p:nvPr/>
        </p:nvSpPr>
        <p:spPr>
          <a:xfrm>
            <a:off x="4343400" y="5138928"/>
            <a:ext cx="2697480" cy="347472"/>
          </a:xfrm>
          <a:prstGeom prst="roundRect">
            <a:avLst>
              <a:gd name="adj" fmla="val 15789"/>
            </a:avLst>
          </a:prstGeom>
          <a:solidFill>
            <a:srgbClr val="EEEDFE"/>
          </a:solidFill>
          <a:ln w="12700">
            <a:solidFill>
              <a:srgbClr val="534AB7"/>
            </a:solidFill>
            <a:prstDash val="solid"/>
          </a:ln>
        </p:spPr>
        <p:txBody>
          <a:bodyPr wrap="square" lIns="25400" tIns="25400" rIns="25400" bIns="25400" rtlCol="0" anchor="ctr"/>
          <a:lstStyle/>
          <a:p>
            <a:pPr algn="ctr" indent="0" marL="0">
              <a:buNone/>
            </a:pPr>
            <a:r>
              <a:rPr lang="en-US" sz="1150" b="1" dirty="0">
                <a:solidFill>
                  <a:srgbClr val="3C3489"/>
                </a:solidFill>
                <a:latin typeface="Calibri" pitchFamily="34" charset="0"/>
                <a:ea typeface="Calibri" pitchFamily="34" charset="-122"/>
                <a:cs typeface="Calibri" pitchFamily="34" charset="-120"/>
              </a:rPr>
              <a:t>State  </a:t>
            </a:r>
            <a:pPr algn="ctr" indent="0" marL="0">
              <a:buNone/>
            </a:pPr>
            <a:r>
              <a:rPr lang="en-US" sz="1000" dirty="0">
                <a:solidFill>
                  <a:srgbClr val="3C3489"/>
                </a:solidFill>
                <a:latin typeface="Consolas" pitchFamily="34" charset="0"/>
                <a:ea typeface="Consolas" pitchFamily="34" charset="-122"/>
                <a:cs typeface="Consolas" pitchFamily="34" charset="-120"/>
              </a:rPr>
              <a:t>{ticket, result, status}</a:t>
            </a:r>
            <a:endParaRPr lang="en-US" sz="1150" dirty="0"/>
          </a:p>
        </p:txBody>
      </p:sp>
      <p:sp>
        <p:nvSpPr>
          <p:cNvPr id="27" name="!!codebox"/>
          <p:cNvSpPr/>
          <p:nvPr/>
        </p:nvSpPr>
        <p:spPr>
          <a:xfrm>
            <a:off x="7315200" y="1371600"/>
            <a:ext cx="4370832" cy="4114800"/>
          </a:xfrm>
          <a:prstGeom prst="roundRect">
            <a:avLst>
              <a:gd name="adj" fmla="val 1333"/>
            </a:avLst>
          </a:prstGeom>
          <a:solidFill>
            <a:srgbClr val="F7F6F2"/>
          </a:solidFill>
          <a:ln w="9525">
            <a:solidFill>
              <a:srgbClr val="D3D1C7"/>
            </a:solidFill>
            <a:prstDash val="solid"/>
          </a:ln>
        </p:spPr>
        <p:txBody>
          <a:bodyPr wrap="square" lIns="50800" tIns="50800" rIns="50800" bIns="50800" rtlCol="0" anchor="ctr"/>
          <a:lstStyle/>
          <a:p>
            <a:pPr algn="ctr" indent="0" marL="0">
              <a:buNone/>
            </a:pPr>
            <a:endParaRPr lang="en-US" sz="1200" dirty="0"/>
          </a:p>
        </p:txBody>
      </p:sp>
      <p:sp>
        <p:nvSpPr>
          <p:cNvPr id="28" name="!!code"/>
          <p:cNvSpPr txBox="1"/>
          <p:nvPr/>
        </p:nvSpPr>
        <p:spPr>
          <a:xfrm>
            <a:off x="7479792" y="1481328"/>
            <a:ext cx="4096512" cy="3931920"/>
          </a:xfrm>
          <a:prstGeom prst="rect">
            <a:avLst/>
          </a:prstGeom>
          <a:noFill/>
          <a:ln/>
        </p:spPr>
        <p:txBody>
          <a:bodyPr wrap="square" lIns="0" tIns="0" rIns="0" bIns="0" rtlCol="0" anchor="t"/>
          <a:lstStyle/>
          <a:p>
            <a:pPr algn="l" indent="0" marL="0">
              <a:lnSpc>
                <a:spcPct val="98000"/>
              </a:lnSpc>
              <a:buNone/>
            </a:pPr>
            <a:r>
              <a:rPr lang="en-US" sz="950" dirty="0">
                <a:solidFill>
                  <a:srgbClr val="2C2C2A"/>
                </a:solidFill>
                <a:latin typeface="Consolas" pitchFamily="34" charset="0"/>
                <a:ea typeface="Consolas" pitchFamily="34" charset="-122"/>
                <a:cs typeface="Consolas" pitchFamily="34" charset="-120"/>
              </a:rPr>
              <a:t>from typing import TypedDict</a:t>
            </a:r>
            <a:endParaRPr lang="en-US" sz="950" dirty="0"/>
          </a:p>
          <a:p>
            <a:pPr algn="l" indent="0" marL="0">
              <a:lnSpc>
                <a:spcPct val="98000"/>
              </a:lnSpc>
              <a:buNone/>
            </a:pPr>
            <a:r>
              <a:rPr lang="en-US" sz="950" dirty="0">
                <a:solidFill>
                  <a:srgbClr val="2C2C2A"/>
                </a:solidFill>
                <a:latin typeface="Consolas" pitchFamily="34" charset="0"/>
                <a:ea typeface="Consolas" pitchFamily="34" charset="-122"/>
                <a:cs typeface="Consolas" pitchFamily="34" charset="-120"/>
              </a:rPr>
              <a:t>from langgraph.graph import StateGraph, START, END</a:t>
            </a:r>
            <a:endParaRPr lang="en-US" sz="950" dirty="0"/>
          </a:p>
          <a:p>
            <a:pPr algn="l" indent="0" marL="0">
              <a:lnSpc>
                <a:spcPct val="98000"/>
              </a:lnSpc>
              <a:buNone/>
            </a:pPr>
            <a:r>
              <a:rPr lang="en-US" sz="950" dirty="0">
                <a:solidFill>
                  <a:srgbClr val="2C2C2A"/>
                </a:solidFill>
                <a:latin typeface="Consolas" pitchFamily="34" charset="0"/>
                <a:ea typeface="Consolas" pitchFamily="34" charset="-122"/>
                <a:cs typeface="Consolas" pitchFamily="34" charset="-120"/>
              </a:rPr>
              <a:t> </a:t>
            </a:r>
            <a:endParaRPr lang="en-US" sz="950" dirty="0"/>
          </a:p>
          <a:p>
            <a:pPr algn="l" indent="0" marL="0">
              <a:lnSpc>
                <a:spcPct val="98000"/>
              </a:lnSpc>
              <a:buNone/>
            </a:pPr>
            <a:r>
              <a:rPr lang="en-US" sz="950" dirty="0">
                <a:solidFill>
                  <a:srgbClr val="2C2C2A"/>
                </a:solidFill>
                <a:latin typeface="Consolas" pitchFamily="34" charset="0"/>
                <a:ea typeface="Consolas" pitchFamily="34" charset="-122"/>
                <a:cs typeface="Consolas" pitchFamily="34" charset="-120"/>
              </a:rPr>
              <a:t>class State(TypedDict):</a:t>
            </a:r>
            <a:pPr algn="l" indent="0" marL="0">
              <a:lnSpc>
                <a:spcPct val="98000"/>
              </a:lnSpc>
              <a:buNone/>
            </a:pPr>
            <a:r>
              <a:rPr lang="en-US" sz="950" dirty="0">
                <a:solidFill>
                  <a:srgbClr val="0F6E56"/>
                </a:solidFill>
                <a:latin typeface="Consolas" pitchFamily="34" charset="0"/>
                <a:ea typeface="Consolas" pitchFamily="34" charset="-122"/>
                <a:cs typeface="Consolas" pitchFamily="34" charset="-120"/>
              </a:rPr>
              <a:t>  # shared state</a:t>
            </a:r>
            <a:endParaRPr lang="en-US" sz="950" dirty="0"/>
          </a:p>
          <a:p>
            <a:pPr algn="l" indent="0" marL="0">
              <a:lnSpc>
                <a:spcPct val="98000"/>
              </a:lnSpc>
              <a:buNone/>
            </a:pPr>
            <a:r>
              <a:rPr lang="en-US" sz="950" dirty="0">
                <a:solidFill>
                  <a:srgbClr val="2C2C2A"/>
                </a:solidFill>
                <a:latin typeface="Consolas" pitchFamily="34" charset="0"/>
                <a:ea typeface="Consolas" pitchFamily="34" charset="-122"/>
                <a:cs typeface="Consolas" pitchFamily="34" charset="-120"/>
              </a:rPr>
              <a:t>    ticket: str</a:t>
            </a:r>
            <a:endParaRPr lang="en-US" sz="950" dirty="0"/>
          </a:p>
          <a:p>
            <a:pPr algn="l" indent="0" marL="0">
              <a:lnSpc>
                <a:spcPct val="98000"/>
              </a:lnSpc>
              <a:buNone/>
            </a:pPr>
            <a:r>
              <a:rPr lang="en-US" sz="950" dirty="0">
                <a:solidFill>
                  <a:srgbClr val="2C2C2A"/>
                </a:solidFill>
                <a:latin typeface="Consolas" pitchFamily="34" charset="0"/>
                <a:ea typeface="Consolas" pitchFamily="34" charset="-122"/>
                <a:cs typeface="Consolas" pitchFamily="34" charset="-120"/>
              </a:rPr>
              <a:t>    result: str</a:t>
            </a:r>
            <a:endParaRPr lang="en-US" sz="950" dirty="0"/>
          </a:p>
          <a:p>
            <a:pPr algn="l" indent="0" marL="0">
              <a:lnSpc>
                <a:spcPct val="98000"/>
              </a:lnSpc>
              <a:buNone/>
            </a:pPr>
            <a:r>
              <a:rPr lang="en-US" sz="950" dirty="0">
                <a:solidFill>
                  <a:srgbClr val="2C2C2A"/>
                </a:solidFill>
                <a:latin typeface="Consolas" pitchFamily="34" charset="0"/>
                <a:ea typeface="Consolas" pitchFamily="34" charset="-122"/>
                <a:cs typeface="Consolas" pitchFamily="34" charset="-120"/>
              </a:rPr>
              <a:t>    status: str</a:t>
            </a:r>
            <a:pPr algn="l" indent="0" marL="0">
              <a:lnSpc>
                <a:spcPct val="98000"/>
              </a:lnSpc>
              <a:buNone/>
            </a:pPr>
            <a:r>
              <a:rPr lang="en-US" sz="950" dirty="0">
                <a:solidFill>
                  <a:srgbClr val="0F6E56"/>
                </a:solidFill>
                <a:latin typeface="Consolas" pitchFamily="34" charset="0"/>
                <a:ea typeface="Consolas" pitchFamily="34" charset="-122"/>
                <a:cs typeface="Consolas" pitchFamily="34" charset="-120"/>
              </a:rPr>
              <a:t>  # "pass" | "fail"</a:t>
            </a:r>
            <a:endParaRPr lang="en-US" sz="950" dirty="0"/>
          </a:p>
          <a:p>
            <a:pPr algn="l" indent="0" marL="0">
              <a:lnSpc>
                <a:spcPct val="98000"/>
              </a:lnSpc>
              <a:buNone/>
            </a:pPr>
            <a:r>
              <a:rPr lang="en-US" sz="950" dirty="0">
                <a:solidFill>
                  <a:srgbClr val="2C2C2A"/>
                </a:solidFill>
                <a:latin typeface="Consolas" pitchFamily="34" charset="0"/>
                <a:ea typeface="Consolas" pitchFamily="34" charset="-122"/>
                <a:cs typeface="Consolas" pitchFamily="34" charset="-120"/>
              </a:rPr>
              <a:t> </a:t>
            </a:r>
            <a:endParaRPr lang="en-US" sz="950" dirty="0"/>
          </a:p>
          <a:p>
            <a:pPr algn="l" indent="0" marL="0">
              <a:lnSpc>
                <a:spcPct val="98000"/>
              </a:lnSpc>
              <a:buNone/>
            </a:pPr>
            <a:r>
              <a:rPr lang="en-US" sz="950" dirty="0">
                <a:solidFill>
                  <a:srgbClr val="2C2C2A"/>
                </a:solidFill>
                <a:latin typeface="Consolas" pitchFamily="34" charset="0"/>
                <a:ea typeface="Consolas" pitchFamily="34" charset="-122"/>
                <a:cs typeface="Consolas" pitchFamily="34" charset="-120"/>
              </a:rPr>
              <a:t>def worker(state: State) -&gt; dict:</a:t>
            </a:r>
            <a:pPr algn="l" indent="0" marL="0">
              <a:lnSpc>
                <a:spcPct val="98000"/>
              </a:lnSpc>
              <a:buNone/>
            </a:pPr>
            <a:r>
              <a:rPr lang="en-US" sz="950" dirty="0">
                <a:solidFill>
                  <a:srgbClr val="0F6E56"/>
                </a:solidFill>
                <a:latin typeface="Consolas" pitchFamily="34" charset="0"/>
                <a:ea typeface="Consolas" pitchFamily="34" charset="-122"/>
                <a:cs typeface="Consolas" pitchFamily="34" charset="-120"/>
              </a:rPr>
              <a:t>  # a node</a:t>
            </a:r>
            <a:endParaRPr lang="en-US" sz="950" dirty="0"/>
          </a:p>
          <a:p>
            <a:pPr algn="l" indent="0" marL="0">
              <a:lnSpc>
                <a:spcPct val="98000"/>
              </a:lnSpc>
              <a:buNone/>
            </a:pPr>
            <a:r>
              <a:rPr lang="en-US" sz="950" dirty="0">
                <a:solidFill>
                  <a:srgbClr val="2C2C2A"/>
                </a:solidFill>
                <a:latin typeface="Consolas" pitchFamily="34" charset="0"/>
                <a:ea typeface="Consolas" pitchFamily="34" charset="-122"/>
                <a:cs typeface="Consolas" pitchFamily="34" charset="-120"/>
              </a:rPr>
              <a:t>    return {"result": fix(state["ticket"])}</a:t>
            </a:r>
            <a:endParaRPr lang="en-US" sz="950" dirty="0"/>
          </a:p>
          <a:p>
            <a:pPr algn="l" indent="0" marL="0">
              <a:lnSpc>
                <a:spcPct val="98000"/>
              </a:lnSpc>
              <a:buNone/>
            </a:pPr>
            <a:r>
              <a:rPr lang="en-US" sz="950" dirty="0">
                <a:solidFill>
                  <a:srgbClr val="2C2C2A"/>
                </a:solidFill>
                <a:latin typeface="Consolas" pitchFamily="34" charset="0"/>
                <a:ea typeface="Consolas" pitchFamily="34" charset="-122"/>
                <a:cs typeface="Consolas" pitchFamily="34" charset="-120"/>
              </a:rPr>
              <a:t> </a:t>
            </a:r>
            <a:endParaRPr lang="en-US" sz="950" dirty="0"/>
          </a:p>
          <a:p>
            <a:pPr algn="l" indent="0" marL="0">
              <a:lnSpc>
                <a:spcPct val="98000"/>
              </a:lnSpc>
              <a:buNone/>
            </a:pPr>
            <a:r>
              <a:rPr lang="en-US" sz="950" dirty="0">
                <a:solidFill>
                  <a:srgbClr val="2C2C2A"/>
                </a:solidFill>
                <a:latin typeface="Consolas" pitchFamily="34" charset="0"/>
                <a:ea typeface="Consolas" pitchFamily="34" charset="-122"/>
                <a:cs typeface="Consolas" pitchFamily="34" charset="-120"/>
              </a:rPr>
              <a:t>def checker(state: State) -&gt; dict:</a:t>
            </a:r>
            <a:endParaRPr lang="en-US" sz="950" dirty="0"/>
          </a:p>
          <a:p>
            <a:pPr algn="l" indent="0" marL="0">
              <a:lnSpc>
                <a:spcPct val="98000"/>
              </a:lnSpc>
              <a:buNone/>
            </a:pPr>
            <a:r>
              <a:rPr lang="en-US" sz="950" dirty="0">
                <a:solidFill>
                  <a:srgbClr val="2C2C2A"/>
                </a:solidFill>
                <a:latin typeface="Consolas" pitchFamily="34" charset="0"/>
                <a:ea typeface="Consolas" pitchFamily="34" charset="-122"/>
                <a:cs typeface="Consolas" pitchFamily="34" charset="-120"/>
              </a:rPr>
              <a:t>    ok = verify(state["result"])</a:t>
            </a:r>
            <a:endParaRPr lang="en-US" sz="950" dirty="0"/>
          </a:p>
          <a:p>
            <a:pPr algn="l" indent="0" marL="0">
              <a:lnSpc>
                <a:spcPct val="98000"/>
              </a:lnSpc>
              <a:buNone/>
            </a:pPr>
            <a:r>
              <a:rPr lang="en-US" sz="950" dirty="0">
                <a:solidFill>
                  <a:srgbClr val="2C2C2A"/>
                </a:solidFill>
                <a:latin typeface="Consolas" pitchFamily="34" charset="0"/>
                <a:ea typeface="Consolas" pitchFamily="34" charset="-122"/>
                <a:cs typeface="Consolas" pitchFamily="34" charset="-120"/>
              </a:rPr>
              <a:t>    return {"status": "pass" if ok else "fail"}</a:t>
            </a:r>
            <a:endParaRPr lang="en-US" sz="950" dirty="0"/>
          </a:p>
          <a:p>
            <a:pPr algn="l" indent="0" marL="0">
              <a:lnSpc>
                <a:spcPct val="98000"/>
              </a:lnSpc>
              <a:buNone/>
            </a:pPr>
            <a:r>
              <a:rPr lang="en-US" sz="950" dirty="0">
                <a:solidFill>
                  <a:srgbClr val="2C2C2A"/>
                </a:solidFill>
                <a:latin typeface="Consolas" pitchFamily="34" charset="0"/>
                <a:ea typeface="Consolas" pitchFamily="34" charset="-122"/>
                <a:cs typeface="Consolas" pitchFamily="34" charset="-120"/>
              </a:rPr>
              <a:t> </a:t>
            </a:r>
            <a:endParaRPr lang="en-US" sz="950" dirty="0"/>
          </a:p>
          <a:p>
            <a:pPr algn="l" indent="0" marL="0">
              <a:lnSpc>
                <a:spcPct val="98000"/>
              </a:lnSpc>
              <a:buNone/>
            </a:pPr>
            <a:r>
              <a:rPr lang="en-US" sz="950" dirty="0">
                <a:solidFill>
                  <a:srgbClr val="2C2C2A"/>
                </a:solidFill>
                <a:latin typeface="Consolas" pitchFamily="34" charset="0"/>
                <a:ea typeface="Consolas" pitchFamily="34" charset="-122"/>
                <a:cs typeface="Consolas" pitchFamily="34" charset="-120"/>
              </a:rPr>
              <a:t>g = StateGraph(State)</a:t>
            </a:r>
            <a:endParaRPr lang="en-US" sz="950" dirty="0"/>
          </a:p>
          <a:p>
            <a:pPr algn="l" indent="0" marL="0">
              <a:lnSpc>
                <a:spcPct val="98000"/>
              </a:lnSpc>
              <a:buNone/>
            </a:pPr>
            <a:r>
              <a:rPr lang="en-US" sz="950" dirty="0">
                <a:solidFill>
                  <a:srgbClr val="2C2C2A"/>
                </a:solidFill>
                <a:latin typeface="Consolas" pitchFamily="34" charset="0"/>
                <a:ea typeface="Consolas" pitchFamily="34" charset="-122"/>
                <a:cs typeface="Consolas" pitchFamily="34" charset="-120"/>
              </a:rPr>
              <a:t>g.add_node("worker", worker)</a:t>
            </a:r>
            <a:endParaRPr lang="en-US" sz="950" dirty="0"/>
          </a:p>
          <a:p>
            <a:pPr algn="l" indent="0" marL="0">
              <a:lnSpc>
                <a:spcPct val="98000"/>
              </a:lnSpc>
              <a:buNone/>
            </a:pPr>
            <a:r>
              <a:rPr lang="en-US" sz="950" dirty="0">
                <a:solidFill>
                  <a:srgbClr val="2C2C2A"/>
                </a:solidFill>
                <a:latin typeface="Consolas" pitchFamily="34" charset="0"/>
                <a:ea typeface="Consolas" pitchFamily="34" charset="-122"/>
                <a:cs typeface="Consolas" pitchFamily="34" charset="-120"/>
              </a:rPr>
              <a:t>g.add_node("checker", checker)</a:t>
            </a:r>
            <a:endParaRPr lang="en-US" sz="950" dirty="0"/>
          </a:p>
          <a:p>
            <a:pPr algn="l" indent="0" marL="0">
              <a:lnSpc>
                <a:spcPct val="98000"/>
              </a:lnSpc>
              <a:buNone/>
            </a:pPr>
            <a:r>
              <a:rPr lang="en-US" sz="950" dirty="0">
                <a:solidFill>
                  <a:srgbClr val="2C2C2A"/>
                </a:solidFill>
                <a:latin typeface="Consolas" pitchFamily="34" charset="0"/>
                <a:ea typeface="Consolas" pitchFamily="34" charset="-122"/>
                <a:cs typeface="Consolas" pitchFamily="34" charset="-120"/>
              </a:rPr>
              <a:t>g.add_edge(START, "worker")</a:t>
            </a:r>
            <a:endParaRPr lang="en-US" sz="950" dirty="0"/>
          </a:p>
          <a:p>
            <a:pPr algn="l" indent="0" marL="0">
              <a:lnSpc>
                <a:spcPct val="98000"/>
              </a:lnSpc>
              <a:buNone/>
            </a:pPr>
            <a:r>
              <a:rPr lang="en-US" sz="950" dirty="0">
                <a:solidFill>
                  <a:srgbClr val="2C2C2A"/>
                </a:solidFill>
                <a:latin typeface="Consolas" pitchFamily="34" charset="0"/>
                <a:ea typeface="Consolas" pitchFamily="34" charset="-122"/>
                <a:cs typeface="Consolas" pitchFamily="34" charset="-120"/>
              </a:rPr>
              <a:t>g.add_edge("worker", "checker")</a:t>
            </a:r>
            <a:endParaRPr lang="en-US" sz="950" dirty="0"/>
          </a:p>
          <a:p>
            <a:pPr algn="l" indent="0" marL="0">
              <a:lnSpc>
                <a:spcPct val="98000"/>
              </a:lnSpc>
              <a:buNone/>
            </a:pPr>
            <a:r>
              <a:rPr lang="en-US" sz="950" dirty="0">
                <a:solidFill>
                  <a:srgbClr val="2C2C2A"/>
                </a:solidFill>
                <a:latin typeface="Consolas" pitchFamily="34" charset="0"/>
                <a:ea typeface="Consolas" pitchFamily="34" charset="-122"/>
                <a:cs typeface="Consolas" pitchFamily="34" charset="-120"/>
              </a:rPr>
              <a:t>g.add_conditional_edges("checker",</a:t>
            </a:r>
            <a:pPr algn="l" indent="0" marL="0">
              <a:lnSpc>
                <a:spcPct val="98000"/>
              </a:lnSpc>
              <a:buNone/>
            </a:pPr>
            <a:r>
              <a:rPr lang="en-US" sz="950" dirty="0">
                <a:solidFill>
                  <a:srgbClr val="0F6E56"/>
                </a:solidFill>
                <a:latin typeface="Consolas" pitchFamily="34" charset="0"/>
                <a:ea typeface="Consolas" pitchFamily="34" charset="-122"/>
                <a:cs typeface="Consolas" pitchFamily="34" charset="-120"/>
              </a:rPr>
              <a:t>  # route on status</a:t>
            </a:r>
            <a:endParaRPr lang="en-US" sz="950" dirty="0"/>
          </a:p>
          <a:p>
            <a:pPr algn="l" indent="0" marL="0">
              <a:lnSpc>
                <a:spcPct val="98000"/>
              </a:lnSpc>
              <a:buNone/>
            </a:pPr>
            <a:r>
              <a:rPr lang="en-US" sz="950" dirty="0">
                <a:solidFill>
                  <a:srgbClr val="2C2C2A"/>
                </a:solidFill>
                <a:latin typeface="Consolas" pitchFamily="34" charset="0"/>
                <a:ea typeface="Consolas" pitchFamily="34" charset="-122"/>
                <a:cs typeface="Consolas" pitchFamily="34" charset="-120"/>
              </a:rPr>
              <a:t>    lambda s: END if s["status"] == "pass"</a:t>
            </a:r>
            <a:endParaRPr lang="en-US" sz="950" dirty="0"/>
          </a:p>
          <a:p>
            <a:pPr algn="l" indent="0" marL="0">
              <a:lnSpc>
                <a:spcPct val="98000"/>
              </a:lnSpc>
              <a:buNone/>
            </a:pPr>
            <a:r>
              <a:rPr lang="en-US" sz="950" dirty="0">
                <a:solidFill>
                  <a:srgbClr val="2C2C2A"/>
                </a:solidFill>
                <a:latin typeface="Consolas" pitchFamily="34" charset="0"/>
                <a:ea typeface="Consolas" pitchFamily="34" charset="-122"/>
                <a:cs typeface="Consolas" pitchFamily="34" charset="-120"/>
              </a:rPr>
              <a:t>              else "worker")</a:t>
            </a:r>
            <a:endParaRPr lang="en-US" sz="950" dirty="0"/>
          </a:p>
          <a:p>
            <a:pPr algn="l" indent="0" marL="0">
              <a:lnSpc>
                <a:spcPct val="98000"/>
              </a:lnSpc>
              <a:buNone/>
            </a:pPr>
            <a:r>
              <a:rPr lang="en-US" sz="950" dirty="0">
                <a:solidFill>
                  <a:srgbClr val="2C2C2A"/>
                </a:solidFill>
                <a:latin typeface="Consolas" pitchFamily="34" charset="0"/>
                <a:ea typeface="Consolas" pitchFamily="34" charset="-122"/>
                <a:cs typeface="Consolas" pitchFamily="34" charset="-120"/>
              </a:rPr>
              <a:t> </a:t>
            </a:r>
            <a:endParaRPr lang="en-US" sz="950" dirty="0"/>
          </a:p>
          <a:p>
            <a:pPr algn="l" indent="0" marL="0">
              <a:lnSpc>
                <a:spcPct val="98000"/>
              </a:lnSpc>
              <a:buNone/>
            </a:pPr>
            <a:r>
              <a:rPr lang="en-US" sz="950" dirty="0">
                <a:solidFill>
                  <a:srgbClr val="2C2C2A"/>
                </a:solidFill>
                <a:latin typeface="Consolas" pitchFamily="34" charset="0"/>
                <a:ea typeface="Consolas" pitchFamily="34" charset="-122"/>
                <a:cs typeface="Consolas" pitchFamily="34" charset="-120"/>
              </a:rPr>
              <a:t>app = g.compile()</a:t>
            </a:r>
            <a:endParaRPr lang="en-US" sz="950" dirty="0"/>
          </a:p>
          <a:p>
            <a:pPr algn="l" indent="0" marL="0">
              <a:lnSpc>
                <a:spcPct val="98000"/>
              </a:lnSpc>
              <a:buNone/>
            </a:pPr>
            <a:r>
              <a:rPr lang="en-US" sz="950" dirty="0">
                <a:solidFill>
                  <a:srgbClr val="2C2C2A"/>
                </a:solidFill>
                <a:latin typeface="Consolas" pitchFamily="34" charset="0"/>
                <a:ea typeface="Consolas" pitchFamily="34" charset="-122"/>
                <a:cs typeface="Consolas" pitchFamily="34" charset="-120"/>
              </a:rPr>
              <a:t>app.invoke({"ticket": "4521"}, {"recursion_limit": 10})</a:t>
            </a:r>
            <a:endParaRPr lang="en-US" sz="950" dirty="0"/>
          </a:p>
        </p:txBody>
      </p:sp>
      <p:sp>
        <p:nvSpPr>
          <p:cNvPr id="29" name="!!k0">
            <a:hlinkClick action="ppaction://hlinksldjump" r:id="rId3"/>
          </p:cNvPr>
          <p:cNvSpPr/>
          <p:nvPr/>
        </p:nvSpPr>
        <p:spPr>
          <a:xfrm>
            <a:off x="502920" y="5715000"/>
            <a:ext cx="1772412" cy="603504"/>
          </a:xfrm>
          <a:prstGeom prst="roundRect">
            <a:avLst>
              <a:gd name="adj" fmla="val 12121"/>
            </a:avLst>
          </a:prstGeom>
          <a:solidFill>
            <a:srgbClr val="FFFFFF"/>
          </a:solidFill>
          <a:ln w="12700">
            <a:solidFill>
              <a:srgbClr val="D3D1C7"/>
            </a:solidFill>
            <a:prstDash val="solid"/>
          </a:ln>
        </p:spPr>
        <p:txBody>
          <a:bodyPr wrap="square" lIns="50800" tIns="50800" rIns="50800" bIns="50800" rtlCol="0" anchor="ctr"/>
          <a:lstStyle/>
          <a:p>
            <a:pPr algn="ctr" indent="0" marL="0">
              <a:buNone/>
            </a:pPr>
            <a:r>
              <a:rPr lang="en-US" sz="1250" b="1" u="none" dirty="0">
                <a:solidFill>
                  <a:srgbClr val="3C3489"/>
                </a:solidFill>
                <a:latin typeface="Calibri" pitchFamily="34" charset="0"/>
                <a:ea typeface="Calibri" pitchFamily="34" charset="-122"/>
                <a:cs typeface="Calibri" pitchFamily="34" charset="-120"/>
                <a:hlinkClick r:id="rId3" action="ppaction://hlinksldjump" tooltip="Explain State">
                  <a:extLst>
                    <a:ext uri="{A12FA001-AC4F-418D-AE19-62706E023703}">
                      <ahyp:hlinkClr xmlns:ahyp="http://schemas.microsoft.com/office/drawing/2018/hyperlinkcolor" val="tx"/>
                    </a:ext>
                  </a:extLst>
                </a:hlinkClick>
              </a:rPr>
              <a:t>State</a:t>
            </a:r>
            <a:endParaRPr lang="en-US" sz="1200" dirty="0"/>
          </a:p>
          <a:p>
            <a:pPr algn="ctr" indent="0" marL="0">
              <a:buNone/>
            </a:pPr>
            <a:r>
              <a:rPr lang="en-US" sz="1150" dirty="0">
                <a:solidFill>
                  <a:srgbClr val="5F5E5A"/>
                </a:solidFill>
                <a:latin typeface="Calibri" pitchFamily="34" charset="0"/>
                <a:ea typeface="Calibri" pitchFamily="34" charset="-122"/>
                <a:cs typeface="Calibri" pitchFamily="34" charset="-120"/>
              </a:rPr>
              <a:t>the shared state</a:t>
            </a:r>
            <a:endParaRPr lang="en-US" sz="1200" dirty="0"/>
          </a:p>
        </p:txBody>
      </p:sp>
      <p:sp>
        <p:nvSpPr>
          <p:cNvPr id="30" name="!!k1">
            <a:hlinkClick action="ppaction://hlinksldjump" r:id="rId4"/>
          </p:cNvPr>
          <p:cNvSpPr/>
          <p:nvPr/>
        </p:nvSpPr>
        <p:spPr>
          <a:xfrm>
            <a:off x="2385060" y="5715000"/>
            <a:ext cx="1772412" cy="603504"/>
          </a:xfrm>
          <a:prstGeom prst="roundRect">
            <a:avLst>
              <a:gd name="adj" fmla="val 12121"/>
            </a:avLst>
          </a:prstGeom>
          <a:solidFill>
            <a:srgbClr val="FFFFFF"/>
          </a:solidFill>
          <a:ln w="12700">
            <a:solidFill>
              <a:srgbClr val="D3D1C7"/>
            </a:solidFill>
            <a:prstDash val="solid"/>
          </a:ln>
        </p:spPr>
        <p:txBody>
          <a:bodyPr wrap="square" lIns="50800" tIns="50800" rIns="50800" bIns="50800" rtlCol="0" anchor="ctr"/>
          <a:lstStyle/>
          <a:p>
            <a:pPr algn="ctr" indent="0" marL="0">
              <a:buNone/>
            </a:pPr>
            <a:r>
              <a:rPr lang="en-US" sz="1250" b="1" u="none" dirty="0">
                <a:solidFill>
                  <a:srgbClr val="3C3489"/>
                </a:solidFill>
                <a:latin typeface="Calibri" pitchFamily="34" charset="0"/>
                <a:ea typeface="Calibri" pitchFamily="34" charset="-122"/>
                <a:cs typeface="Calibri" pitchFamily="34" charset="-120"/>
                <a:hlinkClick r:id="rId4" action="ppaction://hlinksldjump" tooltip="Explain Node">
                  <a:extLst>
                    <a:ext uri="{A12FA001-AC4F-418D-AE19-62706E023703}">
                      <ahyp:hlinkClr xmlns:ahyp="http://schemas.microsoft.com/office/drawing/2018/hyperlinkcolor" val="tx"/>
                    </a:ext>
                  </a:extLst>
                </a:hlinkClick>
              </a:rPr>
              <a:t>Node</a:t>
            </a:r>
            <a:endParaRPr lang="en-US" sz="1200" dirty="0"/>
          </a:p>
          <a:p>
            <a:pPr algn="ctr" indent="0" marL="0">
              <a:buNone/>
            </a:pPr>
            <a:r>
              <a:rPr lang="en-US" sz="1150" dirty="0">
                <a:solidFill>
                  <a:srgbClr val="5F5E5A"/>
                </a:solidFill>
                <a:latin typeface="Calibri" pitchFamily="34" charset="0"/>
                <a:ea typeface="Calibri" pitchFamily="34" charset="-122"/>
                <a:cs typeface="Calibri" pitchFamily="34" charset="-120"/>
              </a:rPr>
              <a:t>one agent or step</a:t>
            </a:r>
            <a:endParaRPr lang="en-US" sz="1200" dirty="0"/>
          </a:p>
        </p:txBody>
      </p:sp>
      <p:sp>
        <p:nvSpPr>
          <p:cNvPr id="31" name="!!k2">
            <a:hlinkClick action="ppaction://hlinksldjump" r:id="rId5"/>
          </p:cNvPr>
          <p:cNvSpPr/>
          <p:nvPr/>
        </p:nvSpPr>
        <p:spPr>
          <a:xfrm>
            <a:off x="4267200" y="5715000"/>
            <a:ext cx="1772412" cy="603504"/>
          </a:xfrm>
          <a:prstGeom prst="roundRect">
            <a:avLst>
              <a:gd name="adj" fmla="val 12121"/>
            </a:avLst>
          </a:prstGeom>
          <a:solidFill>
            <a:srgbClr val="FFFFFF"/>
          </a:solidFill>
          <a:ln w="12700">
            <a:solidFill>
              <a:srgbClr val="D3D1C7"/>
            </a:solidFill>
            <a:prstDash val="solid"/>
          </a:ln>
        </p:spPr>
        <p:txBody>
          <a:bodyPr wrap="square" lIns="50800" tIns="50800" rIns="50800" bIns="50800" rtlCol="0" anchor="ctr"/>
          <a:lstStyle/>
          <a:p>
            <a:pPr algn="ctr" indent="0" marL="0">
              <a:buNone/>
            </a:pPr>
            <a:r>
              <a:rPr lang="en-US" sz="1250" b="1" u="none" dirty="0">
                <a:solidFill>
                  <a:srgbClr val="3C3489"/>
                </a:solidFill>
                <a:latin typeface="Calibri" pitchFamily="34" charset="0"/>
                <a:ea typeface="Calibri" pitchFamily="34" charset="-122"/>
                <a:cs typeface="Calibri" pitchFamily="34" charset="-120"/>
                <a:hlinkClick r:id="rId5" action="ppaction://hlinksldjump" tooltip="Explain Edge">
                  <a:extLst>
                    <a:ext uri="{A12FA001-AC4F-418D-AE19-62706E023703}">
                      <ahyp:hlinkClr xmlns:ahyp="http://schemas.microsoft.com/office/drawing/2018/hyperlinkcolor" val="tx"/>
                    </a:ext>
                  </a:extLst>
                </a:hlinkClick>
              </a:rPr>
              <a:t>Edge</a:t>
            </a:r>
            <a:endParaRPr lang="en-US" sz="1200" dirty="0"/>
          </a:p>
          <a:p>
            <a:pPr algn="ctr" indent="0" marL="0">
              <a:buNone/>
            </a:pPr>
            <a:r>
              <a:rPr lang="en-US" sz="1150" dirty="0">
                <a:solidFill>
                  <a:srgbClr val="5F5E5A"/>
                </a:solidFill>
                <a:latin typeface="Calibri" pitchFamily="34" charset="0"/>
                <a:ea typeface="Calibri" pitchFamily="34" charset="-122"/>
                <a:cs typeface="Calibri" pitchFamily="34" charset="-120"/>
              </a:rPr>
              <a:t>a hand-off</a:t>
            </a:r>
            <a:endParaRPr lang="en-US" sz="1200" dirty="0"/>
          </a:p>
        </p:txBody>
      </p:sp>
      <p:sp>
        <p:nvSpPr>
          <p:cNvPr id="32" name="!!k3">
            <a:hlinkClick action="ppaction://hlinksldjump" r:id="rId6"/>
          </p:cNvPr>
          <p:cNvSpPr/>
          <p:nvPr/>
        </p:nvSpPr>
        <p:spPr>
          <a:xfrm>
            <a:off x="6149340" y="5715000"/>
            <a:ext cx="1772412" cy="603504"/>
          </a:xfrm>
          <a:prstGeom prst="roundRect">
            <a:avLst>
              <a:gd name="adj" fmla="val 12121"/>
            </a:avLst>
          </a:prstGeom>
          <a:solidFill>
            <a:srgbClr val="FFFFFF"/>
          </a:solidFill>
          <a:ln w="12700">
            <a:solidFill>
              <a:srgbClr val="D3D1C7"/>
            </a:solidFill>
            <a:prstDash val="solid"/>
          </a:ln>
        </p:spPr>
        <p:txBody>
          <a:bodyPr wrap="square" lIns="50800" tIns="50800" rIns="50800" bIns="50800" rtlCol="0" anchor="ctr"/>
          <a:lstStyle/>
          <a:p>
            <a:pPr algn="ctr" indent="0" marL="0">
              <a:buNone/>
            </a:pPr>
            <a:r>
              <a:rPr lang="en-US" sz="1250" b="1" u="none" dirty="0">
                <a:solidFill>
                  <a:srgbClr val="3C3489"/>
                </a:solidFill>
                <a:latin typeface="Calibri" pitchFamily="34" charset="0"/>
                <a:ea typeface="Calibri" pitchFamily="34" charset="-122"/>
                <a:cs typeface="Calibri" pitchFamily="34" charset="-120"/>
                <a:hlinkClick r:id="rId6" action="ppaction://hlinksldjump" tooltip="Explain Conditional edge">
                  <a:extLst>
                    <a:ext uri="{A12FA001-AC4F-418D-AE19-62706E023703}">
                      <ahyp:hlinkClr xmlns:ahyp="http://schemas.microsoft.com/office/drawing/2018/hyperlinkcolor" val="tx"/>
                    </a:ext>
                  </a:extLst>
                </a:hlinkClick>
              </a:rPr>
              <a:t>Conditional edge</a:t>
            </a:r>
            <a:endParaRPr lang="en-US" sz="1200" dirty="0"/>
          </a:p>
          <a:p>
            <a:pPr algn="ctr" indent="0" marL="0">
              <a:buNone/>
            </a:pPr>
            <a:r>
              <a:rPr lang="en-US" sz="1150" dirty="0">
                <a:solidFill>
                  <a:srgbClr val="5F5E5A"/>
                </a:solidFill>
                <a:latin typeface="Calibri" pitchFamily="34" charset="0"/>
                <a:ea typeface="Calibri" pitchFamily="34" charset="-122"/>
                <a:cs typeface="Calibri" pitchFamily="34" charset="-120"/>
              </a:rPr>
              <a:t>route on status</a:t>
            </a:r>
            <a:endParaRPr lang="en-US" sz="1200" dirty="0"/>
          </a:p>
        </p:txBody>
      </p:sp>
      <p:sp>
        <p:nvSpPr>
          <p:cNvPr id="33" name="!!k4">
            <a:hlinkClick action="ppaction://hlinksldjump" r:id="rId7"/>
          </p:cNvPr>
          <p:cNvSpPr/>
          <p:nvPr/>
        </p:nvSpPr>
        <p:spPr>
          <a:xfrm>
            <a:off x="8031480" y="5715000"/>
            <a:ext cx="1772412" cy="603504"/>
          </a:xfrm>
          <a:prstGeom prst="roundRect">
            <a:avLst>
              <a:gd name="adj" fmla="val 12121"/>
            </a:avLst>
          </a:prstGeom>
          <a:solidFill>
            <a:srgbClr val="FFFFFF"/>
          </a:solidFill>
          <a:ln w="12700">
            <a:solidFill>
              <a:srgbClr val="D3D1C7"/>
            </a:solidFill>
            <a:prstDash val="solid"/>
          </a:ln>
        </p:spPr>
        <p:txBody>
          <a:bodyPr wrap="square" lIns="50800" tIns="50800" rIns="50800" bIns="50800" rtlCol="0" anchor="ctr"/>
          <a:lstStyle/>
          <a:p>
            <a:pPr algn="ctr" indent="0" marL="0">
              <a:buNone/>
            </a:pPr>
            <a:r>
              <a:rPr lang="en-US" sz="1250" b="1" u="none" dirty="0">
                <a:solidFill>
                  <a:srgbClr val="3C3489"/>
                </a:solidFill>
                <a:latin typeface="Calibri" pitchFamily="34" charset="0"/>
                <a:ea typeface="Calibri" pitchFamily="34" charset="-122"/>
                <a:cs typeface="Calibri" pitchFamily="34" charset="-120"/>
                <a:hlinkClick r:id="rId7" action="ppaction://hlinksldjump" tooltip="Explain Subgraph">
                  <a:extLst>
                    <a:ext uri="{A12FA001-AC4F-418D-AE19-62706E023703}">
                      <ahyp:hlinkClr xmlns:ahyp="http://schemas.microsoft.com/office/drawing/2018/hyperlinkcolor" val="tx"/>
                    </a:ext>
                  </a:extLst>
                </a:hlinkClick>
              </a:rPr>
              <a:t>Subgraph</a:t>
            </a:r>
            <a:endParaRPr lang="en-US" sz="1200" dirty="0"/>
          </a:p>
          <a:p>
            <a:pPr algn="ctr" indent="0" marL="0">
              <a:buNone/>
            </a:pPr>
            <a:r>
              <a:rPr lang="en-US" sz="1150" dirty="0">
                <a:solidFill>
                  <a:srgbClr val="5F5E5A"/>
                </a:solidFill>
                <a:latin typeface="Calibri" pitchFamily="34" charset="0"/>
                <a:ea typeface="Calibri" pitchFamily="34" charset="-122"/>
                <a:cs typeface="Calibri" pitchFamily="34" charset="-120"/>
              </a:rPr>
              <a:t>a graph used as a node</a:t>
            </a:r>
            <a:endParaRPr lang="en-US" sz="1200" dirty="0"/>
          </a:p>
        </p:txBody>
      </p:sp>
      <p:sp>
        <p:nvSpPr>
          <p:cNvPr id="34" name="!!k5">
            <a:hlinkClick action="ppaction://hlinksldjump" r:id="rId8"/>
          </p:cNvPr>
          <p:cNvSpPr/>
          <p:nvPr/>
        </p:nvSpPr>
        <p:spPr>
          <a:xfrm>
            <a:off x="9913620" y="5715000"/>
            <a:ext cx="1772412" cy="603504"/>
          </a:xfrm>
          <a:prstGeom prst="roundRect">
            <a:avLst>
              <a:gd name="adj" fmla="val 12121"/>
            </a:avLst>
          </a:prstGeom>
          <a:solidFill>
            <a:srgbClr val="FFFFFF"/>
          </a:solidFill>
          <a:ln w="12700">
            <a:solidFill>
              <a:srgbClr val="D3D1C7"/>
            </a:solidFill>
            <a:prstDash val="solid"/>
          </a:ln>
        </p:spPr>
        <p:txBody>
          <a:bodyPr wrap="square" lIns="50800" tIns="50800" rIns="50800" bIns="50800" rtlCol="0" anchor="ctr"/>
          <a:lstStyle/>
          <a:p>
            <a:pPr algn="ctr" indent="0" marL="0">
              <a:buNone/>
            </a:pPr>
            <a:r>
              <a:rPr lang="en-US" sz="1250" b="1" u="none" dirty="0">
                <a:solidFill>
                  <a:srgbClr val="3C3489"/>
                </a:solidFill>
                <a:latin typeface="Calibri" pitchFamily="34" charset="0"/>
                <a:ea typeface="Calibri" pitchFamily="34" charset="-122"/>
                <a:cs typeface="Calibri" pitchFamily="34" charset="-120"/>
                <a:hlinkClick r:id="rId8" action="ppaction://hlinksldjump" tooltip="Explain Checkpointer">
                  <a:extLst>
                    <a:ext uri="{A12FA001-AC4F-418D-AE19-62706E023703}">
                      <ahyp:hlinkClr xmlns:ahyp="http://schemas.microsoft.com/office/drawing/2018/hyperlinkcolor" val="tx"/>
                    </a:ext>
                  </a:extLst>
                </a:hlinkClick>
              </a:rPr>
              <a:t>Checkpointer</a:t>
            </a:r>
            <a:endParaRPr lang="en-US" sz="1200" dirty="0"/>
          </a:p>
          <a:p>
            <a:pPr algn="ctr" indent="0" marL="0">
              <a:buNone/>
            </a:pPr>
            <a:r>
              <a:rPr lang="en-US" sz="1150" dirty="0">
                <a:solidFill>
                  <a:srgbClr val="5F5E5A"/>
                </a:solidFill>
                <a:latin typeface="Calibri" pitchFamily="34" charset="0"/>
                <a:ea typeface="Calibri" pitchFamily="34" charset="-122"/>
                <a:cs typeface="Calibri" pitchFamily="34" charset="-120"/>
              </a:rPr>
              <a:t>resume + human gate</a:t>
            </a:r>
            <a:endParaRPr lang="en-US" sz="1200" dirty="0"/>
          </a:p>
        </p:txBody>
      </p:sp>
      <p:sp>
        <p:nvSpPr>
          <p:cNvPr id="25" name="Slide Number Placeholder 0"/>
          <p:cNvSpPr>
            <a:spLocks noGrp="1"/>
          </p:cNvSpPr>
          <p:nvPr>
            <p:ph type="sldNum" sz="quarter" idx="4294967295"/>
          </p:nvPr>
        </p:nvSpPr>
        <p:spPr>
          <a:xfrm>
            <a:off x="5641848" y="6382512"/>
            <a:ext cx="914400" cy="201168"/>
          </a:xfrm>
          <a:prstGeom prst="rect">
            <a:avLst/>
          </a:prstGeom>
          <a:extLst>
            <a:ext uri="{C572A759-6A51-4108-AA02-DFA0A04FC94B}">
              <ma14:wrappingTextBoxFlag xmlns:ma14="http://schemas.microsoft.com/office/mac/drawingml/2011/main" val="0"/>
            </a:ext>
          </a:extLst>
        </p:spPr>
        <p:txBody>
          <a:bodyPr/>
          <a:lstStyle>
            <a:lvl1pPr>
              <a:defRPr sz="1000">
                <a:solidFill>
                  <a:srgbClr val="595959"/>
                </a:solidFill>
                <a:latin typeface="Arial"/>
                <a:ea typeface="Arial"/>
                <a:cs typeface="Arial"/>
              </a:defRPr>
            </a:lvl1pPr>
          </a:lstStyle>
          <a:p>
            <a:pPr algn="ct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itle"/>
          <p:cNvSpPr txBox="1"/>
          <p:nvPr/>
        </p:nvSpPr>
        <p:spPr>
          <a:xfrm>
            <a:off x="411480" y="201168"/>
            <a:ext cx="11338560" cy="530352"/>
          </a:xfrm>
          <a:prstGeom prst="rect">
            <a:avLst/>
          </a:prstGeom>
          <a:noFill/>
          <a:ln/>
        </p:spPr>
        <p:txBody>
          <a:bodyPr wrap="square" lIns="0" tIns="0" rIns="0" bIns="0" rtlCol="0" anchor="b"/>
          <a:lstStyle/>
          <a:p>
            <a:pPr algn="l" indent="0" marL="0">
              <a:buNone/>
            </a:pPr>
            <a:r>
              <a:rPr lang="en-US" sz="2600" b="1" dirty="0">
                <a:solidFill>
                  <a:srgbClr val="1A1A1A"/>
                </a:solidFill>
                <a:latin typeface="Calibri" pitchFamily="34" charset="0"/>
                <a:ea typeface="Calibri" pitchFamily="34" charset="-122"/>
                <a:cs typeface="Calibri" pitchFamily="34" charset="-120"/>
              </a:rPr>
              <a:t>Reading the Graph: What Each Part Does</a:t>
            </a:r>
            <a:endParaRPr lang="en-US" sz="2600" dirty="0"/>
          </a:p>
        </p:txBody>
      </p:sp>
      <p:sp>
        <p:nvSpPr>
          <p:cNvPr id="3" name="!!rule"/>
          <p:cNvSpPr/>
          <p:nvPr/>
        </p:nvSpPr>
        <p:spPr>
          <a:xfrm>
            <a:off x="411480" y="804672"/>
            <a:ext cx="11365992" cy="914"/>
          </a:xfrm>
          <a:prstGeom prst="line">
            <a:avLst/>
          </a:prstGeom>
          <a:noFill/>
          <a:ln w="9525">
            <a:solidFill>
              <a:srgbClr val="7F7F7F"/>
            </a:solidFill>
            <a:prstDash val="solid"/>
          </a:ln>
        </p:spPr>
        <p:txBody>
          <a:bodyPr/>
          <a:p/>
        </p:txBody>
      </p:sp>
      <p:sp>
        <p:nvSpPr>
          <p:cNvPr id="4" name="!!lead"/>
          <p:cNvSpPr txBox="1"/>
          <p:nvPr/>
        </p:nvSpPr>
        <p:spPr>
          <a:xfrm>
            <a:off x="411480" y="886968"/>
            <a:ext cx="11338560" cy="438912"/>
          </a:xfrm>
          <a:prstGeom prst="rect">
            <a:avLst/>
          </a:prstGeom>
          <a:noFill/>
          <a:ln/>
        </p:spPr>
        <p:txBody>
          <a:bodyPr wrap="square" lIns="0" tIns="0" rIns="0" bIns="0" rtlCol="0" anchor="t"/>
          <a:lstStyle/>
          <a:p>
            <a:pPr indent="0" marL="0">
              <a:buNone/>
            </a:pPr>
            <a:r>
              <a:rPr lang="en-US" sz="1400" dirty="0">
                <a:solidFill>
                  <a:srgbClr val="404040"/>
                </a:solidFill>
                <a:latin typeface="Arial" pitchFamily="34" charset="0"/>
                <a:ea typeface="Arial" pitchFamily="34" charset="-122"/>
                <a:cs typeface="Arial" pitchFamily="34" charset="-120"/>
              </a:rPr>
              <a:t>The same graph as the last slide, one part at a time. Click a button to see what that part does, in plain words and in code.</a:t>
            </a:r>
            <a:endParaRPr lang="en-US" sz="1400" dirty="0"/>
          </a:p>
        </p:txBody>
      </p:sp>
      <p:sp>
        <p:nvSpPr>
          <p:cNvPr id="5" name="!!gs"/>
          <p:cNvSpPr/>
          <p:nvPr/>
        </p:nvSpPr>
        <p:spPr>
          <a:xfrm>
            <a:off x="3108960" y="1572768"/>
            <a:ext cx="1005840" cy="329184"/>
          </a:xfrm>
          <a:prstGeom prst="roundRect">
            <a:avLst>
              <a:gd name="adj" fmla="val 50000"/>
            </a:avLst>
          </a:prstGeom>
          <a:solidFill>
            <a:srgbClr val="F1EFE8"/>
          </a:solidFill>
          <a:ln w="12700">
            <a:solidFill>
              <a:srgbClr val="888780"/>
            </a:solidFill>
            <a:prstDash val="solid"/>
          </a:ln>
        </p:spPr>
        <p:txBody>
          <a:bodyPr wrap="square" lIns="50800" tIns="50800" rIns="50800" bIns="50800" rtlCol="0" anchor="ctr"/>
          <a:lstStyle/>
          <a:p>
            <a:pPr algn="ctr" indent="0" marL="0">
              <a:buNone/>
            </a:pPr>
            <a:r>
              <a:rPr lang="en-US" sz="1100" b="1" dirty="0">
                <a:solidFill>
                  <a:srgbClr val="2C2C2A"/>
                </a:solidFill>
                <a:latin typeface="Consolas" pitchFamily="34" charset="0"/>
                <a:ea typeface="Consolas" pitchFamily="34" charset="-122"/>
                <a:cs typeface="Consolas" pitchFamily="34" charset="-120"/>
              </a:rPr>
              <a:t>START</a:t>
            </a:r>
            <a:endParaRPr lang="en-US" sz="1100" dirty="0"/>
          </a:p>
        </p:txBody>
      </p:sp>
      <p:sp>
        <p:nvSpPr>
          <p:cNvPr id="6" name="!!e1"/>
          <p:cNvSpPr/>
          <p:nvPr/>
        </p:nvSpPr>
        <p:spPr>
          <a:xfrm>
            <a:off x="3611880" y="1901952"/>
            <a:ext cx="914" cy="219456"/>
          </a:xfrm>
          <a:prstGeom prst="line">
            <a:avLst/>
          </a:prstGeom>
          <a:noFill/>
          <a:ln w="15875">
            <a:solidFill>
              <a:srgbClr val="5F5E5A"/>
            </a:solidFill>
            <a:prstDash val="solid"/>
            <a:tailEnd type="triangle"/>
          </a:ln>
        </p:spPr>
        <p:txBody>
          <a:bodyPr/>
          <a:p/>
        </p:txBody>
      </p:sp>
      <p:sp>
        <p:nvSpPr>
          <p:cNvPr id="7" name="!!gw"/>
          <p:cNvSpPr/>
          <p:nvPr/>
        </p:nvSpPr>
        <p:spPr>
          <a:xfrm>
            <a:off x="2606040" y="2121408"/>
            <a:ext cx="2011680" cy="731520"/>
          </a:xfrm>
          <a:prstGeom prst="roundRect">
            <a:avLst>
              <a:gd name="adj" fmla="val 10000"/>
            </a:avLst>
          </a:prstGeom>
          <a:solidFill>
            <a:srgbClr val="E1F5EE"/>
          </a:solidFill>
          <a:ln w="12700">
            <a:solidFill>
              <a:srgbClr val="0F6E56"/>
            </a:solidFill>
            <a:prstDash val="solid"/>
          </a:ln>
        </p:spPr>
        <p:txBody>
          <a:bodyPr wrap="square" lIns="50800" tIns="50800" rIns="50800" bIns="50800" rtlCol="0" anchor="ctr"/>
          <a:lstStyle/>
          <a:p>
            <a:pPr algn="ctr" indent="0" marL="0">
              <a:buNone/>
            </a:pPr>
            <a:r>
              <a:rPr lang="en-US" sz="1500" b="1" dirty="0">
                <a:solidFill>
                  <a:srgbClr val="085041"/>
                </a:solidFill>
                <a:latin typeface="Calibri" pitchFamily="34" charset="0"/>
                <a:ea typeface="Calibri" pitchFamily="34" charset="-122"/>
                <a:cs typeface="Calibri" pitchFamily="34" charset="-120"/>
              </a:rPr>
              <a:t>worker</a:t>
            </a:r>
            <a:endParaRPr lang="en-US" sz="1200" dirty="0"/>
          </a:p>
          <a:p>
            <a:pPr algn="ctr" indent="0" marL="0">
              <a:buNone/>
            </a:pPr>
            <a:r>
              <a:rPr lang="en-US" sz="1100" dirty="0">
                <a:solidFill>
                  <a:srgbClr val="085041"/>
                </a:solidFill>
                <a:latin typeface="Calibri" pitchFamily="34" charset="0"/>
                <a:ea typeface="Calibri" pitchFamily="34" charset="-122"/>
                <a:cs typeface="Calibri" pitchFamily="34" charset="-120"/>
              </a:rPr>
              <a:t>does the job</a:t>
            </a:r>
            <a:endParaRPr lang="en-US" sz="1200" dirty="0"/>
          </a:p>
        </p:txBody>
      </p:sp>
      <p:sp>
        <p:nvSpPr>
          <p:cNvPr id="8" name="!!e2"/>
          <p:cNvSpPr/>
          <p:nvPr/>
        </p:nvSpPr>
        <p:spPr>
          <a:xfrm>
            <a:off x="3611880" y="2852928"/>
            <a:ext cx="914" cy="411480"/>
          </a:xfrm>
          <a:prstGeom prst="line">
            <a:avLst/>
          </a:prstGeom>
          <a:noFill/>
          <a:ln w="15875">
            <a:solidFill>
              <a:srgbClr val="5F5E5A"/>
            </a:solidFill>
            <a:prstDash val="solid"/>
            <a:tailEnd type="triangle"/>
          </a:ln>
        </p:spPr>
        <p:txBody>
          <a:bodyPr/>
          <a:p/>
        </p:txBody>
      </p:sp>
      <p:sp>
        <p:nvSpPr>
          <p:cNvPr id="9" name="!!gc"/>
          <p:cNvSpPr/>
          <p:nvPr/>
        </p:nvSpPr>
        <p:spPr>
          <a:xfrm>
            <a:off x="2606040" y="3264408"/>
            <a:ext cx="2011680" cy="731520"/>
          </a:xfrm>
          <a:prstGeom prst="roundRect">
            <a:avLst>
              <a:gd name="adj" fmla="val 10000"/>
            </a:avLst>
          </a:prstGeom>
          <a:solidFill>
            <a:srgbClr val="FAECE7"/>
          </a:solidFill>
          <a:ln w="12700">
            <a:solidFill>
              <a:srgbClr val="993C1D"/>
            </a:solidFill>
            <a:prstDash val="solid"/>
          </a:ln>
        </p:spPr>
        <p:txBody>
          <a:bodyPr wrap="square" lIns="50800" tIns="50800" rIns="50800" bIns="50800" rtlCol="0" anchor="ctr"/>
          <a:lstStyle/>
          <a:p>
            <a:pPr algn="ctr" indent="0" marL="0">
              <a:buNone/>
            </a:pPr>
            <a:r>
              <a:rPr lang="en-US" sz="1500" b="1" dirty="0">
                <a:solidFill>
                  <a:srgbClr val="712B13"/>
                </a:solidFill>
                <a:latin typeface="Calibri" pitchFamily="34" charset="0"/>
                <a:ea typeface="Calibri" pitchFamily="34" charset="-122"/>
                <a:cs typeface="Calibri" pitchFamily="34" charset="-120"/>
              </a:rPr>
              <a:t>checker</a:t>
            </a:r>
            <a:endParaRPr lang="en-US" sz="1200" dirty="0"/>
          </a:p>
          <a:p>
            <a:pPr algn="ctr" indent="0" marL="0">
              <a:buNone/>
            </a:pPr>
            <a:r>
              <a:rPr lang="en-US" sz="1100" dirty="0">
                <a:solidFill>
                  <a:srgbClr val="712B13"/>
                </a:solidFill>
                <a:latin typeface="Calibri" pitchFamily="34" charset="0"/>
                <a:ea typeface="Calibri" pitchFamily="34" charset="-122"/>
                <a:cs typeface="Calibri" pitchFamily="34" charset="-120"/>
              </a:rPr>
              <a:t>verifies the work</a:t>
            </a:r>
            <a:endParaRPr lang="en-US" sz="1200" dirty="0"/>
          </a:p>
        </p:txBody>
      </p:sp>
      <p:sp>
        <p:nvSpPr>
          <p:cNvPr id="10" name="!!e3"/>
          <p:cNvSpPr/>
          <p:nvPr/>
        </p:nvSpPr>
        <p:spPr>
          <a:xfrm>
            <a:off x="3611880" y="3995928"/>
            <a:ext cx="914" cy="411480"/>
          </a:xfrm>
          <a:prstGeom prst="line">
            <a:avLst/>
          </a:prstGeom>
          <a:noFill/>
          <a:ln w="15875">
            <a:solidFill>
              <a:srgbClr val="5F5E5A"/>
            </a:solidFill>
            <a:prstDash val="solid"/>
            <a:tailEnd type="triangle"/>
          </a:ln>
        </p:spPr>
        <p:txBody>
          <a:bodyPr/>
          <a:p/>
        </p:txBody>
      </p:sp>
      <p:sp>
        <p:nvSpPr>
          <p:cNvPr id="11" name="!!gpass"/>
          <p:cNvSpPr txBox="1"/>
          <p:nvPr/>
        </p:nvSpPr>
        <p:spPr>
          <a:xfrm>
            <a:off x="3703320" y="4050792"/>
            <a:ext cx="548640" cy="274320"/>
          </a:xfrm>
          <a:prstGeom prst="rect">
            <a:avLst/>
          </a:prstGeom>
          <a:noFill/>
          <a:ln/>
        </p:spPr>
        <p:txBody>
          <a:bodyPr wrap="square" lIns="0" tIns="0" rIns="0" bIns="0" rtlCol="0" anchor="t"/>
          <a:lstStyle/>
          <a:p>
            <a:pPr algn="l" indent="0" marL="0">
              <a:buNone/>
            </a:pPr>
            <a:r>
              <a:rPr lang="en-US" sz="1100" b="1" dirty="0">
                <a:solidFill>
                  <a:srgbClr val="085041"/>
                </a:solidFill>
                <a:latin typeface="Calibri" pitchFamily="34" charset="0"/>
                <a:ea typeface="Calibri" pitchFamily="34" charset="-122"/>
                <a:cs typeface="Calibri" pitchFamily="34" charset="-120"/>
              </a:rPr>
              <a:t>pass</a:t>
            </a:r>
            <a:endParaRPr lang="en-US" sz="1100" dirty="0"/>
          </a:p>
        </p:txBody>
      </p:sp>
      <p:sp>
        <p:nvSpPr>
          <p:cNvPr id="12" name="!!gend"/>
          <p:cNvSpPr/>
          <p:nvPr/>
        </p:nvSpPr>
        <p:spPr>
          <a:xfrm>
            <a:off x="3108960" y="4407408"/>
            <a:ext cx="1005840" cy="329184"/>
          </a:xfrm>
          <a:prstGeom prst="roundRect">
            <a:avLst>
              <a:gd name="adj" fmla="val 50000"/>
            </a:avLst>
          </a:prstGeom>
          <a:solidFill>
            <a:srgbClr val="F1EFE8"/>
          </a:solidFill>
          <a:ln w="12700">
            <a:solidFill>
              <a:srgbClr val="888780"/>
            </a:solidFill>
            <a:prstDash val="solid"/>
          </a:ln>
        </p:spPr>
        <p:txBody>
          <a:bodyPr wrap="square" lIns="50800" tIns="50800" rIns="50800" bIns="50800" rtlCol="0" anchor="ctr"/>
          <a:lstStyle/>
          <a:p>
            <a:pPr algn="ctr" indent="0" marL="0">
              <a:buNone/>
            </a:pPr>
            <a:r>
              <a:rPr lang="en-US" sz="1100" b="1" dirty="0">
                <a:solidFill>
                  <a:srgbClr val="2C2C2A"/>
                </a:solidFill>
                <a:latin typeface="Consolas" pitchFamily="34" charset="0"/>
                <a:ea typeface="Consolas" pitchFamily="34" charset="-122"/>
                <a:cs typeface="Consolas" pitchFamily="34" charset="-120"/>
              </a:rPr>
              <a:t>END</a:t>
            </a:r>
            <a:endParaRPr lang="en-US" sz="1100" dirty="0"/>
          </a:p>
        </p:txBody>
      </p:sp>
      <p:sp>
        <p:nvSpPr>
          <p:cNvPr id="13" name="!!gf1"/>
          <p:cNvSpPr/>
          <p:nvPr/>
        </p:nvSpPr>
        <p:spPr>
          <a:xfrm flipH="1">
            <a:off x="2103120" y="3630168"/>
            <a:ext cx="502920" cy="914"/>
          </a:xfrm>
          <a:prstGeom prst="line">
            <a:avLst/>
          </a:prstGeom>
          <a:noFill/>
          <a:ln w="15875">
            <a:solidFill>
              <a:srgbClr val="993C1D"/>
            </a:solidFill>
            <a:prstDash val="dash"/>
          </a:ln>
        </p:spPr>
        <p:txBody>
          <a:bodyPr/>
          <a:p/>
        </p:txBody>
      </p:sp>
      <p:sp>
        <p:nvSpPr>
          <p:cNvPr id="14" name="!!gf2"/>
          <p:cNvSpPr/>
          <p:nvPr/>
        </p:nvSpPr>
        <p:spPr>
          <a:xfrm flipV="1">
            <a:off x="2103120" y="2487168"/>
            <a:ext cx="914" cy="1143000"/>
          </a:xfrm>
          <a:prstGeom prst="line">
            <a:avLst/>
          </a:prstGeom>
          <a:noFill/>
          <a:ln w="15875">
            <a:solidFill>
              <a:srgbClr val="993C1D"/>
            </a:solidFill>
            <a:prstDash val="dash"/>
          </a:ln>
        </p:spPr>
        <p:txBody>
          <a:bodyPr/>
          <a:p/>
        </p:txBody>
      </p:sp>
      <p:sp>
        <p:nvSpPr>
          <p:cNvPr id="15" name="!!gf3"/>
          <p:cNvSpPr/>
          <p:nvPr/>
        </p:nvSpPr>
        <p:spPr>
          <a:xfrm>
            <a:off x="2103120" y="2487168"/>
            <a:ext cx="484632" cy="914"/>
          </a:xfrm>
          <a:prstGeom prst="line">
            <a:avLst/>
          </a:prstGeom>
          <a:noFill/>
          <a:ln w="15875">
            <a:solidFill>
              <a:srgbClr val="993C1D"/>
            </a:solidFill>
            <a:prstDash val="dash"/>
            <a:tailEnd type="triangle"/>
          </a:ln>
        </p:spPr>
        <p:txBody>
          <a:bodyPr/>
          <a:p/>
        </p:txBody>
      </p:sp>
      <p:sp>
        <p:nvSpPr>
          <p:cNvPr id="16" name="!!gfail"/>
          <p:cNvSpPr txBox="1"/>
          <p:nvPr/>
        </p:nvSpPr>
        <p:spPr>
          <a:xfrm>
            <a:off x="1645920" y="3081528"/>
            <a:ext cx="411480" cy="274320"/>
          </a:xfrm>
          <a:prstGeom prst="rect">
            <a:avLst/>
          </a:prstGeom>
          <a:noFill/>
          <a:ln/>
        </p:spPr>
        <p:txBody>
          <a:bodyPr wrap="square" lIns="0" tIns="0" rIns="0" bIns="0" rtlCol="0" anchor="t"/>
          <a:lstStyle/>
          <a:p>
            <a:pPr algn="r" indent="0" marL="0">
              <a:buNone/>
            </a:pPr>
            <a:r>
              <a:rPr lang="en-US" sz="1100" b="1" dirty="0">
                <a:solidFill>
                  <a:srgbClr val="712B13"/>
                </a:solidFill>
                <a:latin typeface="Calibri" pitchFamily="34" charset="0"/>
                <a:ea typeface="Calibri" pitchFamily="34" charset="-122"/>
                <a:cs typeface="Calibri" pitchFamily="34" charset="-120"/>
              </a:rPr>
              <a:t>fail</a:t>
            </a:r>
            <a:endParaRPr lang="en-US" sz="1100" dirty="0"/>
          </a:p>
        </p:txBody>
      </p:sp>
      <p:sp>
        <p:nvSpPr>
          <p:cNvPr id="17" name="!!sl1"/>
          <p:cNvSpPr/>
          <p:nvPr/>
        </p:nvSpPr>
        <p:spPr>
          <a:xfrm>
            <a:off x="4617720" y="2487168"/>
            <a:ext cx="731520" cy="914"/>
          </a:xfrm>
          <a:prstGeom prst="line">
            <a:avLst/>
          </a:prstGeom>
          <a:noFill/>
          <a:ln w="9525">
            <a:solidFill>
              <a:srgbClr val="534AB7"/>
            </a:solidFill>
            <a:prstDash val="dash"/>
          </a:ln>
        </p:spPr>
        <p:txBody>
          <a:bodyPr/>
          <a:p/>
        </p:txBody>
      </p:sp>
      <p:sp>
        <p:nvSpPr>
          <p:cNvPr id="18" name="!!sl2"/>
          <p:cNvSpPr/>
          <p:nvPr/>
        </p:nvSpPr>
        <p:spPr>
          <a:xfrm>
            <a:off x="4617720" y="3630168"/>
            <a:ext cx="731520" cy="914"/>
          </a:xfrm>
          <a:prstGeom prst="line">
            <a:avLst/>
          </a:prstGeom>
          <a:noFill/>
          <a:ln w="9525">
            <a:solidFill>
              <a:srgbClr val="534AB7"/>
            </a:solidFill>
            <a:prstDash val="dash"/>
          </a:ln>
        </p:spPr>
        <p:txBody>
          <a:bodyPr/>
          <a:p/>
        </p:txBody>
      </p:sp>
      <p:sp>
        <p:nvSpPr>
          <p:cNvPr id="19" name="!!st"/>
          <p:cNvSpPr/>
          <p:nvPr/>
        </p:nvSpPr>
        <p:spPr>
          <a:xfrm>
            <a:off x="5349240" y="2121408"/>
            <a:ext cx="1600200" cy="1874520"/>
          </a:xfrm>
          <a:prstGeom prst="roundRect">
            <a:avLst>
              <a:gd name="adj" fmla="val 4571"/>
            </a:avLst>
          </a:prstGeom>
          <a:solidFill>
            <a:srgbClr val="EEEDFE"/>
          </a:solidFill>
          <a:ln w="12700">
            <a:solidFill>
              <a:srgbClr val="534AB7"/>
            </a:solidFill>
            <a:prstDash val="solid"/>
          </a:ln>
        </p:spPr>
        <p:txBody>
          <a:bodyPr wrap="square" lIns="50800" tIns="50800" rIns="50800" bIns="50800" rtlCol="0" anchor="ctr"/>
          <a:lstStyle/>
          <a:p>
            <a:pPr algn="ctr" indent="0" marL="0">
              <a:buNone/>
            </a:pPr>
            <a:endParaRPr lang="en-US" sz="1200" dirty="0"/>
          </a:p>
        </p:txBody>
      </p:sp>
      <p:sp>
        <p:nvSpPr>
          <p:cNvPr id="20" name="!!sth"/>
          <p:cNvSpPr txBox="1"/>
          <p:nvPr/>
        </p:nvSpPr>
        <p:spPr>
          <a:xfrm>
            <a:off x="5486400" y="2212848"/>
            <a:ext cx="1325880" cy="274320"/>
          </a:xfrm>
          <a:prstGeom prst="rect">
            <a:avLst/>
          </a:prstGeom>
          <a:noFill/>
          <a:ln/>
        </p:spPr>
        <p:txBody>
          <a:bodyPr wrap="square" lIns="0" tIns="0" rIns="0" bIns="0" rtlCol="0" anchor="t"/>
          <a:lstStyle/>
          <a:p>
            <a:pPr algn="l" indent="0" marL="0">
              <a:buNone/>
            </a:pPr>
            <a:r>
              <a:rPr lang="en-US" sz="1300" b="1" dirty="0">
                <a:solidFill>
                  <a:srgbClr val="3C3489"/>
                </a:solidFill>
                <a:latin typeface="Calibri" pitchFamily="34" charset="0"/>
                <a:ea typeface="Calibri" pitchFamily="34" charset="-122"/>
                <a:cs typeface="Calibri" pitchFamily="34" charset="-120"/>
              </a:rPr>
              <a:t>State</a:t>
            </a:r>
            <a:endParaRPr lang="en-US" sz="1300" dirty="0"/>
          </a:p>
        </p:txBody>
      </p:sp>
      <p:sp>
        <p:nvSpPr>
          <p:cNvPr id="21" name="!!str0"/>
          <p:cNvSpPr txBox="1"/>
          <p:nvPr/>
        </p:nvSpPr>
        <p:spPr>
          <a:xfrm>
            <a:off x="5486400" y="2505456"/>
            <a:ext cx="1325880" cy="457200"/>
          </a:xfrm>
          <a:prstGeom prst="rect">
            <a:avLst/>
          </a:prstGeom>
          <a:noFill/>
          <a:ln/>
        </p:spPr>
        <p:txBody>
          <a:bodyPr wrap="square" lIns="0" tIns="0" rIns="0" bIns="0" rtlCol="0" anchor="t"/>
          <a:lstStyle/>
          <a:p>
            <a:pPr algn="l" indent="0" marL="0">
              <a:buNone/>
            </a:pPr>
            <a:r>
              <a:rPr lang="en-US" sz="1150" b="1" dirty="0">
                <a:solidFill>
                  <a:srgbClr val="3C3489"/>
                </a:solidFill>
                <a:latin typeface="Consolas" pitchFamily="34" charset="0"/>
                <a:ea typeface="Consolas" pitchFamily="34" charset="-122"/>
                <a:cs typeface="Consolas" pitchFamily="34" charset="-120"/>
              </a:rPr>
              <a:t>ticket</a:t>
            </a:r>
            <a:endParaRPr lang="en-US" sz="1400" dirty="0"/>
          </a:p>
          <a:p>
            <a:pPr algn="l" indent="0" marL="0">
              <a:buNone/>
            </a:pPr>
            <a:r>
              <a:rPr lang="en-US" sz="1000" dirty="0">
                <a:solidFill>
                  <a:srgbClr val="5F5E5A"/>
                </a:solidFill>
                <a:latin typeface="Calibri" pitchFamily="34" charset="0"/>
                <a:ea typeface="Calibri" pitchFamily="34" charset="-122"/>
                <a:cs typeface="Calibri" pitchFamily="34" charset="-120"/>
              </a:rPr>
              <a:t>input</a:t>
            </a:r>
            <a:endParaRPr lang="en-US" sz="1400" dirty="0"/>
          </a:p>
        </p:txBody>
      </p:sp>
      <p:sp>
        <p:nvSpPr>
          <p:cNvPr id="22" name="!!str1"/>
          <p:cNvSpPr txBox="1"/>
          <p:nvPr/>
        </p:nvSpPr>
        <p:spPr>
          <a:xfrm>
            <a:off x="5486400" y="2980944"/>
            <a:ext cx="1325880" cy="457200"/>
          </a:xfrm>
          <a:prstGeom prst="rect">
            <a:avLst/>
          </a:prstGeom>
          <a:noFill/>
          <a:ln/>
        </p:spPr>
        <p:txBody>
          <a:bodyPr wrap="square" lIns="0" tIns="0" rIns="0" bIns="0" rtlCol="0" anchor="t"/>
          <a:lstStyle/>
          <a:p>
            <a:pPr algn="l" indent="0" marL="0">
              <a:buNone/>
            </a:pPr>
            <a:r>
              <a:rPr lang="en-US" sz="1150" b="1" dirty="0">
                <a:solidFill>
                  <a:srgbClr val="3C3489"/>
                </a:solidFill>
                <a:latin typeface="Consolas" pitchFamily="34" charset="0"/>
                <a:ea typeface="Consolas" pitchFamily="34" charset="-122"/>
                <a:cs typeface="Consolas" pitchFamily="34" charset="-120"/>
              </a:rPr>
              <a:t>result</a:t>
            </a:r>
            <a:endParaRPr lang="en-US" sz="1400" dirty="0"/>
          </a:p>
          <a:p>
            <a:pPr algn="l" indent="0" marL="0">
              <a:buNone/>
            </a:pPr>
            <a:r>
              <a:rPr lang="en-US" sz="1000" dirty="0">
                <a:solidFill>
                  <a:srgbClr val="5F5E5A"/>
                </a:solidFill>
                <a:latin typeface="Calibri" pitchFamily="34" charset="0"/>
                <a:ea typeface="Calibri" pitchFamily="34" charset="-122"/>
                <a:cs typeface="Calibri" pitchFamily="34" charset="-120"/>
              </a:rPr>
              <a:t>by worker</a:t>
            </a:r>
            <a:endParaRPr lang="en-US" sz="1400" dirty="0"/>
          </a:p>
        </p:txBody>
      </p:sp>
      <p:sp>
        <p:nvSpPr>
          <p:cNvPr id="23" name="!!str2"/>
          <p:cNvSpPr txBox="1"/>
          <p:nvPr/>
        </p:nvSpPr>
        <p:spPr>
          <a:xfrm>
            <a:off x="5486400" y="3456432"/>
            <a:ext cx="1325880" cy="457200"/>
          </a:xfrm>
          <a:prstGeom prst="rect">
            <a:avLst/>
          </a:prstGeom>
          <a:noFill/>
          <a:ln/>
        </p:spPr>
        <p:txBody>
          <a:bodyPr wrap="square" lIns="0" tIns="0" rIns="0" bIns="0" rtlCol="0" anchor="t"/>
          <a:lstStyle/>
          <a:p>
            <a:pPr algn="l" indent="0" marL="0">
              <a:buNone/>
            </a:pPr>
            <a:r>
              <a:rPr lang="en-US" sz="1150" b="1" dirty="0">
                <a:solidFill>
                  <a:srgbClr val="3C3489"/>
                </a:solidFill>
                <a:latin typeface="Consolas" pitchFamily="34" charset="0"/>
                <a:ea typeface="Consolas" pitchFamily="34" charset="-122"/>
                <a:cs typeface="Consolas" pitchFamily="34" charset="-120"/>
              </a:rPr>
              <a:t>status</a:t>
            </a:r>
            <a:endParaRPr lang="en-US" sz="1400" dirty="0"/>
          </a:p>
          <a:p>
            <a:pPr algn="l" indent="0" marL="0">
              <a:buNone/>
            </a:pPr>
            <a:r>
              <a:rPr lang="en-US" sz="1000" dirty="0">
                <a:solidFill>
                  <a:srgbClr val="5F5E5A"/>
                </a:solidFill>
                <a:latin typeface="Calibri" pitchFamily="34" charset="0"/>
                <a:ea typeface="Calibri" pitchFamily="34" charset="-122"/>
                <a:cs typeface="Calibri" pitchFamily="34" charset="-120"/>
              </a:rPr>
              <a:t>by checker</a:t>
            </a:r>
            <a:endParaRPr lang="en-US" sz="1400" dirty="0"/>
          </a:p>
        </p:txBody>
      </p:sp>
      <p:sp>
        <p:nvSpPr>
          <p:cNvPr id="24" name="!!panel"/>
          <p:cNvSpPr/>
          <p:nvPr/>
        </p:nvSpPr>
        <p:spPr>
          <a:xfrm>
            <a:off x="7269480" y="1463040"/>
            <a:ext cx="4507992" cy="3977640"/>
          </a:xfrm>
          <a:prstGeom prst="roundRect">
            <a:avLst>
              <a:gd name="adj" fmla="val 1839"/>
            </a:avLst>
          </a:prstGeom>
          <a:solidFill>
            <a:srgbClr val="FFFFFF"/>
          </a:solidFill>
          <a:ln w="12700">
            <a:solidFill>
              <a:srgbClr val="D3D1C7"/>
            </a:solidFill>
            <a:prstDash val="solid"/>
          </a:ln>
        </p:spPr>
        <p:txBody>
          <a:bodyPr wrap="square" lIns="50800" tIns="50800" rIns="50800" bIns="50800" rtlCol="0" anchor="ctr"/>
          <a:lstStyle/>
          <a:p>
            <a:pPr algn="ctr" indent="0" marL="0">
              <a:buNone/>
            </a:pPr>
            <a:endParaRPr lang="en-US" sz="1200" dirty="0"/>
          </a:p>
        </p:txBody>
      </p:sp>
      <p:sp>
        <p:nvSpPr>
          <p:cNvPr id="25" name="!!ptitle"/>
          <p:cNvSpPr txBox="1"/>
          <p:nvPr/>
        </p:nvSpPr>
        <p:spPr>
          <a:xfrm>
            <a:off x="7543800" y="1645920"/>
            <a:ext cx="3959352" cy="411480"/>
          </a:xfrm>
          <a:prstGeom prst="rect">
            <a:avLst/>
          </a:prstGeom>
          <a:noFill/>
          <a:ln/>
        </p:spPr>
        <p:txBody>
          <a:bodyPr wrap="square" lIns="0" tIns="0" rIns="0" bIns="0" rtlCol="0" anchor="ctr"/>
          <a:lstStyle/>
          <a:p>
            <a:pPr algn="l" indent="0" marL="0">
              <a:buNone/>
            </a:pPr>
            <a:r>
              <a:rPr lang="en-US" sz="2000" b="1" dirty="0">
                <a:solidFill>
                  <a:srgbClr val="3C3489"/>
                </a:solidFill>
                <a:latin typeface="Calibri" pitchFamily="34" charset="0"/>
                <a:ea typeface="Calibri" pitchFamily="34" charset="-122"/>
                <a:cs typeface="Calibri" pitchFamily="34" charset="-120"/>
              </a:rPr>
              <a:t>How to read it</a:t>
            </a:r>
            <a:endParaRPr lang="en-US" sz="2000" dirty="0"/>
          </a:p>
        </p:txBody>
      </p:sp>
      <p:sp>
        <p:nvSpPr>
          <p:cNvPr id="26" name="!!ok0"/>
          <p:cNvSpPr txBox="1"/>
          <p:nvPr/>
        </p:nvSpPr>
        <p:spPr>
          <a:xfrm>
            <a:off x="7543800" y="2286000"/>
            <a:ext cx="1417320" cy="457200"/>
          </a:xfrm>
          <a:prstGeom prst="rect">
            <a:avLst/>
          </a:prstGeom>
          <a:noFill/>
          <a:ln/>
        </p:spPr>
        <p:txBody>
          <a:bodyPr wrap="square" lIns="0" tIns="0" rIns="0" bIns="0" rtlCol="0" anchor="ctr"/>
          <a:lstStyle/>
          <a:p>
            <a:pPr algn="l" indent="0" marL="0">
              <a:buNone/>
            </a:pPr>
            <a:r>
              <a:rPr lang="en-US" sz="1350" b="1" dirty="0">
                <a:solidFill>
                  <a:srgbClr val="2C2C2A"/>
                </a:solidFill>
                <a:latin typeface="Calibri" pitchFamily="34" charset="0"/>
                <a:ea typeface="Calibri" pitchFamily="34" charset="-122"/>
                <a:cs typeface="Calibri" pitchFamily="34" charset="-120"/>
              </a:rPr>
              <a:t>Boxes</a:t>
            </a:r>
            <a:endParaRPr lang="en-US" sz="1350" dirty="0"/>
          </a:p>
        </p:txBody>
      </p:sp>
      <p:sp>
        <p:nvSpPr>
          <p:cNvPr id="27" name="!!ov0"/>
          <p:cNvSpPr txBox="1"/>
          <p:nvPr/>
        </p:nvSpPr>
        <p:spPr>
          <a:xfrm>
            <a:off x="9006840" y="2286000"/>
            <a:ext cx="2496312" cy="457200"/>
          </a:xfrm>
          <a:prstGeom prst="rect">
            <a:avLst/>
          </a:prstGeom>
          <a:noFill/>
          <a:ln/>
        </p:spPr>
        <p:txBody>
          <a:bodyPr wrap="square" lIns="0" tIns="0" rIns="0" bIns="0" rtlCol="0" anchor="ctr"/>
          <a:lstStyle/>
          <a:p>
            <a:pPr algn="l" indent="0" marL="0">
              <a:buNone/>
            </a:pPr>
            <a:r>
              <a:rPr lang="en-US" sz="1350" dirty="0">
                <a:solidFill>
                  <a:srgbClr val="5F5E5A"/>
                </a:solidFill>
                <a:latin typeface="Calibri" pitchFamily="34" charset="0"/>
                <a:ea typeface="Calibri" pitchFamily="34" charset="-122"/>
                <a:cs typeface="Calibri" pitchFamily="34" charset="-120"/>
              </a:rPr>
              <a:t>nodes: who does the work</a:t>
            </a:r>
            <a:endParaRPr lang="en-US" sz="1350" dirty="0"/>
          </a:p>
        </p:txBody>
      </p:sp>
      <p:sp>
        <p:nvSpPr>
          <p:cNvPr id="28" name="!!ok1"/>
          <p:cNvSpPr txBox="1"/>
          <p:nvPr/>
        </p:nvSpPr>
        <p:spPr>
          <a:xfrm>
            <a:off x="7543800" y="2852928"/>
            <a:ext cx="1417320" cy="457200"/>
          </a:xfrm>
          <a:prstGeom prst="rect">
            <a:avLst/>
          </a:prstGeom>
          <a:noFill/>
          <a:ln/>
        </p:spPr>
        <p:txBody>
          <a:bodyPr wrap="square" lIns="0" tIns="0" rIns="0" bIns="0" rtlCol="0" anchor="ctr"/>
          <a:lstStyle/>
          <a:p>
            <a:pPr algn="l" indent="0" marL="0">
              <a:buNone/>
            </a:pPr>
            <a:r>
              <a:rPr lang="en-US" sz="1350" b="1" dirty="0">
                <a:solidFill>
                  <a:srgbClr val="2C2C2A"/>
                </a:solidFill>
                <a:latin typeface="Calibri" pitchFamily="34" charset="0"/>
                <a:ea typeface="Calibri" pitchFamily="34" charset="-122"/>
                <a:cs typeface="Calibri" pitchFamily="34" charset="-120"/>
              </a:rPr>
              <a:t>Solid arrows</a:t>
            </a:r>
            <a:endParaRPr lang="en-US" sz="1350" dirty="0"/>
          </a:p>
        </p:txBody>
      </p:sp>
      <p:sp>
        <p:nvSpPr>
          <p:cNvPr id="29" name="!!ov1"/>
          <p:cNvSpPr txBox="1"/>
          <p:nvPr/>
        </p:nvSpPr>
        <p:spPr>
          <a:xfrm>
            <a:off x="9006840" y="2852928"/>
            <a:ext cx="2496312" cy="457200"/>
          </a:xfrm>
          <a:prstGeom prst="rect">
            <a:avLst/>
          </a:prstGeom>
          <a:noFill/>
          <a:ln/>
        </p:spPr>
        <p:txBody>
          <a:bodyPr wrap="square" lIns="0" tIns="0" rIns="0" bIns="0" rtlCol="0" anchor="ctr"/>
          <a:lstStyle/>
          <a:p>
            <a:pPr algn="l" indent="0" marL="0">
              <a:buNone/>
            </a:pPr>
            <a:r>
              <a:rPr lang="en-US" sz="1350" dirty="0">
                <a:solidFill>
                  <a:srgbClr val="5F5E5A"/>
                </a:solidFill>
                <a:latin typeface="Calibri" pitchFamily="34" charset="0"/>
                <a:ea typeface="Calibri" pitchFamily="34" charset="-122"/>
                <a:cs typeface="Calibri" pitchFamily="34" charset="-120"/>
              </a:rPr>
              <a:t>edges: who goes next</a:t>
            </a:r>
            <a:endParaRPr lang="en-US" sz="1350" dirty="0"/>
          </a:p>
        </p:txBody>
      </p:sp>
      <p:sp>
        <p:nvSpPr>
          <p:cNvPr id="30" name="!!ok2"/>
          <p:cNvSpPr txBox="1"/>
          <p:nvPr/>
        </p:nvSpPr>
        <p:spPr>
          <a:xfrm>
            <a:off x="7543800" y="3419856"/>
            <a:ext cx="1417320" cy="457200"/>
          </a:xfrm>
          <a:prstGeom prst="rect">
            <a:avLst/>
          </a:prstGeom>
          <a:noFill/>
          <a:ln/>
        </p:spPr>
        <p:txBody>
          <a:bodyPr wrap="square" lIns="0" tIns="0" rIns="0" bIns="0" rtlCol="0" anchor="ctr"/>
          <a:lstStyle/>
          <a:p>
            <a:pPr algn="l" indent="0" marL="0">
              <a:buNone/>
            </a:pPr>
            <a:r>
              <a:rPr lang="en-US" sz="1350" b="1" dirty="0">
                <a:solidFill>
                  <a:srgbClr val="2C2C2A"/>
                </a:solidFill>
                <a:latin typeface="Calibri" pitchFamily="34" charset="0"/>
                <a:ea typeface="Calibri" pitchFamily="34" charset="-122"/>
                <a:cs typeface="Calibri" pitchFamily="34" charset="-120"/>
              </a:rPr>
              <a:t>Dashed arrow</a:t>
            </a:r>
            <a:endParaRPr lang="en-US" sz="1350" dirty="0"/>
          </a:p>
        </p:txBody>
      </p:sp>
      <p:sp>
        <p:nvSpPr>
          <p:cNvPr id="31" name="!!ov2"/>
          <p:cNvSpPr txBox="1"/>
          <p:nvPr/>
        </p:nvSpPr>
        <p:spPr>
          <a:xfrm>
            <a:off x="9006840" y="3419856"/>
            <a:ext cx="2496312" cy="457200"/>
          </a:xfrm>
          <a:prstGeom prst="rect">
            <a:avLst/>
          </a:prstGeom>
          <a:noFill/>
          <a:ln/>
        </p:spPr>
        <p:txBody>
          <a:bodyPr wrap="square" lIns="0" tIns="0" rIns="0" bIns="0" rtlCol="0" anchor="ctr"/>
          <a:lstStyle/>
          <a:p>
            <a:pPr algn="l" indent="0" marL="0">
              <a:buNone/>
            </a:pPr>
            <a:r>
              <a:rPr lang="en-US" sz="1350" dirty="0">
                <a:solidFill>
                  <a:srgbClr val="5F5E5A"/>
                </a:solidFill>
                <a:latin typeface="Calibri" pitchFamily="34" charset="0"/>
                <a:ea typeface="Calibri" pitchFamily="34" charset="-122"/>
                <a:cs typeface="Calibri" pitchFamily="34" charset="-120"/>
              </a:rPr>
              <a:t>a decision: pass or fail</a:t>
            </a:r>
            <a:endParaRPr lang="en-US" sz="1350" dirty="0"/>
          </a:p>
        </p:txBody>
      </p:sp>
      <p:sp>
        <p:nvSpPr>
          <p:cNvPr id="32" name="!!ok3"/>
          <p:cNvSpPr txBox="1"/>
          <p:nvPr/>
        </p:nvSpPr>
        <p:spPr>
          <a:xfrm>
            <a:off x="7543800" y="3986784"/>
            <a:ext cx="1417320" cy="457200"/>
          </a:xfrm>
          <a:prstGeom prst="rect">
            <a:avLst/>
          </a:prstGeom>
          <a:noFill/>
          <a:ln/>
        </p:spPr>
        <p:txBody>
          <a:bodyPr wrap="square" lIns="0" tIns="0" rIns="0" bIns="0" rtlCol="0" anchor="ctr"/>
          <a:lstStyle/>
          <a:p>
            <a:pPr algn="l" indent="0" marL="0">
              <a:buNone/>
            </a:pPr>
            <a:r>
              <a:rPr lang="en-US" sz="1350" b="1" dirty="0">
                <a:solidFill>
                  <a:srgbClr val="2C2C2A"/>
                </a:solidFill>
                <a:latin typeface="Calibri" pitchFamily="34" charset="0"/>
                <a:ea typeface="Calibri" pitchFamily="34" charset="-122"/>
                <a:cs typeface="Calibri" pitchFamily="34" charset="-120"/>
              </a:rPr>
              <a:t>Purple panel</a:t>
            </a:r>
            <a:endParaRPr lang="en-US" sz="1350" dirty="0"/>
          </a:p>
        </p:txBody>
      </p:sp>
      <p:sp>
        <p:nvSpPr>
          <p:cNvPr id="33" name="!!ov3"/>
          <p:cNvSpPr txBox="1"/>
          <p:nvPr/>
        </p:nvSpPr>
        <p:spPr>
          <a:xfrm>
            <a:off x="9006840" y="3986784"/>
            <a:ext cx="2496312" cy="457200"/>
          </a:xfrm>
          <a:prstGeom prst="rect">
            <a:avLst/>
          </a:prstGeom>
          <a:noFill/>
          <a:ln/>
        </p:spPr>
        <p:txBody>
          <a:bodyPr wrap="square" lIns="0" tIns="0" rIns="0" bIns="0" rtlCol="0" anchor="ctr"/>
          <a:lstStyle/>
          <a:p>
            <a:pPr algn="l" indent="0" marL="0">
              <a:buNone/>
            </a:pPr>
            <a:r>
              <a:rPr lang="en-US" sz="1350" dirty="0">
                <a:solidFill>
                  <a:srgbClr val="5F5E5A"/>
                </a:solidFill>
                <a:latin typeface="Calibri" pitchFamily="34" charset="0"/>
                <a:ea typeface="Calibri" pitchFamily="34" charset="-122"/>
                <a:cs typeface="Calibri" pitchFamily="34" charset="-120"/>
              </a:rPr>
              <a:t>the state everyone shares</a:t>
            </a:r>
            <a:endParaRPr lang="en-US" sz="1350" dirty="0"/>
          </a:p>
        </p:txBody>
      </p:sp>
      <p:sp>
        <p:nvSpPr>
          <p:cNvPr id="34" name="!!pfoot"/>
          <p:cNvSpPr txBox="1"/>
          <p:nvPr/>
        </p:nvSpPr>
        <p:spPr>
          <a:xfrm>
            <a:off x="7543800" y="4754880"/>
            <a:ext cx="3959352" cy="411480"/>
          </a:xfrm>
          <a:prstGeom prst="rect">
            <a:avLst/>
          </a:prstGeom>
          <a:noFill/>
          <a:ln/>
        </p:spPr>
        <p:txBody>
          <a:bodyPr wrap="square" lIns="0" tIns="0" rIns="0" bIns="0" rtlCol="0" anchor="t"/>
          <a:lstStyle/>
          <a:p>
            <a:pPr algn="l" indent="0" marL="0">
              <a:buNone/>
            </a:pPr>
            <a:r>
              <a:rPr lang="en-US" sz="1350" b="1" i="1" dirty="0">
                <a:solidFill>
                  <a:srgbClr val="534AB7"/>
                </a:solidFill>
                <a:latin typeface="Calibri" pitchFamily="34" charset="0"/>
                <a:ea typeface="Calibri" pitchFamily="34" charset="-122"/>
                <a:cs typeface="Calibri" pitchFamily="34" charset="-120"/>
              </a:rPr>
              <a:t>Click a button below to look at one part.</a:t>
            </a:r>
            <a:endParaRPr lang="en-US" sz="1350" dirty="0"/>
          </a:p>
        </p:txBody>
      </p:sp>
      <p:sp>
        <p:nvSpPr>
          <p:cNvPr id="35" name="!!btn0">
            <a:hlinkClick action="ppaction://hlinksldjump" r:id="rId1"/>
          </p:cNvPr>
          <p:cNvSpPr/>
          <p:nvPr/>
        </p:nvSpPr>
        <p:spPr>
          <a:xfrm>
            <a:off x="411480" y="5669280"/>
            <a:ext cx="1545336" cy="420624"/>
          </a:xfrm>
          <a:prstGeom prst="roundRect">
            <a:avLst>
              <a:gd name="adj" fmla="val 50000"/>
            </a:avLst>
          </a:prstGeom>
          <a:solidFill>
            <a:srgbClr val="534AB7"/>
          </a:solidFill>
          <a:ln w="12700">
            <a:solidFill>
              <a:srgbClr val="534AB7"/>
            </a:solidFill>
            <a:prstDash val="solid"/>
          </a:ln>
        </p:spPr>
        <p:txBody>
          <a:bodyPr wrap="square" lIns="0" tIns="0" rIns="0" bIns="0" rtlCol="0" anchor="ctr"/>
          <a:lstStyle/>
          <a:p>
            <a:pPr algn="ctr" indent="0" marL="0">
              <a:buNone/>
            </a:pPr>
            <a:r>
              <a:rPr lang="en-US" sz="1250" b="1" u="none" dirty="0">
                <a:solidFill>
                  <a:srgbClr val="FFFFFF"/>
                </a:solidFill>
                <a:latin typeface="Calibri" pitchFamily="34" charset="0"/>
                <a:ea typeface="Calibri" pitchFamily="34" charset="-122"/>
                <a:cs typeface="Calibri" pitchFamily="34" charset="-120"/>
                <a:hlinkClick r:id="rId1" action="ppaction://hlinksldjump" tooltip="How to read it">
                  <a:extLst>
                    <a:ext uri="{A12FA001-AC4F-418D-AE19-62706E023703}">
                      <ahyp:hlinkClr xmlns:ahyp="http://schemas.microsoft.com/office/drawing/2018/hyperlinkcolor" val="tx"/>
                    </a:ext>
                  </a:extLst>
                </a:hlinkClick>
              </a:rPr>
              <a:t>Overview</a:t>
            </a:r>
            <a:endParaRPr lang="en-US" sz="1250" dirty="0"/>
          </a:p>
        </p:txBody>
      </p:sp>
      <p:sp>
        <p:nvSpPr>
          <p:cNvPr id="36" name="!!btn1">
            <a:hlinkClick action="ppaction://hlinksldjump" r:id="rId2"/>
          </p:cNvPr>
          <p:cNvSpPr/>
          <p:nvPr/>
        </p:nvSpPr>
        <p:spPr>
          <a:xfrm>
            <a:off x="2048256" y="5669280"/>
            <a:ext cx="1545336" cy="420624"/>
          </a:xfrm>
          <a:prstGeom prst="roundRect">
            <a:avLst>
              <a:gd name="adj" fmla="val 50000"/>
            </a:avLst>
          </a:prstGeom>
          <a:solidFill>
            <a:srgbClr val="FFFFFF"/>
          </a:solidFill>
          <a:ln w="12700">
            <a:solidFill>
              <a:srgbClr val="534AB7"/>
            </a:solidFill>
            <a:prstDash val="solid"/>
          </a:ln>
        </p:spPr>
        <p:txBody>
          <a:bodyPr wrap="square" lIns="0" tIns="0" rIns="0" bIns="0" rtlCol="0" anchor="ctr"/>
          <a:lstStyle/>
          <a:p>
            <a:pPr algn="ctr" indent="0" marL="0">
              <a:buNone/>
            </a:pPr>
            <a:r>
              <a:rPr lang="en-US" sz="1250" u="none" dirty="0">
                <a:solidFill>
                  <a:srgbClr val="3C3489"/>
                </a:solidFill>
                <a:latin typeface="Calibri" pitchFamily="34" charset="0"/>
                <a:ea typeface="Calibri" pitchFamily="34" charset="-122"/>
                <a:cs typeface="Calibri" pitchFamily="34" charset="-120"/>
                <a:hlinkClick r:id="rId2" action="ppaction://hlinksldjump" tooltip="Node">
                  <a:extLst>
                    <a:ext uri="{A12FA001-AC4F-418D-AE19-62706E023703}">
                      <ahyp:hlinkClr xmlns:ahyp="http://schemas.microsoft.com/office/drawing/2018/hyperlinkcolor" val="tx"/>
                    </a:ext>
                  </a:extLst>
                </a:hlinkClick>
              </a:rPr>
              <a:t>Node</a:t>
            </a:r>
            <a:endParaRPr lang="en-US" sz="1250" dirty="0"/>
          </a:p>
        </p:txBody>
      </p:sp>
      <p:sp>
        <p:nvSpPr>
          <p:cNvPr id="37" name="!!btn2">
            <a:hlinkClick action="ppaction://hlinksldjump" r:id="rId3"/>
          </p:cNvPr>
          <p:cNvSpPr/>
          <p:nvPr/>
        </p:nvSpPr>
        <p:spPr>
          <a:xfrm>
            <a:off x="3685032" y="5669280"/>
            <a:ext cx="1545336" cy="420624"/>
          </a:xfrm>
          <a:prstGeom prst="roundRect">
            <a:avLst>
              <a:gd name="adj" fmla="val 50000"/>
            </a:avLst>
          </a:prstGeom>
          <a:solidFill>
            <a:srgbClr val="FFFFFF"/>
          </a:solidFill>
          <a:ln w="12700">
            <a:solidFill>
              <a:srgbClr val="534AB7"/>
            </a:solidFill>
            <a:prstDash val="solid"/>
          </a:ln>
        </p:spPr>
        <p:txBody>
          <a:bodyPr wrap="square" lIns="0" tIns="0" rIns="0" bIns="0" rtlCol="0" anchor="ctr"/>
          <a:lstStyle/>
          <a:p>
            <a:pPr algn="ctr" indent="0" marL="0">
              <a:buNone/>
            </a:pPr>
            <a:r>
              <a:rPr lang="en-US" sz="1250" u="none" dirty="0">
                <a:solidFill>
                  <a:srgbClr val="3C3489"/>
                </a:solidFill>
                <a:latin typeface="Calibri" pitchFamily="34" charset="0"/>
                <a:ea typeface="Calibri" pitchFamily="34" charset="-122"/>
                <a:cs typeface="Calibri" pitchFamily="34" charset="-120"/>
                <a:hlinkClick r:id="rId3" action="ppaction://hlinksldjump" tooltip="Edge">
                  <a:extLst>
                    <a:ext uri="{A12FA001-AC4F-418D-AE19-62706E023703}">
                      <ahyp:hlinkClr xmlns:ahyp="http://schemas.microsoft.com/office/drawing/2018/hyperlinkcolor" val="tx"/>
                    </a:ext>
                  </a:extLst>
                </a:hlinkClick>
              </a:rPr>
              <a:t>Edge</a:t>
            </a:r>
            <a:endParaRPr lang="en-US" sz="1250" dirty="0"/>
          </a:p>
        </p:txBody>
      </p:sp>
      <p:sp>
        <p:nvSpPr>
          <p:cNvPr id="38" name="!!btn3">
            <a:hlinkClick action="ppaction://hlinksldjump" r:id="rId4"/>
          </p:cNvPr>
          <p:cNvSpPr/>
          <p:nvPr/>
        </p:nvSpPr>
        <p:spPr>
          <a:xfrm>
            <a:off x="5321808" y="5669280"/>
            <a:ext cx="1545336" cy="420624"/>
          </a:xfrm>
          <a:prstGeom prst="roundRect">
            <a:avLst>
              <a:gd name="adj" fmla="val 50000"/>
            </a:avLst>
          </a:prstGeom>
          <a:solidFill>
            <a:srgbClr val="FFFFFF"/>
          </a:solidFill>
          <a:ln w="12700">
            <a:solidFill>
              <a:srgbClr val="534AB7"/>
            </a:solidFill>
            <a:prstDash val="solid"/>
          </a:ln>
        </p:spPr>
        <p:txBody>
          <a:bodyPr wrap="square" lIns="0" tIns="0" rIns="0" bIns="0" rtlCol="0" anchor="ctr"/>
          <a:lstStyle/>
          <a:p>
            <a:pPr algn="ctr" indent="0" marL="0">
              <a:buNone/>
            </a:pPr>
            <a:r>
              <a:rPr lang="en-US" sz="1250" u="none" dirty="0">
                <a:solidFill>
                  <a:srgbClr val="3C3489"/>
                </a:solidFill>
                <a:latin typeface="Calibri" pitchFamily="34" charset="0"/>
                <a:ea typeface="Calibri" pitchFamily="34" charset="-122"/>
                <a:cs typeface="Calibri" pitchFamily="34" charset="-120"/>
                <a:hlinkClick r:id="rId4" action="ppaction://hlinksldjump" tooltip="Conditional edge">
                  <a:extLst>
                    <a:ext uri="{A12FA001-AC4F-418D-AE19-62706E023703}">
                      <ahyp:hlinkClr xmlns:ahyp="http://schemas.microsoft.com/office/drawing/2018/hyperlinkcolor" val="tx"/>
                    </a:ext>
                  </a:extLst>
                </a:hlinkClick>
              </a:rPr>
              <a:t>Conditional edge</a:t>
            </a:r>
            <a:endParaRPr lang="en-US" sz="1250" dirty="0"/>
          </a:p>
        </p:txBody>
      </p:sp>
      <p:sp>
        <p:nvSpPr>
          <p:cNvPr id="39" name="!!btn4">
            <a:hlinkClick action="ppaction://hlinksldjump" r:id="rId5"/>
          </p:cNvPr>
          <p:cNvSpPr/>
          <p:nvPr/>
        </p:nvSpPr>
        <p:spPr>
          <a:xfrm>
            <a:off x="6958584" y="5669280"/>
            <a:ext cx="1545336" cy="420624"/>
          </a:xfrm>
          <a:prstGeom prst="roundRect">
            <a:avLst>
              <a:gd name="adj" fmla="val 50000"/>
            </a:avLst>
          </a:prstGeom>
          <a:solidFill>
            <a:srgbClr val="FFFFFF"/>
          </a:solidFill>
          <a:ln w="12700">
            <a:solidFill>
              <a:srgbClr val="534AB7"/>
            </a:solidFill>
            <a:prstDash val="solid"/>
          </a:ln>
        </p:spPr>
        <p:txBody>
          <a:bodyPr wrap="square" lIns="0" tIns="0" rIns="0" bIns="0" rtlCol="0" anchor="ctr"/>
          <a:lstStyle/>
          <a:p>
            <a:pPr algn="ctr" indent="0" marL="0">
              <a:buNone/>
            </a:pPr>
            <a:r>
              <a:rPr lang="en-US" sz="1250" u="none" dirty="0">
                <a:solidFill>
                  <a:srgbClr val="3C3489"/>
                </a:solidFill>
                <a:latin typeface="Calibri" pitchFamily="34" charset="0"/>
                <a:ea typeface="Calibri" pitchFamily="34" charset="-122"/>
                <a:cs typeface="Calibri" pitchFamily="34" charset="-120"/>
                <a:hlinkClick r:id="rId5" action="ppaction://hlinksldjump" tooltip="State">
                  <a:extLst>
                    <a:ext uri="{A12FA001-AC4F-418D-AE19-62706E023703}">
                      <ahyp:hlinkClr xmlns:ahyp="http://schemas.microsoft.com/office/drawing/2018/hyperlinkcolor" val="tx"/>
                    </a:ext>
                  </a:extLst>
                </a:hlinkClick>
              </a:rPr>
              <a:t>State</a:t>
            </a:r>
            <a:endParaRPr lang="en-US" sz="1250" dirty="0"/>
          </a:p>
        </p:txBody>
      </p:sp>
      <p:sp>
        <p:nvSpPr>
          <p:cNvPr id="40" name="!!btn5">
            <a:hlinkClick action="ppaction://hlinksldjump" r:id="rId6"/>
          </p:cNvPr>
          <p:cNvSpPr/>
          <p:nvPr/>
        </p:nvSpPr>
        <p:spPr>
          <a:xfrm>
            <a:off x="8595360" y="5669280"/>
            <a:ext cx="1545336" cy="420624"/>
          </a:xfrm>
          <a:prstGeom prst="roundRect">
            <a:avLst>
              <a:gd name="adj" fmla="val 50000"/>
            </a:avLst>
          </a:prstGeom>
          <a:solidFill>
            <a:srgbClr val="FFFFFF"/>
          </a:solidFill>
          <a:ln w="12700">
            <a:solidFill>
              <a:srgbClr val="534AB7"/>
            </a:solidFill>
            <a:prstDash val="solid"/>
          </a:ln>
        </p:spPr>
        <p:txBody>
          <a:bodyPr wrap="square" lIns="0" tIns="0" rIns="0" bIns="0" rtlCol="0" anchor="ctr"/>
          <a:lstStyle/>
          <a:p>
            <a:pPr algn="ctr" indent="0" marL="0">
              <a:buNone/>
            </a:pPr>
            <a:r>
              <a:rPr lang="en-US" sz="1250" u="none" dirty="0">
                <a:solidFill>
                  <a:srgbClr val="3C3489"/>
                </a:solidFill>
                <a:latin typeface="Calibri" pitchFamily="34" charset="0"/>
                <a:ea typeface="Calibri" pitchFamily="34" charset="-122"/>
                <a:cs typeface="Calibri" pitchFamily="34" charset="-120"/>
                <a:hlinkClick r:id="rId6" action="ppaction://hlinksldjump" tooltip="Subgraph">
                  <a:extLst>
                    <a:ext uri="{A12FA001-AC4F-418D-AE19-62706E023703}">
                      <ahyp:hlinkClr xmlns:ahyp="http://schemas.microsoft.com/office/drawing/2018/hyperlinkcolor" val="tx"/>
                    </a:ext>
                  </a:extLst>
                </a:hlinkClick>
              </a:rPr>
              <a:t>Subgraph</a:t>
            </a:r>
            <a:endParaRPr lang="en-US" sz="1250" dirty="0"/>
          </a:p>
        </p:txBody>
      </p:sp>
      <p:sp>
        <p:nvSpPr>
          <p:cNvPr id="41" name="!!btn6">
            <a:hlinkClick action="ppaction://hlinksldjump" r:id="rId7"/>
          </p:cNvPr>
          <p:cNvSpPr/>
          <p:nvPr/>
        </p:nvSpPr>
        <p:spPr>
          <a:xfrm>
            <a:off x="10232136" y="5669280"/>
            <a:ext cx="1545336" cy="420624"/>
          </a:xfrm>
          <a:prstGeom prst="roundRect">
            <a:avLst>
              <a:gd name="adj" fmla="val 50000"/>
            </a:avLst>
          </a:prstGeom>
          <a:solidFill>
            <a:srgbClr val="FFFFFF"/>
          </a:solidFill>
          <a:ln w="12700">
            <a:solidFill>
              <a:srgbClr val="534AB7"/>
            </a:solidFill>
            <a:prstDash val="solid"/>
          </a:ln>
        </p:spPr>
        <p:txBody>
          <a:bodyPr wrap="square" lIns="0" tIns="0" rIns="0" bIns="0" rtlCol="0" anchor="ctr"/>
          <a:lstStyle/>
          <a:p>
            <a:pPr algn="ctr" indent="0" marL="0">
              <a:buNone/>
            </a:pPr>
            <a:r>
              <a:rPr lang="en-US" sz="1250" u="none" dirty="0">
                <a:solidFill>
                  <a:srgbClr val="3C3489"/>
                </a:solidFill>
                <a:latin typeface="Calibri" pitchFamily="34" charset="0"/>
                <a:ea typeface="Calibri" pitchFamily="34" charset="-122"/>
                <a:cs typeface="Calibri" pitchFamily="34" charset="-120"/>
                <a:hlinkClick r:id="rId7" action="ppaction://hlinksldjump" tooltip="Checkpointer">
                  <a:extLst>
                    <a:ext uri="{A12FA001-AC4F-418D-AE19-62706E023703}">
                      <ahyp:hlinkClr xmlns:ahyp="http://schemas.microsoft.com/office/drawing/2018/hyperlinkcolor" val="tx"/>
                    </a:ext>
                  </a:extLst>
                </a:hlinkClick>
              </a:rPr>
              <a:t>Checkpointer</a:t>
            </a:r>
            <a:endParaRPr lang="en-US" sz="1250" dirty="0"/>
          </a:p>
        </p:txBody>
      </p:sp>
      <p:sp>
        <p:nvSpPr>
          <p:cNvPr id="25" name="Slide Number Placeholder 0"/>
          <p:cNvSpPr>
            <a:spLocks noGrp="1"/>
          </p:cNvSpPr>
          <p:nvPr>
            <p:ph type="sldNum" sz="quarter" idx="4294967295"/>
          </p:nvPr>
        </p:nvSpPr>
        <p:spPr>
          <a:xfrm>
            <a:off x="5641848" y="6382512"/>
            <a:ext cx="914400" cy="201168"/>
          </a:xfrm>
          <a:prstGeom prst="rect">
            <a:avLst/>
          </a:prstGeom>
          <a:extLst>
            <a:ext uri="{C572A759-6A51-4108-AA02-DFA0A04FC94B}">
              <ma14:wrappingTextBoxFlag xmlns:ma14="http://schemas.microsoft.com/office/mac/drawingml/2011/main" val="0"/>
            </a:ext>
          </a:extLst>
        </p:spPr>
        <p:txBody>
          <a:bodyPr/>
          <a:lstStyle>
            <a:lvl1pPr>
              <a:defRPr sz="1000">
                <a:solidFill>
                  <a:srgbClr val="595959"/>
                </a:solidFill>
                <a:latin typeface="Arial"/>
                <a:ea typeface="Arial"/>
                <a:cs typeface="Arial"/>
              </a:defRPr>
            </a:lvl1pPr>
          </a:lstStyle>
          <a:p>
            <a:pPr algn="ctr"/>
            <a:fld id="{F7021451-1387-4CA6-816F-3879F97B5CBC}" type="slidenum">
              <a:rPr b="0" lang="en-US"/>
              <a:t>5</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700">
        <p159:morph option="byObject"/>
      </p:transition>
    </mc:Choice>
    <mc:Fallback>
      <p:transition spd="slow">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itle"/>
          <p:cNvSpPr txBox="1"/>
          <p:nvPr/>
        </p:nvSpPr>
        <p:spPr>
          <a:xfrm>
            <a:off x="411480" y="201168"/>
            <a:ext cx="11338560" cy="530352"/>
          </a:xfrm>
          <a:prstGeom prst="rect">
            <a:avLst/>
          </a:prstGeom>
          <a:noFill/>
          <a:ln/>
        </p:spPr>
        <p:txBody>
          <a:bodyPr wrap="square" lIns="0" tIns="0" rIns="0" bIns="0" rtlCol="0" anchor="b"/>
          <a:lstStyle/>
          <a:p>
            <a:pPr algn="l" indent="0" marL="0">
              <a:buNone/>
            </a:pPr>
            <a:r>
              <a:rPr lang="en-US" sz="2600" b="1" dirty="0">
                <a:solidFill>
                  <a:srgbClr val="1A1A1A"/>
                </a:solidFill>
                <a:latin typeface="Calibri" pitchFamily="34" charset="0"/>
                <a:ea typeface="Calibri" pitchFamily="34" charset="-122"/>
                <a:cs typeface="Calibri" pitchFamily="34" charset="-120"/>
              </a:rPr>
              <a:t>Reading the Graph: What Each Part Does</a:t>
            </a:r>
            <a:endParaRPr lang="en-US" sz="2600" dirty="0"/>
          </a:p>
        </p:txBody>
      </p:sp>
      <p:sp>
        <p:nvSpPr>
          <p:cNvPr id="3" name="!!rule"/>
          <p:cNvSpPr/>
          <p:nvPr/>
        </p:nvSpPr>
        <p:spPr>
          <a:xfrm>
            <a:off x="411480" y="804672"/>
            <a:ext cx="11365992" cy="914"/>
          </a:xfrm>
          <a:prstGeom prst="line">
            <a:avLst/>
          </a:prstGeom>
          <a:noFill/>
          <a:ln w="9525">
            <a:solidFill>
              <a:srgbClr val="7F7F7F"/>
            </a:solidFill>
            <a:prstDash val="solid"/>
          </a:ln>
        </p:spPr>
        <p:txBody>
          <a:bodyPr/>
          <a:p/>
        </p:txBody>
      </p:sp>
      <p:sp>
        <p:nvSpPr>
          <p:cNvPr id="4" name="!!lead"/>
          <p:cNvSpPr txBox="1"/>
          <p:nvPr/>
        </p:nvSpPr>
        <p:spPr>
          <a:xfrm>
            <a:off x="411480" y="886968"/>
            <a:ext cx="11338560" cy="438912"/>
          </a:xfrm>
          <a:prstGeom prst="rect">
            <a:avLst/>
          </a:prstGeom>
          <a:noFill/>
          <a:ln/>
        </p:spPr>
        <p:txBody>
          <a:bodyPr wrap="square" lIns="0" tIns="0" rIns="0" bIns="0" rtlCol="0" anchor="t"/>
          <a:lstStyle/>
          <a:p>
            <a:pPr indent="0" marL="0">
              <a:buNone/>
            </a:pPr>
            <a:r>
              <a:rPr lang="en-US" sz="1400" dirty="0">
                <a:solidFill>
                  <a:srgbClr val="404040"/>
                </a:solidFill>
                <a:latin typeface="Arial" pitchFamily="34" charset="0"/>
                <a:ea typeface="Arial" pitchFamily="34" charset="-122"/>
                <a:cs typeface="Arial" pitchFamily="34" charset="-120"/>
              </a:rPr>
              <a:t>The same graph as the last slide, one part at a time. Click a button to see what that part does, in plain words and in code.</a:t>
            </a:r>
            <a:endParaRPr lang="en-US" sz="1400" dirty="0"/>
          </a:p>
        </p:txBody>
      </p:sp>
      <p:sp>
        <p:nvSpPr>
          <p:cNvPr id="5" name="!!gs"/>
          <p:cNvSpPr/>
          <p:nvPr/>
        </p:nvSpPr>
        <p:spPr>
          <a:xfrm>
            <a:off x="3108960" y="1572768"/>
            <a:ext cx="1005840" cy="329184"/>
          </a:xfrm>
          <a:prstGeom prst="roundRect">
            <a:avLst>
              <a:gd name="adj" fmla="val 50000"/>
            </a:avLst>
          </a:prstGeom>
          <a:solidFill>
            <a:srgbClr val="FAFAF7"/>
          </a:solidFill>
          <a:ln w="12700">
            <a:solidFill>
              <a:srgbClr val="E3E1D8"/>
            </a:solidFill>
            <a:prstDash val="solid"/>
          </a:ln>
        </p:spPr>
        <p:txBody>
          <a:bodyPr wrap="square" lIns="50800" tIns="50800" rIns="50800" bIns="50800" rtlCol="0" anchor="ctr"/>
          <a:lstStyle/>
          <a:p>
            <a:pPr algn="ctr" indent="0" marL="0">
              <a:buNone/>
            </a:pPr>
            <a:r>
              <a:rPr lang="en-US" sz="1100" b="1" dirty="0">
                <a:solidFill>
                  <a:srgbClr val="B4B2A9"/>
                </a:solidFill>
                <a:latin typeface="Consolas" pitchFamily="34" charset="0"/>
                <a:ea typeface="Consolas" pitchFamily="34" charset="-122"/>
                <a:cs typeface="Consolas" pitchFamily="34" charset="-120"/>
              </a:rPr>
              <a:t>START</a:t>
            </a:r>
            <a:endParaRPr lang="en-US" sz="1100" dirty="0"/>
          </a:p>
        </p:txBody>
      </p:sp>
      <p:sp>
        <p:nvSpPr>
          <p:cNvPr id="6" name="!!e1"/>
          <p:cNvSpPr/>
          <p:nvPr/>
        </p:nvSpPr>
        <p:spPr>
          <a:xfrm>
            <a:off x="3611880" y="1901952"/>
            <a:ext cx="914" cy="219456"/>
          </a:xfrm>
          <a:prstGeom prst="line">
            <a:avLst/>
          </a:prstGeom>
          <a:noFill/>
          <a:ln w="15875">
            <a:solidFill>
              <a:srgbClr val="E3E1D8"/>
            </a:solidFill>
            <a:prstDash val="solid"/>
            <a:tailEnd type="triangle"/>
          </a:ln>
        </p:spPr>
        <p:txBody>
          <a:bodyPr/>
          <a:p/>
        </p:txBody>
      </p:sp>
      <p:sp>
        <p:nvSpPr>
          <p:cNvPr id="7" name="!!gw"/>
          <p:cNvSpPr/>
          <p:nvPr/>
        </p:nvSpPr>
        <p:spPr>
          <a:xfrm>
            <a:off x="2606040" y="2121408"/>
            <a:ext cx="2011680" cy="731520"/>
          </a:xfrm>
          <a:prstGeom prst="roundRect">
            <a:avLst>
              <a:gd name="adj" fmla="val 10000"/>
            </a:avLst>
          </a:prstGeom>
          <a:solidFill>
            <a:srgbClr val="E1F5EE"/>
          </a:solidFill>
          <a:ln w="28575">
            <a:solidFill>
              <a:srgbClr val="0F6E56"/>
            </a:solidFill>
            <a:prstDash val="solid"/>
          </a:ln>
        </p:spPr>
        <p:txBody>
          <a:bodyPr wrap="square" lIns="50800" tIns="50800" rIns="50800" bIns="50800" rtlCol="0" anchor="ctr"/>
          <a:lstStyle/>
          <a:p>
            <a:pPr algn="ctr" indent="0" marL="0">
              <a:buNone/>
            </a:pPr>
            <a:r>
              <a:rPr lang="en-US" sz="1500" b="1" dirty="0">
                <a:solidFill>
                  <a:srgbClr val="085041"/>
                </a:solidFill>
                <a:latin typeface="Calibri" pitchFamily="34" charset="0"/>
                <a:ea typeface="Calibri" pitchFamily="34" charset="-122"/>
                <a:cs typeface="Calibri" pitchFamily="34" charset="-120"/>
              </a:rPr>
              <a:t>worker</a:t>
            </a:r>
            <a:endParaRPr lang="en-US" sz="1200" dirty="0"/>
          </a:p>
          <a:p>
            <a:pPr algn="ctr" indent="0" marL="0">
              <a:buNone/>
            </a:pPr>
            <a:r>
              <a:rPr lang="en-US" sz="1100" dirty="0">
                <a:solidFill>
                  <a:srgbClr val="085041"/>
                </a:solidFill>
                <a:latin typeface="Calibri" pitchFamily="34" charset="0"/>
                <a:ea typeface="Calibri" pitchFamily="34" charset="-122"/>
                <a:cs typeface="Calibri" pitchFamily="34" charset="-120"/>
              </a:rPr>
              <a:t>does the job</a:t>
            </a:r>
            <a:endParaRPr lang="en-US" sz="1200" dirty="0"/>
          </a:p>
        </p:txBody>
      </p:sp>
      <p:sp>
        <p:nvSpPr>
          <p:cNvPr id="8" name="!!e2"/>
          <p:cNvSpPr/>
          <p:nvPr/>
        </p:nvSpPr>
        <p:spPr>
          <a:xfrm>
            <a:off x="3611880" y="2852928"/>
            <a:ext cx="914" cy="411480"/>
          </a:xfrm>
          <a:prstGeom prst="line">
            <a:avLst/>
          </a:prstGeom>
          <a:noFill/>
          <a:ln w="15875">
            <a:solidFill>
              <a:srgbClr val="E3E1D8"/>
            </a:solidFill>
            <a:prstDash val="solid"/>
            <a:tailEnd type="triangle"/>
          </a:ln>
        </p:spPr>
        <p:txBody>
          <a:bodyPr/>
          <a:p/>
        </p:txBody>
      </p:sp>
      <p:sp>
        <p:nvSpPr>
          <p:cNvPr id="9" name="!!gc"/>
          <p:cNvSpPr/>
          <p:nvPr/>
        </p:nvSpPr>
        <p:spPr>
          <a:xfrm>
            <a:off x="2606040" y="3264408"/>
            <a:ext cx="2011680" cy="731520"/>
          </a:xfrm>
          <a:prstGeom prst="roundRect">
            <a:avLst>
              <a:gd name="adj" fmla="val 10000"/>
            </a:avLst>
          </a:prstGeom>
          <a:solidFill>
            <a:srgbClr val="FAECE7"/>
          </a:solidFill>
          <a:ln w="28575">
            <a:solidFill>
              <a:srgbClr val="993C1D"/>
            </a:solidFill>
            <a:prstDash val="solid"/>
          </a:ln>
        </p:spPr>
        <p:txBody>
          <a:bodyPr wrap="square" lIns="50800" tIns="50800" rIns="50800" bIns="50800" rtlCol="0" anchor="ctr"/>
          <a:lstStyle/>
          <a:p>
            <a:pPr algn="ctr" indent="0" marL="0">
              <a:buNone/>
            </a:pPr>
            <a:r>
              <a:rPr lang="en-US" sz="1500" b="1" dirty="0">
                <a:solidFill>
                  <a:srgbClr val="712B13"/>
                </a:solidFill>
                <a:latin typeface="Calibri" pitchFamily="34" charset="0"/>
                <a:ea typeface="Calibri" pitchFamily="34" charset="-122"/>
                <a:cs typeface="Calibri" pitchFamily="34" charset="-120"/>
              </a:rPr>
              <a:t>checker</a:t>
            </a:r>
            <a:endParaRPr lang="en-US" sz="1200" dirty="0"/>
          </a:p>
          <a:p>
            <a:pPr algn="ctr" indent="0" marL="0">
              <a:buNone/>
            </a:pPr>
            <a:r>
              <a:rPr lang="en-US" sz="1100" dirty="0">
                <a:solidFill>
                  <a:srgbClr val="712B13"/>
                </a:solidFill>
                <a:latin typeface="Calibri" pitchFamily="34" charset="0"/>
                <a:ea typeface="Calibri" pitchFamily="34" charset="-122"/>
                <a:cs typeface="Calibri" pitchFamily="34" charset="-120"/>
              </a:rPr>
              <a:t>verifies the work</a:t>
            </a:r>
            <a:endParaRPr lang="en-US" sz="1200" dirty="0"/>
          </a:p>
        </p:txBody>
      </p:sp>
      <p:sp>
        <p:nvSpPr>
          <p:cNvPr id="10" name="!!e3"/>
          <p:cNvSpPr/>
          <p:nvPr/>
        </p:nvSpPr>
        <p:spPr>
          <a:xfrm>
            <a:off x="3611880" y="3995928"/>
            <a:ext cx="914" cy="411480"/>
          </a:xfrm>
          <a:prstGeom prst="line">
            <a:avLst/>
          </a:prstGeom>
          <a:noFill/>
          <a:ln w="15875">
            <a:solidFill>
              <a:srgbClr val="E3E1D8"/>
            </a:solidFill>
            <a:prstDash val="solid"/>
            <a:tailEnd type="triangle"/>
          </a:ln>
        </p:spPr>
        <p:txBody>
          <a:bodyPr/>
          <a:p/>
        </p:txBody>
      </p:sp>
      <p:sp>
        <p:nvSpPr>
          <p:cNvPr id="11" name="!!gpass"/>
          <p:cNvSpPr txBox="1"/>
          <p:nvPr/>
        </p:nvSpPr>
        <p:spPr>
          <a:xfrm>
            <a:off x="3703320" y="4050792"/>
            <a:ext cx="548640" cy="274320"/>
          </a:xfrm>
          <a:prstGeom prst="rect">
            <a:avLst/>
          </a:prstGeom>
          <a:noFill/>
          <a:ln/>
        </p:spPr>
        <p:txBody>
          <a:bodyPr wrap="square" lIns="0" tIns="0" rIns="0" bIns="0" rtlCol="0" anchor="t"/>
          <a:lstStyle/>
          <a:p>
            <a:pPr algn="l" indent="0" marL="0">
              <a:buNone/>
            </a:pPr>
            <a:r>
              <a:rPr lang="en-US" sz="1100" b="1" dirty="0">
                <a:solidFill>
                  <a:srgbClr val="B4B2A9"/>
                </a:solidFill>
                <a:latin typeface="Calibri" pitchFamily="34" charset="0"/>
                <a:ea typeface="Calibri" pitchFamily="34" charset="-122"/>
                <a:cs typeface="Calibri" pitchFamily="34" charset="-120"/>
              </a:rPr>
              <a:t>pass</a:t>
            </a:r>
            <a:endParaRPr lang="en-US" sz="1100" dirty="0"/>
          </a:p>
        </p:txBody>
      </p:sp>
      <p:sp>
        <p:nvSpPr>
          <p:cNvPr id="12" name="!!gend"/>
          <p:cNvSpPr/>
          <p:nvPr/>
        </p:nvSpPr>
        <p:spPr>
          <a:xfrm>
            <a:off x="3108960" y="4407408"/>
            <a:ext cx="1005840" cy="329184"/>
          </a:xfrm>
          <a:prstGeom prst="roundRect">
            <a:avLst>
              <a:gd name="adj" fmla="val 50000"/>
            </a:avLst>
          </a:prstGeom>
          <a:solidFill>
            <a:srgbClr val="FAFAF7"/>
          </a:solidFill>
          <a:ln w="12700">
            <a:solidFill>
              <a:srgbClr val="E3E1D8"/>
            </a:solidFill>
            <a:prstDash val="solid"/>
          </a:ln>
        </p:spPr>
        <p:txBody>
          <a:bodyPr wrap="square" lIns="50800" tIns="50800" rIns="50800" bIns="50800" rtlCol="0" anchor="ctr"/>
          <a:lstStyle/>
          <a:p>
            <a:pPr algn="ctr" indent="0" marL="0">
              <a:buNone/>
            </a:pPr>
            <a:r>
              <a:rPr lang="en-US" sz="1100" b="1" dirty="0">
                <a:solidFill>
                  <a:srgbClr val="B4B2A9"/>
                </a:solidFill>
                <a:latin typeface="Consolas" pitchFamily="34" charset="0"/>
                <a:ea typeface="Consolas" pitchFamily="34" charset="-122"/>
                <a:cs typeface="Consolas" pitchFamily="34" charset="-120"/>
              </a:rPr>
              <a:t>END</a:t>
            </a:r>
            <a:endParaRPr lang="en-US" sz="1100" dirty="0"/>
          </a:p>
        </p:txBody>
      </p:sp>
      <p:sp>
        <p:nvSpPr>
          <p:cNvPr id="13" name="!!gf1"/>
          <p:cNvSpPr/>
          <p:nvPr/>
        </p:nvSpPr>
        <p:spPr>
          <a:xfrm flipH="1">
            <a:off x="2103120" y="3630168"/>
            <a:ext cx="502920" cy="914"/>
          </a:xfrm>
          <a:prstGeom prst="line">
            <a:avLst/>
          </a:prstGeom>
          <a:noFill/>
          <a:ln w="15875">
            <a:solidFill>
              <a:srgbClr val="E3E1D8"/>
            </a:solidFill>
            <a:prstDash val="dash"/>
          </a:ln>
        </p:spPr>
        <p:txBody>
          <a:bodyPr/>
          <a:p/>
        </p:txBody>
      </p:sp>
      <p:sp>
        <p:nvSpPr>
          <p:cNvPr id="14" name="!!gf2"/>
          <p:cNvSpPr/>
          <p:nvPr/>
        </p:nvSpPr>
        <p:spPr>
          <a:xfrm flipV="1">
            <a:off x="2103120" y="2487168"/>
            <a:ext cx="914" cy="1143000"/>
          </a:xfrm>
          <a:prstGeom prst="line">
            <a:avLst/>
          </a:prstGeom>
          <a:noFill/>
          <a:ln w="15875">
            <a:solidFill>
              <a:srgbClr val="E3E1D8"/>
            </a:solidFill>
            <a:prstDash val="dash"/>
          </a:ln>
        </p:spPr>
        <p:txBody>
          <a:bodyPr/>
          <a:p/>
        </p:txBody>
      </p:sp>
      <p:sp>
        <p:nvSpPr>
          <p:cNvPr id="15" name="!!gf3"/>
          <p:cNvSpPr/>
          <p:nvPr/>
        </p:nvSpPr>
        <p:spPr>
          <a:xfrm>
            <a:off x="2103120" y="2487168"/>
            <a:ext cx="484632" cy="914"/>
          </a:xfrm>
          <a:prstGeom prst="line">
            <a:avLst/>
          </a:prstGeom>
          <a:noFill/>
          <a:ln w="15875">
            <a:solidFill>
              <a:srgbClr val="E3E1D8"/>
            </a:solidFill>
            <a:prstDash val="dash"/>
            <a:tailEnd type="triangle"/>
          </a:ln>
        </p:spPr>
        <p:txBody>
          <a:bodyPr/>
          <a:p/>
        </p:txBody>
      </p:sp>
      <p:sp>
        <p:nvSpPr>
          <p:cNvPr id="16" name="!!gfail"/>
          <p:cNvSpPr txBox="1"/>
          <p:nvPr/>
        </p:nvSpPr>
        <p:spPr>
          <a:xfrm>
            <a:off x="1645920" y="3081528"/>
            <a:ext cx="411480" cy="274320"/>
          </a:xfrm>
          <a:prstGeom prst="rect">
            <a:avLst/>
          </a:prstGeom>
          <a:noFill/>
          <a:ln/>
        </p:spPr>
        <p:txBody>
          <a:bodyPr wrap="square" lIns="0" tIns="0" rIns="0" bIns="0" rtlCol="0" anchor="t"/>
          <a:lstStyle/>
          <a:p>
            <a:pPr algn="r" indent="0" marL="0">
              <a:buNone/>
            </a:pPr>
            <a:r>
              <a:rPr lang="en-US" sz="1100" b="1" dirty="0">
                <a:solidFill>
                  <a:srgbClr val="B4B2A9"/>
                </a:solidFill>
                <a:latin typeface="Calibri" pitchFamily="34" charset="0"/>
                <a:ea typeface="Calibri" pitchFamily="34" charset="-122"/>
                <a:cs typeface="Calibri" pitchFamily="34" charset="-120"/>
              </a:rPr>
              <a:t>fail</a:t>
            </a:r>
            <a:endParaRPr lang="en-US" sz="1100" dirty="0"/>
          </a:p>
        </p:txBody>
      </p:sp>
      <p:sp>
        <p:nvSpPr>
          <p:cNvPr id="17" name="!!sl1"/>
          <p:cNvSpPr/>
          <p:nvPr/>
        </p:nvSpPr>
        <p:spPr>
          <a:xfrm>
            <a:off x="4617720" y="2487168"/>
            <a:ext cx="731520" cy="914"/>
          </a:xfrm>
          <a:prstGeom prst="line">
            <a:avLst/>
          </a:prstGeom>
          <a:noFill/>
          <a:ln w="9525">
            <a:solidFill>
              <a:srgbClr val="E3E1D8"/>
            </a:solidFill>
            <a:prstDash val="dash"/>
          </a:ln>
        </p:spPr>
        <p:txBody>
          <a:bodyPr/>
          <a:p/>
        </p:txBody>
      </p:sp>
      <p:sp>
        <p:nvSpPr>
          <p:cNvPr id="18" name="!!sl2"/>
          <p:cNvSpPr/>
          <p:nvPr/>
        </p:nvSpPr>
        <p:spPr>
          <a:xfrm>
            <a:off x="4617720" y="3630168"/>
            <a:ext cx="731520" cy="914"/>
          </a:xfrm>
          <a:prstGeom prst="line">
            <a:avLst/>
          </a:prstGeom>
          <a:noFill/>
          <a:ln w="9525">
            <a:solidFill>
              <a:srgbClr val="E3E1D8"/>
            </a:solidFill>
            <a:prstDash val="dash"/>
          </a:ln>
        </p:spPr>
        <p:txBody>
          <a:bodyPr/>
          <a:p/>
        </p:txBody>
      </p:sp>
      <p:sp>
        <p:nvSpPr>
          <p:cNvPr id="19" name="!!st"/>
          <p:cNvSpPr/>
          <p:nvPr/>
        </p:nvSpPr>
        <p:spPr>
          <a:xfrm>
            <a:off x="5349240" y="2121408"/>
            <a:ext cx="1600200" cy="1874520"/>
          </a:xfrm>
          <a:prstGeom prst="roundRect">
            <a:avLst>
              <a:gd name="adj" fmla="val 4571"/>
            </a:avLst>
          </a:prstGeom>
          <a:solidFill>
            <a:srgbClr val="FAFAF7"/>
          </a:solidFill>
          <a:ln w="12700">
            <a:solidFill>
              <a:srgbClr val="E3E1D8"/>
            </a:solidFill>
            <a:prstDash val="solid"/>
          </a:ln>
        </p:spPr>
        <p:txBody>
          <a:bodyPr wrap="square" lIns="50800" tIns="50800" rIns="50800" bIns="50800" rtlCol="0" anchor="ctr"/>
          <a:lstStyle/>
          <a:p>
            <a:pPr algn="ctr" indent="0" marL="0">
              <a:buNone/>
            </a:pPr>
            <a:endParaRPr lang="en-US" sz="1200" dirty="0"/>
          </a:p>
        </p:txBody>
      </p:sp>
      <p:sp>
        <p:nvSpPr>
          <p:cNvPr id="20" name="!!sth"/>
          <p:cNvSpPr txBox="1"/>
          <p:nvPr/>
        </p:nvSpPr>
        <p:spPr>
          <a:xfrm>
            <a:off x="5486400" y="2212848"/>
            <a:ext cx="1325880" cy="274320"/>
          </a:xfrm>
          <a:prstGeom prst="rect">
            <a:avLst/>
          </a:prstGeom>
          <a:noFill/>
          <a:ln/>
        </p:spPr>
        <p:txBody>
          <a:bodyPr wrap="square" lIns="0" tIns="0" rIns="0" bIns="0" rtlCol="0" anchor="t"/>
          <a:lstStyle/>
          <a:p>
            <a:pPr algn="l" indent="0" marL="0">
              <a:buNone/>
            </a:pPr>
            <a:r>
              <a:rPr lang="en-US" sz="1300" b="1" dirty="0">
                <a:solidFill>
                  <a:srgbClr val="B4B2A9"/>
                </a:solidFill>
                <a:latin typeface="Calibri" pitchFamily="34" charset="0"/>
                <a:ea typeface="Calibri" pitchFamily="34" charset="-122"/>
                <a:cs typeface="Calibri" pitchFamily="34" charset="-120"/>
              </a:rPr>
              <a:t>State</a:t>
            </a:r>
            <a:endParaRPr lang="en-US" sz="1300" dirty="0"/>
          </a:p>
        </p:txBody>
      </p:sp>
      <p:sp>
        <p:nvSpPr>
          <p:cNvPr id="21" name="!!str0"/>
          <p:cNvSpPr txBox="1"/>
          <p:nvPr/>
        </p:nvSpPr>
        <p:spPr>
          <a:xfrm>
            <a:off x="5486400" y="2505456"/>
            <a:ext cx="1325880" cy="457200"/>
          </a:xfrm>
          <a:prstGeom prst="rect">
            <a:avLst/>
          </a:prstGeom>
          <a:noFill/>
          <a:ln/>
        </p:spPr>
        <p:txBody>
          <a:bodyPr wrap="square" lIns="0" tIns="0" rIns="0" bIns="0" rtlCol="0" anchor="t"/>
          <a:lstStyle/>
          <a:p>
            <a:pPr algn="l" indent="0" marL="0">
              <a:buNone/>
            </a:pPr>
            <a:r>
              <a:rPr lang="en-US" sz="1150" b="1" dirty="0">
                <a:solidFill>
                  <a:srgbClr val="B4B2A9"/>
                </a:solidFill>
                <a:latin typeface="Consolas" pitchFamily="34" charset="0"/>
                <a:ea typeface="Consolas" pitchFamily="34" charset="-122"/>
                <a:cs typeface="Consolas" pitchFamily="34" charset="-120"/>
              </a:rPr>
              <a:t>ticket</a:t>
            </a:r>
            <a:endParaRPr lang="en-US" sz="1400" dirty="0"/>
          </a:p>
          <a:p>
            <a:pPr algn="l" indent="0" marL="0">
              <a:buNone/>
            </a:pPr>
            <a:r>
              <a:rPr lang="en-US" sz="1000" dirty="0">
                <a:solidFill>
                  <a:srgbClr val="B4B2A9"/>
                </a:solidFill>
                <a:latin typeface="Calibri" pitchFamily="34" charset="0"/>
                <a:ea typeface="Calibri" pitchFamily="34" charset="-122"/>
                <a:cs typeface="Calibri" pitchFamily="34" charset="-120"/>
              </a:rPr>
              <a:t>input</a:t>
            </a:r>
            <a:endParaRPr lang="en-US" sz="1400" dirty="0"/>
          </a:p>
        </p:txBody>
      </p:sp>
      <p:sp>
        <p:nvSpPr>
          <p:cNvPr id="22" name="!!str1"/>
          <p:cNvSpPr txBox="1"/>
          <p:nvPr/>
        </p:nvSpPr>
        <p:spPr>
          <a:xfrm>
            <a:off x="5486400" y="2980944"/>
            <a:ext cx="1325880" cy="457200"/>
          </a:xfrm>
          <a:prstGeom prst="rect">
            <a:avLst/>
          </a:prstGeom>
          <a:noFill/>
          <a:ln/>
        </p:spPr>
        <p:txBody>
          <a:bodyPr wrap="square" lIns="0" tIns="0" rIns="0" bIns="0" rtlCol="0" anchor="t"/>
          <a:lstStyle/>
          <a:p>
            <a:pPr algn="l" indent="0" marL="0">
              <a:buNone/>
            </a:pPr>
            <a:r>
              <a:rPr lang="en-US" sz="1150" b="1" dirty="0">
                <a:solidFill>
                  <a:srgbClr val="B4B2A9"/>
                </a:solidFill>
                <a:latin typeface="Consolas" pitchFamily="34" charset="0"/>
                <a:ea typeface="Consolas" pitchFamily="34" charset="-122"/>
                <a:cs typeface="Consolas" pitchFamily="34" charset="-120"/>
              </a:rPr>
              <a:t>result</a:t>
            </a:r>
            <a:endParaRPr lang="en-US" sz="1400" dirty="0"/>
          </a:p>
          <a:p>
            <a:pPr algn="l" indent="0" marL="0">
              <a:buNone/>
            </a:pPr>
            <a:r>
              <a:rPr lang="en-US" sz="1000" dirty="0">
                <a:solidFill>
                  <a:srgbClr val="B4B2A9"/>
                </a:solidFill>
                <a:latin typeface="Calibri" pitchFamily="34" charset="0"/>
                <a:ea typeface="Calibri" pitchFamily="34" charset="-122"/>
                <a:cs typeface="Calibri" pitchFamily="34" charset="-120"/>
              </a:rPr>
              <a:t>by worker</a:t>
            </a:r>
            <a:endParaRPr lang="en-US" sz="1400" dirty="0"/>
          </a:p>
        </p:txBody>
      </p:sp>
      <p:sp>
        <p:nvSpPr>
          <p:cNvPr id="23" name="!!str2"/>
          <p:cNvSpPr txBox="1"/>
          <p:nvPr/>
        </p:nvSpPr>
        <p:spPr>
          <a:xfrm>
            <a:off x="5486400" y="3456432"/>
            <a:ext cx="1325880" cy="457200"/>
          </a:xfrm>
          <a:prstGeom prst="rect">
            <a:avLst/>
          </a:prstGeom>
          <a:noFill/>
          <a:ln/>
        </p:spPr>
        <p:txBody>
          <a:bodyPr wrap="square" lIns="0" tIns="0" rIns="0" bIns="0" rtlCol="0" anchor="t"/>
          <a:lstStyle/>
          <a:p>
            <a:pPr algn="l" indent="0" marL="0">
              <a:buNone/>
            </a:pPr>
            <a:r>
              <a:rPr lang="en-US" sz="1150" b="1" dirty="0">
                <a:solidFill>
                  <a:srgbClr val="B4B2A9"/>
                </a:solidFill>
                <a:latin typeface="Consolas" pitchFamily="34" charset="0"/>
                <a:ea typeface="Consolas" pitchFamily="34" charset="-122"/>
                <a:cs typeface="Consolas" pitchFamily="34" charset="-120"/>
              </a:rPr>
              <a:t>status</a:t>
            </a:r>
            <a:endParaRPr lang="en-US" sz="1400" dirty="0"/>
          </a:p>
          <a:p>
            <a:pPr algn="l" indent="0" marL="0">
              <a:buNone/>
            </a:pPr>
            <a:r>
              <a:rPr lang="en-US" sz="1000" dirty="0">
                <a:solidFill>
                  <a:srgbClr val="B4B2A9"/>
                </a:solidFill>
                <a:latin typeface="Calibri" pitchFamily="34" charset="0"/>
                <a:ea typeface="Calibri" pitchFamily="34" charset="-122"/>
                <a:cs typeface="Calibri" pitchFamily="34" charset="-120"/>
              </a:rPr>
              <a:t>by checker</a:t>
            </a:r>
            <a:endParaRPr lang="en-US" sz="1400" dirty="0"/>
          </a:p>
        </p:txBody>
      </p:sp>
      <p:sp>
        <p:nvSpPr>
          <p:cNvPr id="24" name="!!panel"/>
          <p:cNvSpPr/>
          <p:nvPr/>
        </p:nvSpPr>
        <p:spPr>
          <a:xfrm>
            <a:off x="7269480" y="1463040"/>
            <a:ext cx="4507992" cy="3977640"/>
          </a:xfrm>
          <a:prstGeom prst="roundRect">
            <a:avLst>
              <a:gd name="adj" fmla="val 1839"/>
            </a:avLst>
          </a:prstGeom>
          <a:solidFill>
            <a:srgbClr val="FFFFFF"/>
          </a:solidFill>
          <a:ln w="12700">
            <a:solidFill>
              <a:srgbClr val="D3D1C7"/>
            </a:solidFill>
            <a:prstDash val="solid"/>
          </a:ln>
        </p:spPr>
        <p:txBody>
          <a:bodyPr wrap="square" lIns="50800" tIns="50800" rIns="50800" bIns="50800" rtlCol="0" anchor="ctr"/>
          <a:lstStyle/>
          <a:p>
            <a:pPr algn="ctr" indent="0" marL="0">
              <a:buNone/>
            </a:pPr>
            <a:endParaRPr lang="en-US" sz="1200" dirty="0"/>
          </a:p>
        </p:txBody>
      </p:sp>
      <p:sp>
        <p:nvSpPr>
          <p:cNvPr id="25" name="!!ptitle"/>
          <p:cNvSpPr txBox="1"/>
          <p:nvPr/>
        </p:nvSpPr>
        <p:spPr>
          <a:xfrm>
            <a:off x="7543800" y="1645920"/>
            <a:ext cx="3959352" cy="411480"/>
          </a:xfrm>
          <a:prstGeom prst="rect">
            <a:avLst/>
          </a:prstGeom>
          <a:noFill/>
          <a:ln/>
        </p:spPr>
        <p:txBody>
          <a:bodyPr wrap="square" lIns="0" tIns="0" rIns="0" bIns="0" rtlCol="0" anchor="ctr"/>
          <a:lstStyle/>
          <a:p>
            <a:pPr algn="l" indent="0" marL="0">
              <a:buNone/>
            </a:pPr>
            <a:r>
              <a:rPr lang="en-US" sz="2000" b="1" dirty="0">
                <a:solidFill>
                  <a:srgbClr val="3C3489"/>
                </a:solidFill>
                <a:latin typeface="Calibri" pitchFamily="34" charset="0"/>
                <a:ea typeface="Calibri" pitchFamily="34" charset="-122"/>
                <a:cs typeface="Calibri" pitchFamily="34" charset="-120"/>
              </a:rPr>
              <a:t>Node</a:t>
            </a:r>
            <a:endParaRPr lang="en-US" sz="2000" dirty="0"/>
          </a:p>
        </p:txBody>
      </p:sp>
      <p:sp>
        <p:nvSpPr>
          <p:cNvPr id="26" name="!!pl1"/>
          <p:cNvSpPr txBox="1"/>
          <p:nvPr/>
        </p:nvSpPr>
        <p:spPr>
          <a:xfrm>
            <a:off x="7543800" y="2176272"/>
            <a:ext cx="3959352" cy="237744"/>
          </a:xfrm>
          <a:prstGeom prst="rect">
            <a:avLst/>
          </a:prstGeom>
          <a:noFill/>
          <a:ln/>
        </p:spPr>
        <p:txBody>
          <a:bodyPr wrap="square" lIns="0" tIns="0" rIns="0" bIns="0" rtlCol="0" anchor="t"/>
          <a:lstStyle/>
          <a:p>
            <a:pPr algn="l" indent="0" marL="0">
              <a:buNone/>
            </a:pPr>
            <a:r>
              <a:rPr lang="en-US" sz="1050" b="1" dirty="0">
                <a:solidFill>
                  <a:srgbClr val="5F5E5A"/>
                </a:solidFill>
                <a:latin typeface="Calibri" pitchFamily="34" charset="0"/>
                <a:ea typeface="Calibri" pitchFamily="34" charset="-122"/>
                <a:cs typeface="Calibri" pitchFamily="34" charset="-120"/>
              </a:rPr>
              <a:t>WHAT IT IS</a:t>
            </a:r>
            <a:endParaRPr lang="en-US" sz="1050" dirty="0"/>
          </a:p>
        </p:txBody>
      </p:sp>
      <p:sp>
        <p:nvSpPr>
          <p:cNvPr id="27" name="!!pwhat"/>
          <p:cNvSpPr txBox="1"/>
          <p:nvPr/>
        </p:nvSpPr>
        <p:spPr>
          <a:xfrm>
            <a:off x="7543800" y="2404872"/>
            <a:ext cx="3959352" cy="566928"/>
          </a:xfrm>
          <a:prstGeom prst="rect">
            <a:avLst/>
          </a:prstGeom>
          <a:noFill/>
          <a:ln/>
        </p:spPr>
        <p:txBody>
          <a:bodyPr wrap="square" lIns="0" tIns="0" rIns="0" bIns="0" rtlCol="0" anchor="t"/>
          <a:lstStyle/>
          <a:p>
            <a:pPr algn="l" indent="0" marL="0">
              <a:buNone/>
            </a:pPr>
            <a:r>
              <a:rPr lang="en-US" sz="1350" dirty="0">
                <a:solidFill>
                  <a:srgbClr val="2C2C2A"/>
                </a:solidFill>
                <a:latin typeface="Calibri" pitchFamily="34" charset="0"/>
                <a:ea typeface="Calibri" pitchFamily="34" charset="-122"/>
                <a:cs typeface="Calibri" pitchFamily="34" charset="-120"/>
              </a:rPr>
              <a:t>One step of work: a function that reads the state and returns what it changed.</a:t>
            </a:r>
            <a:endParaRPr lang="en-US" sz="1350" dirty="0"/>
          </a:p>
        </p:txBody>
      </p:sp>
      <p:sp>
        <p:nvSpPr>
          <p:cNvPr id="28" name="!!pl2"/>
          <p:cNvSpPr txBox="1"/>
          <p:nvPr/>
        </p:nvSpPr>
        <p:spPr>
          <a:xfrm>
            <a:off x="7543800" y="3017520"/>
            <a:ext cx="3959352" cy="237744"/>
          </a:xfrm>
          <a:prstGeom prst="rect">
            <a:avLst/>
          </a:prstGeom>
          <a:noFill/>
          <a:ln/>
        </p:spPr>
        <p:txBody>
          <a:bodyPr wrap="square" lIns="0" tIns="0" rIns="0" bIns="0" rtlCol="0" anchor="t"/>
          <a:lstStyle/>
          <a:p>
            <a:pPr algn="l" indent="0" marL="0">
              <a:buNone/>
            </a:pPr>
            <a:r>
              <a:rPr lang="en-US" sz="1050" b="1" dirty="0">
                <a:solidFill>
                  <a:srgbClr val="5F5E5A"/>
                </a:solidFill>
                <a:latin typeface="Calibri" pitchFamily="34" charset="0"/>
                <a:ea typeface="Calibri" pitchFamily="34" charset="-122"/>
                <a:cs typeface="Calibri" pitchFamily="34" charset="-120"/>
              </a:rPr>
              <a:t>IN THIS GRAPH</a:t>
            </a:r>
            <a:endParaRPr lang="en-US" sz="1050" dirty="0"/>
          </a:p>
        </p:txBody>
      </p:sp>
      <p:sp>
        <p:nvSpPr>
          <p:cNvPr id="29" name="!!phere"/>
          <p:cNvSpPr txBox="1"/>
          <p:nvPr/>
        </p:nvSpPr>
        <p:spPr>
          <a:xfrm>
            <a:off x="7543800" y="3246120"/>
            <a:ext cx="3959352" cy="566928"/>
          </a:xfrm>
          <a:prstGeom prst="rect">
            <a:avLst/>
          </a:prstGeom>
          <a:noFill/>
          <a:ln/>
        </p:spPr>
        <p:txBody>
          <a:bodyPr wrap="square" lIns="0" tIns="0" rIns="0" bIns="0" rtlCol="0" anchor="t"/>
          <a:lstStyle/>
          <a:p>
            <a:pPr algn="l" indent="0" marL="0">
              <a:buNone/>
            </a:pPr>
            <a:r>
              <a:rPr lang="en-US" sz="1300" dirty="0">
                <a:solidFill>
                  <a:srgbClr val="2C2C2A"/>
                </a:solidFill>
                <a:latin typeface="Calibri" pitchFamily="34" charset="0"/>
                <a:ea typeface="Calibri" pitchFamily="34" charset="-122"/>
                <a:cs typeface="Calibri" pitchFamily="34" charset="-120"/>
              </a:rPr>
              <a:t>worker does the job; checker verifies it. A node can be an LLM agent, a tool call or plain code.</a:t>
            </a:r>
            <a:endParaRPr lang="en-US" sz="1300" dirty="0"/>
          </a:p>
        </p:txBody>
      </p:sp>
      <p:sp>
        <p:nvSpPr>
          <p:cNvPr id="30" name="!!plike"/>
          <p:cNvSpPr/>
          <p:nvPr/>
        </p:nvSpPr>
        <p:spPr>
          <a:xfrm>
            <a:off x="7543800" y="3886200"/>
            <a:ext cx="3959352" cy="457200"/>
          </a:xfrm>
          <a:prstGeom prst="roundRect">
            <a:avLst>
              <a:gd name="adj" fmla="val 12000"/>
            </a:avLst>
          </a:prstGeom>
          <a:solidFill>
            <a:srgbClr val="E1F5EE"/>
          </a:solidFill>
          <a:ln w="12700">
            <a:solidFill>
              <a:srgbClr val="0F6E56"/>
            </a:solidFill>
            <a:prstDash val="solid"/>
          </a:ln>
        </p:spPr>
        <p:txBody>
          <a:bodyPr wrap="square" lIns="101600" tIns="101600" rIns="101600" bIns="101600" rtlCol="0" anchor="ctr"/>
          <a:lstStyle/>
          <a:p>
            <a:pPr algn="l" indent="0" marL="0">
              <a:buNone/>
            </a:pPr>
            <a:r>
              <a:rPr lang="en-US" sz="1250" b="1" dirty="0">
                <a:solidFill>
                  <a:srgbClr val="085041"/>
                </a:solidFill>
                <a:latin typeface="Calibri" pitchFamily="34" charset="0"/>
                <a:ea typeface="Calibri" pitchFamily="34" charset="-122"/>
                <a:cs typeface="Calibri" pitchFamily="34" charset="-120"/>
              </a:rPr>
              <a:t>Think of it as  </a:t>
            </a:r>
            <a:pPr algn="l" indent="0" marL="0">
              <a:buNone/>
            </a:pPr>
            <a:r>
              <a:rPr lang="en-US" sz="1250" dirty="0">
                <a:solidFill>
                  <a:srgbClr val="085041"/>
                </a:solidFill>
                <a:latin typeface="Calibri" pitchFamily="34" charset="0"/>
                <a:ea typeface="Calibri" pitchFamily="34" charset="-122"/>
                <a:cs typeface="Calibri" pitchFamily="34" charset="-120"/>
              </a:rPr>
              <a:t>A person at a desk with one job.</a:t>
            </a:r>
            <a:endParaRPr lang="en-US" sz="1250" dirty="0"/>
          </a:p>
        </p:txBody>
      </p:sp>
      <p:sp>
        <p:nvSpPr>
          <p:cNvPr id="31" name="!!pcode"/>
          <p:cNvSpPr/>
          <p:nvPr/>
        </p:nvSpPr>
        <p:spPr>
          <a:xfrm>
            <a:off x="7543800" y="4453128"/>
            <a:ext cx="3959352" cy="786384"/>
          </a:xfrm>
          <a:prstGeom prst="roundRect">
            <a:avLst>
              <a:gd name="adj" fmla="val 4651"/>
            </a:avLst>
          </a:prstGeom>
          <a:solidFill>
            <a:srgbClr val="F7F6F2"/>
          </a:solidFill>
          <a:ln w="6350">
            <a:solidFill>
              <a:srgbClr val="D3D1C7"/>
            </a:solidFill>
            <a:prstDash val="solid"/>
          </a:ln>
        </p:spPr>
        <p:txBody>
          <a:bodyPr wrap="square" lIns="101600" tIns="101600" rIns="101600" bIns="101600" rtlCol="0" anchor="ctr"/>
          <a:lstStyle/>
          <a:p>
            <a:pPr algn="l" indent="0" marL="0">
              <a:buNone/>
            </a:pPr>
            <a:r>
              <a:rPr lang="en-US" sz="1000" dirty="0">
                <a:solidFill>
                  <a:srgbClr val="2C2C2A"/>
                </a:solidFill>
                <a:latin typeface="Consolas" pitchFamily="34" charset="0"/>
                <a:ea typeface="Consolas" pitchFamily="34" charset="-122"/>
                <a:cs typeface="Consolas" pitchFamily="34" charset="-120"/>
              </a:rPr>
              <a:t>g.add_node("worker", worker)</a:t>
            </a:r>
            <a:endParaRPr lang="en-US" sz="1000" dirty="0"/>
          </a:p>
          <a:p>
            <a:pPr algn="l" indent="0" marL="0">
              <a:buNone/>
            </a:pPr>
            <a:r>
              <a:rPr lang="en-US" sz="1000" dirty="0">
                <a:solidFill>
                  <a:srgbClr val="2C2C2A"/>
                </a:solidFill>
                <a:latin typeface="Consolas" pitchFamily="34" charset="0"/>
                <a:ea typeface="Consolas" pitchFamily="34" charset="-122"/>
                <a:cs typeface="Consolas" pitchFamily="34" charset="-120"/>
              </a:rPr>
              <a:t>g.add_node("checker", checker)</a:t>
            </a:r>
            <a:endParaRPr lang="en-US" sz="1000" dirty="0"/>
          </a:p>
        </p:txBody>
      </p:sp>
      <p:sp>
        <p:nvSpPr>
          <p:cNvPr id="32" name="!!btn0">
            <a:hlinkClick action="ppaction://hlinksldjump" r:id="rId1"/>
          </p:cNvPr>
          <p:cNvSpPr/>
          <p:nvPr/>
        </p:nvSpPr>
        <p:spPr>
          <a:xfrm>
            <a:off x="411480" y="5669280"/>
            <a:ext cx="1545336" cy="420624"/>
          </a:xfrm>
          <a:prstGeom prst="roundRect">
            <a:avLst>
              <a:gd name="adj" fmla="val 50000"/>
            </a:avLst>
          </a:prstGeom>
          <a:solidFill>
            <a:srgbClr val="FFFFFF"/>
          </a:solidFill>
          <a:ln w="12700">
            <a:solidFill>
              <a:srgbClr val="534AB7"/>
            </a:solidFill>
            <a:prstDash val="solid"/>
          </a:ln>
        </p:spPr>
        <p:txBody>
          <a:bodyPr wrap="square" lIns="0" tIns="0" rIns="0" bIns="0" rtlCol="0" anchor="ctr"/>
          <a:lstStyle/>
          <a:p>
            <a:pPr algn="ctr" indent="0" marL="0">
              <a:buNone/>
            </a:pPr>
            <a:r>
              <a:rPr lang="en-US" sz="1250" u="none" dirty="0">
                <a:solidFill>
                  <a:srgbClr val="3C3489"/>
                </a:solidFill>
                <a:latin typeface="Calibri" pitchFamily="34" charset="0"/>
                <a:ea typeface="Calibri" pitchFamily="34" charset="-122"/>
                <a:cs typeface="Calibri" pitchFamily="34" charset="-120"/>
                <a:hlinkClick r:id="rId1" action="ppaction://hlinksldjump" tooltip="How to read it">
                  <a:extLst>
                    <a:ext uri="{A12FA001-AC4F-418D-AE19-62706E023703}">
                      <ahyp:hlinkClr xmlns:ahyp="http://schemas.microsoft.com/office/drawing/2018/hyperlinkcolor" val="tx"/>
                    </a:ext>
                  </a:extLst>
                </a:hlinkClick>
              </a:rPr>
              <a:t>Overview</a:t>
            </a:r>
            <a:endParaRPr lang="en-US" sz="1250" dirty="0"/>
          </a:p>
        </p:txBody>
      </p:sp>
      <p:sp>
        <p:nvSpPr>
          <p:cNvPr id="33" name="!!btn1">
            <a:hlinkClick action="ppaction://hlinksldjump" r:id="rId2"/>
          </p:cNvPr>
          <p:cNvSpPr/>
          <p:nvPr/>
        </p:nvSpPr>
        <p:spPr>
          <a:xfrm>
            <a:off x="2048256" y="5669280"/>
            <a:ext cx="1545336" cy="420624"/>
          </a:xfrm>
          <a:prstGeom prst="roundRect">
            <a:avLst>
              <a:gd name="adj" fmla="val 50000"/>
            </a:avLst>
          </a:prstGeom>
          <a:solidFill>
            <a:srgbClr val="534AB7"/>
          </a:solidFill>
          <a:ln w="12700">
            <a:solidFill>
              <a:srgbClr val="534AB7"/>
            </a:solidFill>
            <a:prstDash val="solid"/>
          </a:ln>
        </p:spPr>
        <p:txBody>
          <a:bodyPr wrap="square" lIns="0" tIns="0" rIns="0" bIns="0" rtlCol="0" anchor="ctr"/>
          <a:lstStyle/>
          <a:p>
            <a:pPr algn="ctr" indent="0" marL="0">
              <a:buNone/>
            </a:pPr>
            <a:r>
              <a:rPr lang="en-US" sz="1250" b="1" u="none" dirty="0">
                <a:solidFill>
                  <a:srgbClr val="FFFFFF"/>
                </a:solidFill>
                <a:latin typeface="Calibri" pitchFamily="34" charset="0"/>
                <a:ea typeface="Calibri" pitchFamily="34" charset="-122"/>
                <a:cs typeface="Calibri" pitchFamily="34" charset="-120"/>
                <a:hlinkClick r:id="rId2" action="ppaction://hlinksldjump" tooltip="Node">
                  <a:extLst>
                    <a:ext uri="{A12FA001-AC4F-418D-AE19-62706E023703}">
                      <ahyp:hlinkClr xmlns:ahyp="http://schemas.microsoft.com/office/drawing/2018/hyperlinkcolor" val="tx"/>
                    </a:ext>
                  </a:extLst>
                </a:hlinkClick>
              </a:rPr>
              <a:t>Node</a:t>
            </a:r>
            <a:endParaRPr lang="en-US" sz="1250" dirty="0"/>
          </a:p>
        </p:txBody>
      </p:sp>
      <p:sp>
        <p:nvSpPr>
          <p:cNvPr id="34" name="!!btn2">
            <a:hlinkClick action="ppaction://hlinksldjump" r:id="rId3"/>
          </p:cNvPr>
          <p:cNvSpPr/>
          <p:nvPr/>
        </p:nvSpPr>
        <p:spPr>
          <a:xfrm>
            <a:off x="3685032" y="5669280"/>
            <a:ext cx="1545336" cy="420624"/>
          </a:xfrm>
          <a:prstGeom prst="roundRect">
            <a:avLst>
              <a:gd name="adj" fmla="val 50000"/>
            </a:avLst>
          </a:prstGeom>
          <a:solidFill>
            <a:srgbClr val="FFFFFF"/>
          </a:solidFill>
          <a:ln w="12700">
            <a:solidFill>
              <a:srgbClr val="534AB7"/>
            </a:solidFill>
            <a:prstDash val="solid"/>
          </a:ln>
        </p:spPr>
        <p:txBody>
          <a:bodyPr wrap="square" lIns="0" tIns="0" rIns="0" bIns="0" rtlCol="0" anchor="ctr"/>
          <a:lstStyle/>
          <a:p>
            <a:pPr algn="ctr" indent="0" marL="0">
              <a:buNone/>
            </a:pPr>
            <a:r>
              <a:rPr lang="en-US" sz="1250" u="none" dirty="0">
                <a:solidFill>
                  <a:srgbClr val="3C3489"/>
                </a:solidFill>
                <a:latin typeface="Calibri" pitchFamily="34" charset="0"/>
                <a:ea typeface="Calibri" pitchFamily="34" charset="-122"/>
                <a:cs typeface="Calibri" pitchFamily="34" charset="-120"/>
                <a:hlinkClick r:id="rId3" action="ppaction://hlinksldjump" tooltip="Edge">
                  <a:extLst>
                    <a:ext uri="{A12FA001-AC4F-418D-AE19-62706E023703}">
                      <ahyp:hlinkClr xmlns:ahyp="http://schemas.microsoft.com/office/drawing/2018/hyperlinkcolor" val="tx"/>
                    </a:ext>
                  </a:extLst>
                </a:hlinkClick>
              </a:rPr>
              <a:t>Edge</a:t>
            </a:r>
            <a:endParaRPr lang="en-US" sz="1250" dirty="0"/>
          </a:p>
        </p:txBody>
      </p:sp>
      <p:sp>
        <p:nvSpPr>
          <p:cNvPr id="35" name="!!btn3">
            <a:hlinkClick action="ppaction://hlinksldjump" r:id="rId4"/>
          </p:cNvPr>
          <p:cNvSpPr/>
          <p:nvPr/>
        </p:nvSpPr>
        <p:spPr>
          <a:xfrm>
            <a:off x="5321808" y="5669280"/>
            <a:ext cx="1545336" cy="420624"/>
          </a:xfrm>
          <a:prstGeom prst="roundRect">
            <a:avLst>
              <a:gd name="adj" fmla="val 50000"/>
            </a:avLst>
          </a:prstGeom>
          <a:solidFill>
            <a:srgbClr val="FFFFFF"/>
          </a:solidFill>
          <a:ln w="12700">
            <a:solidFill>
              <a:srgbClr val="534AB7"/>
            </a:solidFill>
            <a:prstDash val="solid"/>
          </a:ln>
        </p:spPr>
        <p:txBody>
          <a:bodyPr wrap="square" lIns="0" tIns="0" rIns="0" bIns="0" rtlCol="0" anchor="ctr"/>
          <a:lstStyle/>
          <a:p>
            <a:pPr algn="ctr" indent="0" marL="0">
              <a:buNone/>
            </a:pPr>
            <a:r>
              <a:rPr lang="en-US" sz="1250" u="none" dirty="0">
                <a:solidFill>
                  <a:srgbClr val="3C3489"/>
                </a:solidFill>
                <a:latin typeface="Calibri" pitchFamily="34" charset="0"/>
                <a:ea typeface="Calibri" pitchFamily="34" charset="-122"/>
                <a:cs typeface="Calibri" pitchFamily="34" charset="-120"/>
                <a:hlinkClick r:id="rId4" action="ppaction://hlinksldjump" tooltip="Conditional edge">
                  <a:extLst>
                    <a:ext uri="{A12FA001-AC4F-418D-AE19-62706E023703}">
                      <ahyp:hlinkClr xmlns:ahyp="http://schemas.microsoft.com/office/drawing/2018/hyperlinkcolor" val="tx"/>
                    </a:ext>
                  </a:extLst>
                </a:hlinkClick>
              </a:rPr>
              <a:t>Conditional edge</a:t>
            </a:r>
            <a:endParaRPr lang="en-US" sz="1250" dirty="0"/>
          </a:p>
        </p:txBody>
      </p:sp>
      <p:sp>
        <p:nvSpPr>
          <p:cNvPr id="36" name="!!btn4">
            <a:hlinkClick action="ppaction://hlinksldjump" r:id="rId5"/>
          </p:cNvPr>
          <p:cNvSpPr/>
          <p:nvPr/>
        </p:nvSpPr>
        <p:spPr>
          <a:xfrm>
            <a:off x="6958584" y="5669280"/>
            <a:ext cx="1545336" cy="420624"/>
          </a:xfrm>
          <a:prstGeom prst="roundRect">
            <a:avLst>
              <a:gd name="adj" fmla="val 50000"/>
            </a:avLst>
          </a:prstGeom>
          <a:solidFill>
            <a:srgbClr val="FFFFFF"/>
          </a:solidFill>
          <a:ln w="12700">
            <a:solidFill>
              <a:srgbClr val="534AB7"/>
            </a:solidFill>
            <a:prstDash val="solid"/>
          </a:ln>
        </p:spPr>
        <p:txBody>
          <a:bodyPr wrap="square" lIns="0" tIns="0" rIns="0" bIns="0" rtlCol="0" anchor="ctr"/>
          <a:lstStyle/>
          <a:p>
            <a:pPr algn="ctr" indent="0" marL="0">
              <a:buNone/>
            </a:pPr>
            <a:r>
              <a:rPr lang="en-US" sz="1250" u="none" dirty="0">
                <a:solidFill>
                  <a:srgbClr val="3C3489"/>
                </a:solidFill>
                <a:latin typeface="Calibri" pitchFamily="34" charset="0"/>
                <a:ea typeface="Calibri" pitchFamily="34" charset="-122"/>
                <a:cs typeface="Calibri" pitchFamily="34" charset="-120"/>
                <a:hlinkClick r:id="rId5" action="ppaction://hlinksldjump" tooltip="State">
                  <a:extLst>
                    <a:ext uri="{A12FA001-AC4F-418D-AE19-62706E023703}">
                      <ahyp:hlinkClr xmlns:ahyp="http://schemas.microsoft.com/office/drawing/2018/hyperlinkcolor" val="tx"/>
                    </a:ext>
                  </a:extLst>
                </a:hlinkClick>
              </a:rPr>
              <a:t>State</a:t>
            </a:r>
            <a:endParaRPr lang="en-US" sz="1250" dirty="0"/>
          </a:p>
        </p:txBody>
      </p:sp>
      <p:sp>
        <p:nvSpPr>
          <p:cNvPr id="37" name="!!btn5">
            <a:hlinkClick action="ppaction://hlinksldjump" r:id="rId6"/>
          </p:cNvPr>
          <p:cNvSpPr/>
          <p:nvPr/>
        </p:nvSpPr>
        <p:spPr>
          <a:xfrm>
            <a:off x="8595360" y="5669280"/>
            <a:ext cx="1545336" cy="420624"/>
          </a:xfrm>
          <a:prstGeom prst="roundRect">
            <a:avLst>
              <a:gd name="adj" fmla="val 50000"/>
            </a:avLst>
          </a:prstGeom>
          <a:solidFill>
            <a:srgbClr val="FFFFFF"/>
          </a:solidFill>
          <a:ln w="12700">
            <a:solidFill>
              <a:srgbClr val="534AB7"/>
            </a:solidFill>
            <a:prstDash val="solid"/>
          </a:ln>
        </p:spPr>
        <p:txBody>
          <a:bodyPr wrap="square" lIns="0" tIns="0" rIns="0" bIns="0" rtlCol="0" anchor="ctr"/>
          <a:lstStyle/>
          <a:p>
            <a:pPr algn="ctr" indent="0" marL="0">
              <a:buNone/>
            </a:pPr>
            <a:r>
              <a:rPr lang="en-US" sz="1250" u="none" dirty="0">
                <a:solidFill>
                  <a:srgbClr val="3C3489"/>
                </a:solidFill>
                <a:latin typeface="Calibri" pitchFamily="34" charset="0"/>
                <a:ea typeface="Calibri" pitchFamily="34" charset="-122"/>
                <a:cs typeface="Calibri" pitchFamily="34" charset="-120"/>
                <a:hlinkClick r:id="rId6" action="ppaction://hlinksldjump" tooltip="Subgraph">
                  <a:extLst>
                    <a:ext uri="{A12FA001-AC4F-418D-AE19-62706E023703}">
                      <ahyp:hlinkClr xmlns:ahyp="http://schemas.microsoft.com/office/drawing/2018/hyperlinkcolor" val="tx"/>
                    </a:ext>
                  </a:extLst>
                </a:hlinkClick>
              </a:rPr>
              <a:t>Subgraph</a:t>
            </a:r>
            <a:endParaRPr lang="en-US" sz="1250" dirty="0"/>
          </a:p>
        </p:txBody>
      </p:sp>
      <p:sp>
        <p:nvSpPr>
          <p:cNvPr id="38" name="!!btn6">
            <a:hlinkClick action="ppaction://hlinksldjump" r:id="rId7"/>
          </p:cNvPr>
          <p:cNvSpPr/>
          <p:nvPr/>
        </p:nvSpPr>
        <p:spPr>
          <a:xfrm>
            <a:off x="10232136" y="5669280"/>
            <a:ext cx="1545336" cy="420624"/>
          </a:xfrm>
          <a:prstGeom prst="roundRect">
            <a:avLst>
              <a:gd name="adj" fmla="val 50000"/>
            </a:avLst>
          </a:prstGeom>
          <a:solidFill>
            <a:srgbClr val="FFFFFF"/>
          </a:solidFill>
          <a:ln w="12700">
            <a:solidFill>
              <a:srgbClr val="534AB7"/>
            </a:solidFill>
            <a:prstDash val="solid"/>
          </a:ln>
        </p:spPr>
        <p:txBody>
          <a:bodyPr wrap="square" lIns="0" tIns="0" rIns="0" bIns="0" rtlCol="0" anchor="ctr"/>
          <a:lstStyle/>
          <a:p>
            <a:pPr algn="ctr" indent="0" marL="0">
              <a:buNone/>
            </a:pPr>
            <a:r>
              <a:rPr lang="en-US" sz="1250" u="none" dirty="0">
                <a:solidFill>
                  <a:srgbClr val="3C3489"/>
                </a:solidFill>
                <a:latin typeface="Calibri" pitchFamily="34" charset="0"/>
                <a:ea typeface="Calibri" pitchFamily="34" charset="-122"/>
                <a:cs typeface="Calibri" pitchFamily="34" charset="-120"/>
                <a:hlinkClick r:id="rId7" action="ppaction://hlinksldjump" tooltip="Checkpointer">
                  <a:extLst>
                    <a:ext uri="{A12FA001-AC4F-418D-AE19-62706E023703}">
                      <ahyp:hlinkClr xmlns:ahyp="http://schemas.microsoft.com/office/drawing/2018/hyperlinkcolor" val="tx"/>
                    </a:ext>
                  </a:extLst>
                </a:hlinkClick>
              </a:rPr>
              <a:t>Checkpointer</a:t>
            </a:r>
            <a:endParaRPr lang="en-US" sz="1250" dirty="0"/>
          </a:p>
        </p:txBody>
      </p:sp>
      <p:sp>
        <p:nvSpPr>
          <p:cNvPr id="25" name="Slide Number Placeholder 0"/>
          <p:cNvSpPr>
            <a:spLocks noGrp="1"/>
          </p:cNvSpPr>
          <p:nvPr>
            <p:ph type="sldNum" sz="quarter" idx="4294967295"/>
          </p:nvPr>
        </p:nvSpPr>
        <p:spPr>
          <a:xfrm>
            <a:off x="5641848" y="6382512"/>
            <a:ext cx="914400" cy="201168"/>
          </a:xfrm>
          <a:prstGeom prst="rect">
            <a:avLst/>
          </a:prstGeom>
          <a:extLst>
            <a:ext uri="{C572A759-6A51-4108-AA02-DFA0A04FC94B}">
              <ma14:wrappingTextBoxFlag xmlns:ma14="http://schemas.microsoft.com/office/mac/drawingml/2011/main" val="0"/>
            </a:ext>
          </a:extLst>
        </p:spPr>
        <p:txBody>
          <a:bodyPr/>
          <a:lstStyle>
            <a:lvl1pPr>
              <a:defRPr sz="1000">
                <a:solidFill>
                  <a:srgbClr val="595959"/>
                </a:solidFill>
                <a:latin typeface="Arial"/>
                <a:ea typeface="Arial"/>
                <a:cs typeface="Arial"/>
              </a:defRPr>
            </a:lvl1pPr>
          </a:lstStyle>
          <a:p>
            <a:pPr algn="ctr"/>
            <a:fld id="{F7021451-1387-4CA6-816F-3879F97B5CBC}" type="slidenum">
              <a:rPr b="0" lang="en-US"/>
              <a:t>6</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700">
        <p159:morph option="byObject"/>
      </p:transition>
    </mc:Choice>
    <mc:Fallback>
      <p:transition spd="slow">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itle"/>
          <p:cNvSpPr txBox="1"/>
          <p:nvPr/>
        </p:nvSpPr>
        <p:spPr>
          <a:xfrm>
            <a:off x="411480" y="201168"/>
            <a:ext cx="11338560" cy="530352"/>
          </a:xfrm>
          <a:prstGeom prst="rect">
            <a:avLst/>
          </a:prstGeom>
          <a:noFill/>
          <a:ln/>
        </p:spPr>
        <p:txBody>
          <a:bodyPr wrap="square" lIns="0" tIns="0" rIns="0" bIns="0" rtlCol="0" anchor="b"/>
          <a:lstStyle/>
          <a:p>
            <a:pPr algn="l" indent="0" marL="0">
              <a:buNone/>
            </a:pPr>
            <a:r>
              <a:rPr lang="en-US" sz="2600" b="1" dirty="0">
                <a:solidFill>
                  <a:srgbClr val="1A1A1A"/>
                </a:solidFill>
                <a:latin typeface="Calibri" pitchFamily="34" charset="0"/>
                <a:ea typeface="Calibri" pitchFamily="34" charset="-122"/>
                <a:cs typeface="Calibri" pitchFamily="34" charset="-120"/>
              </a:rPr>
              <a:t>Reading the Graph: What Each Part Does</a:t>
            </a:r>
            <a:endParaRPr lang="en-US" sz="2600" dirty="0"/>
          </a:p>
        </p:txBody>
      </p:sp>
      <p:sp>
        <p:nvSpPr>
          <p:cNvPr id="3" name="!!rule"/>
          <p:cNvSpPr/>
          <p:nvPr/>
        </p:nvSpPr>
        <p:spPr>
          <a:xfrm>
            <a:off x="411480" y="804672"/>
            <a:ext cx="11365992" cy="914"/>
          </a:xfrm>
          <a:prstGeom prst="line">
            <a:avLst/>
          </a:prstGeom>
          <a:noFill/>
          <a:ln w="9525">
            <a:solidFill>
              <a:srgbClr val="7F7F7F"/>
            </a:solidFill>
            <a:prstDash val="solid"/>
          </a:ln>
        </p:spPr>
        <p:txBody>
          <a:bodyPr/>
          <a:p/>
        </p:txBody>
      </p:sp>
      <p:sp>
        <p:nvSpPr>
          <p:cNvPr id="4" name="!!lead"/>
          <p:cNvSpPr txBox="1"/>
          <p:nvPr/>
        </p:nvSpPr>
        <p:spPr>
          <a:xfrm>
            <a:off x="411480" y="886968"/>
            <a:ext cx="11338560" cy="438912"/>
          </a:xfrm>
          <a:prstGeom prst="rect">
            <a:avLst/>
          </a:prstGeom>
          <a:noFill/>
          <a:ln/>
        </p:spPr>
        <p:txBody>
          <a:bodyPr wrap="square" lIns="0" tIns="0" rIns="0" bIns="0" rtlCol="0" anchor="t"/>
          <a:lstStyle/>
          <a:p>
            <a:pPr indent="0" marL="0">
              <a:buNone/>
            </a:pPr>
            <a:r>
              <a:rPr lang="en-US" sz="1400" dirty="0">
                <a:solidFill>
                  <a:srgbClr val="404040"/>
                </a:solidFill>
                <a:latin typeface="Arial" pitchFamily="34" charset="0"/>
                <a:ea typeface="Arial" pitchFamily="34" charset="-122"/>
                <a:cs typeface="Arial" pitchFamily="34" charset="-120"/>
              </a:rPr>
              <a:t>The same graph as the last slide, one part at a time. Click a button to see what that part does, in plain words and in code.</a:t>
            </a:r>
            <a:endParaRPr lang="en-US" sz="1400" dirty="0"/>
          </a:p>
        </p:txBody>
      </p:sp>
      <p:sp>
        <p:nvSpPr>
          <p:cNvPr id="5" name="!!gs"/>
          <p:cNvSpPr/>
          <p:nvPr/>
        </p:nvSpPr>
        <p:spPr>
          <a:xfrm>
            <a:off x="3108960" y="1572768"/>
            <a:ext cx="1005840" cy="329184"/>
          </a:xfrm>
          <a:prstGeom prst="roundRect">
            <a:avLst>
              <a:gd name="adj" fmla="val 50000"/>
            </a:avLst>
          </a:prstGeom>
          <a:solidFill>
            <a:srgbClr val="FAFAF7"/>
          </a:solidFill>
          <a:ln w="12700">
            <a:solidFill>
              <a:srgbClr val="E3E1D8"/>
            </a:solidFill>
            <a:prstDash val="solid"/>
          </a:ln>
        </p:spPr>
        <p:txBody>
          <a:bodyPr wrap="square" lIns="50800" tIns="50800" rIns="50800" bIns="50800" rtlCol="0" anchor="ctr"/>
          <a:lstStyle/>
          <a:p>
            <a:pPr algn="ctr" indent="0" marL="0">
              <a:buNone/>
            </a:pPr>
            <a:r>
              <a:rPr lang="en-US" sz="1100" b="1" dirty="0">
                <a:solidFill>
                  <a:srgbClr val="B4B2A9"/>
                </a:solidFill>
                <a:latin typeface="Consolas" pitchFamily="34" charset="0"/>
                <a:ea typeface="Consolas" pitchFamily="34" charset="-122"/>
                <a:cs typeface="Consolas" pitchFamily="34" charset="-120"/>
              </a:rPr>
              <a:t>START</a:t>
            </a:r>
            <a:endParaRPr lang="en-US" sz="1100" dirty="0"/>
          </a:p>
        </p:txBody>
      </p:sp>
      <p:sp>
        <p:nvSpPr>
          <p:cNvPr id="6" name="!!e1"/>
          <p:cNvSpPr/>
          <p:nvPr/>
        </p:nvSpPr>
        <p:spPr>
          <a:xfrm>
            <a:off x="3611880" y="1901952"/>
            <a:ext cx="914" cy="219456"/>
          </a:xfrm>
          <a:prstGeom prst="line">
            <a:avLst/>
          </a:prstGeom>
          <a:noFill/>
          <a:ln w="31750">
            <a:solidFill>
              <a:srgbClr val="5F5E5A"/>
            </a:solidFill>
            <a:prstDash val="solid"/>
            <a:tailEnd type="triangle"/>
          </a:ln>
        </p:spPr>
        <p:txBody>
          <a:bodyPr/>
          <a:p/>
        </p:txBody>
      </p:sp>
      <p:sp>
        <p:nvSpPr>
          <p:cNvPr id="7" name="!!gw"/>
          <p:cNvSpPr/>
          <p:nvPr/>
        </p:nvSpPr>
        <p:spPr>
          <a:xfrm>
            <a:off x="2606040" y="2121408"/>
            <a:ext cx="2011680" cy="731520"/>
          </a:xfrm>
          <a:prstGeom prst="roundRect">
            <a:avLst>
              <a:gd name="adj" fmla="val 10000"/>
            </a:avLst>
          </a:prstGeom>
          <a:solidFill>
            <a:srgbClr val="FAFAF7"/>
          </a:solidFill>
          <a:ln w="12700">
            <a:solidFill>
              <a:srgbClr val="E3E1D8"/>
            </a:solidFill>
            <a:prstDash val="solid"/>
          </a:ln>
        </p:spPr>
        <p:txBody>
          <a:bodyPr wrap="square" lIns="50800" tIns="50800" rIns="50800" bIns="50800" rtlCol="0" anchor="ctr"/>
          <a:lstStyle/>
          <a:p>
            <a:pPr algn="ctr" indent="0" marL="0">
              <a:buNone/>
            </a:pPr>
            <a:r>
              <a:rPr lang="en-US" sz="1500" b="1" dirty="0">
                <a:solidFill>
                  <a:srgbClr val="B4B2A9"/>
                </a:solidFill>
                <a:latin typeface="Calibri" pitchFamily="34" charset="0"/>
                <a:ea typeface="Calibri" pitchFamily="34" charset="-122"/>
                <a:cs typeface="Calibri" pitchFamily="34" charset="-120"/>
              </a:rPr>
              <a:t>worker</a:t>
            </a:r>
            <a:endParaRPr lang="en-US" sz="1200" dirty="0"/>
          </a:p>
          <a:p>
            <a:pPr algn="ctr" indent="0" marL="0">
              <a:buNone/>
            </a:pPr>
            <a:r>
              <a:rPr lang="en-US" sz="1100" dirty="0">
                <a:solidFill>
                  <a:srgbClr val="B4B2A9"/>
                </a:solidFill>
                <a:latin typeface="Calibri" pitchFamily="34" charset="0"/>
                <a:ea typeface="Calibri" pitchFamily="34" charset="-122"/>
                <a:cs typeface="Calibri" pitchFamily="34" charset="-120"/>
              </a:rPr>
              <a:t>does the job</a:t>
            </a:r>
            <a:endParaRPr lang="en-US" sz="1200" dirty="0"/>
          </a:p>
        </p:txBody>
      </p:sp>
      <p:sp>
        <p:nvSpPr>
          <p:cNvPr id="8" name="!!e2"/>
          <p:cNvSpPr/>
          <p:nvPr/>
        </p:nvSpPr>
        <p:spPr>
          <a:xfrm>
            <a:off x="3611880" y="2852928"/>
            <a:ext cx="914" cy="411480"/>
          </a:xfrm>
          <a:prstGeom prst="line">
            <a:avLst/>
          </a:prstGeom>
          <a:noFill/>
          <a:ln w="31750">
            <a:solidFill>
              <a:srgbClr val="5F5E5A"/>
            </a:solidFill>
            <a:prstDash val="solid"/>
            <a:tailEnd type="triangle"/>
          </a:ln>
        </p:spPr>
        <p:txBody>
          <a:bodyPr/>
          <a:p/>
        </p:txBody>
      </p:sp>
      <p:sp>
        <p:nvSpPr>
          <p:cNvPr id="9" name="!!gc"/>
          <p:cNvSpPr/>
          <p:nvPr/>
        </p:nvSpPr>
        <p:spPr>
          <a:xfrm>
            <a:off x="2606040" y="3264408"/>
            <a:ext cx="2011680" cy="731520"/>
          </a:xfrm>
          <a:prstGeom prst="roundRect">
            <a:avLst>
              <a:gd name="adj" fmla="val 10000"/>
            </a:avLst>
          </a:prstGeom>
          <a:solidFill>
            <a:srgbClr val="FAFAF7"/>
          </a:solidFill>
          <a:ln w="12700">
            <a:solidFill>
              <a:srgbClr val="E3E1D8"/>
            </a:solidFill>
            <a:prstDash val="solid"/>
          </a:ln>
        </p:spPr>
        <p:txBody>
          <a:bodyPr wrap="square" lIns="50800" tIns="50800" rIns="50800" bIns="50800" rtlCol="0" anchor="ctr"/>
          <a:lstStyle/>
          <a:p>
            <a:pPr algn="ctr" indent="0" marL="0">
              <a:buNone/>
            </a:pPr>
            <a:r>
              <a:rPr lang="en-US" sz="1500" b="1" dirty="0">
                <a:solidFill>
                  <a:srgbClr val="B4B2A9"/>
                </a:solidFill>
                <a:latin typeface="Calibri" pitchFamily="34" charset="0"/>
                <a:ea typeface="Calibri" pitchFamily="34" charset="-122"/>
                <a:cs typeface="Calibri" pitchFamily="34" charset="-120"/>
              </a:rPr>
              <a:t>checker</a:t>
            </a:r>
            <a:endParaRPr lang="en-US" sz="1200" dirty="0"/>
          </a:p>
          <a:p>
            <a:pPr algn="ctr" indent="0" marL="0">
              <a:buNone/>
            </a:pPr>
            <a:r>
              <a:rPr lang="en-US" sz="1100" dirty="0">
                <a:solidFill>
                  <a:srgbClr val="B4B2A9"/>
                </a:solidFill>
                <a:latin typeface="Calibri" pitchFamily="34" charset="0"/>
                <a:ea typeface="Calibri" pitchFamily="34" charset="-122"/>
                <a:cs typeface="Calibri" pitchFamily="34" charset="-120"/>
              </a:rPr>
              <a:t>verifies the work</a:t>
            </a:r>
            <a:endParaRPr lang="en-US" sz="1200" dirty="0"/>
          </a:p>
        </p:txBody>
      </p:sp>
      <p:sp>
        <p:nvSpPr>
          <p:cNvPr id="10" name="!!e3"/>
          <p:cNvSpPr/>
          <p:nvPr/>
        </p:nvSpPr>
        <p:spPr>
          <a:xfrm>
            <a:off x="3611880" y="3995928"/>
            <a:ext cx="914" cy="411480"/>
          </a:xfrm>
          <a:prstGeom prst="line">
            <a:avLst/>
          </a:prstGeom>
          <a:noFill/>
          <a:ln w="31750">
            <a:solidFill>
              <a:srgbClr val="5F5E5A"/>
            </a:solidFill>
            <a:prstDash val="solid"/>
            <a:tailEnd type="triangle"/>
          </a:ln>
        </p:spPr>
        <p:txBody>
          <a:bodyPr/>
          <a:p/>
        </p:txBody>
      </p:sp>
      <p:sp>
        <p:nvSpPr>
          <p:cNvPr id="11" name="!!gpass"/>
          <p:cNvSpPr txBox="1"/>
          <p:nvPr/>
        </p:nvSpPr>
        <p:spPr>
          <a:xfrm>
            <a:off x="3703320" y="4050792"/>
            <a:ext cx="548640" cy="274320"/>
          </a:xfrm>
          <a:prstGeom prst="rect">
            <a:avLst/>
          </a:prstGeom>
          <a:noFill/>
          <a:ln/>
        </p:spPr>
        <p:txBody>
          <a:bodyPr wrap="square" lIns="0" tIns="0" rIns="0" bIns="0" rtlCol="0" anchor="t"/>
          <a:lstStyle/>
          <a:p>
            <a:pPr algn="l" indent="0" marL="0">
              <a:buNone/>
            </a:pPr>
            <a:r>
              <a:rPr lang="en-US" sz="1100" b="1" dirty="0">
                <a:solidFill>
                  <a:srgbClr val="085041"/>
                </a:solidFill>
                <a:latin typeface="Calibri" pitchFamily="34" charset="0"/>
                <a:ea typeface="Calibri" pitchFamily="34" charset="-122"/>
                <a:cs typeface="Calibri" pitchFamily="34" charset="-120"/>
              </a:rPr>
              <a:t>pass</a:t>
            </a:r>
            <a:endParaRPr lang="en-US" sz="1100" dirty="0"/>
          </a:p>
        </p:txBody>
      </p:sp>
      <p:sp>
        <p:nvSpPr>
          <p:cNvPr id="12" name="!!gend"/>
          <p:cNvSpPr/>
          <p:nvPr/>
        </p:nvSpPr>
        <p:spPr>
          <a:xfrm>
            <a:off x="3108960" y="4407408"/>
            <a:ext cx="1005840" cy="329184"/>
          </a:xfrm>
          <a:prstGeom prst="roundRect">
            <a:avLst>
              <a:gd name="adj" fmla="val 50000"/>
            </a:avLst>
          </a:prstGeom>
          <a:solidFill>
            <a:srgbClr val="FAFAF7"/>
          </a:solidFill>
          <a:ln w="12700">
            <a:solidFill>
              <a:srgbClr val="E3E1D8"/>
            </a:solidFill>
            <a:prstDash val="solid"/>
          </a:ln>
        </p:spPr>
        <p:txBody>
          <a:bodyPr wrap="square" lIns="50800" tIns="50800" rIns="50800" bIns="50800" rtlCol="0" anchor="ctr"/>
          <a:lstStyle/>
          <a:p>
            <a:pPr algn="ctr" indent="0" marL="0">
              <a:buNone/>
            </a:pPr>
            <a:r>
              <a:rPr lang="en-US" sz="1100" b="1" dirty="0">
                <a:solidFill>
                  <a:srgbClr val="B4B2A9"/>
                </a:solidFill>
                <a:latin typeface="Consolas" pitchFamily="34" charset="0"/>
                <a:ea typeface="Consolas" pitchFamily="34" charset="-122"/>
                <a:cs typeface="Consolas" pitchFamily="34" charset="-120"/>
              </a:rPr>
              <a:t>END</a:t>
            </a:r>
            <a:endParaRPr lang="en-US" sz="1100" dirty="0"/>
          </a:p>
        </p:txBody>
      </p:sp>
      <p:sp>
        <p:nvSpPr>
          <p:cNvPr id="13" name="!!gf1"/>
          <p:cNvSpPr/>
          <p:nvPr/>
        </p:nvSpPr>
        <p:spPr>
          <a:xfrm flipH="1">
            <a:off x="2103120" y="3630168"/>
            <a:ext cx="502920" cy="914"/>
          </a:xfrm>
          <a:prstGeom prst="line">
            <a:avLst/>
          </a:prstGeom>
          <a:noFill/>
          <a:ln w="15875">
            <a:solidFill>
              <a:srgbClr val="E3E1D8"/>
            </a:solidFill>
            <a:prstDash val="dash"/>
          </a:ln>
        </p:spPr>
        <p:txBody>
          <a:bodyPr/>
          <a:p/>
        </p:txBody>
      </p:sp>
      <p:sp>
        <p:nvSpPr>
          <p:cNvPr id="14" name="!!gf2"/>
          <p:cNvSpPr/>
          <p:nvPr/>
        </p:nvSpPr>
        <p:spPr>
          <a:xfrm flipV="1">
            <a:off x="2103120" y="2487168"/>
            <a:ext cx="914" cy="1143000"/>
          </a:xfrm>
          <a:prstGeom prst="line">
            <a:avLst/>
          </a:prstGeom>
          <a:noFill/>
          <a:ln w="15875">
            <a:solidFill>
              <a:srgbClr val="E3E1D8"/>
            </a:solidFill>
            <a:prstDash val="dash"/>
          </a:ln>
        </p:spPr>
        <p:txBody>
          <a:bodyPr/>
          <a:p/>
        </p:txBody>
      </p:sp>
      <p:sp>
        <p:nvSpPr>
          <p:cNvPr id="15" name="!!gf3"/>
          <p:cNvSpPr/>
          <p:nvPr/>
        </p:nvSpPr>
        <p:spPr>
          <a:xfrm>
            <a:off x="2103120" y="2487168"/>
            <a:ext cx="484632" cy="914"/>
          </a:xfrm>
          <a:prstGeom prst="line">
            <a:avLst/>
          </a:prstGeom>
          <a:noFill/>
          <a:ln w="15875">
            <a:solidFill>
              <a:srgbClr val="E3E1D8"/>
            </a:solidFill>
            <a:prstDash val="dash"/>
            <a:tailEnd type="triangle"/>
          </a:ln>
        </p:spPr>
        <p:txBody>
          <a:bodyPr/>
          <a:p/>
        </p:txBody>
      </p:sp>
      <p:sp>
        <p:nvSpPr>
          <p:cNvPr id="16" name="!!gfail"/>
          <p:cNvSpPr txBox="1"/>
          <p:nvPr/>
        </p:nvSpPr>
        <p:spPr>
          <a:xfrm>
            <a:off x="1645920" y="3081528"/>
            <a:ext cx="411480" cy="274320"/>
          </a:xfrm>
          <a:prstGeom prst="rect">
            <a:avLst/>
          </a:prstGeom>
          <a:noFill/>
          <a:ln/>
        </p:spPr>
        <p:txBody>
          <a:bodyPr wrap="square" lIns="0" tIns="0" rIns="0" bIns="0" rtlCol="0" anchor="t"/>
          <a:lstStyle/>
          <a:p>
            <a:pPr algn="r" indent="0" marL="0">
              <a:buNone/>
            </a:pPr>
            <a:r>
              <a:rPr lang="en-US" sz="1100" b="1" dirty="0">
                <a:solidFill>
                  <a:srgbClr val="B4B2A9"/>
                </a:solidFill>
                <a:latin typeface="Calibri" pitchFamily="34" charset="0"/>
                <a:ea typeface="Calibri" pitchFamily="34" charset="-122"/>
                <a:cs typeface="Calibri" pitchFamily="34" charset="-120"/>
              </a:rPr>
              <a:t>fail</a:t>
            </a:r>
            <a:endParaRPr lang="en-US" sz="1100" dirty="0"/>
          </a:p>
        </p:txBody>
      </p:sp>
      <p:sp>
        <p:nvSpPr>
          <p:cNvPr id="17" name="!!sl1"/>
          <p:cNvSpPr/>
          <p:nvPr/>
        </p:nvSpPr>
        <p:spPr>
          <a:xfrm>
            <a:off x="4617720" y="2487168"/>
            <a:ext cx="731520" cy="914"/>
          </a:xfrm>
          <a:prstGeom prst="line">
            <a:avLst/>
          </a:prstGeom>
          <a:noFill/>
          <a:ln w="9525">
            <a:solidFill>
              <a:srgbClr val="E3E1D8"/>
            </a:solidFill>
            <a:prstDash val="dash"/>
          </a:ln>
        </p:spPr>
        <p:txBody>
          <a:bodyPr/>
          <a:p/>
        </p:txBody>
      </p:sp>
      <p:sp>
        <p:nvSpPr>
          <p:cNvPr id="18" name="!!sl2"/>
          <p:cNvSpPr/>
          <p:nvPr/>
        </p:nvSpPr>
        <p:spPr>
          <a:xfrm>
            <a:off x="4617720" y="3630168"/>
            <a:ext cx="731520" cy="914"/>
          </a:xfrm>
          <a:prstGeom prst="line">
            <a:avLst/>
          </a:prstGeom>
          <a:noFill/>
          <a:ln w="9525">
            <a:solidFill>
              <a:srgbClr val="E3E1D8"/>
            </a:solidFill>
            <a:prstDash val="dash"/>
          </a:ln>
        </p:spPr>
        <p:txBody>
          <a:bodyPr/>
          <a:p/>
        </p:txBody>
      </p:sp>
      <p:sp>
        <p:nvSpPr>
          <p:cNvPr id="19" name="!!st"/>
          <p:cNvSpPr/>
          <p:nvPr/>
        </p:nvSpPr>
        <p:spPr>
          <a:xfrm>
            <a:off x="5349240" y="2121408"/>
            <a:ext cx="1600200" cy="1874520"/>
          </a:xfrm>
          <a:prstGeom prst="roundRect">
            <a:avLst>
              <a:gd name="adj" fmla="val 4571"/>
            </a:avLst>
          </a:prstGeom>
          <a:solidFill>
            <a:srgbClr val="FAFAF7"/>
          </a:solidFill>
          <a:ln w="12700">
            <a:solidFill>
              <a:srgbClr val="E3E1D8"/>
            </a:solidFill>
            <a:prstDash val="solid"/>
          </a:ln>
        </p:spPr>
        <p:txBody>
          <a:bodyPr wrap="square" lIns="50800" tIns="50800" rIns="50800" bIns="50800" rtlCol="0" anchor="ctr"/>
          <a:lstStyle/>
          <a:p>
            <a:pPr algn="ctr" indent="0" marL="0">
              <a:buNone/>
            </a:pPr>
            <a:endParaRPr lang="en-US" sz="1200" dirty="0"/>
          </a:p>
        </p:txBody>
      </p:sp>
      <p:sp>
        <p:nvSpPr>
          <p:cNvPr id="20" name="!!sth"/>
          <p:cNvSpPr txBox="1"/>
          <p:nvPr/>
        </p:nvSpPr>
        <p:spPr>
          <a:xfrm>
            <a:off x="5486400" y="2212848"/>
            <a:ext cx="1325880" cy="274320"/>
          </a:xfrm>
          <a:prstGeom prst="rect">
            <a:avLst/>
          </a:prstGeom>
          <a:noFill/>
          <a:ln/>
        </p:spPr>
        <p:txBody>
          <a:bodyPr wrap="square" lIns="0" tIns="0" rIns="0" bIns="0" rtlCol="0" anchor="t"/>
          <a:lstStyle/>
          <a:p>
            <a:pPr algn="l" indent="0" marL="0">
              <a:buNone/>
            </a:pPr>
            <a:r>
              <a:rPr lang="en-US" sz="1300" b="1" dirty="0">
                <a:solidFill>
                  <a:srgbClr val="B4B2A9"/>
                </a:solidFill>
                <a:latin typeface="Calibri" pitchFamily="34" charset="0"/>
                <a:ea typeface="Calibri" pitchFamily="34" charset="-122"/>
                <a:cs typeface="Calibri" pitchFamily="34" charset="-120"/>
              </a:rPr>
              <a:t>State</a:t>
            </a:r>
            <a:endParaRPr lang="en-US" sz="1300" dirty="0"/>
          </a:p>
        </p:txBody>
      </p:sp>
      <p:sp>
        <p:nvSpPr>
          <p:cNvPr id="21" name="!!str0"/>
          <p:cNvSpPr txBox="1"/>
          <p:nvPr/>
        </p:nvSpPr>
        <p:spPr>
          <a:xfrm>
            <a:off x="5486400" y="2505456"/>
            <a:ext cx="1325880" cy="457200"/>
          </a:xfrm>
          <a:prstGeom prst="rect">
            <a:avLst/>
          </a:prstGeom>
          <a:noFill/>
          <a:ln/>
        </p:spPr>
        <p:txBody>
          <a:bodyPr wrap="square" lIns="0" tIns="0" rIns="0" bIns="0" rtlCol="0" anchor="t"/>
          <a:lstStyle/>
          <a:p>
            <a:pPr algn="l" indent="0" marL="0">
              <a:buNone/>
            </a:pPr>
            <a:r>
              <a:rPr lang="en-US" sz="1150" b="1" dirty="0">
                <a:solidFill>
                  <a:srgbClr val="B4B2A9"/>
                </a:solidFill>
                <a:latin typeface="Consolas" pitchFamily="34" charset="0"/>
                <a:ea typeface="Consolas" pitchFamily="34" charset="-122"/>
                <a:cs typeface="Consolas" pitchFamily="34" charset="-120"/>
              </a:rPr>
              <a:t>ticket</a:t>
            </a:r>
            <a:endParaRPr lang="en-US" sz="1400" dirty="0"/>
          </a:p>
          <a:p>
            <a:pPr algn="l" indent="0" marL="0">
              <a:buNone/>
            </a:pPr>
            <a:r>
              <a:rPr lang="en-US" sz="1000" dirty="0">
                <a:solidFill>
                  <a:srgbClr val="B4B2A9"/>
                </a:solidFill>
                <a:latin typeface="Calibri" pitchFamily="34" charset="0"/>
                <a:ea typeface="Calibri" pitchFamily="34" charset="-122"/>
                <a:cs typeface="Calibri" pitchFamily="34" charset="-120"/>
              </a:rPr>
              <a:t>input</a:t>
            </a:r>
            <a:endParaRPr lang="en-US" sz="1400" dirty="0"/>
          </a:p>
        </p:txBody>
      </p:sp>
      <p:sp>
        <p:nvSpPr>
          <p:cNvPr id="22" name="!!str1"/>
          <p:cNvSpPr txBox="1"/>
          <p:nvPr/>
        </p:nvSpPr>
        <p:spPr>
          <a:xfrm>
            <a:off x="5486400" y="2980944"/>
            <a:ext cx="1325880" cy="457200"/>
          </a:xfrm>
          <a:prstGeom prst="rect">
            <a:avLst/>
          </a:prstGeom>
          <a:noFill/>
          <a:ln/>
        </p:spPr>
        <p:txBody>
          <a:bodyPr wrap="square" lIns="0" tIns="0" rIns="0" bIns="0" rtlCol="0" anchor="t"/>
          <a:lstStyle/>
          <a:p>
            <a:pPr algn="l" indent="0" marL="0">
              <a:buNone/>
            </a:pPr>
            <a:r>
              <a:rPr lang="en-US" sz="1150" b="1" dirty="0">
                <a:solidFill>
                  <a:srgbClr val="B4B2A9"/>
                </a:solidFill>
                <a:latin typeface="Consolas" pitchFamily="34" charset="0"/>
                <a:ea typeface="Consolas" pitchFamily="34" charset="-122"/>
                <a:cs typeface="Consolas" pitchFamily="34" charset="-120"/>
              </a:rPr>
              <a:t>result</a:t>
            </a:r>
            <a:endParaRPr lang="en-US" sz="1400" dirty="0"/>
          </a:p>
          <a:p>
            <a:pPr algn="l" indent="0" marL="0">
              <a:buNone/>
            </a:pPr>
            <a:r>
              <a:rPr lang="en-US" sz="1000" dirty="0">
                <a:solidFill>
                  <a:srgbClr val="B4B2A9"/>
                </a:solidFill>
                <a:latin typeface="Calibri" pitchFamily="34" charset="0"/>
                <a:ea typeface="Calibri" pitchFamily="34" charset="-122"/>
                <a:cs typeface="Calibri" pitchFamily="34" charset="-120"/>
              </a:rPr>
              <a:t>by worker</a:t>
            </a:r>
            <a:endParaRPr lang="en-US" sz="1400" dirty="0"/>
          </a:p>
        </p:txBody>
      </p:sp>
      <p:sp>
        <p:nvSpPr>
          <p:cNvPr id="23" name="!!str2"/>
          <p:cNvSpPr txBox="1"/>
          <p:nvPr/>
        </p:nvSpPr>
        <p:spPr>
          <a:xfrm>
            <a:off x="5486400" y="3456432"/>
            <a:ext cx="1325880" cy="457200"/>
          </a:xfrm>
          <a:prstGeom prst="rect">
            <a:avLst/>
          </a:prstGeom>
          <a:noFill/>
          <a:ln/>
        </p:spPr>
        <p:txBody>
          <a:bodyPr wrap="square" lIns="0" tIns="0" rIns="0" bIns="0" rtlCol="0" anchor="t"/>
          <a:lstStyle/>
          <a:p>
            <a:pPr algn="l" indent="0" marL="0">
              <a:buNone/>
            </a:pPr>
            <a:r>
              <a:rPr lang="en-US" sz="1150" b="1" dirty="0">
                <a:solidFill>
                  <a:srgbClr val="B4B2A9"/>
                </a:solidFill>
                <a:latin typeface="Consolas" pitchFamily="34" charset="0"/>
                <a:ea typeface="Consolas" pitchFamily="34" charset="-122"/>
                <a:cs typeface="Consolas" pitchFamily="34" charset="-120"/>
              </a:rPr>
              <a:t>status</a:t>
            </a:r>
            <a:endParaRPr lang="en-US" sz="1400" dirty="0"/>
          </a:p>
          <a:p>
            <a:pPr algn="l" indent="0" marL="0">
              <a:buNone/>
            </a:pPr>
            <a:r>
              <a:rPr lang="en-US" sz="1000" dirty="0">
                <a:solidFill>
                  <a:srgbClr val="B4B2A9"/>
                </a:solidFill>
                <a:latin typeface="Calibri" pitchFamily="34" charset="0"/>
                <a:ea typeface="Calibri" pitchFamily="34" charset="-122"/>
                <a:cs typeface="Calibri" pitchFamily="34" charset="-120"/>
              </a:rPr>
              <a:t>by checker</a:t>
            </a:r>
            <a:endParaRPr lang="en-US" sz="1400" dirty="0"/>
          </a:p>
        </p:txBody>
      </p:sp>
      <p:sp>
        <p:nvSpPr>
          <p:cNvPr id="24" name="!!panel"/>
          <p:cNvSpPr/>
          <p:nvPr/>
        </p:nvSpPr>
        <p:spPr>
          <a:xfrm>
            <a:off x="7269480" y="1463040"/>
            <a:ext cx="4507992" cy="3977640"/>
          </a:xfrm>
          <a:prstGeom prst="roundRect">
            <a:avLst>
              <a:gd name="adj" fmla="val 1839"/>
            </a:avLst>
          </a:prstGeom>
          <a:solidFill>
            <a:srgbClr val="FFFFFF"/>
          </a:solidFill>
          <a:ln w="12700">
            <a:solidFill>
              <a:srgbClr val="D3D1C7"/>
            </a:solidFill>
            <a:prstDash val="solid"/>
          </a:ln>
        </p:spPr>
        <p:txBody>
          <a:bodyPr wrap="square" lIns="50800" tIns="50800" rIns="50800" bIns="50800" rtlCol="0" anchor="ctr"/>
          <a:lstStyle/>
          <a:p>
            <a:pPr algn="ctr" indent="0" marL="0">
              <a:buNone/>
            </a:pPr>
            <a:endParaRPr lang="en-US" sz="1200" dirty="0"/>
          </a:p>
        </p:txBody>
      </p:sp>
      <p:sp>
        <p:nvSpPr>
          <p:cNvPr id="25" name="!!ptitle"/>
          <p:cNvSpPr txBox="1"/>
          <p:nvPr/>
        </p:nvSpPr>
        <p:spPr>
          <a:xfrm>
            <a:off x="7543800" y="1645920"/>
            <a:ext cx="3959352" cy="411480"/>
          </a:xfrm>
          <a:prstGeom prst="rect">
            <a:avLst/>
          </a:prstGeom>
          <a:noFill/>
          <a:ln/>
        </p:spPr>
        <p:txBody>
          <a:bodyPr wrap="square" lIns="0" tIns="0" rIns="0" bIns="0" rtlCol="0" anchor="ctr"/>
          <a:lstStyle/>
          <a:p>
            <a:pPr algn="l" indent="0" marL="0">
              <a:buNone/>
            </a:pPr>
            <a:r>
              <a:rPr lang="en-US" sz="2000" b="1" dirty="0">
                <a:solidFill>
                  <a:srgbClr val="3C3489"/>
                </a:solidFill>
                <a:latin typeface="Calibri" pitchFamily="34" charset="0"/>
                <a:ea typeface="Calibri" pitchFamily="34" charset="-122"/>
                <a:cs typeface="Calibri" pitchFamily="34" charset="-120"/>
              </a:rPr>
              <a:t>Edge</a:t>
            </a:r>
            <a:endParaRPr lang="en-US" sz="2000" dirty="0"/>
          </a:p>
        </p:txBody>
      </p:sp>
      <p:sp>
        <p:nvSpPr>
          <p:cNvPr id="26" name="!!pl1"/>
          <p:cNvSpPr txBox="1"/>
          <p:nvPr/>
        </p:nvSpPr>
        <p:spPr>
          <a:xfrm>
            <a:off x="7543800" y="2176272"/>
            <a:ext cx="3959352" cy="237744"/>
          </a:xfrm>
          <a:prstGeom prst="rect">
            <a:avLst/>
          </a:prstGeom>
          <a:noFill/>
          <a:ln/>
        </p:spPr>
        <p:txBody>
          <a:bodyPr wrap="square" lIns="0" tIns="0" rIns="0" bIns="0" rtlCol="0" anchor="t"/>
          <a:lstStyle/>
          <a:p>
            <a:pPr algn="l" indent="0" marL="0">
              <a:buNone/>
            </a:pPr>
            <a:r>
              <a:rPr lang="en-US" sz="1050" b="1" dirty="0">
                <a:solidFill>
                  <a:srgbClr val="5F5E5A"/>
                </a:solidFill>
                <a:latin typeface="Calibri" pitchFamily="34" charset="0"/>
                <a:ea typeface="Calibri" pitchFamily="34" charset="-122"/>
                <a:cs typeface="Calibri" pitchFamily="34" charset="-120"/>
              </a:rPr>
              <a:t>WHAT IT IS</a:t>
            </a:r>
            <a:endParaRPr lang="en-US" sz="1050" dirty="0"/>
          </a:p>
        </p:txBody>
      </p:sp>
      <p:sp>
        <p:nvSpPr>
          <p:cNvPr id="27" name="!!pwhat"/>
          <p:cNvSpPr txBox="1"/>
          <p:nvPr/>
        </p:nvSpPr>
        <p:spPr>
          <a:xfrm>
            <a:off x="7543800" y="2404872"/>
            <a:ext cx="3959352" cy="566928"/>
          </a:xfrm>
          <a:prstGeom prst="rect">
            <a:avLst/>
          </a:prstGeom>
          <a:noFill/>
          <a:ln/>
        </p:spPr>
        <p:txBody>
          <a:bodyPr wrap="square" lIns="0" tIns="0" rIns="0" bIns="0" rtlCol="0" anchor="t"/>
          <a:lstStyle/>
          <a:p>
            <a:pPr algn="l" indent="0" marL="0">
              <a:buNone/>
            </a:pPr>
            <a:r>
              <a:rPr lang="en-US" sz="1350" dirty="0">
                <a:solidFill>
                  <a:srgbClr val="2C2C2A"/>
                </a:solidFill>
                <a:latin typeface="Calibri" pitchFamily="34" charset="0"/>
                <a:ea typeface="Calibri" pitchFamily="34" charset="-122"/>
                <a:cs typeface="Calibri" pitchFamily="34" charset="-120"/>
              </a:rPr>
              <a:t>A fixed hand-off: when one node finishes, the next one runs.</a:t>
            </a:r>
            <a:endParaRPr lang="en-US" sz="1350" dirty="0"/>
          </a:p>
        </p:txBody>
      </p:sp>
      <p:sp>
        <p:nvSpPr>
          <p:cNvPr id="28" name="!!pl2"/>
          <p:cNvSpPr txBox="1"/>
          <p:nvPr/>
        </p:nvSpPr>
        <p:spPr>
          <a:xfrm>
            <a:off x="7543800" y="3017520"/>
            <a:ext cx="3959352" cy="237744"/>
          </a:xfrm>
          <a:prstGeom prst="rect">
            <a:avLst/>
          </a:prstGeom>
          <a:noFill/>
          <a:ln/>
        </p:spPr>
        <p:txBody>
          <a:bodyPr wrap="square" lIns="0" tIns="0" rIns="0" bIns="0" rtlCol="0" anchor="t"/>
          <a:lstStyle/>
          <a:p>
            <a:pPr algn="l" indent="0" marL="0">
              <a:buNone/>
            </a:pPr>
            <a:r>
              <a:rPr lang="en-US" sz="1050" b="1" dirty="0">
                <a:solidFill>
                  <a:srgbClr val="5F5E5A"/>
                </a:solidFill>
                <a:latin typeface="Calibri" pitchFamily="34" charset="0"/>
                <a:ea typeface="Calibri" pitchFamily="34" charset="-122"/>
                <a:cs typeface="Calibri" pitchFamily="34" charset="-120"/>
              </a:rPr>
              <a:t>IN THIS GRAPH</a:t>
            </a:r>
            <a:endParaRPr lang="en-US" sz="1050" dirty="0"/>
          </a:p>
        </p:txBody>
      </p:sp>
      <p:sp>
        <p:nvSpPr>
          <p:cNvPr id="29" name="!!phere"/>
          <p:cNvSpPr txBox="1"/>
          <p:nvPr/>
        </p:nvSpPr>
        <p:spPr>
          <a:xfrm>
            <a:off x="7543800" y="3246120"/>
            <a:ext cx="3959352" cy="566928"/>
          </a:xfrm>
          <a:prstGeom prst="rect">
            <a:avLst/>
          </a:prstGeom>
          <a:noFill/>
          <a:ln/>
        </p:spPr>
        <p:txBody>
          <a:bodyPr wrap="square" lIns="0" tIns="0" rIns="0" bIns="0" rtlCol="0" anchor="t"/>
          <a:lstStyle/>
          <a:p>
            <a:pPr algn="l" indent="0" marL="0">
              <a:buNone/>
            </a:pPr>
            <a:r>
              <a:rPr lang="en-US" sz="1300" dirty="0">
                <a:solidFill>
                  <a:srgbClr val="2C2C2A"/>
                </a:solidFill>
                <a:latin typeface="Calibri" pitchFamily="34" charset="0"/>
                <a:ea typeface="Calibri" pitchFamily="34" charset="-122"/>
                <a:cs typeface="Calibri" pitchFamily="34" charset="-120"/>
              </a:rPr>
              <a:t>START → worker → checker. Nobody decides this at run time; it is wired in.</a:t>
            </a:r>
            <a:endParaRPr lang="en-US" sz="1300" dirty="0"/>
          </a:p>
        </p:txBody>
      </p:sp>
      <p:sp>
        <p:nvSpPr>
          <p:cNvPr id="30" name="!!plike"/>
          <p:cNvSpPr/>
          <p:nvPr/>
        </p:nvSpPr>
        <p:spPr>
          <a:xfrm>
            <a:off x="7543800" y="3886200"/>
            <a:ext cx="3959352" cy="457200"/>
          </a:xfrm>
          <a:prstGeom prst="roundRect">
            <a:avLst>
              <a:gd name="adj" fmla="val 12000"/>
            </a:avLst>
          </a:prstGeom>
          <a:solidFill>
            <a:srgbClr val="E1F5EE"/>
          </a:solidFill>
          <a:ln w="12700">
            <a:solidFill>
              <a:srgbClr val="0F6E56"/>
            </a:solidFill>
            <a:prstDash val="solid"/>
          </a:ln>
        </p:spPr>
        <p:txBody>
          <a:bodyPr wrap="square" lIns="101600" tIns="101600" rIns="101600" bIns="101600" rtlCol="0" anchor="ctr"/>
          <a:lstStyle/>
          <a:p>
            <a:pPr algn="l" indent="0" marL="0">
              <a:buNone/>
            </a:pPr>
            <a:r>
              <a:rPr lang="en-US" sz="1250" b="1" dirty="0">
                <a:solidFill>
                  <a:srgbClr val="085041"/>
                </a:solidFill>
                <a:latin typeface="Calibri" pitchFamily="34" charset="0"/>
                <a:ea typeface="Calibri" pitchFamily="34" charset="-122"/>
                <a:cs typeface="Calibri" pitchFamily="34" charset="-120"/>
              </a:rPr>
              <a:t>Think of it as  </a:t>
            </a:r>
            <a:pPr algn="l" indent="0" marL="0">
              <a:buNone/>
            </a:pPr>
            <a:r>
              <a:rPr lang="en-US" sz="1250" dirty="0">
                <a:solidFill>
                  <a:srgbClr val="085041"/>
                </a:solidFill>
                <a:latin typeface="Calibri" pitchFamily="34" charset="0"/>
                <a:ea typeface="Calibri" pitchFamily="34" charset="-122"/>
                <a:cs typeface="Calibri" pitchFamily="34" charset="-120"/>
              </a:rPr>
              <a:t>Passing the file to the next desk, always the same desk.</a:t>
            </a:r>
            <a:endParaRPr lang="en-US" sz="1250" dirty="0"/>
          </a:p>
        </p:txBody>
      </p:sp>
      <p:sp>
        <p:nvSpPr>
          <p:cNvPr id="31" name="!!pcode"/>
          <p:cNvSpPr/>
          <p:nvPr/>
        </p:nvSpPr>
        <p:spPr>
          <a:xfrm>
            <a:off x="7543800" y="4453128"/>
            <a:ext cx="3959352" cy="786384"/>
          </a:xfrm>
          <a:prstGeom prst="roundRect">
            <a:avLst>
              <a:gd name="adj" fmla="val 4651"/>
            </a:avLst>
          </a:prstGeom>
          <a:solidFill>
            <a:srgbClr val="F7F6F2"/>
          </a:solidFill>
          <a:ln w="6350">
            <a:solidFill>
              <a:srgbClr val="D3D1C7"/>
            </a:solidFill>
            <a:prstDash val="solid"/>
          </a:ln>
        </p:spPr>
        <p:txBody>
          <a:bodyPr wrap="square" lIns="101600" tIns="101600" rIns="101600" bIns="101600" rtlCol="0" anchor="ctr"/>
          <a:lstStyle/>
          <a:p>
            <a:pPr algn="l" indent="0" marL="0">
              <a:buNone/>
            </a:pPr>
            <a:r>
              <a:rPr lang="en-US" sz="1000" dirty="0">
                <a:solidFill>
                  <a:srgbClr val="2C2C2A"/>
                </a:solidFill>
                <a:latin typeface="Consolas" pitchFamily="34" charset="0"/>
                <a:ea typeface="Consolas" pitchFamily="34" charset="-122"/>
                <a:cs typeface="Consolas" pitchFamily="34" charset="-120"/>
              </a:rPr>
              <a:t>g.add_edge(START, "worker")</a:t>
            </a:r>
            <a:endParaRPr lang="en-US" sz="1000" dirty="0"/>
          </a:p>
          <a:p>
            <a:pPr algn="l" indent="0" marL="0">
              <a:buNone/>
            </a:pPr>
            <a:r>
              <a:rPr lang="en-US" sz="1000" dirty="0">
                <a:solidFill>
                  <a:srgbClr val="2C2C2A"/>
                </a:solidFill>
                <a:latin typeface="Consolas" pitchFamily="34" charset="0"/>
                <a:ea typeface="Consolas" pitchFamily="34" charset="-122"/>
                <a:cs typeface="Consolas" pitchFamily="34" charset="-120"/>
              </a:rPr>
              <a:t>g.add_edge("worker", "checker")</a:t>
            </a:r>
            <a:endParaRPr lang="en-US" sz="1000" dirty="0"/>
          </a:p>
        </p:txBody>
      </p:sp>
      <p:sp>
        <p:nvSpPr>
          <p:cNvPr id="32" name="!!btn0">
            <a:hlinkClick action="ppaction://hlinksldjump" r:id="rId1"/>
          </p:cNvPr>
          <p:cNvSpPr/>
          <p:nvPr/>
        </p:nvSpPr>
        <p:spPr>
          <a:xfrm>
            <a:off x="411480" y="5669280"/>
            <a:ext cx="1545336" cy="420624"/>
          </a:xfrm>
          <a:prstGeom prst="roundRect">
            <a:avLst>
              <a:gd name="adj" fmla="val 50000"/>
            </a:avLst>
          </a:prstGeom>
          <a:solidFill>
            <a:srgbClr val="FFFFFF"/>
          </a:solidFill>
          <a:ln w="12700">
            <a:solidFill>
              <a:srgbClr val="534AB7"/>
            </a:solidFill>
            <a:prstDash val="solid"/>
          </a:ln>
        </p:spPr>
        <p:txBody>
          <a:bodyPr wrap="square" lIns="0" tIns="0" rIns="0" bIns="0" rtlCol="0" anchor="ctr"/>
          <a:lstStyle/>
          <a:p>
            <a:pPr algn="ctr" indent="0" marL="0">
              <a:buNone/>
            </a:pPr>
            <a:r>
              <a:rPr lang="en-US" sz="1250" u="none" dirty="0">
                <a:solidFill>
                  <a:srgbClr val="3C3489"/>
                </a:solidFill>
                <a:latin typeface="Calibri" pitchFamily="34" charset="0"/>
                <a:ea typeface="Calibri" pitchFamily="34" charset="-122"/>
                <a:cs typeface="Calibri" pitchFamily="34" charset="-120"/>
                <a:hlinkClick r:id="rId1" action="ppaction://hlinksldjump" tooltip="How to read it">
                  <a:extLst>
                    <a:ext uri="{A12FA001-AC4F-418D-AE19-62706E023703}">
                      <ahyp:hlinkClr xmlns:ahyp="http://schemas.microsoft.com/office/drawing/2018/hyperlinkcolor" val="tx"/>
                    </a:ext>
                  </a:extLst>
                </a:hlinkClick>
              </a:rPr>
              <a:t>Overview</a:t>
            </a:r>
            <a:endParaRPr lang="en-US" sz="1250" dirty="0"/>
          </a:p>
        </p:txBody>
      </p:sp>
      <p:sp>
        <p:nvSpPr>
          <p:cNvPr id="33" name="!!btn1">
            <a:hlinkClick action="ppaction://hlinksldjump" r:id="rId2"/>
          </p:cNvPr>
          <p:cNvSpPr/>
          <p:nvPr/>
        </p:nvSpPr>
        <p:spPr>
          <a:xfrm>
            <a:off x="2048256" y="5669280"/>
            <a:ext cx="1545336" cy="420624"/>
          </a:xfrm>
          <a:prstGeom prst="roundRect">
            <a:avLst>
              <a:gd name="adj" fmla="val 50000"/>
            </a:avLst>
          </a:prstGeom>
          <a:solidFill>
            <a:srgbClr val="FFFFFF"/>
          </a:solidFill>
          <a:ln w="12700">
            <a:solidFill>
              <a:srgbClr val="534AB7"/>
            </a:solidFill>
            <a:prstDash val="solid"/>
          </a:ln>
        </p:spPr>
        <p:txBody>
          <a:bodyPr wrap="square" lIns="0" tIns="0" rIns="0" bIns="0" rtlCol="0" anchor="ctr"/>
          <a:lstStyle/>
          <a:p>
            <a:pPr algn="ctr" indent="0" marL="0">
              <a:buNone/>
            </a:pPr>
            <a:r>
              <a:rPr lang="en-US" sz="1250" u="none" dirty="0">
                <a:solidFill>
                  <a:srgbClr val="3C3489"/>
                </a:solidFill>
                <a:latin typeface="Calibri" pitchFamily="34" charset="0"/>
                <a:ea typeface="Calibri" pitchFamily="34" charset="-122"/>
                <a:cs typeface="Calibri" pitchFamily="34" charset="-120"/>
                <a:hlinkClick r:id="rId2" action="ppaction://hlinksldjump" tooltip="Node">
                  <a:extLst>
                    <a:ext uri="{A12FA001-AC4F-418D-AE19-62706E023703}">
                      <ahyp:hlinkClr xmlns:ahyp="http://schemas.microsoft.com/office/drawing/2018/hyperlinkcolor" val="tx"/>
                    </a:ext>
                  </a:extLst>
                </a:hlinkClick>
              </a:rPr>
              <a:t>Node</a:t>
            </a:r>
            <a:endParaRPr lang="en-US" sz="1250" dirty="0"/>
          </a:p>
        </p:txBody>
      </p:sp>
      <p:sp>
        <p:nvSpPr>
          <p:cNvPr id="34" name="!!btn2">
            <a:hlinkClick action="ppaction://hlinksldjump" r:id="rId3"/>
          </p:cNvPr>
          <p:cNvSpPr/>
          <p:nvPr/>
        </p:nvSpPr>
        <p:spPr>
          <a:xfrm>
            <a:off x="3685032" y="5669280"/>
            <a:ext cx="1545336" cy="420624"/>
          </a:xfrm>
          <a:prstGeom prst="roundRect">
            <a:avLst>
              <a:gd name="adj" fmla="val 50000"/>
            </a:avLst>
          </a:prstGeom>
          <a:solidFill>
            <a:srgbClr val="534AB7"/>
          </a:solidFill>
          <a:ln w="12700">
            <a:solidFill>
              <a:srgbClr val="534AB7"/>
            </a:solidFill>
            <a:prstDash val="solid"/>
          </a:ln>
        </p:spPr>
        <p:txBody>
          <a:bodyPr wrap="square" lIns="0" tIns="0" rIns="0" bIns="0" rtlCol="0" anchor="ctr"/>
          <a:lstStyle/>
          <a:p>
            <a:pPr algn="ctr" indent="0" marL="0">
              <a:buNone/>
            </a:pPr>
            <a:r>
              <a:rPr lang="en-US" sz="1250" b="1" u="none" dirty="0">
                <a:solidFill>
                  <a:srgbClr val="FFFFFF"/>
                </a:solidFill>
                <a:latin typeface="Calibri" pitchFamily="34" charset="0"/>
                <a:ea typeface="Calibri" pitchFamily="34" charset="-122"/>
                <a:cs typeface="Calibri" pitchFamily="34" charset="-120"/>
                <a:hlinkClick r:id="rId3" action="ppaction://hlinksldjump" tooltip="Edge">
                  <a:extLst>
                    <a:ext uri="{A12FA001-AC4F-418D-AE19-62706E023703}">
                      <ahyp:hlinkClr xmlns:ahyp="http://schemas.microsoft.com/office/drawing/2018/hyperlinkcolor" val="tx"/>
                    </a:ext>
                  </a:extLst>
                </a:hlinkClick>
              </a:rPr>
              <a:t>Edge</a:t>
            </a:r>
            <a:endParaRPr lang="en-US" sz="1250" dirty="0"/>
          </a:p>
        </p:txBody>
      </p:sp>
      <p:sp>
        <p:nvSpPr>
          <p:cNvPr id="35" name="!!btn3">
            <a:hlinkClick action="ppaction://hlinksldjump" r:id="rId4"/>
          </p:cNvPr>
          <p:cNvSpPr/>
          <p:nvPr/>
        </p:nvSpPr>
        <p:spPr>
          <a:xfrm>
            <a:off x="5321808" y="5669280"/>
            <a:ext cx="1545336" cy="420624"/>
          </a:xfrm>
          <a:prstGeom prst="roundRect">
            <a:avLst>
              <a:gd name="adj" fmla="val 50000"/>
            </a:avLst>
          </a:prstGeom>
          <a:solidFill>
            <a:srgbClr val="FFFFFF"/>
          </a:solidFill>
          <a:ln w="12700">
            <a:solidFill>
              <a:srgbClr val="534AB7"/>
            </a:solidFill>
            <a:prstDash val="solid"/>
          </a:ln>
        </p:spPr>
        <p:txBody>
          <a:bodyPr wrap="square" lIns="0" tIns="0" rIns="0" bIns="0" rtlCol="0" anchor="ctr"/>
          <a:lstStyle/>
          <a:p>
            <a:pPr algn="ctr" indent="0" marL="0">
              <a:buNone/>
            </a:pPr>
            <a:r>
              <a:rPr lang="en-US" sz="1250" u="none" dirty="0">
                <a:solidFill>
                  <a:srgbClr val="3C3489"/>
                </a:solidFill>
                <a:latin typeface="Calibri" pitchFamily="34" charset="0"/>
                <a:ea typeface="Calibri" pitchFamily="34" charset="-122"/>
                <a:cs typeface="Calibri" pitchFamily="34" charset="-120"/>
                <a:hlinkClick r:id="rId4" action="ppaction://hlinksldjump" tooltip="Conditional edge">
                  <a:extLst>
                    <a:ext uri="{A12FA001-AC4F-418D-AE19-62706E023703}">
                      <ahyp:hlinkClr xmlns:ahyp="http://schemas.microsoft.com/office/drawing/2018/hyperlinkcolor" val="tx"/>
                    </a:ext>
                  </a:extLst>
                </a:hlinkClick>
              </a:rPr>
              <a:t>Conditional edge</a:t>
            </a:r>
            <a:endParaRPr lang="en-US" sz="1250" dirty="0"/>
          </a:p>
        </p:txBody>
      </p:sp>
      <p:sp>
        <p:nvSpPr>
          <p:cNvPr id="36" name="!!btn4">
            <a:hlinkClick action="ppaction://hlinksldjump" r:id="rId5"/>
          </p:cNvPr>
          <p:cNvSpPr/>
          <p:nvPr/>
        </p:nvSpPr>
        <p:spPr>
          <a:xfrm>
            <a:off x="6958584" y="5669280"/>
            <a:ext cx="1545336" cy="420624"/>
          </a:xfrm>
          <a:prstGeom prst="roundRect">
            <a:avLst>
              <a:gd name="adj" fmla="val 50000"/>
            </a:avLst>
          </a:prstGeom>
          <a:solidFill>
            <a:srgbClr val="FFFFFF"/>
          </a:solidFill>
          <a:ln w="12700">
            <a:solidFill>
              <a:srgbClr val="534AB7"/>
            </a:solidFill>
            <a:prstDash val="solid"/>
          </a:ln>
        </p:spPr>
        <p:txBody>
          <a:bodyPr wrap="square" lIns="0" tIns="0" rIns="0" bIns="0" rtlCol="0" anchor="ctr"/>
          <a:lstStyle/>
          <a:p>
            <a:pPr algn="ctr" indent="0" marL="0">
              <a:buNone/>
            </a:pPr>
            <a:r>
              <a:rPr lang="en-US" sz="1250" u="none" dirty="0">
                <a:solidFill>
                  <a:srgbClr val="3C3489"/>
                </a:solidFill>
                <a:latin typeface="Calibri" pitchFamily="34" charset="0"/>
                <a:ea typeface="Calibri" pitchFamily="34" charset="-122"/>
                <a:cs typeface="Calibri" pitchFamily="34" charset="-120"/>
                <a:hlinkClick r:id="rId5" action="ppaction://hlinksldjump" tooltip="State">
                  <a:extLst>
                    <a:ext uri="{A12FA001-AC4F-418D-AE19-62706E023703}">
                      <ahyp:hlinkClr xmlns:ahyp="http://schemas.microsoft.com/office/drawing/2018/hyperlinkcolor" val="tx"/>
                    </a:ext>
                  </a:extLst>
                </a:hlinkClick>
              </a:rPr>
              <a:t>State</a:t>
            </a:r>
            <a:endParaRPr lang="en-US" sz="1250" dirty="0"/>
          </a:p>
        </p:txBody>
      </p:sp>
      <p:sp>
        <p:nvSpPr>
          <p:cNvPr id="37" name="!!btn5">
            <a:hlinkClick action="ppaction://hlinksldjump" r:id="rId6"/>
          </p:cNvPr>
          <p:cNvSpPr/>
          <p:nvPr/>
        </p:nvSpPr>
        <p:spPr>
          <a:xfrm>
            <a:off x="8595360" y="5669280"/>
            <a:ext cx="1545336" cy="420624"/>
          </a:xfrm>
          <a:prstGeom prst="roundRect">
            <a:avLst>
              <a:gd name="adj" fmla="val 50000"/>
            </a:avLst>
          </a:prstGeom>
          <a:solidFill>
            <a:srgbClr val="FFFFFF"/>
          </a:solidFill>
          <a:ln w="12700">
            <a:solidFill>
              <a:srgbClr val="534AB7"/>
            </a:solidFill>
            <a:prstDash val="solid"/>
          </a:ln>
        </p:spPr>
        <p:txBody>
          <a:bodyPr wrap="square" lIns="0" tIns="0" rIns="0" bIns="0" rtlCol="0" anchor="ctr"/>
          <a:lstStyle/>
          <a:p>
            <a:pPr algn="ctr" indent="0" marL="0">
              <a:buNone/>
            </a:pPr>
            <a:r>
              <a:rPr lang="en-US" sz="1250" u="none" dirty="0">
                <a:solidFill>
                  <a:srgbClr val="3C3489"/>
                </a:solidFill>
                <a:latin typeface="Calibri" pitchFamily="34" charset="0"/>
                <a:ea typeface="Calibri" pitchFamily="34" charset="-122"/>
                <a:cs typeface="Calibri" pitchFamily="34" charset="-120"/>
                <a:hlinkClick r:id="rId6" action="ppaction://hlinksldjump" tooltip="Subgraph">
                  <a:extLst>
                    <a:ext uri="{A12FA001-AC4F-418D-AE19-62706E023703}">
                      <ahyp:hlinkClr xmlns:ahyp="http://schemas.microsoft.com/office/drawing/2018/hyperlinkcolor" val="tx"/>
                    </a:ext>
                  </a:extLst>
                </a:hlinkClick>
              </a:rPr>
              <a:t>Subgraph</a:t>
            </a:r>
            <a:endParaRPr lang="en-US" sz="1250" dirty="0"/>
          </a:p>
        </p:txBody>
      </p:sp>
      <p:sp>
        <p:nvSpPr>
          <p:cNvPr id="38" name="!!btn6">
            <a:hlinkClick action="ppaction://hlinksldjump" r:id="rId7"/>
          </p:cNvPr>
          <p:cNvSpPr/>
          <p:nvPr/>
        </p:nvSpPr>
        <p:spPr>
          <a:xfrm>
            <a:off x="10232136" y="5669280"/>
            <a:ext cx="1545336" cy="420624"/>
          </a:xfrm>
          <a:prstGeom prst="roundRect">
            <a:avLst>
              <a:gd name="adj" fmla="val 50000"/>
            </a:avLst>
          </a:prstGeom>
          <a:solidFill>
            <a:srgbClr val="FFFFFF"/>
          </a:solidFill>
          <a:ln w="12700">
            <a:solidFill>
              <a:srgbClr val="534AB7"/>
            </a:solidFill>
            <a:prstDash val="solid"/>
          </a:ln>
        </p:spPr>
        <p:txBody>
          <a:bodyPr wrap="square" lIns="0" tIns="0" rIns="0" bIns="0" rtlCol="0" anchor="ctr"/>
          <a:lstStyle/>
          <a:p>
            <a:pPr algn="ctr" indent="0" marL="0">
              <a:buNone/>
            </a:pPr>
            <a:r>
              <a:rPr lang="en-US" sz="1250" u="none" dirty="0">
                <a:solidFill>
                  <a:srgbClr val="3C3489"/>
                </a:solidFill>
                <a:latin typeface="Calibri" pitchFamily="34" charset="0"/>
                <a:ea typeface="Calibri" pitchFamily="34" charset="-122"/>
                <a:cs typeface="Calibri" pitchFamily="34" charset="-120"/>
                <a:hlinkClick r:id="rId7" action="ppaction://hlinksldjump" tooltip="Checkpointer">
                  <a:extLst>
                    <a:ext uri="{A12FA001-AC4F-418D-AE19-62706E023703}">
                      <ahyp:hlinkClr xmlns:ahyp="http://schemas.microsoft.com/office/drawing/2018/hyperlinkcolor" val="tx"/>
                    </a:ext>
                  </a:extLst>
                </a:hlinkClick>
              </a:rPr>
              <a:t>Checkpointer</a:t>
            </a:r>
            <a:endParaRPr lang="en-US" sz="1250" dirty="0"/>
          </a:p>
        </p:txBody>
      </p:sp>
      <p:sp>
        <p:nvSpPr>
          <p:cNvPr id="25" name="Slide Number Placeholder 0"/>
          <p:cNvSpPr>
            <a:spLocks noGrp="1"/>
          </p:cNvSpPr>
          <p:nvPr>
            <p:ph type="sldNum" sz="quarter" idx="4294967295"/>
          </p:nvPr>
        </p:nvSpPr>
        <p:spPr>
          <a:xfrm>
            <a:off x="5641848" y="6382512"/>
            <a:ext cx="914400" cy="201168"/>
          </a:xfrm>
          <a:prstGeom prst="rect">
            <a:avLst/>
          </a:prstGeom>
          <a:extLst>
            <a:ext uri="{C572A759-6A51-4108-AA02-DFA0A04FC94B}">
              <ma14:wrappingTextBoxFlag xmlns:ma14="http://schemas.microsoft.com/office/mac/drawingml/2011/main" val="0"/>
            </a:ext>
          </a:extLst>
        </p:spPr>
        <p:txBody>
          <a:bodyPr/>
          <a:lstStyle>
            <a:lvl1pPr>
              <a:defRPr sz="1000">
                <a:solidFill>
                  <a:srgbClr val="595959"/>
                </a:solidFill>
                <a:latin typeface="Arial"/>
                <a:ea typeface="Arial"/>
                <a:cs typeface="Arial"/>
              </a:defRPr>
            </a:lvl1pPr>
          </a:lstStyle>
          <a:p>
            <a:pPr algn="ctr"/>
            <a:fld id="{F7021451-1387-4CA6-816F-3879F97B5CBC}" type="slidenum">
              <a:rPr b="0" lang="en-US"/>
              <a:t>7</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700">
        <p159:morph option="byObject"/>
      </p:transition>
    </mc:Choice>
    <mc:Fallback>
      <p:transition spd="slow">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itle"/>
          <p:cNvSpPr txBox="1"/>
          <p:nvPr/>
        </p:nvSpPr>
        <p:spPr>
          <a:xfrm>
            <a:off x="411480" y="201168"/>
            <a:ext cx="11338560" cy="530352"/>
          </a:xfrm>
          <a:prstGeom prst="rect">
            <a:avLst/>
          </a:prstGeom>
          <a:noFill/>
          <a:ln/>
        </p:spPr>
        <p:txBody>
          <a:bodyPr wrap="square" lIns="0" tIns="0" rIns="0" bIns="0" rtlCol="0" anchor="b"/>
          <a:lstStyle/>
          <a:p>
            <a:pPr algn="l" indent="0" marL="0">
              <a:buNone/>
            </a:pPr>
            <a:r>
              <a:rPr lang="en-US" sz="2600" b="1" dirty="0">
                <a:solidFill>
                  <a:srgbClr val="1A1A1A"/>
                </a:solidFill>
                <a:latin typeface="Calibri" pitchFamily="34" charset="0"/>
                <a:ea typeface="Calibri" pitchFamily="34" charset="-122"/>
                <a:cs typeface="Calibri" pitchFamily="34" charset="-120"/>
              </a:rPr>
              <a:t>Reading the Graph: What Each Part Does</a:t>
            </a:r>
            <a:endParaRPr lang="en-US" sz="2600" dirty="0"/>
          </a:p>
        </p:txBody>
      </p:sp>
      <p:sp>
        <p:nvSpPr>
          <p:cNvPr id="3" name="!!rule"/>
          <p:cNvSpPr/>
          <p:nvPr/>
        </p:nvSpPr>
        <p:spPr>
          <a:xfrm>
            <a:off x="411480" y="804672"/>
            <a:ext cx="11365992" cy="914"/>
          </a:xfrm>
          <a:prstGeom prst="line">
            <a:avLst/>
          </a:prstGeom>
          <a:noFill/>
          <a:ln w="9525">
            <a:solidFill>
              <a:srgbClr val="7F7F7F"/>
            </a:solidFill>
            <a:prstDash val="solid"/>
          </a:ln>
        </p:spPr>
        <p:txBody>
          <a:bodyPr/>
          <a:p/>
        </p:txBody>
      </p:sp>
      <p:sp>
        <p:nvSpPr>
          <p:cNvPr id="4" name="!!lead"/>
          <p:cNvSpPr txBox="1"/>
          <p:nvPr/>
        </p:nvSpPr>
        <p:spPr>
          <a:xfrm>
            <a:off x="411480" y="886968"/>
            <a:ext cx="11338560" cy="438912"/>
          </a:xfrm>
          <a:prstGeom prst="rect">
            <a:avLst/>
          </a:prstGeom>
          <a:noFill/>
          <a:ln/>
        </p:spPr>
        <p:txBody>
          <a:bodyPr wrap="square" lIns="0" tIns="0" rIns="0" bIns="0" rtlCol="0" anchor="t"/>
          <a:lstStyle/>
          <a:p>
            <a:pPr indent="0" marL="0">
              <a:buNone/>
            </a:pPr>
            <a:r>
              <a:rPr lang="en-US" sz="1400" dirty="0">
                <a:solidFill>
                  <a:srgbClr val="404040"/>
                </a:solidFill>
                <a:latin typeface="Arial" pitchFamily="34" charset="0"/>
                <a:ea typeface="Arial" pitchFamily="34" charset="-122"/>
                <a:cs typeface="Arial" pitchFamily="34" charset="-120"/>
              </a:rPr>
              <a:t>The same graph as the last slide, one part at a time. Click a button to see what that part does, in plain words and in code.</a:t>
            </a:r>
            <a:endParaRPr lang="en-US" sz="1400" dirty="0"/>
          </a:p>
        </p:txBody>
      </p:sp>
      <p:sp>
        <p:nvSpPr>
          <p:cNvPr id="5" name="!!gs"/>
          <p:cNvSpPr/>
          <p:nvPr/>
        </p:nvSpPr>
        <p:spPr>
          <a:xfrm>
            <a:off x="3108960" y="1572768"/>
            <a:ext cx="1005840" cy="329184"/>
          </a:xfrm>
          <a:prstGeom prst="roundRect">
            <a:avLst>
              <a:gd name="adj" fmla="val 50000"/>
            </a:avLst>
          </a:prstGeom>
          <a:solidFill>
            <a:srgbClr val="FAFAF7"/>
          </a:solidFill>
          <a:ln w="12700">
            <a:solidFill>
              <a:srgbClr val="E3E1D8"/>
            </a:solidFill>
            <a:prstDash val="solid"/>
          </a:ln>
        </p:spPr>
        <p:txBody>
          <a:bodyPr wrap="square" lIns="50800" tIns="50800" rIns="50800" bIns="50800" rtlCol="0" anchor="ctr"/>
          <a:lstStyle/>
          <a:p>
            <a:pPr algn="ctr" indent="0" marL="0">
              <a:buNone/>
            </a:pPr>
            <a:r>
              <a:rPr lang="en-US" sz="1100" b="1" dirty="0">
                <a:solidFill>
                  <a:srgbClr val="B4B2A9"/>
                </a:solidFill>
                <a:latin typeface="Consolas" pitchFamily="34" charset="0"/>
                <a:ea typeface="Consolas" pitchFamily="34" charset="-122"/>
                <a:cs typeface="Consolas" pitchFamily="34" charset="-120"/>
              </a:rPr>
              <a:t>START</a:t>
            </a:r>
            <a:endParaRPr lang="en-US" sz="1100" dirty="0"/>
          </a:p>
        </p:txBody>
      </p:sp>
      <p:sp>
        <p:nvSpPr>
          <p:cNvPr id="6" name="!!e1"/>
          <p:cNvSpPr/>
          <p:nvPr/>
        </p:nvSpPr>
        <p:spPr>
          <a:xfrm>
            <a:off x="3611880" y="1901952"/>
            <a:ext cx="914" cy="219456"/>
          </a:xfrm>
          <a:prstGeom prst="line">
            <a:avLst/>
          </a:prstGeom>
          <a:noFill/>
          <a:ln w="15875">
            <a:solidFill>
              <a:srgbClr val="E3E1D8"/>
            </a:solidFill>
            <a:prstDash val="solid"/>
            <a:tailEnd type="triangle"/>
          </a:ln>
        </p:spPr>
        <p:txBody>
          <a:bodyPr/>
          <a:p/>
        </p:txBody>
      </p:sp>
      <p:sp>
        <p:nvSpPr>
          <p:cNvPr id="7" name="!!gw"/>
          <p:cNvSpPr/>
          <p:nvPr/>
        </p:nvSpPr>
        <p:spPr>
          <a:xfrm>
            <a:off x="2606040" y="2121408"/>
            <a:ext cx="2011680" cy="731520"/>
          </a:xfrm>
          <a:prstGeom prst="roundRect">
            <a:avLst>
              <a:gd name="adj" fmla="val 10000"/>
            </a:avLst>
          </a:prstGeom>
          <a:solidFill>
            <a:srgbClr val="FAFAF7"/>
          </a:solidFill>
          <a:ln w="12700">
            <a:solidFill>
              <a:srgbClr val="E3E1D8"/>
            </a:solidFill>
            <a:prstDash val="solid"/>
          </a:ln>
        </p:spPr>
        <p:txBody>
          <a:bodyPr wrap="square" lIns="50800" tIns="50800" rIns="50800" bIns="50800" rtlCol="0" anchor="ctr"/>
          <a:lstStyle/>
          <a:p>
            <a:pPr algn="ctr" indent="0" marL="0">
              <a:buNone/>
            </a:pPr>
            <a:r>
              <a:rPr lang="en-US" sz="1500" b="1" dirty="0">
                <a:solidFill>
                  <a:srgbClr val="B4B2A9"/>
                </a:solidFill>
                <a:latin typeface="Calibri" pitchFamily="34" charset="0"/>
                <a:ea typeface="Calibri" pitchFamily="34" charset="-122"/>
                <a:cs typeface="Calibri" pitchFamily="34" charset="-120"/>
              </a:rPr>
              <a:t>worker</a:t>
            </a:r>
            <a:endParaRPr lang="en-US" sz="1200" dirty="0"/>
          </a:p>
          <a:p>
            <a:pPr algn="ctr" indent="0" marL="0">
              <a:buNone/>
            </a:pPr>
            <a:r>
              <a:rPr lang="en-US" sz="1100" dirty="0">
                <a:solidFill>
                  <a:srgbClr val="B4B2A9"/>
                </a:solidFill>
                <a:latin typeface="Calibri" pitchFamily="34" charset="0"/>
                <a:ea typeface="Calibri" pitchFamily="34" charset="-122"/>
                <a:cs typeface="Calibri" pitchFamily="34" charset="-120"/>
              </a:rPr>
              <a:t>does the job</a:t>
            </a:r>
            <a:endParaRPr lang="en-US" sz="1200" dirty="0"/>
          </a:p>
        </p:txBody>
      </p:sp>
      <p:sp>
        <p:nvSpPr>
          <p:cNvPr id="8" name="!!e2"/>
          <p:cNvSpPr/>
          <p:nvPr/>
        </p:nvSpPr>
        <p:spPr>
          <a:xfrm>
            <a:off x="3611880" y="2852928"/>
            <a:ext cx="914" cy="411480"/>
          </a:xfrm>
          <a:prstGeom prst="line">
            <a:avLst/>
          </a:prstGeom>
          <a:noFill/>
          <a:ln w="15875">
            <a:solidFill>
              <a:srgbClr val="E3E1D8"/>
            </a:solidFill>
            <a:prstDash val="solid"/>
            <a:tailEnd type="triangle"/>
          </a:ln>
        </p:spPr>
        <p:txBody>
          <a:bodyPr/>
          <a:p/>
        </p:txBody>
      </p:sp>
      <p:sp>
        <p:nvSpPr>
          <p:cNvPr id="9" name="!!gc"/>
          <p:cNvSpPr/>
          <p:nvPr/>
        </p:nvSpPr>
        <p:spPr>
          <a:xfrm>
            <a:off x="2606040" y="3264408"/>
            <a:ext cx="2011680" cy="731520"/>
          </a:xfrm>
          <a:prstGeom prst="roundRect">
            <a:avLst>
              <a:gd name="adj" fmla="val 10000"/>
            </a:avLst>
          </a:prstGeom>
          <a:solidFill>
            <a:srgbClr val="FAFAF7"/>
          </a:solidFill>
          <a:ln w="12700">
            <a:solidFill>
              <a:srgbClr val="E3E1D8"/>
            </a:solidFill>
            <a:prstDash val="solid"/>
          </a:ln>
        </p:spPr>
        <p:txBody>
          <a:bodyPr wrap="square" lIns="50800" tIns="50800" rIns="50800" bIns="50800" rtlCol="0" anchor="ctr"/>
          <a:lstStyle/>
          <a:p>
            <a:pPr algn="ctr" indent="0" marL="0">
              <a:buNone/>
            </a:pPr>
            <a:r>
              <a:rPr lang="en-US" sz="1500" b="1" dirty="0">
                <a:solidFill>
                  <a:srgbClr val="B4B2A9"/>
                </a:solidFill>
                <a:latin typeface="Calibri" pitchFamily="34" charset="0"/>
                <a:ea typeface="Calibri" pitchFamily="34" charset="-122"/>
                <a:cs typeface="Calibri" pitchFamily="34" charset="-120"/>
              </a:rPr>
              <a:t>checker</a:t>
            </a:r>
            <a:endParaRPr lang="en-US" sz="1200" dirty="0"/>
          </a:p>
          <a:p>
            <a:pPr algn="ctr" indent="0" marL="0">
              <a:buNone/>
            </a:pPr>
            <a:r>
              <a:rPr lang="en-US" sz="1100" dirty="0">
                <a:solidFill>
                  <a:srgbClr val="B4B2A9"/>
                </a:solidFill>
                <a:latin typeface="Calibri" pitchFamily="34" charset="0"/>
                <a:ea typeface="Calibri" pitchFamily="34" charset="-122"/>
                <a:cs typeface="Calibri" pitchFamily="34" charset="-120"/>
              </a:rPr>
              <a:t>verifies the work</a:t>
            </a:r>
            <a:endParaRPr lang="en-US" sz="1200" dirty="0"/>
          </a:p>
        </p:txBody>
      </p:sp>
      <p:sp>
        <p:nvSpPr>
          <p:cNvPr id="10" name="!!e3"/>
          <p:cNvSpPr/>
          <p:nvPr/>
        </p:nvSpPr>
        <p:spPr>
          <a:xfrm>
            <a:off x="3611880" y="3995928"/>
            <a:ext cx="914" cy="411480"/>
          </a:xfrm>
          <a:prstGeom prst="line">
            <a:avLst/>
          </a:prstGeom>
          <a:noFill/>
          <a:ln w="31750">
            <a:solidFill>
              <a:srgbClr val="5F5E5A"/>
            </a:solidFill>
            <a:prstDash val="solid"/>
            <a:tailEnd type="triangle"/>
          </a:ln>
        </p:spPr>
        <p:txBody>
          <a:bodyPr/>
          <a:p/>
        </p:txBody>
      </p:sp>
      <p:sp>
        <p:nvSpPr>
          <p:cNvPr id="11" name="!!gpass"/>
          <p:cNvSpPr txBox="1"/>
          <p:nvPr/>
        </p:nvSpPr>
        <p:spPr>
          <a:xfrm>
            <a:off x="3703320" y="4050792"/>
            <a:ext cx="548640" cy="274320"/>
          </a:xfrm>
          <a:prstGeom prst="rect">
            <a:avLst/>
          </a:prstGeom>
          <a:noFill/>
          <a:ln/>
        </p:spPr>
        <p:txBody>
          <a:bodyPr wrap="square" lIns="0" tIns="0" rIns="0" bIns="0" rtlCol="0" anchor="t"/>
          <a:lstStyle/>
          <a:p>
            <a:pPr algn="l" indent="0" marL="0">
              <a:buNone/>
            </a:pPr>
            <a:r>
              <a:rPr lang="en-US" sz="1100" b="1" dirty="0">
                <a:solidFill>
                  <a:srgbClr val="085041"/>
                </a:solidFill>
                <a:latin typeface="Calibri" pitchFamily="34" charset="0"/>
                <a:ea typeface="Calibri" pitchFamily="34" charset="-122"/>
                <a:cs typeface="Calibri" pitchFamily="34" charset="-120"/>
              </a:rPr>
              <a:t>pass</a:t>
            </a:r>
            <a:endParaRPr lang="en-US" sz="1100" dirty="0"/>
          </a:p>
        </p:txBody>
      </p:sp>
      <p:sp>
        <p:nvSpPr>
          <p:cNvPr id="12" name="!!gend"/>
          <p:cNvSpPr/>
          <p:nvPr/>
        </p:nvSpPr>
        <p:spPr>
          <a:xfrm>
            <a:off x="3108960" y="4407408"/>
            <a:ext cx="1005840" cy="329184"/>
          </a:xfrm>
          <a:prstGeom prst="roundRect">
            <a:avLst>
              <a:gd name="adj" fmla="val 50000"/>
            </a:avLst>
          </a:prstGeom>
          <a:solidFill>
            <a:srgbClr val="FAFAF7"/>
          </a:solidFill>
          <a:ln w="12700">
            <a:solidFill>
              <a:srgbClr val="E3E1D8"/>
            </a:solidFill>
            <a:prstDash val="solid"/>
          </a:ln>
        </p:spPr>
        <p:txBody>
          <a:bodyPr wrap="square" lIns="50800" tIns="50800" rIns="50800" bIns="50800" rtlCol="0" anchor="ctr"/>
          <a:lstStyle/>
          <a:p>
            <a:pPr algn="ctr" indent="0" marL="0">
              <a:buNone/>
            </a:pPr>
            <a:r>
              <a:rPr lang="en-US" sz="1100" b="1" dirty="0">
                <a:solidFill>
                  <a:srgbClr val="B4B2A9"/>
                </a:solidFill>
                <a:latin typeface="Consolas" pitchFamily="34" charset="0"/>
                <a:ea typeface="Consolas" pitchFamily="34" charset="-122"/>
                <a:cs typeface="Consolas" pitchFamily="34" charset="-120"/>
              </a:rPr>
              <a:t>END</a:t>
            </a:r>
            <a:endParaRPr lang="en-US" sz="1100" dirty="0"/>
          </a:p>
        </p:txBody>
      </p:sp>
      <p:sp>
        <p:nvSpPr>
          <p:cNvPr id="13" name="!!gf1"/>
          <p:cNvSpPr/>
          <p:nvPr/>
        </p:nvSpPr>
        <p:spPr>
          <a:xfrm flipH="1">
            <a:off x="2103120" y="3630168"/>
            <a:ext cx="502920" cy="914"/>
          </a:xfrm>
          <a:prstGeom prst="line">
            <a:avLst/>
          </a:prstGeom>
          <a:noFill/>
          <a:ln w="31750">
            <a:solidFill>
              <a:srgbClr val="993C1D"/>
            </a:solidFill>
            <a:prstDash val="dash"/>
          </a:ln>
        </p:spPr>
        <p:txBody>
          <a:bodyPr/>
          <a:p/>
        </p:txBody>
      </p:sp>
      <p:sp>
        <p:nvSpPr>
          <p:cNvPr id="14" name="!!gf2"/>
          <p:cNvSpPr/>
          <p:nvPr/>
        </p:nvSpPr>
        <p:spPr>
          <a:xfrm flipV="1">
            <a:off x="2103120" y="2487168"/>
            <a:ext cx="914" cy="1143000"/>
          </a:xfrm>
          <a:prstGeom prst="line">
            <a:avLst/>
          </a:prstGeom>
          <a:noFill/>
          <a:ln w="31750">
            <a:solidFill>
              <a:srgbClr val="993C1D"/>
            </a:solidFill>
            <a:prstDash val="dash"/>
          </a:ln>
        </p:spPr>
        <p:txBody>
          <a:bodyPr/>
          <a:p/>
        </p:txBody>
      </p:sp>
      <p:sp>
        <p:nvSpPr>
          <p:cNvPr id="15" name="!!gf3"/>
          <p:cNvSpPr/>
          <p:nvPr/>
        </p:nvSpPr>
        <p:spPr>
          <a:xfrm>
            <a:off x="2103120" y="2487168"/>
            <a:ext cx="484632" cy="914"/>
          </a:xfrm>
          <a:prstGeom prst="line">
            <a:avLst/>
          </a:prstGeom>
          <a:noFill/>
          <a:ln w="31750">
            <a:solidFill>
              <a:srgbClr val="993C1D"/>
            </a:solidFill>
            <a:prstDash val="dash"/>
            <a:tailEnd type="triangle"/>
          </a:ln>
        </p:spPr>
        <p:txBody>
          <a:bodyPr/>
          <a:p/>
        </p:txBody>
      </p:sp>
      <p:sp>
        <p:nvSpPr>
          <p:cNvPr id="16" name="!!gfail"/>
          <p:cNvSpPr txBox="1"/>
          <p:nvPr/>
        </p:nvSpPr>
        <p:spPr>
          <a:xfrm>
            <a:off x="1645920" y="3081528"/>
            <a:ext cx="411480" cy="274320"/>
          </a:xfrm>
          <a:prstGeom prst="rect">
            <a:avLst/>
          </a:prstGeom>
          <a:noFill/>
          <a:ln/>
        </p:spPr>
        <p:txBody>
          <a:bodyPr wrap="square" lIns="0" tIns="0" rIns="0" bIns="0" rtlCol="0" anchor="t"/>
          <a:lstStyle/>
          <a:p>
            <a:pPr algn="r" indent="0" marL="0">
              <a:buNone/>
            </a:pPr>
            <a:r>
              <a:rPr lang="en-US" sz="1100" b="1" dirty="0">
                <a:solidFill>
                  <a:srgbClr val="712B13"/>
                </a:solidFill>
                <a:latin typeface="Calibri" pitchFamily="34" charset="0"/>
                <a:ea typeface="Calibri" pitchFamily="34" charset="-122"/>
                <a:cs typeface="Calibri" pitchFamily="34" charset="-120"/>
              </a:rPr>
              <a:t>fail</a:t>
            </a:r>
            <a:endParaRPr lang="en-US" sz="1100" dirty="0"/>
          </a:p>
        </p:txBody>
      </p:sp>
      <p:sp>
        <p:nvSpPr>
          <p:cNvPr id="17" name="!!sl1"/>
          <p:cNvSpPr/>
          <p:nvPr/>
        </p:nvSpPr>
        <p:spPr>
          <a:xfrm>
            <a:off x="4617720" y="2487168"/>
            <a:ext cx="731520" cy="914"/>
          </a:xfrm>
          <a:prstGeom prst="line">
            <a:avLst/>
          </a:prstGeom>
          <a:noFill/>
          <a:ln w="9525">
            <a:solidFill>
              <a:srgbClr val="E3E1D8"/>
            </a:solidFill>
            <a:prstDash val="dash"/>
          </a:ln>
        </p:spPr>
        <p:txBody>
          <a:bodyPr/>
          <a:p/>
        </p:txBody>
      </p:sp>
      <p:sp>
        <p:nvSpPr>
          <p:cNvPr id="18" name="!!sl2"/>
          <p:cNvSpPr/>
          <p:nvPr/>
        </p:nvSpPr>
        <p:spPr>
          <a:xfrm>
            <a:off x="4617720" y="3630168"/>
            <a:ext cx="731520" cy="914"/>
          </a:xfrm>
          <a:prstGeom prst="line">
            <a:avLst/>
          </a:prstGeom>
          <a:noFill/>
          <a:ln w="9525">
            <a:solidFill>
              <a:srgbClr val="E3E1D8"/>
            </a:solidFill>
            <a:prstDash val="dash"/>
          </a:ln>
        </p:spPr>
        <p:txBody>
          <a:bodyPr/>
          <a:p/>
        </p:txBody>
      </p:sp>
      <p:sp>
        <p:nvSpPr>
          <p:cNvPr id="19" name="!!st"/>
          <p:cNvSpPr/>
          <p:nvPr/>
        </p:nvSpPr>
        <p:spPr>
          <a:xfrm>
            <a:off x="5349240" y="2121408"/>
            <a:ext cx="1600200" cy="1874520"/>
          </a:xfrm>
          <a:prstGeom prst="roundRect">
            <a:avLst>
              <a:gd name="adj" fmla="val 4571"/>
            </a:avLst>
          </a:prstGeom>
          <a:solidFill>
            <a:srgbClr val="FAFAF7"/>
          </a:solidFill>
          <a:ln w="12700">
            <a:solidFill>
              <a:srgbClr val="E3E1D8"/>
            </a:solidFill>
            <a:prstDash val="solid"/>
          </a:ln>
        </p:spPr>
        <p:txBody>
          <a:bodyPr wrap="square" lIns="50800" tIns="50800" rIns="50800" bIns="50800" rtlCol="0" anchor="ctr"/>
          <a:lstStyle/>
          <a:p>
            <a:pPr algn="ctr" indent="0" marL="0">
              <a:buNone/>
            </a:pPr>
            <a:endParaRPr lang="en-US" sz="1200" dirty="0"/>
          </a:p>
        </p:txBody>
      </p:sp>
      <p:sp>
        <p:nvSpPr>
          <p:cNvPr id="20" name="!!sth"/>
          <p:cNvSpPr txBox="1"/>
          <p:nvPr/>
        </p:nvSpPr>
        <p:spPr>
          <a:xfrm>
            <a:off x="5486400" y="2212848"/>
            <a:ext cx="1325880" cy="274320"/>
          </a:xfrm>
          <a:prstGeom prst="rect">
            <a:avLst/>
          </a:prstGeom>
          <a:noFill/>
          <a:ln/>
        </p:spPr>
        <p:txBody>
          <a:bodyPr wrap="square" lIns="0" tIns="0" rIns="0" bIns="0" rtlCol="0" anchor="t"/>
          <a:lstStyle/>
          <a:p>
            <a:pPr algn="l" indent="0" marL="0">
              <a:buNone/>
            </a:pPr>
            <a:r>
              <a:rPr lang="en-US" sz="1300" b="1" dirty="0">
                <a:solidFill>
                  <a:srgbClr val="B4B2A9"/>
                </a:solidFill>
                <a:latin typeface="Calibri" pitchFamily="34" charset="0"/>
                <a:ea typeface="Calibri" pitchFamily="34" charset="-122"/>
                <a:cs typeface="Calibri" pitchFamily="34" charset="-120"/>
              </a:rPr>
              <a:t>State</a:t>
            </a:r>
            <a:endParaRPr lang="en-US" sz="1300" dirty="0"/>
          </a:p>
        </p:txBody>
      </p:sp>
      <p:sp>
        <p:nvSpPr>
          <p:cNvPr id="21" name="!!str0"/>
          <p:cNvSpPr txBox="1"/>
          <p:nvPr/>
        </p:nvSpPr>
        <p:spPr>
          <a:xfrm>
            <a:off x="5486400" y="2505456"/>
            <a:ext cx="1325880" cy="457200"/>
          </a:xfrm>
          <a:prstGeom prst="rect">
            <a:avLst/>
          </a:prstGeom>
          <a:noFill/>
          <a:ln/>
        </p:spPr>
        <p:txBody>
          <a:bodyPr wrap="square" lIns="0" tIns="0" rIns="0" bIns="0" rtlCol="0" anchor="t"/>
          <a:lstStyle/>
          <a:p>
            <a:pPr algn="l" indent="0" marL="0">
              <a:buNone/>
            </a:pPr>
            <a:r>
              <a:rPr lang="en-US" sz="1150" b="1" dirty="0">
                <a:solidFill>
                  <a:srgbClr val="B4B2A9"/>
                </a:solidFill>
                <a:latin typeface="Consolas" pitchFamily="34" charset="0"/>
                <a:ea typeface="Consolas" pitchFamily="34" charset="-122"/>
                <a:cs typeface="Consolas" pitchFamily="34" charset="-120"/>
              </a:rPr>
              <a:t>ticket</a:t>
            </a:r>
            <a:endParaRPr lang="en-US" sz="1400" dirty="0"/>
          </a:p>
          <a:p>
            <a:pPr algn="l" indent="0" marL="0">
              <a:buNone/>
            </a:pPr>
            <a:r>
              <a:rPr lang="en-US" sz="1000" dirty="0">
                <a:solidFill>
                  <a:srgbClr val="B4B2A9"/>
                </a:solidFill>
                <a:latin typeface="Calibri" pitchFamily="34" charset="0"/>
                <a:ea typeface="Calibri" pitchFamily="34" charset="-122"/>
                <a:cs typeface="Calibri" pitchFamily="34" charset="-120"/>
              </a:rPr>
              <a:t>input</a:t>
            </a:r>
            <a:endParaRPr lang="en-US" sz="1400" dirty="0"/>
          </a:p>
        </p:txBody>
      </p:sp>
      <p:sp>
        <p:nvSpPr>
          <p:cNvPr id="22" name="!!str1"/>
          <p:cNvSpPr txBox="1"/>
          <p:nvPr/>
        </p:nvSpPr>
        <p:spPr>
          <a:xfrm>
            <a:off x="5486400" y="2980944"/>
            <a:ext cx="1325880" cy="457200"/>
          </a:xfrm>
          <a:prstGeom prst="rect">
            <a:avLst/>
          </a:prstGeom>
          <a:noFill/>
          <a:ln/>
        </p:spPr>
        <p:txBody>
          <a:bodyPr wrap="square" lIns="0" tIns="0" rIns="0" bIns="0" rtlCol="0" anchor="t"/>
          <a:lstStyle/>
          <a:p>
            <a:pPr algn="l" indent="0" marL="0">
              <a:buNone/>
            </a:pPr>
            <a:r>
              <a:rPr lang="en-US" sz="1150" b="1" dirty="0">
                <a:solidFill>
                  <a:srgbClr val="B4B2A9"/>
                </a:solidFill>
                <a:latin typeface="Consolas" pitchFamily="34" charset="0"/>
                <a:ea typeface="Consolas" pitchFamily="34" charset="-122"/>
                <a:cs typeface="Consolas" pitchFamily="34" charset="-120"/>
              </a:rPr>
              <a:t>result</a:t>
            </a:r>
            <a:endParaRPr lang="en-US" sz="1400" dirty="0"/>
          </a:p>
          <a:p>
            <a:pPr algn="l" indent="0" marL="0">
              <a:buNone/>
            </a:pPr>
            <a:r>
              <a:rPr lang="en-US" sz="1000" dirty="0">
                <a:solidFill>
                  <a:srgbClr val="B4B2A9"/>
                </a:solidFill>
                <a:latin typeface="Calibri" pitchFamily="34" charset="0"/>
                <a:ea typeface="Calibri" pitchFamily="34" charset="-122"/>
                <a:cs typeface="Calibri" pitchFamily="34" charset="-120"/>
              </a:rPr>
              <a:t>by worker</a:t>
            </a:r>
            <a:endParaRPr lang="en-US" sz="1400" dirty="0"/>
          </a:p>
        </p:txBody>
      </p:sp>
      <p:sp>
        <p:nvSpPr>
          <p:cNvPr id="23" name="!!str2"/>
          <p:cNvSpPr txBox="1"/>
          <p:nvPr/>
        </p:nvSpPr>
        <p:spPr>
          <a:xfrm>
            <a:off x="5486400" y="3456432"/>
            <a:ext cx="1325880" cy="457200"/>
          </a:xfrm>
          <a:prstGeom prst="rect">
            <a:avLst/>
          </a:prstGeom>
          <a:noFill/>
          <a:ln/>
        </p:spPr>
        <p:txBody>
          <a:bodyPr wrap="square" lIns="0" tIns="0" rIns="0" bIns="0" rtlCol="0" anchor="t"/>
          <a:lstStyle/>
          <a:p>
            <a:pPr algn="l" indent="0" marL="0">
              <a:buNone/>
            </a:pPr>
            <a:r>
              <a:rPr lang="en-US" sz="1150" b="1" dirty="0">
                <a:solidFill>
                  <a:srgbClr val="B4B2A9"/>
                </a:solidFill>
                <a:latin typeface="Consolas" pitchFamily="34" charset="0"/>
                <a:ea typeface="Consolas" pitchFamily="34" charset="-122"/>
                <a:cs typeface="Consolas" pitchFamily="34" charset="-120"/>
              </a:rPr>
              <a:t>status</a:t>
            </a:r>
            <a:endParaRPr lang="en-US" sz="1400" dirty="0"/>
          </a:p>
          <a:p>
            <a:pPr algn="l" indent="0" marL="0">
              <a:buNone/>
            </a:pPr>
            <a:r>
              <a:rPr lang="en-US" sz="1000" dirty="0">
                <a:solidFill>
                  <a:srgbClr val="B4B2A9"/>
                </a:solidFill>
                <a:latin typeface="Calibri" pitchFamily="34" charset="0"/>
                <a:ea typeface="Calibri" pitchFamily="34" charset="-122"/>
                <a:cs typeface="Calibri" pitchFamily="34" charset="-120"/>
              </a:rPr>
              <a:t>by checker</a:t>
            </a:r>
            <a:endParaRPr lang="en-US" sz="1400" dirty="0"/>
          </a:p>
        </p:txBody>
      </p:sp>
      <p:sp>
        <p:nvSpPr>
          <p:cNvPr id="24" name="!!panel"/>
          <p:cNvSpPr/>
          <p:nvPr/>
        </p:nvSpPr>
        <p:spPr>
          <a:xfrm>
            <a:off x="7269480" y="1463040"/>
            <a:ext cx="4507992" cy="3977640"/>
          </a:xfrm>
          <a:prstGeom prst="roundRect">
            <a:avLst>
              <a:gd name="adj" fmla="val 1839"/>
            </a:avLst>
          </a:prstGeom>
          <a:solidFill>
            <a:srgbClr val="FFFFFF"/>
          </a:solidFill>
          <a:ln w="12700">
            <a:solidFill>
              <a:srgbClr val="D3D1C7"/>
            </a:solidFill>
            <a:prstDash val="solid"/>
          </a:ln>
        </p:spPr>
        <p:txBody>
          <a:bodyPr wrap="square" lIns="50800" tIns="50800" rIns="50800" bIns="50800" rtlCol="0" anchor="ctr"/>
          <a:lstStyle/>
          <a:p>
            <a:pPr algn="ctr" indent="0" marL="0">
              <a:buNone/>
            </a:pPr>
            <a:endParaRPr lang="en-US" sz="1200" dirty="0"/>
          </a:p>
        </p:txBody>
      </p:sp>
      <p:sp>
        <p:nvSpPr>
          <p:cNvPr id="25" name="!!ptitle"/>
          <p:cNvSpPr txBox="1"/>
          <p:nvPr/>
        </p:nvSpPr>
        <p:spPr>
          <a:xfrm>
            <a:off x="7543800" y="1645920"/>
            <a:ext cx="3959352" cy="411480"/>
          </a:xfrm>
          <a:prstGeom prst="rect">
            <a:avLst/>
          </a:prstGeom>
          <a:noFill/>
          <a:ln/>
        </p:spPr>
        <p:txBody>
          <a:bodyPr wrap="square" lIns="0" tIns="0" rIns="0" bIns="0" rtlCol="0" anchor="ctr"/>
          <a:lstStyle/>
          <a:p>
            <a:pPr algn="l" indent="0" marL="0">
              <a:buNone/>
            </a:pPr>
            <a:r>
              <a:rPr lang="en-US" sz="2000" b="1" dirty="0">
                <a:solidFill>
                  <a:srgbClr val="3C3489"/>
                </a:solidFill>
                <a:latin typeface="Calibri" pitchFamily="34" charset="0"/>
                <a:ea typeface="Calibri" pitchFamily="34" charset="-122"/>
                <a:cs typeface="Calibri" pitchFamily="34" charset="-120"/>
              </a:rPr>
              <a:t>Conditional edge</a:t>
            </a:r>
            <a:endParaRPr lang="en-US" sz="2000" dirty="0"/>
          </a:p>
        </p:txBody>
      </p:sp>
      <p:sp>
        <p:nvSpPr>
          <p:cNvPr id="26" name="!!pl1"/>
          <p:cNvSpPr txBox="1"/>
          <p:nvPr/>
        </p:nvSpPr>
        <p:spPr>
          <a:xfrm>
            <a:off x="7543800" y="2176272"/>
            <a:ext cx="3959352" cy="237744"/>
          </a:xfrm>
          <a:prstGeom prst="rect">
            <a:avLst/>
          </a:prstGeom>
          <a:noFill/>
          <a:ln/>
        </p:spPr>
        <p:txBody>
          <a:bodyPr wrap="square" lIns="0" tIns="0" rIns="0" bIns="0" rtlCol="0" anchor="t"/>
          <a:lstStyle/>
          <a:p>
            <a:pPr algn="l" indent="0" marL="0">
              <a:buNone/>
            </a:pPr>
            <a:r>
              <a:rPr lang="en-US" sz="1050" b="1" dirty="0">
                <a:solidFill>
                  <a:srgbClr val="5F5E5A"/>
                </a:solidFill>
                <a:latin typeface="Calibri" pitchFamily="34" charset="0"/>
                <a:ea typeface="Calibri" pitchFamily="34" charset="-122"/>
                <a:cs typeface="Calibri" pitchFamily="34" charset="-120"/>
              </a:rPr>
              <a:t>WHAT IT IS</a:t>
            </a:r>
            <a:endParaRPr lang="en-US" sz="1050" dirty="0"/>
          </a:p>
        </p:txBody>
      </p:sp>
      <p:sp>
        <p:nvSpPr>
          <p:cNvPr id="27" name="!!pwhat"/>
          <p:cNvSpPr txBox="1"/>
          <p:nvPr/>
        </p:nvSpPr>
        <p:spPr>
          <a:xfrm>
            <a:off x="7543800" y="2404872"/>
            <a:ext cx="3959352" cy="566928"/>
          </a:xfrm>
          <a:prstGeom prst="rect">
            <a:avLst/>
          </a:prstGeom>
          <a:noFill/>
          <a:ln/>
        </p:spPr>
        <p:txBody>
          <a:bodyPr wrap="square" lIns="0" tIns="0" rIns="0" bIns="0" rtlCol="0" anchor="t"/>
          <a:lstStyle/>
          <a:p>
            <a:pPr algn="l" indent="0" marL="0">
              <a:buNone/>
            </a:pPr>
            <a:r>
              <a:rPr lang="en-US" sz="1350" dirty="0">
                <a:solidFill>
                  <a:srgbClr val="2C2C2A"/>
                </a:solidFill>
                <a:latin typeface="Calibri" pitchFamily="34" charset="0"/>
                <a:ea typeface="Calibri" pitchFamily="34" charset="-122"/>
                <a:cs typeface="Calibri" pitchFamily="34" charset="-120"/>
              </a:rPr>
              <a:t>A decision point: a small rule looks at the state and picks the next node.</a:t>
            </a:r>
            <a:endParaRPr lang="en-US" sz="1350" dirty="0"/>
          </a:p>
        </p:txBody>
      </p:sp>
      <p:sp>
        <p:nvSpPr>
          <p:cNvPr id="28" name="!!pl2"/>
          <p:cNvSpPr txBox="1"/>
          <p:nvPr/>
        </p:nvSpPr>
        <p:spPr>
          <a:xfrm>
            <a:off x="7543800" y="3017520"/>
            <a:ext cx="3959352" cy="237744"/>
          </a:xfrm>
          <a:prstGeom prst="rect">
            <a:avLst/>
          </a:prstGeom>
          <a:noFill/>
          <a:ln/>
        </p:spPr>
        <p:txBody>
          <a:bodyPr wrap="square" lIns="0" tIns="0" rIns="0" bIns="0" rtlCol="0" anchor="t"/>
          <a:lstStyle/>
          <a:p>
            <a:pPr algn="l" indent="0" marL="0">
              <a:buNone/>
            </a:pPr>
            <a:r>
              <a:rPr lang="en-US" sz="1050" b="1" dirty="0">
                <a:solidFill>
                  <a:srgbClr val="5F5E5A"/>
                </a:solidFill>
                <a:latin typeface="Calibri" pitchFamily="34" charset="0"/>
                <a:ea typeface="Calibri" pitchFamily="34" charset="-122"/>
                <a:cs typeface="Calibri" pitchFamily="34" charset="-120"/>
              </a:rPr>
              <a:t>IN THIS GRAPH</a:t>
            </a:r>
            <a:endParaRPr lang="en-US" sz="1050" dirty="0"/>
          </a:p>
        </p:txBody>
      </p:sp>
      <p:sp>
        <p:nvSpPr>
          <p:cNvPr id="29" name="!!phere"/>
          <p:cNvSpPr txBox="1"/>
          <p:nvPr/>
        </p:nvSpPr>
        <p:spPr>
          <a:xfrm>
            <a:off x="7543800" y="3246120"/>
            <a:ext cx="3959352" cy="566928"/>
          </a:xfrm>
          <a:prstGeom prst="rect">
            <a:avLst/>
          </a:prstGeom>
          <a:noFill/>
          <a:ln/>
        </p:spPr>
        <p:txBody>
          <a:bodyPr wrap="square" lIns="0" tIns="0" rIns="0" bIns="0" rtlCol="0" anchor="t"/>
          <a:lstStyle/>
          <a:p>
            <a:pPr algn="l" indent="0" marL="0">
              <a:buNone/>
            </a:pPr>
            <a:r>
              <a:rPr lang="en-US" sz="1300" dirty="0">
                <a:solidFill>
                  <a:srgbClr val="2C2C2A"/>
                </a:solidFill>
                <a:latin typeface="Calibri" pitchFamily="34" charset="0"/>
                <a:ea typeface="Calibri" pitchFamily="34" charset="-122"/>
                <a:cs typeface="Calibri" pitchFamily="34" charset="-120"/>
              </a:rPr>
              <a:t>After checker: pass → END, fail → back to worker. This replaces the finish_reason if/else.</a:t>
            </a:r>
            <a:endParaRPr lang="en-US" sz="1300" dirty="0"/>
          </a:p>
        </p:txBody>
      </p:sp>
      <p:sp>
        <p:nvSpPr>
          <p:cNvPr id="30" name="!!plike"/>
          <p:cNvSpPr/>
          <p:nvPr/>
        </p:nvSpPr>
        <p:spPr>
          <a:xfrm>
            <a:off x="7543800" y="3886200"/>
            <a:ext cx="3959352" cy="457200"/>
          </a:xfrm>
          <a:prstGeom prst="roundRect">
            <a:avLst>
              <a:gd name="adj" fmla="val 12000"/>
            </a:avLst>
          </a:prstGeom>
          <a:solidFill>
            <a:srgbClr val="E1F5EE"/>
          </a:solidFill>
          <a:ln w="12700">
            <a:solidFill>
              <a:srgbClr val="0F6E56"/>
            </a:solidFill>
            <a:prstDash val="solid"/>
          </a:ln>
        </p:spPr>
        <p:txBody>
          <a:bodyPr wrap="square" lIns="101600" tIns="101600" rIns="101600" bIns="101600" rtlCol="0" anchor="ctr"/>
          <a:lstStyle/>
          <a:p>
            <a:pPr algn="l" indent="0" marL="0">
              <a:buNone/>
            </a:pPr>
            <a:r>
              <a:rPr lang="en-US" sz="1250" b="1" dirty="0">
                <a:solidFill>
                  <a:srgbClr val="085041"/>
                </a:solidFill>
                <a:latin typeface="Calibri" pitchFamily="34" charset="0"/>
                <a:ea typeface="Calibri" pitchFamily="34" charset="-122"/>
                <a:cs typeface="Calibri" pitchFamily="34" charset="-120"/>
              </a:rPr>
              <a:t>Think of it as  </a:t>
            </a:r>
            <a:pPr algn="l" indent="0" marL="0">
              <a:buNone/>
            </a:pPr>
            <a:r>
              <a:rPr lang="en-US" sz="1250" dirty="0">
                <a:solidFill>
                  <a:srgbClr val="085041"/>
                </a:solidFill>
                <a:latin typeface="Calibri" pitchFamily="34" charset="0"/>
                <a:ea typeface="Calibri" pitchFamily="34" charset="-122"/>
                <a:cs typeface="Calibri" pitchFamily="34" charset="-120"/>
              </a:rPr>
              <a:t>An approval rule: approved goes out, rejected goes back for rework.</a:t>
            </a:r>
            <a:endParaRPr lang="en-US" sz="1250" dirty="0"/>
          </a:p>
        </p:txBody>
      </p:sp>
      <p:sp>
        <p:nvSpPr>
          <p:cNvPr id="31" name="!!pcode"/>
          <p:cNvSpPr/>
          <p:nvPr/>
        </p:nvSpPr>
        <p:spPr>
          <a:xfrm>
            <a:off x="7543800" y="4453128"/>
            <a:ext cx="3959352" cy="786384"/>
          </a:xfrm>
          <a:prstGeom prst="roundRect">
            <a:avLst>
              <a:gd name="adj" fmla="val 4651"/>
            </a:avLst>
          </a:prstGeom>
          <a:solidFill>
            <a:srgbClr val="F7F6F2"/>
          </a:solidFill>
          <a:ln w="6350">
            <a:solidFill>
              <a:srgbClr val="D3D1C7"/>
            </a:solidFill>
            <a:prstDash val="solid"/>
          </a:ln>
        </p:spPr>
        <p:txBody>
          <a:bodyPr wrap="square" lIns="101600" tIns="101600" rIns="101600" bIns="101600" rtlCol="0" anchor="ctr"/>
          <a:lstStyle/>
          <a:p>
            <a:pPr algn="l" indent="0" marL="0">
              <a:buNone/>
            </a:pPr>
            <a:r>
              <a:rPr lang="en-US" sz="1000" dirty="0">
                <a:solidFill>
                  <a:srgbClr val="2C2C2A"/>
                </a:solidFill>
                <a:latin typeface="Consolas" pitchFamily="34" charset="0"/>
                <a:ea typeface="Consolas" pitchFamily="34" charset="-122"/>
                <a:cs typeface="Consolas" pitchFamily="34" charset="-120"/>
              </a:rPr>
              <a:t>g.add_conditional_edges("checker",</a:t>
            </a:r>
            <a:endParaRPr lang="en-US" sz="1000" dirty="0"/>
          </a:p>
          <a:p>
            <a:pPr algn="l" indent="0" marL="0">
              <a:buNone/>
            </a:pPr>
            <a:r>
              <a:rPr lang="en-US" sz="1000" dirty="0">
                <a:solidFill>
                  <a:srgbClr val="2C2C2A"/>
                </a:solidFill>
                <a:latin typeface="Consolas" pitchFamily="34" charset="0"/>
                <a:ea typeface="Consolas" pitchFamily="34" charset="-122"/>
                <a:cs typeface="Consolas" pitchFamily="34" charset="-120"/>
              </a:rPr>
              <a:t>    lambda s: END if s["status"] == "pass"</a:t>
            </a:r>
            <a:endParaRPr lang="en-US" sz="1000" dirty="0"/>
          </a:p>
          <a:p>
            <a:pPr algn="l" indent="0" marL="0">
              <a:buNone/>
            </a:pPr>
            <a:r>
              <a:rPr lang="en-US" sz="1000" dirty="0">
                <a:solidFill>
                  <a:srgbClr val="2C2C2A"/>
                </a:solidFill>
                <a:latin typeface="Consolas" pitchFamily="34" charset="0"/>
                <a:ea typeface="Consolas" pitchFamily="34" charset="-122"/>
                <a:cs typeface="Consolas" pitchFamily="34" charset="-120"/>
              </a:rPr>
              <a:t>              else "worker")</a:t>
            </a:r>
            <a:endParaRPr lang="en-US" sz="1000" dirty="0"/>
          </a:p>
        </p:txBody>
      </p:sp>
      <p:sp>
        <p:nvSpPr>
          <p:cNvPr id="32" name="!!btn0">
            <a:hlinkClick action="ppaction://hlinksldjump" r:id="rId1"/>
          </p:cNvPr>
          <p:cNvSpPr/>
          <p:nvPr/>
        </p:nvSpPr>
        <p:spPr>
          <a:xfrm>
            <a:off x="411480" y="5669280"/>
            <a:ext cx="1545336" cy="420624"/>
          </a:xfrm>
          <a:prstGeom prst="roundRect">
            <a:avLst>
              <a:gd name="adj" fmla="val 50000"/>
            </a:avLst>
          </a:prstGeom>
          <a:solidFill>
            <a:srgbClr val="FFFFFF"/>
          </a:solidFill>
          <a:ln w="12700">
            <a:solidFill>
              <a:srgbClr val="534AB7"/>
            </a:solidFill>
            <a:prstDash val="solid"/>
          </a:ln>
        </p:spPr>
        <p:txBody>
          <a:bodyPr wrap="square" lIns="0" tIns="0" rIns="0" bIns="0" rtlCol="0" anchor="ctr"/>
          <a:lstStyle/>
          <a:p>
            <a:pPr algn="ctr" indent="0" marL="0">
              <a:buNone/>
            </a:pPr>
            <a:r>
              <a:rPr lang="en-US" sz="1250" u="none" dirty="0">
                <a:solidFill>
                  <a:srgbClr val="3C3489"/>
                </a:solidFill>
                <a:latin typeface="Calibri" pitchFamily="34" charset="0"/>
                <a:ea typeface="Calibri" pitchFamily="34" charset="-122"/>
                <a:cs typeface="Calibri" pitchFamily="34" charset="-120"/>
                <a:hlinkClick r:id="rId1" action="ppaction://hlinksldjump" tooltip="How to read it">
                  <a:extLst>
                    <a:ext uri="{A12FA001-AC4F-418D-AE19-62706E023703}">
                      <ahyp:hlinkClr xmlns:ahyp="http://schemas.microsoft.com/office/drawing/2018/hyperlinkcolor" val="tx"/>
                    </a:ext>
                  </a:extLst>
                </a:hlinkClick>
              </a:rPr>
              <a:t>Overview</a:t>
            </a:r>
            <a:endParaRPr lang="en-US" sz="1250" dirty="0"/>
          </a:p>
        </p:txBody>
      </p:sp>
      <p:sp>
        <p:nvSpPr>
          <p:cNvPr id="33" name="!!btn1">
            <a:hlinkClick action="ppaction://hlinksldjump" r:id="rId2"/>
          </p:cNvPr>
          <p:cNvSpPr/>
          <p:nvPr/>
        </p:nvSpPr>
        <p:spPr>
          <a:xfrm>
            <a:off x="2048256" y="5669280"/>
            <a:ext cx="1545336" cy="420624"/>
          </a:xfrm>
          <a:prstGeom prst="roundRect">
            <a:avLst>
              <a:gd name="adj" fmla="val 50000"/>
            </a:avLst>
          </a:prstGeom>
          <a:solidFill>
            <a:srgbClr val="FFFFFF"/>
          </a:solidFill>
          <a:ln w="12700">
            <a:solidFill>
              <a:srgbClr val="534AB7"/>
            </a:solidFill>
            <a:prstDash val="solid"/>
          </a:ln>
        </p:spPr>
        <p:txBody>
          <a:bodyPr wrap="square" lIns="0" tIns="0" rIns="0" bIns="0" rtlCol="0" anchor="ctr"/>
          <a:lstStyle/>
          <a:p>
            <a:pPr algn="ctr" indent="0" marL="0">
              <a:buNone/>
            </a:pPr>
            <a:r>
              <a:rPr lang="en-US" sz="1250" u="none" dirty="0">
                <a:solidFill>
                  <a:srgbClr val="3C3489"/>
                </a:solidFill>
                <a:latin typeface="Calibri" pitchFamily="34" charset="0"/>
                <a:ea typeface="Calibri" pitchFamily="34" charset="-122"/>
                <a:cs typeface="Calibri" pitchFamily="34" charset="-120"/>
                <a:hlinkClick r:id="rId2" action="ppaction://hlinksldjump" tooltip="Node">
                  <a:extLst>
                    <a:ext uri="{A12FA001-AC4F-418D-AE19-62706E023703}">
                      <ahyp:hlinkClr xmlns:ahyp="http://schemas.microsoft.com/office/drawing/2018/hyperlinkcolor" val="tx"/>
                    </a:ext>
                  </a:extLst>
                </a:hlinkClick>
              </a:rPr>
              <a:t>Node</a:t>
            </a:r>
            <a:endParaRPr lang="en-US" sz="1250" dirty="0"/>
          </a:p>
        </p:txBody>
      </p:sp>
      <p:sp>
        <p:nvSpPr>
          <p:cNvPr id="34" name="!!btn2">
            <a:hlinkClick action="ppaction://hlinksldjump" r:id="rId3"/>
          </p:cNvPr>
          <p:cNvSpPr/>
          <p:nvPr/>
        </p:nvSpPr>
        <p:spPr>
          <a:xfrm>
            <a:off x="3685032" y="5669280"/>
            <a:ext cx="1545336" cy="420624"/>
          </a:xfrm>
          <a:prstGeom prst="roundRect">
            <a:avLst>
              <a:gd name="adj" fmla="val 50000"/>
            </a:avLst>
          </a:prstGeom>
          <a:solidFill>
            <a:srgbClr val="FFFFFF"/>
          </a:solidFill>
          <a:ln w="12700">
            <a:solidFill>
              <a:srgbClr val="534AB7"/>
            </a:solidFill>
            <a:prstDash val="solid"/>
          </a:ln>
        </p:spPr>
        <p:txBody>
          <a:bodyPr wrap="square" lIns="0" tIns="0" rIns="0" bIns="0" rtlCol="0" anchor="ctr"/>
          <a:lstStyle/>
          <a:p>
            <a:pPr algn="ctr" indent="0" marL="0">
              <a:buNone/>
            </a:pPr>
            <a:r>
              <a:rPr lang="en-US" sz="1250" u="none" dirty="0">
                <a:solidFill>
                  <a:srgbClr val="3C3489"/>
                </a:solidFill>
                <a:latin typeface="Calibri" pitchFamily="34" charset="0"/>
                <a:ea typeface="Calibri" pitchFamily="34" charset="-122"/>
                <a:cs typeface="Calibri" pitchFamily="34" charset="-120"/>
                <a:hlinkClick r:id="rId3" action="ppaction://hlinksldjump" tooltip="Edge">
                  <a:extLst>
                    <a:ext uri="{A12FA001-AC4F-418D-AE19-62706E023703}">
                      <ahyp:hlinkClr xmlns:ahyp="http://schemas.microsoft.com/office/drawing/2018/hyperlinkcolor" val="tx"/>
                    </a:ext>
                  </a:extLst>
                </a:hlinkClick>
              </a:rPr>
              <a:t>Edge</a:t>
            </a:r>
            <a:endParaRPr lang="en-US" sz="1250" dirty="0"/>
          </a:p>
        </p:txBody>
      </p:sp>
      <p:sp>
        <p:nvSpPr>
          <p:cNvPr id="35" name="!!btn3">
            <a:hlinkClick action="ppaction://hlinksldjump" r:id="rId4"/>
          </p:cNvPr>
          <p:cNvSpPr/>
          <p:nvPr/>
        </p:nvSpPr>
        <p:spPr>
          <a:xfrm>
            <a:off x="5321808" y="5669280"/>
            <a:ext cx="1545336" cy="420624"/>
          </a:xfrm>
          <a:prstGeom prst="roundRect">
            <a:avLst>
              <a:gd name="adj" fmla="val 50000"/>
            </a:avLst>
          </a:prstGeom>
          <a:solidFill>
            <a:srgbClr val="534AB7"/>
          </a:solidFill>
          <a:ln w="12700">
            <a:solidFill>
              <a:srgbClr val="534AB7"/>
            </a:solidFill>
            <a:prstDash val="solid"/>
          </a:ln>
        </p:spPr>
        <p:txBody>
          <a:bodyPr wrap="square" lIns="0" tIns="0" rIns="0" bIns="0" rtlCol="0" anchor="ctr"/>
          <a:lstStyle/>
          <a:p>
            <a:pPr algn="ctr" indent="0" marL="0">
              <a:buNone/>
            </a:pPr>
            <a:r>
              <a:rPr lang="en-US" sz="1250" b="1" u="none" dirty="0">
                <a:solidFill>
                  <a:srgbClr val="FFFFFF"/>
                </a:solidFill>
                <a:latin typeface="Calibri" pitchFamily="34" charset="0"/>
                <a:ea typeface="Calibri" pitchFamily="34" charset="-122"/>
                <a:cs typeface="Calibri" pitchFamily="34" charset="-120"/>
                <a:hlinkClick r:id="rId4" action="ppaction://hlinksldjump" tooltip="Conditional edge">
                  <a:extLst>
                    <a:ext uri="{A12FA001-AC4F-418D-AE19-62706E023703}">
                      <ahyp:hlinkClr xmlns:ahyp="http://schemas.microsoft.com/office/drawing/2018/hyperlinkcolor" val="tx"/>
                    </a:ext>
                  </a:extLst>
                </a:hlinkClick>
              </a:rPr>
              <a:t>Conditional edge</a:t>
            </a:r>
            <a:endParaRPr lang="en-US" sz="1250" dirty="0"/>
          </a:p>
        </p:txBody>
      </p:sp>
      <p:sp>
        <p:nvSpPr>
          <p:cNvPr id="36" name="!!btn4">
            <a:hlinkClick action="ppaction://hlinksldjump" r:id="rId5"/>
          </p:cNvPr>
          <p:cNvSpPr/>
          <p:nvPr/>
        </p:nvSpPr>
        <p:spPr>
          <a:xfrm>
            <a:off x="6958584" y="5669280"/>
            <a:ext cx="1545336" cy="420624"/>
          </a:xfrm>
          <a:prstGeom prst="roundRect">
            <a:avLst>
              <a:gd name="adj" fmla="val 50000"/>
            </a:avLst>
          </a:prstGeom>
          <a:solidFill>
            <a:srgbClr val="FFFFFF"/>
          </a:solidFill>
          <a:ln w="12700">
            <a:solidFill>
              <a:srgbClr val="534AB7"/>
            </a:solidFill>
            <a:prstDash val="solid"/>
          </a:ln>
        </p:spPr>
        <p:txBody>
          <a:bodyPr wrap="square" lIns="0" tIns="0" rIns="0" bIns="0" rtlCol="0" anchor="ctr"/>
          <a:lstStyle/>
          <a:p>
            <a:pPr algn="ctr" indent="0" marL="0">
              <a:buNone/>
            </a:pPr>
            <a:r>
              <a:rPr lang="en-US" sz="1250" u="none" dirty="0">
                <a:solidFill>
                  <a:srgbClr val="3C3489"/>
                </a:solidFill>
                <a:latin typeface="Calibri" pitchFamily="34" charset="0"/>
                <a:ea typeface="Calibri" pitchFamily="34" charset="-122"/>
                <a:cs typeface="Calibri" pitchFamily="34" charset="-120"/>
                <a:hlinkClick r:id="rId5" action="ppaction://hlinksldjump" tooltip="State">
                  <a:extLst>
                    <a:ext uri="{A12FA001-AC4F-418D-AE19-62706E023703}">
                      <ahyp:hlinkClr xmlns:ahyp="http://schemas.microsoft.com/office/drawing/2018/hyperlinkcolor" val="tx"/>
                    </a:ext>
                  </a:extLst>
                </a:hlinkClick>
              </a:rPr>
              <a:t>State</a:t>
            </a:r>
            <a:endParaRPr lang="en-US" sz="1250" dirty="0"/>
          </a:p>
        </p:txBody>
      </p:sp>
      <p:sp>
        <p:nvSpPr>
          <p:cNvPr id="37" name="!!btn5">
            <a:hlinkClick action="ppaction://hlinksldjump" r:id="rId6"/>
          </p:cNvPr>
          <p:cNvSpPr/>
          <p:nvPr/>
        </p:nvSpPr>
        <p:spPr>
          <a:xfrm>
            <a:off x="8595360" y="5669280"/>
            <a:ext cx="1545336" cy="420624"/>
          </a:xfrm>
          <a:prstGeom prst="roundRect">
            <a:avLst>
              <a:gd name="adj" fmla="val 50000"/>
            </a:avLst>
          </a:prstGeom>
          <a:solidFill>
            <a:srgbClr val="FFFFFF"/>
          </a:solidFill>
          <a:ln w="12700">
            <a:solidFill>
              <a:srgbClr val="534AB7"/>
            </a:solidFill>
            <a:prstDash val="solid"/>
          </a:ln>
        </p:spPr>
        <p:txBody>
          <a:bodyPr wrap="square" lIns="0" tIns="0" rIns="0" bIns="0" rtlCol="0" anchor="ctr"/>
          <a:lstStyle/>
          <a:p>
            <a:pPr algn="ctr" indent="0" marL="0">
              <a:buNone/>
            </a:pPr>
            <a:r>
              <a:rPr lang="en-US" sz="1250" u="none" dirty="0">
                <a:solidFill>
                  <a:srgbClr val="3C3489"/>
                </a:solidFill>
                <a:latin typeface="Calibri" pitchFamily="34" charset="0"/>
                <a:ea typeface="Calibri" pitchFamily="34" charset="-122"/>
                <a:cs typeface="Calibri" pitchFamily="34" charset="-120"/>
                <a:hlinkClick r:id="rId6" action="ppaction://hlinksldjump" tooltip="Subgraph">
                  <a:extLst>
                    <a:ext uri="{A12FA001-AC4F-418D-AE19-62706E023703}">
                      <ahyp:hlinkClr xmlns:ahyp="http://schemas.microsoft.com/office/drawing/2018/hyperlinkcolor" val="tx"/>
                    </a:ext>
                  </a:extLst>
                </a:hlinkClick>
              </a:rPr>
              <a:t>Subgraph</a:t>
            </a:r>
            <a:endParaRPr lang="en-US" sz="1250" dirty="0"/>
          </a:p>
        </p:txBody>
      </p:sp>
      <p:sp>
        <p:nvSpPr>
          <p:cNvPr id="38" name="!!btn6">
            <a:hlinkClick action="ppaction://hlinksldjump" r:id="rId7"/>
          </p:cNvPr>
          <p:cNvSpPr/>
          <p:nvPr/>
        </p:nvSpPr>
        <p:spPr>
          <a:xfrm>
            <a:off x="10232136" y="5669280"/>
            <a:ext cx="1545336" cy="420624"/>
          </a:xfrm>
          <a:prstGeom prst="roundRect">
            <a:avLst>
              <a:gd name="adj" fmla="val 50000"/>
            </a:avLst>
          </a:prstGeom>
          <a:solidFill>
            <a:srgbClr val="FFFFFF"/>
          </a:solidFill>
          <a:ln w="12700">
            <a:solidFill>
              <a:srgbClr val="534AB7"/>
            </a:solidFill>
            <a:prstDash val="solid"/>
          </a:ln>
        </p:spPr>
        <p:txBody>
          <a:bodyPr wrap="square" lIns="0" tIns="0" rIns="0" bIns="0" rtlCol="0" anchor="ctr"/>
          <a:lstStyle/>
          <a:p>
            <a:pPr algn="ctr" indent="0" marL="0">
              <a:buNone/>
            </a:pPr>
            <a:r>
              <a:rPr lang="en-US" sz="1250" u="none" dirty="0">
                <a:solidFill>
                  <a:srgbClr val="3C3489"/>
                </a:solidFill>
                <a:latin typeface="Calibri" pitchFamily="34" charset="0"/>
                <a:ea typeface="Calibri" pitchFamily="34" charset="-122"/>
                <a:cs typeface="Calibri" pitchFamily="34" charset="-120"/>
                <a:hlinkClick r:id="rId7" action="ppaction://hlinksldjump" tooltip="Checkpointer">
                  <a:extLst>
                    <a:ext uri="{A12FA001-AC4F-418D-AE19-62706E023703}">
                      <ahyp:hlinkClr xmlns:ahyp="http://schemas.microsoft.com/office/drawing/2018/hyperlinkcolor" val="tx"/>
                    </a:ext>
                  </a:extLst>
                </a:hlinkClick>
              </a:rPr>
              <a:t>Checkpointer</a:t>
            </a:r>
            <a:endParaRPr lang="en-US" sz="1250" dirty="0"/>
          </a:p>
        </p:txBody>
      </p:sp>
      <p:sp>
        <p:nvSpPr>
          <p:cNvPr id="25" name="Slide Number Placeholder 0"/>
          <p:cNvSpPr>
            <a:spLocks noGrp="1"/>
          </p:cNvSpPr>
          <p:nvPr>
            <p:ph type="sldNum" sz="quarter" idx="4294967295"/>
          </p:nvPr>
        </p:nvSpPr>
        <p:spPr>
          <a:xfrm>
            <a:off x="5641848" y="6382512"/>
            <a:ext cx="914400" cy="201168"/>
          </a:xfrm>
          <a:prstGeom prst="rect">
            <a:avLst/>
          </a:prstGeom>
          <a:extLst>
            <a:ext uri="{C572A759-6A51-4108-AA02-DFA0A04FC94B}">
              <ma14:wrappingTextBoxFlag xmlns:ma14="http://schemas.microsoft.com/office/mac/drawingml/2011/main" val="0"/>
            </a:ext>
          </a:extLst>
        </p:spPr>
        <p:txBody>
          <a:bodyPr/>
          <a:lstStyle>
            <a:lvl1pPr>
              <a:defRPr sz="1000">
                <a:solidFill>
                  <a:srgbClr val="595959"/>
                </a:solidFill>
                <a:latin typeface="Arial"/>
                <a:ea typeface="Arial"/>
                <a:cs typeface="Arial"/>
              </a:defRPr>
            </a:lvl1pPr>
          </a:lstStyle>
          <a:p>
            <a:pPr algn="ctr"/>
            <a:fld id="{F7021451-1387-4CA6-816F-3879F97B5CBC}" type="slidenum">
              <a:rPr b="0" lang="en-US"/>
              <a:t>8</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700">
        <p159:morph option="byObject"/>
      </p:transition>
    </mc:Choice>
    <mc:Fallback>
      <p:transition spd="slow">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itle"/>
          <p:cNvSpPr txBox="1"/>
          <p:nvPr/>
        </p:nvSpPr>
        <p:spPr>
          <a:xfrm>
            <a:off x="411480" y="201168"/>
            <a:ext cx="11338560" cy="530352"/>
          </a:xfrm>
          <a:prstGeom prst="rect">
            <a:avLst/>
          </a:prstGeom>
          <a:noFill/>
          <a:ln/>
        </p:spPr>
        <p:txBody>
          <a:bodyPr wrap="square" lIns="0" tIns="0" rIns="0" bIns="0" rtlCol="0" anchor="b"/>
          <a:lstStyle/>
          <a:p>
            <a:pPr algn="l" indent="0" marL="0">
              <a:buNone/>
            </a:pPr>
            <a:r>
              <a:rPr lang="en-US" sz="2600" b="1" dirty="0">
                <a:solidFill>
                  <a:srgbClr val="1A1A1A"/>
                </a:solidFill>
                <a:latin typeface="Calibri" pitchFamily="34" charset="0"/>
                <a:ea typeface="Calibri" pitchFamily="34" charset="-122"/>
                <a:cs typeface="Calibri" pitchFamily="34" charset="-120"/>
              </a:rPr>
              <a:t>Reading the Graph: What Each Part Does</a:t>
            </a:r>
            <a:endParaRPr lang="en-US" sz="2600" dirty="0"/>
          </a:p>
        </p:txBody>
      </p:sp>
      <p:sp>
        <p:nvSpPr>
          <p:cNvPr id="3" name="!!rule"/>
          <p:cNvSpPr/>
          <p:nvPr/>
        </p:nvSpPr>
        <p:spPr>
          <a:xfrm>
            <a:off x="411480" y="804672"/>
            <a:ext cx="11365992" cy="914"/>
          </a:xfrm>
          <a:prstGeom prst="line">
            <a:avLst/>
          </a:prstGeom>
          <a:noFill/>
          <a:ln w="9525">
            <a:solidFill>
              <a:srgbClr val="7F7F7F"/>
            </a:solidFill>
            <a:prstDash val="solid"/>
          </a:ln>
        </p:spPr>
        <p:txBody>
          <a:bodyPr/>
          <a:p/>
        </p:txBody>
      </p:sp>
      <p:sp>
        <p:nvSpPr>
          <p:cNvPr id="4" name="!!lead"/>
          <p:cNvSpPr txBox="1"/>
          <p:nvPr/>
        </p:nvSpPr>
        <p:spPr>
          <a:xfrm>
            <a:off x="411480" y="886968"/>
            <a:ext cx="11338560" cy="438912"/>
          </a:xfrm>
          <a:prstGeom prst="rect">
            <a:avLst/>
          </a:prstGeom>
          <a:noFill/>
          <a:ln/>
        </p:spPr>
        <p:txBody>
          <a:bodyPr wrap="square" lIns="0" tIns="0" rIns="0" bIns="0" rtlCol="0" anchor="t"/>
          <a:lstStyle/>
          <a:p>
            <a:pPr indent="0" marL="0">
              <a:buNone/>
            </a:pPr>
            <a:r>
              <a:rPr lang="en-US" sz="1400" dirty="0">
                <a:solidFill>
                  <a:srgbClr val="404040"/>
                </a:solidFill>
                <a:latin typeface="Arial" pitchFamily="34" charset="0"/>
                <a:ea typeface="Arial" pitchFamily="34" charset="-122"/>
                <a:cs typeface="Arial" pitchFamily="34" charset="-120"/>
              </a:rPr>
              <a:t>The same graph as the last slide, one part at a time. Click a button to see what that part does, in plain words and in code.</a:t>
            </a:r>
            <a:endParaRPr lang="en-US" sz="1400" dirty="0"/>
          </a:p>
        </p:txBody>
      </p:sp>
      <p:sp>
        <p:nvSpPr>
          <p:cNvPr id="5" name="!!gs"/>
          <p:cNvSpPr/>
          <p:nvPr/>
        </p:nvSpPr>
        <p:spPr>
          <a:xfrm>
            <a:off x="3108960" y="1572768"/>
            <a:ext cx="1005840" cy="329184"/>
          </a:xfrm>
          <a:prstGeom prst="roundRect">
            <a:avLst>
              <a:gd name="adj" fmla="val 50000"/>
            </a:avLst>
          </a:prstGeom>
          <a:solidFill>
            <a:srgbClr val="FAFAF7"/>
          </a:solidFill>
          <a:ln w="12700">
            <a:solidFill>
              <a:srgbClr val="E3E1D8"/>
            </a:solidFill>
            <a:prstDash val="solid"/>
          </a:ln>
        </p:spPr>
        <p:txBody>
          <a:bodyPr wrap="square" lIns="50800" tIns="50800" rIns="50800" bIns="50800" rtlCol="0" anchor="ctr"/>
          <a:lstStyle/>
          <a:p>
            <a:pPr algn="ctr" indent="0" marL="0">
              <a:buNone/>
            </a:pPr>
            <a:r>
              <a:rPr lang="en-US" sz="1100" b="1" dirty="0">
                <a:solidFill>
                  <a:srgbClr val="B4B2A9"/>
                </a:solidFill>
                <a:latin typeface="Consolas" pitchFamily="34" charset="0"/>
                <a:ea typeface="Consolas" pitchFamily="34" charset="-122"/>
                <a:cs typeface="Consolas" pitchFamily="34" charset="-120"/>
              </a:rPr>
              <a:t>START</a:t>
            </a:r>
            <a:endParaRPr lang="en-US" sz="1100" dirty="0"/>
          </a:p>
        </p:txBody>
      </p:sp>
      <p:sp>
        <p:nvSpPr>
          <p:cNvPr id="6" name="!!e1"/>
          <p:cNvSpPr/>
          <p:nvPr/>
        </p:nvSpPr>
        <p:spPr>
          <a:xfrm>
            <a:off x="3611880" y="1901952"/>
            <a:ext cx="914" cy="219456"/>
          </a:xfrm>
          <a:prstGeom prst="line">
            <a:avLst/>
          </a:prstGeom>
          <a:noFill/>
          <a:ln w="15875">
            <a:solidFill>
              <a:srgbClr val="E3E1D8"/>
            </a:solidFill>
            <a:prstDash val="solid"/>
            <a:tailEnd type="triangle"/>
          </a:ln>
        </p:spPr>
        <p:txBody>
          <a:bodyPr/>
          <a:p/>
        </p:txBody>
      </p:sp>
      <p:sp>
        <p:nvSpPr>
          <p:cNvPr id="7" name="!!gw"/>
          <p:cNvSpPr/>
          <p:nvPr/>
        </p:nvSpPr>
        <p:spPr>
          <a:xfrm>
            <a:off x="2606040" y="2121408"/>
            <a:ext cx="2011680" cy="731520"/>
          </a:xfrm>
          <a:prstGeom prst="roundRect">
            <a:avLst>
              <a:gd name="adj" fmla="val 10000"/>
            </a:avLst>
          </a:prstGeom>
          <a:solidFill>
            <a:srgbClr val="FAFAF7"/>
          </a:solidFill>
          <a:ln w="12700">
            <a:solidFill>
              <a:srgbClr val="E3E1D8"/>
            </a:solidFill>
            <a:prstDash val="solid"/>
          </a:ln>
        </p:spPr>
        <p:txBody>
          <a:bodyPr wrap="square" lIns="50800" tIns="50800" rIns="50800" bIns="50800" rtlCol="0" anchor="ctr"/>
          <a:lstStyle/>
          <a:p>
            <a:pPr algn="ctr" indent="0" marL="0">
              <a:buNone/>
            </a:pPr>
            <a:r>
              <a:rPr lang="en-US" sz="1500" b="1" dirty="0">
                <a:solidFill>
                  <a:srgbClr val="B4B2A9"/>
                </a:solidFill>
                <a:latin typeface="Calibri" pitchFamily="34" charset="0"/>
                <a:ea typeface="Calibri" pitchFamily="34" charset="-122"/>
                <a:cs typeface="Calibri" pitchFamily="34" charset="-120"/>
              </a:rPr>
              <a:t>worker</a:t>
            </a:r>
            <a:endParaRPr lang="en-US" sz="1200" dirty="0"/>
          </a:p>
          <a:p>
            <a:pPr algn="ctr" indent="0" marL="0">
              <a:buNone/>
            </a:pPr>
            <a:r>
              <a:rPr lang="en-US" sz="1100" dirty="0">
                <a:solidFill>
                  <a:srgbClr val="B4B2A9"/>
                </a:solidFill>
                <a:latin typeface="Calibri" pitchFamily="34" charset="0"/>
                <a:ea typeface="Calibri" pitchFamily="34" charset="-122"/>
                <a:cs typeface="Calibri" pitchFamily="34" charset="-120"/>
              </a:rPr>
              <a:t>does the job</a:t>
            </a:r>
            <a:endParaRPr lang="en-US" sz="1200" dirty="0"/>
          </a:p>
        </p:txBody>
      </p:sp>
      <p:sp>
        <p:nvSpPr>
          <p:cNvPr id="8" name="!!e2"/>
          <p:cNvSpPr/>
          <p:nvPr/>
        </p:nvSpPr>
        <p:spPr>
          <a:xfrm>
            <a:off x="3611880" y="2852928"/>
            <a:ext cx="914" cy="411480"/>
          </a:xfrm>
          <a:prstGeom prst="line">
            <a:avLst/>
          </a:prstGeom>
          <a:noFill/>
          <a:ln w="15875">
            <a:solidFill>
              <a:srgbClr val="E3E1D8"/>
            </a:solidFill>
            <a:prstDash val="solid"/>
            <a:tailEnd type="triangle"/>
          </a:ln>
        </p:spPr>
        <p:txBody>
          <a:bodyPr/>
          <a:p/>
        </p:txBody>
      </p:sp>
      <p:sp>
        <p:nvSpPr>
          <p:cNvPr id="9" name="!!gc"/>
          <p:cNvSpPr/>
          <p:nvPr/>
        </p:nvSpPr>
        <p:spPr>
          <a:xfrm>
            <a:off x="2606040" y="3264408"/>
            <a:ext cx="2011680" cy="731520"/>
          </a:xfrm>
          <a:prstGeom prst="roundRect">
            <a:avLst>
              <a:gd name="adj" fmla="val 10000"/>
            </a:avLst>
          </a:prstGeom>
          <a:solidFill>
            <a:srgbClr val="FAFAF7"/>
          </a:solidFill>
          <a:ln w="12700">
            <a:solidFill>
              <a:srgbClr val="E3E1D8"/>
            </a:solidFill>
            <a:prstDash val="solid"/>
          </a:ln>
        </p:spPr>
        <p:txBody>
          <a:bodyPr wrap="square" lIns="50800" tIns="50800" rIns="50800" bIns="50800" rtlCol="0" anchor="ctr"/>
          <a:lstStyle/>
          <a:p>
            <a:pPr algn="ctr" indent="0" marL="0">
              <a:buNone/>
            </a:pPr>
            <a:r>
              <a:rPr lang="en-US" sz="1500" b="1" dirty="0">
                <a:solidFill>
                  <a:srgbClr val="B4B2A9"/>
                </a:solidFill>
                <a:latin typeface="Calibri" pitchFamily="34" charset="0"/>
                <a:ea typeface="Calibri" pitchFamily="34" charset="-122"/>
                <a:cs typeface="Calibri" pitchFamily="34" charset="-120"/>
              </a:rPr>
              <a:t>checker</a:t>
            </a:r>
            <a:endParaRPr lang="en-US" sz="1200" dirty="0"/>
          </a:p>
          <a:p>
            <a:pPr algn="ctr" indent="0" marL="0">
              <a:buNone/>
            </a:pPr>
            <a:r>
              <a:rPr lang="en-US" sz="1100" dirty="0">
                <a:solidFill>
                  <a:srgbClr val="B4B2A9"/>
                </a:solidFill>
                <a:latin typeface="Calibri" pitchFamily="34" charset="0"/>
                <a:ea typeface="Calibri" pitchFamily="34" charset="-122"/>
                <a:cs typeface="Calibri" pitchFamily="34" charset="-120"/>
              </a:rPr>
              <a:t>verifies the work</a:t>
            </a:r>
            <a:endParaRPr lang="en-US" sz="1200" dirty="0"/>
          </a:p>
        </p:txBody>
      </p:sp>
      <p:sp>
        <p:nvSpPr>
          <p:cNvPr id="10" name="!!e3"/>
          <p:cNvSpPr/>
          <p:nvPr/>
        </p:nvSpPr>
        <p:spPr>
          <a:xfrm>
            <a:off x="3611880" y="3995928"/>
            <a:ext cx="914" cy="411480"/>
          </a:xfrm>
          <a:prstGeom prst="line">
            <a:avLst/>
          </a:prstGeom>
          <a:noFill/>
          <a:ln w="15875">
            <a:solidFill>
              <a:srgbClr val="E3E1D8"/>
            </a:solidFill>
            <a:prstDash val="solid"/>
            <a:tailEnd type="triangle"/>
          </a:ln>
        </p:spPr>
        <p:txBody>
          <a:bodyPr/>
          <a:p/>
        </p:txBody>
      </p:sp>
      <p:sp>
        <p:nvSpPr>
          <p:cNvPr id="11" name="!!gpass"/>
          <p:cNvSpPr txBox="1"/>
          <p:nvPr/>
        </p:nvSpPr>
        <p:spPr>
          <a:xfrm>
            <a:off x="3703320" y="4050792"/>
            <a:ext cx="548640" cy="274320"/>
          </a:xfrm>
          <a:prstGeom prst="rect">
            <a:avLst/>
          </a:prstGeom>
          <a:noFill/>
          <a:ln/>
        </p:spPr>
        <p:txBody>
          <a:bodyPr wrap="square" lIns="0" tIns="0" rIns="0" bIns="0" rtlCol="0" anchor="t"/>
          <a:lstStyle/>
          <a:p>
            <a:pPr algn="l" indent="0" marL="0">
              <a:buNone/>
            </a:pPr>
            <a:r>
              <a:rPr lang="en-US" sz="1100" b="1" dirty="0">
                <a:solidFill>
                  <a:srgbClr val="B4B2A9"/>
                </a:solidFill>
                <a:latin typeface="Calibri" pitchFamily="34" charset="0"/>
                <a:ea typeface="Calibri" pitchFamily="34" charset="-122"/>
                <a:cs typeface="Calibri" pitchFamily="34" charset="-120"/>
              </a:rPr>
              <a:t>pass</a:t>
            </a:r>
            <a:endParaRPr lang="en-US" sz="1100" dirty="0"/>
          </a:p>
        </p:txBody>
      </p:sp>
      <p:sp>
        <p:nvSpPr>
          <p:cNvPr id="12" name="!!gend"/>
          <p:cNvSpPr/>
          <p:nvPr/>
        </p:nvSpPr>
        <p:spPr>
          <a:xfrm>
            <a:off x="3108960" y="4407408"/>
            <a:ext cx="1005840" cy="329184"/>
          </a:xfrm>
          <a:prstGeom prst="roundRect">
            <a:avLst>
              <a:gd name="adj" fmla="val 50000"/>
            </a:avLst>
          </a:prstGeom>
          <a:solidFill>
            <a:srgbClr val="FAFAF7"/>
          </a:solidFill>
          <a:ln w="12700">
            <a:solidFill>
              <a:srgbClr val="E3E1D8"/>
            </a:solidFill>
            <a:prstDash val="solid"/>
          </a:ln>
        </p:spPr>
        <p:txBody>
          <a:bodyPr wrap="square" lIns="50800" tIns="50800" rIns="50800" bIns="50800" rtlCol="0" anchor="ctr"/>
          <a:lstStyle/>
          <a:p>
            <a:pPr algn="ctr" indent="0" marL="0">
              <a:buNone/>
            </a:pPr>
            <a:r>
              <a:rPr lang="en-US" sz="1100" b="1" dirty="0">
                <a:solidFill>
                  <a:srgbClr val="B4B2A9"/>
                </a:solidFill>
                <a:latin typeface="Consolas" pitchFamily="34" charset="0"/>
                <a:ea typeface="Consolas" pitchFamily="34" charset="-122"/>
                <a:cs typeface="Consolas" pitchFamily="34" charset="-120"/>
              </a:rPr>
              <a:t>END</a:t>
            </a:r>
            <a:endParaRPr lang="en-US" sz="1100" dirty="0"/>
          </a:p>
        </p:txBody>
      </p:sp>
      <p:sp>
        <p:nvSpPr>
          <p:cNvPr id="13" name="!!gf1"/>
          <p:cNvSpPr/>
          <p:nvPr/>
        </p:nvSpPr>
        <p:spPr>
          <a:xfrm flipH="1">
            <a:off x="2103120" y="3630168"/>
            <a:ext cx="502920" cy="914"/>
          </a:xfrm>
          <a:prstGeom prst="line">
            <a:avLst/>
          </a:prstGeom>
          <a:noFill/>
          <a:ln w="15875">
            <a:solidFill>
              <a:srgbClr val="E3E1D8"/>
            </a:solidFill>
            <a:prstDash val="dash"/>
          </a:ln>
        </p:spPr>
        <p:txBody>
          <a:bodyPr/>
          <a:p/>
        </p:txBody>
      </p:sp>
      <p:sp>
        <p:nvSpPr>
          <p:cNvPr id="14" name="!!gf2"/>
          <p:cNvSpPr/>
          <p:nvPr/>
        </p:nvSpPr>
        <p:spPr>
          <a:xfrm flipV="1">
            <a:off x="2103120" y="2487168"/>
            <a:ext cx="914" cy="1143000"/>
          </a:xfrm>
          <a:prstGeom prst="line">
            <a:avLst/>
          </a:prstGeom>
          <a:noFill/>
          <a:ln w="15875">
            <a:solidFill>
              <a:srgbClr val="E3E1D8"/>
            </a:solidFill>
            <a:prstDash val="dash"/>
          </a:ln>
        </p:spPr>
        <p:txBody>
          <a:bodyPr/>
          <a:p/>
        </p:txBody>
      </p:sp>
      <p:sp>
        <p:nvSpPr>
          <p:cNvPr id="15" name="!!gf3"/>
          <p:cNvSpPr/>
          <p:nvPr/>
        </p:nvSpPr>
        <p:spPr>
          <a:xfrm>
            <a:off x="2103120" y="2487168"/>
            <a:ext cx="484632" cy="914"/>
          </a:xfrm>
          <a:prstGeom prst="line">
            <a:avLst/>
          </a:prstGeom>
          <a:noFill/>
          <a:ln w="15875">
            <a:solidFill>
              <a:srgbClr val="E3E1D8"/>
            </a:solidFill>
            <a:prstDash val="dash"/>
            <a:tailEnd type="triangle"/>
          </a:ln>
        </p:spPr>
        <p:txBody>
          <a:bodyPr/>
          <a:p/>
        </p:txBody>
      </p:sp>
      <p:sp>
        <p:nvSpPr>
          <p:cNvPr id="16" name="!!gfail"/>
          <p:cNvSpPr txBox="1"/>
          <p:nvPr/>
        </p:nvSpPr>
        <p:spPr>
          <a:xfrm>
            <a:off x="1645920" y="3081528"/>
            <a:ext cx="411480" cy="274320"/>
          </a:xfrm>
          <a:prstGeom prst="rect">
            <a:avLst/>
          </a:prstGeom>
          <a:noFill/>
          <a:ln/>
        </p:spPr>
        <p:txBody>
          <a:bodyPr wrap="square" lIns="0" tIns="0" rIns="0" bIns="0" rtlCol="0" anchor="t"/>
          <a:lstStyle/>
          <a:p>
            <a:pPr algn="r" indent="0" marL="0">
              <a:buNone/>
            </a:pPr>
            <a:r>
              <a:rPr lang="en-US" sz="1100" b="1" dirty="0">
                <a:solidFill>
                  <a:srgbClr val="B4B2A9"/>
                </a:solidFill>
                <a:latin typeface="Calibri" pitchFamily="34" charset="0"/>
                <a:ea typeface="Calibri" pitchFamily="34" charset="-122"/>
                <a:cs typeface="Calibri" pitchFamily="34" charset="-120"/>
              </a:rPr>
              <a:t>fail</a:t>
            </a:r>
            <a:endParaRPr lang="en-US" sz="1100" dirty="0"/>
          </a:p>
        </p:txBody>
      </p:sp>
      <p:sp>
        <p:nvSpPr>
          <p:cNvPr id="17" name="!!sl1"/>
          <p:cNvSpPr/>
          <p:nvPr/>
        </p:nvSpPr>
        <p:spPr>
          <a:xfrm>
            <a:off x="4617720" y="2487168"/>
            <a:ext cx="731520" cy="914"/>
          </a:xfrm>
          <a:prstGeom prst="line">
            <a:avLst/>
          </a:prstGeom>
          <a:noFill/>
          <a:ln w="25400">
            <a:solidFill>
              <a:srgbClr val="534AB7"/>
            </a:solidFill>
            <a:prstDash val="dash"/>
          </a:ln>
        </p:spPr>
        <p:txBody>
          <a:bodyPr/>
          <a:p/>
        </p:txBody>
      </p:sp>
      <p:sp>
        <p:nvSpPr>
          <p:cNvPr id="18" name="!!sl2"/>
          <p:cNvSpPr/>
          <p:nvPr/>
        </p:nvSpPr>
        <p:spPr>
          <a:xfrm>
            <a:off x="4617720" y="3630168"/>
            <a:ext cx="731520" cy="914"/>
          </a:xfrm>
          <a:prstGeom prst="line">
            <a:avLst/>
          </a:prstGeom>
          <a:noFill/>
          <a:ln w="25400">
            <a:solidFill>
              <a:srgbClr val="534AB7"/>
            </a:solidFill>
            <a:prstDash val="dash"/>
          </a:ln>
        </p:spPr>
        <p:txBody>
          <a:bodyPr/>
          <a:p/>
        </p:txBody>
      </p:sp>
      <p:sp>
        <p:nvSpPr>
          <p:cNvPr id="19" name="!!st"/>
          <p:cNvSpPr/>
          <p:nvPr/>
        </p:nvSpPr>
        <p:spPr>
          <a:xfrm>
            <a:off x="5349240" y="2121408"/>
            <a:ext cx="1600200" cy="1874520"/>
          </a:xfrm>
          <a:prstGeom prst="roundRect">
            <a:avLst>
              <a:gd name="adj" fmla="val 4571"/>
            </a:avLst>
          </a:prstGeom>
          <a:solidFill>
            <a:srgbClr val="EEEDFE"/>
          </a:solidFill>
          <a:ln w="28575">
            <a:solidFill>
              <a:srgbClr val="534AB7"/>
            </a:solidFill>
            <a:prstDash val="solid"/>
          </a:ln>
        </p:spPr>
        <p:txBody>
          <a:bodyPr wrap="square" lIns="50800" tIns="50800" rIns="50800" bIns="50800" rtlCol="0" anchor="ctr"/>
          <a:lstStyle/>
          <a:p>
            <a:pPr algn="ctr" indent="0" marL="0">
              <a:buNone/>
            </a:pPr>
            <a:endParaRPr lang="en-US" sz="1200" dirty="0"/>
          </a:p>
        </p:txBody>
      </p:sp>
      <p:sp>
        <p:nvSpPr>
          <p:cNvPr id="20" name="!!sth"/>
          <p:cNvSpPr txBox="1"/>
          <p:nvPr/>
        </p:nvSpPr>
        <p:spPr>
          <a:xfrm>
            <a:off x="5486400" y="2212848"/>
            <a:ext cx="1325880" cy="274320"/>
          </a:xfrm>
          <a:prstGeom prst="rect">
            <a:avLst/>
          </a:prstGeom>
          <a:noFill/>
          <a:ln/>
        </p:spPr>
        <p:txBody>
          <a:bodyPr wrap="square" lIns="0" tIns="0" rIns="0" bIns="0" rtlCol="0" anchor="t"/>
          <a:lstStyle/>
          <a:p>
            <a:pPr algn="l" indent="0" marL="0">
              <a:buNone/>
            </a:pPr>
            <a:r>
              <a:rPr lang="en-US" sz="1300" b="1" dirty="0">
                <a:solidFill>
                  <a:srgbClr val="3C3489"/>
                </a:solidFill>
                <a:latin typeface="Calibri" pitchFamily="34" charset="0"/>
                <a:ea typeface="Calibri" pitchFamily="34" charset="-122"/>
                <a:cs typeface="Calibri" pitchFamily="34" charset="-120"/>
              </a:rPr>
              <a:t>State</a:t>
            </a:r>
            <a:endParaRPr lang="en-US" sz="1300" dirty="0"/>
          </a:p>
        </p:txBody>
      </p:sp>
      <p:sp>
        <p:nvSpPr>
          <p:cNvPr id="21" name="!!str0"/>
          <p:cNvSpPr txBox="1"/>
          <p:nvPr/>
        </p:nvSpPr>
        <p:spPr>
          <a:xfrm>
            <a:off x="5486400" y="2505456"/>
            <a:ext cx="1325880" cy="457200"/>
          </a:xfrm>
          <a:prstGeom prst="rect">
            <a:avLst/>
          </a:prstGeom>
          <a:noFill/>
          <a:ln/>
        </p:spPr>
        <p:txBody>
          <a:bodyPr wrap="square" lIns="0" tIns="0" rIns="0" bIns="0" rtlCol="0" anchor="t"/>
          <a:lstStyle/>
          <a:p>
            <a:pPr algn="l" indent="0" marL="0">
              <a:buNone/>
            </a:pPr>
            <a:r>
              <a:rPr lang="en-US" sz="1150" b="1" dirty="0">
                <a:solidFill>
                  <a:srgbClr val="3C3489"/>
                </a:solidFill>
                <a:latin typeface="Consolas" pitchFamily="34" charset="0"/>
                <a:ea typeface="Consolas" pitchFamily="34" charset="-122"/>
                <a:cs typeface="Consolas" pitchFamily="34" charset="-120"/>
              </a:rPr>
              <a:t>ticket</a:t>
            </a:r>
            <a:endParaRPr lang="en-US" sz="1400" dirty="0"/>
          </a:p>
          <a:p>
            <a:pPr algn="l" indent="0" marL="0">
              <a:buNone/>
            </a:pPr>
            <a:r>
              <a:rPr lang="en-US" sz="1000" dirty="0">
                <a:solidFill>
                  <a:srgbClr val="5F5E5A"/>
                </a:solidFill>
                <a:latin typeface="Calibri" pitchFamily="34" charset="0"/>
                <a:ea typeface="Calibri" pitchFamily="34" charset="-122"/>
                <a:cs typeface="Calibri" pitchFamily="34" charset="-120"/>
              </a:rPr>
              <a:t>input</a:t>
            </a:r>
            <a:endParaRPr lang="en-US" sz="1400" dirty="0"/>
          </a:p>
        </p:txBody>
      </p:sp>
      <p:sp>
        <p:nvSpPr>
          <p:cNvPr id="22" name="!!str1"/>
          <p:cNvSpPr txBox="1"/>
          <p:nvPr/>
        </p:nvSpPr>
        <p:spPr>
          <a:xfrm>
            <a:off x="5486400" y="2980944"/>
            <a:ext cx="1325880" cy="457200"/>
          </a:xfrm>
          <a:prstGeom prst="rect">
            <a:avLst/>
          </a:prstGeom>
          <a:noFill/>
          <a:ln/>
        </p:spPr>
        <p:txBody>
          <a:bodyPr wrap="square" lIns="0" tIns="0" rIns="0" bIns="0" rtlCol="0" anchor="t"/>
          <a:lstStyle/>
          <a:p>
            <a:pPr algn="l" indent="0" marL="0">
              <a:buNone/>
            </a:pPr>
            <a:r>
              <a:rPr lang="en-US" sz="1150" b="1" dirty="0">
                <a:solidFill>
                  <a:srgbClr val="3C3489"/>
                </a:solidFill>
                <a:latin typeface="Consolas" pitchFamily="34" charset="0"/>
                <a:ea typeface="Consolas" pitchFamily="34" charset="-122"/>
                <a:cs typeface="Consolas" pitchFamily="34" charset="-120"/>
              </a:rPr>
              <a:t>result</a:t>
            </a:r>
            <a:endParaRPr lang="en-US" sz="1400" dirty="0"/>
          </a:p>
          <a:p>
            <a:pPr algn="l" indent="0" marL="0">
              <a:buNone/>
            </a:pPr>
            <a:r>
              <a:rPr lang="en-US" sz="1000" dirty="0">
                <a:solidFill>
                  <a:srgbClr val="5F5E5A"/>
                </a:solidFill>
                <a:latin typeface="Calibri" pitchFamily="34" charset="0"/>
                <a:ea typeface="Calibri" pitchFamily="34" charset="-122"/>
                <a:cs typeface="Calibri" pitchFamily="34" charset="-120"/>
              </a:rPr>
              <a:t>by worker</a:t>
            </a:r>
            <a:endParaRPr lang="en-US" sz="1400" dirty="0"/>
          </a:p>
        </p:txBody>
      </p:sp>
      <p:sp>
        <p:nvSpPr>
          <p:cNvPr id="23" name="!!str2"/>
          <p:cNvSpPr txBox="1"/>
          <p:nvPr/>
        </p:nvSpPr>
        <p:spPr>
          <a:xfrm>
            <a:off x="5486400" y="3456432"/>
            <a:ext cx="1325880" cy="457200"/>
          </a:xfrm>
          <a:prstGeom prst="rect">
            <a:avLst/>
          </a:prstGeom>
          <a:noFill/>
          <a:ln/>
        </p:spPr>
        <p:txBody>
          <a:bodyPr wrap="square" lIns="0" tIns="0" rIns="0" bIns="0" rtlCol="0" anchor="t"/>
          <a:lstStyle/>
          <a:p>
            <a:pPr algn="l" indent="0" marL="0">
              <a:buNone/>
            </a:pPr>
            <a:r>
              <a:rPr lang="en-US" sz="1150" b="1" dirty="0">
                <a:solidFill>
                  <a:srgbClr val="3C3489"/>
                </a:solidFill>
                <a:latin typeface="Consolas" pitchFamily="34" charset="0"/>
                <a:ea typeface="Consolas" pitchFamily="34" charset="-122"/>
                <a:cs typeface="Consolas" pitchFamily="34" charset="-120"/>
              </a:rPr>
              <a:t>status</a:t>
            </a:r>
            <a:endParaRPr lang="en-US" sz="1400" dirty="0"/>
          </a:p>
          <a:p>
            <a:pPr algn="l" indent="0" marL="0">
              <a:buNone/>
            </a:pPr>
            <a:r>
              <a:rPr lang="en-US" sz="1000" dirty="0">
                <a:solidFill>
                  <a:srgbClr val="5F5E5A"/>
                </a:solidFill>
                <a:latin typeface="Calibri" pitchFamily="34" charset="0"/>
                <a:ea typeface="Calibri" pitchFamily="34" charset="-122"/>
                <a:cs typeface="Calibri" pitchFamily="34" charset="-120"/>
              </a:rPr>
              <a:t>by checker</a:t>
            </a:r>
            <a:endParaRPr lang="en-US" sz="1400" dirty="0"/>
          </a:p>
        </p:txBody>
      </p:sp>
      <p:sp>
        <p:nvSpPr>
          <p:cNvPr id="24" name="!!panel"/>
          <p:cNvSpPr/>
          <p:nvPr/>
        </p:nvSpPr>
        <p:spPr>
          <a:xfrm>
            <a:off x="7269480" y="1463040"/>
            <a:ext cx="4507992" cy="3977640"/>
          </a:xfrm>
          <a:prstGeom prst="roundRect">
            <a:avLst>
              <a:gd name="adj" fmla="val 1839"/>
            </a:avLst>
          </a:prstGeom>
          <a:solidFill>
            <a:srgbClr val="FFFFFF"/>
          </a:solidFill>
          <a:ln w="12700">
            <a:solidFill>
              <a:srgbClr val="D3D1C7"/>
            </a:solidFill>
            <a:prstDash val="solid"/>
          </a:ln>
        </p:spPr>
        <p:txBody>
          <a:bodyPr wrap="square" lIns="50800" tIns="50800" rIns="50800" bIns="50800" rtlCol="0" anchor="ctr"/>
          <a:lstStyle/>
          <a:p>
            <a:pPr algn="ctr" indent="0" marL="0">
              <a:buNone/>
            </a:pPr>
            <a:endParaRPr lang="en-US" sz="1200" dirty="0"/>
          </a:p>
        </p:txBody>
      </p:sp>
      <p:sp>
        <p:nvSpPr>
          <p:cNvPr id="25" name="!!ptitle"/>
          <p:cNvSpPr txBox="1"/>
          <p:nvPr/>
        </p:nvSpPr>
        <p:spPr>
          <a:xfrm>
            <a:off x="7543800" y="1645920"/>
            <a:ext cx="3959352" cy="411480"/>
          </a:xfrm>
          <a:prstGeom prst="rect">
            <a:avLst/>
          </a:prstGeom>
          <a:noFill/>
          <a:ln/>
        </p:spPr>
        <p:txBody>
          <a:bodyPr wrap="square" lIns="0" tIns="0" rIns="0" bIns="0" rtlCol="0" anchor="ctr"/>
          <a:lstStyle/>
          <a:p>
            <a:pPr algn="l" indent="0" marL="0">
              <a:buNone/>
            </a:pPr>
            <a:r>
              <a:rPr lang="en-US" sz="2000" b="1" dirty="0">
                <a:solidFill>
                  <a:srgbClr val="3C3489"/>
                </a:solidFill>
                <a:latin typeface="Calibri" pitchFamily="34" charset="0"/>
                <a:ea typeface="Calibri" pitchFamily="34" charset="-122"/>
                <a:cs typeface="Calibri" pitchFamily="34" charset="-120"/>
              </a:rPr>
              <a:t>State</a:t>
            </a:r>
            <a:endParaRPr lang="en-US" sz="2000" dirty="0"/>
          </a:p>
        </p:txBody>
      </p:sp>
      <p:sp>
        <p:nvSpPr>
          <p:cNvPr id="26" name="!!pl1"/>
          <p:cNvSpPr txBox="1"/>
          <p:nvPr/>
        </p:nvSpPr>
        <p:spPr>
          <a:xfrm>
            <a:off x="7543800" y="2176272"/>
            <a:ext cx="3959352" cy="237744"/>
          </a:xfrm>
          <a:prstGeom prst="rect">
            <a:avLst/>
          </a:prstGeom>
          <a:noFill/>
          <a:ln/>
        </p:spPr>
        <p:txBody>
          <a:bodyPr wrap="square" lIns="0" tIns="0" rIns="0" bIns="0" rtlCol="0" anchor="t"/>
          <a:lstStyle/>
          <a:p>
            <a:pPr algn="l" indent="0" marL="0">
              <a:buNone/>
            </a:pPr>
            <a:r>
              <a:rPr lang="en-US" sz="1050" b="1" dirty="0">
                <a:solidFill>
                  <a:srgbClr val="5F5E5A"/>
                </a:solidFill>
                <a:latin typeface="Calibri" pitchFamily="34" charset="0"/>
                <a:ea typeface="Calibri" pitchFamily="34" charset="-122"/>
                <a:cs typeface="Calibri" pitchFamily="34" charset="-120"/>
              </a:rPr>
              <a:t>WHAT IT IS</a:t>
            </a:r>
            <a:endParaRPr lang="en-US" sz="1050" dirty="0"/>
          </a:p>
        </p:txBody>
      </p:sp>
      <p:sp>
        <p:nvSpPr>
          <p:cNvPr id="27" name="!!pwhat"/>
          <p:cNvSpPr txBox="1"/>
          <p:nvPr/>
        </p:nvSpPr>
        <p:spPr>
          <a:xfrm>
            <a:off x="7543800" y="2404872"/>
            <a:ext cx="3959352" cy="566928"/>
          </a:xfrm>
          <a:prstGeom prst="rect">
            <a:avLst/>
          </a:prstGeom>
          <a:noFill/>
          <a:ln/>
        </p:spPr>
        <p:txBody>
          <a:bodyPr wrap="square" lIns="0" tIns="0" rIns="0" bIns="0" rtlCol="0" anchor="t"/>
          <a:lstStyle/>
          <a:p>
            <a:pPr algn="l" indent="0" marL="0">
              <a:buNone/>
            </a:pPr>
            <a:r>
              <a:rPr lang="en-US" sz="1350" dirty="0">
                <a:solidFill>
                  <a:srgbClr val="2C2C2A"/>
                </a:solidFill>
                <a:latin typeface="Calibri" pitchFamily="34" charset="0"/>
                <a:ea typeface="Calibri" pitchFamily="34" charset="-122"/>
                <a:cs typeface="Calibri" pitchFamily="34" charset="-120"/>
              </a:rPr>
              <a:t>The shared data every node reads and writes. Nodes pass state, not chat history.</a:t>
            </a:r>
            <a:endParaRPr lang="en-US" sz="1350" dirty="0"/>
          </a:p>
        </p:txBody>
      </p:sp>
      <p:sp>
        <p:nvSpPr>
          <p:cNvPr id="28" name="!!pl2"/>
          <p:cNvSpPr txBox="1"/>
          <p:nvPr/>
        </p:nvSpPr>
        <p:spPr>
          <a:xfrm>
            <a:off x="7543800" y="3017520"/>
            <a:ext cx="3959352" cy="237744"/>
          </a:xfrm>
          <a:prstGeom prst="rect">
            <a:avLst/>
          </a:prstGeom>
          <a:noFill/>
          <a:ln/>
        </p:spPr>
        <p:txBody>
          <a:bodyPr wrap="square" lIns="0" tIns="0" rIns="0" bIns="0" rtlCol="0" anchor="t"/>
          <a:lstStyle/>
          <a:p>
            <a:pPr algn="l" indent="0" marL="0">
              <a:buNone/>
            </a:pPr>
            <a:r>
              <a:rPr lang="en-US" sz="1050" b="1" dirty="0">
                <a:solidFill>
                  <a:srgbClr val="5F5E5A"/>
                </a:solidFill>
                <a:latin typeface="Calibri" pitchFamily="34" charset="0"/>
                <a:ea typeface="Calibri" pitchFamily="34" charset="-122"/>
                <a:cs typeface="Calibri" pitchFamily="34" charset="-120"/>
              </a:rPr>
              <a:t>IN THIS GRAPH</a:t>
            </a:r>
            <a:endParaRPr lang="en-US" sz="1050" dirty="0"/>
          </a:p>
        </p:txBody>
      </p:sp>
      <p:sp>
        <p:nvSpPr>
          <p:cNvPr id="29" name="!!phere"/>
          <p:cNvSpPr txBox="1"/>
          <p:nvPr/>
        </p:nvSpPr>
        <p:spPr>
          <a:xfrm>
            <a:off x="7543800" y="3246120"/>
            <a:ext cx="3959352" cy="566928"/>
          </a:xfrm>
          <a:prstGeom prst="rect">
            <a:avLst/>
          </a:prstGeom>
          <a:noFill/>
          <a:ln/>
        </p:spPr>
        <p:txBody>
          <a:bodyPr wrap="square" lIns="0" tIns="0" rIns="0" bIns="0" rtlCol="0" anchor="t"/>
          <a:lstStyle/>
          <a:p>
            <a:pPr algn="l" indent="0" marL="0">
              <a:buNone/>
            </a:pPr>
            <a:r>
              <a:rPr lang="en-US" sz="1300" dirty="0">
                <a:solidFill>
                  <a:srgbClr val="2C2C2A"/>
                </a:solidFill>
                <a:latin typeface="Calibri" pitchFamily="34" charset="0"/>
                <a:ea typeface="Calibri" pitchFamily="34" charset="-122"/>
                <a:cs typeface="Calibri" pitchFamily="34" charset="-120"/>
              </a:rPr>
              <a:t>ticket is the input, worker writes result, checker writes status.</a:t>
            </a:r>
            <a:endParaRPr lang="en-US" sz="1300" dirty="0"/>
          </a:p>
        </p:txBody>
      </p:sp>
      <p:sp>
        <p:nvSpPr>
          <p:cNvPr id="30" name="!!plike"/>
          <p:cNvSpPr/>
          <p:nvPr/>
        </p:nvSpPr>
        <p:spPr>
          <a:xfrm>
            <a:off x="7543800" y="3886200"/>
            <a:ext cx="3959352" cy="457200"/>
          </a:xfrm>
          <a:prstGeom prst="roundRect">
            <a:avLst>
              <a:gd name="adj" fmla="val 12000"/>
            </a:avLst>
          </a:prstGeom>
          <a:solidFill>
            <a:srgbClr val="E1F5EE"/>
          </a:solidFill>
          <a:ln w="12700">
            <a:solidFill>
              <a:srgbClr val="0F6E56"/>
            </a:solidFill>
            <a:prstDash val="solid"/>
          </a:ln>
        </p:spPr>
        <p:txBody>
          <a:bodyPr wrap="square" lIns="101600" tIns="101600" rIns="101600" bIns="101600" rtlCol="0" anchor="ctr"/>
          <a:lstStyle/>
          <a:p>
            <a:pPr algn="l" indent="0" marL="0">
              <a:buNone/>
            </a:pPr>
            <a:r>
              <a:rPr lang="en-US" sz="1250" b="1" dirty="0">
                <a:solidFill>
                  <a:srgbClr val="085041"/>
                </a:solidFill>
                <a:latin typeface="Calibri" pitchFamily="34" charset="0"/>
                <a:ea typeface="Calibri" pitchFamily="34" charset="-122"/>
                <a:cs typeface="Calibri" pitchFamily="34" charset="-120"/>
              </a:rPr>
              <a:t>Think of it as  </a:t>
            </a:r>
            <a:pPr algn="l" indent="0" marL="0">
              <a:buNone/>
            </a:pPr>
            <a:r>
              <a:rPr lang="en-US" sz="1250" dirty="0">
                <a:solidFill>
                  <a:srgbClr val="085041"/>
                </a:solidFill>
                <a:latin typeface="Calibri" pitchFamily="34" charset="0"/>
                <a:ea typeface="Calibri" pitchFamily="34" charset="-122"/>
                <a:cs typeface="Calibri" pitchFamily="34" charset="-120"/>
              </a:rPr>
              <a:t>One shared case folder that travels with the work.</a:t>
            </a:r>
            <a:endParaRPr lang="en-US" sz="1250" dirty="0"/>
          </a:p>
        </p:txBody>
      </p:sp>
      <p:sp>
        <p:nvSpPr>
          <p:cNvPr id="31" name="!!pcode"/>
          <p:cNvSpPr/>
          <p:nvPr/>
        </p:nvSpPr>
        <p:spPr>
          <a:xfrm>
            <a:off x="7543800" y="4453128"/>
            <a:ext cx="3959352" cy="786384"/>
          </a:xfrm>
          <a:prstGeom prst="roundRect">
            <a:avLst>
              <a:gd name="adj" fmla="val 4651"/>
            </a:avLst>
          </a:prstGeom>
          <a:solidFill>
            <a:srgbClr val="F7F6F2"/>
          </a:solidFill>
          <a:ln w="6350">
            <a:solidFill>
              <a:srgbClr val="D3D1C7"/>
            </a:solidFill>
            <a:prstDash val="solid"/>
          </a:ln>
        </p:spPr>
        <p:txBody>
          <a:bodyPr wrap="square" lIns="101600" tIns="101600" rIns="101600" bIns="101600" rtlCol="0" anchor="ctr"/>
          <a:lstStyle/>
          <a:p>
            <a:pPr algn="l" indent="0" marL="0">
              <a:buNone/>
            </a:pPr>
            <a:r>
              <a:rPr lang="en-US" sz="1000" dirty="0">
                <a:solidFill>
                  <a:srgbClr val="2C2C2A"/>
                </a:solidFill>
                <a:latin typeface="Consolas" pitchFamily="34" charset="0"/>
                <a:ea typeface="Consolas" pitchFamily="34" charset="-122"/>
                <a:cs typeface="Consolas" pitchFamily="34" charset="-120"/>
              </a:rPr>
              <a:t>class State(TypedDict):</a:t>
            </a:r>
            <a:endParaRPr lang="en-US" sz="1000" dirty="0"/>
          </a:p>
          <a:p>
            <a:pPr algn="l" indent="0" marL="0">
              <a:buNone/>
            </a:pPr>
            <a:r>
              <a:rPr lang="en-US" sz="1000" dirty="0">
                <a:solidFill>
                  <a:srgbClr val="2C2C2A"/>
                </a:solidFill>
                <a:latin typeface="Consolas" pitchFamily="34" charset="0"/>
                <a:ea typeface="Consolas" pitchFamily="34" charset="-122"/>
                <a:cs typeface="Consolas" pitchFamily="34" charset="-120"/>
              </a:rPr>
              <a:t>    ticket: str</a:t>
            </a:r>
            <a:endParaRPr lang="en-US" sz="1000" dirty="0"/>
          </a:p>
          <a:p>
            <a:pPr algn="l" indent="0" marL="0">
              <a:buNone/>
            </a:pPr>
            <a:r>
              <a:rPr lang="en-US" sz="1000" dirty="0">
                <a:solidFill>
                  <a:srgbClr val="2C2C2A"/>
                </a:solidFill>
                <a:latin typeface="Consolas" pitchFamily="34" charset="0"/>
                <a:ea typeface="Consolas" pitchFamily="34" charset="-122"/>
                <a:cs typeface="Consolas" pitchFamily="34" charset="-120"/>
              </a:rPr>
              <a:t>    result: str</a:t>
            </a:r>
            <a:endParaRPr lang="en-US" sz="1000" dirty="0"/>
          </a:p>
          <a:p>
            <a:pPr algn="l" indent="0" marL="0">
              <a:buNone/>
            </a:pPr>
            <a:r>
              <a:rPr lang="en-US" sz="1000" dirty="0">
                <a:solidFill>
                  <a:srgbClr val="2C2C2A"/>
                </a:solidFill>
                <a:latin typeface="Consolas" pitchFamily="34" charset="0"/>
                <a:ea typeface="Consolas" pitchFamily="34" charset="-122"/>
                <a:cs typeface="Consolas" pitchFamily="34" charset="-120"/>
              </a:rPr>
              <a:t>    status: str</a:t>
            </a:r>
            <a:endParaRPr lang="en-US" sz="1000" dirty="0"/>
          </a:p>
        </p:txBody>
      </p:sp>
      <p:sp>
        <p:nvSpPr>
          <p:cNvPr id="32" name="!!btn0">
            <a:hlinkClick action="ppaction://hlinksldjump" r:id="rId1"/>
          </p:cNvPr>
          <p:cNvSpPr/>
          <p:nvPr/>
        </p:nvSpPr>
        <p:spPr>
          <a:xfrm>
            <a:off x="411480" y="5669280"/>
            <a:ext cx="1545336" cy="420624"/>
          </a:xfrm>
          <a:prstGeom prst="roundRect">
            <a:avLst>
              <a:gd name="adj" fmla="val 50000"/>
            </a:avLst>
          </a:prstGeom>
          <a:solidFill>
            <a:srgbClr val="FFFFFF"/>
          </a:solidFill>
          <a:ln w="12700">
            <a:solidFill>
              <a:srgbClr val="534AB7"/>
            </a:solidFill>
            <a:prstDash val="solid"/>
          </a:ln>
        </p:spPr>
        <p:txBody>
          <a:bodyPr wrap="square" lIns="0" tIns="0" rIns="0" bIns="0" rtlCol="0" anchor="ctr"/>
          <a:lstStyle/>
          <a:p>
            <a:pPr algn="ctr" indent="0" marL="0">
              <a:buNone/>
            </a:pPr>
            <a:r>
              <a:rPr lang="en-US" sz="1250" u="none" dirty="0">
                <a:solidFill>
                  <a:srgbClr val="3C3489"/>
                </a:solidFill>
                <a:latin typeface="Calibri" pitchFamily="34" charset="0"/>
                <a:ea typeface="Calibri" pitchFamily="34" charset="-122"/>
                <a:cs typeface="Calibri" pitchFamily="34" charset="-120"/>
                <a:hlinkClick r:id="rId1" action="ppaction://hlinksldjump" tooltip="How to read it">
                  <a:extLst>
                    <a:ext uri="{A12FA001-AC4F-418D-AE19-62706E023703}">
                      <ahyp:hlinkClr xmlns:ahyp="http://schemas.microsoft.com/office/drawing/2018/hyperlinkcolor" val="tx"/>
                    </a:ext>
                  </a:extLst>
                </a:hlinkClick>
              </a:rPr>
              <a:t>Overview</a:t>
            </a:r>
            <a:endParaRPr lang="en-US" sz="1250" dirty="0"/>
          </a:p>
        </p:txBody>
      </p:sp>
      <p:sp>
        <p:nvSpPr>
          <p:cNvPr id="33" name="!!btn1">
            <a:hlinkClick action="ppaction://hlinksldjump" r:id="rId2"/>
          </p:cNvPr>
          <p:cNvSpPr/>
          <p:nvPr/>
        </p:nvSpPr>
        <p:spPr>
          <a:xfrm>
            <a:off x="2048256" y="5669280"/>
            <a:ext cx="1545336" cy="420624"/>
          </a:xfrm>
          <a:prstGeom prst="roundRect">
            <a:avLst>
              <a:gd name="adj" fmla="val 50000"/>
            </a:avLst>
          </a:prstGeom>
          <a:solidFill>
            <a:srgbClr val="FFFFFF"/>
          </a:solidFill>
          <a:ln w="12700">
            <a:solidFill>
              <a:srgbClr val="534AB7"/>
            </a:solidFill>
            <a:prstDash val="solid"/>
          </a:ln>
        </p:spPr>
        <p:txBody>
          <a:bodyPr wrap="square" lIns="0" tIns="0" rIns="0" bIns="0" rtlCol="0" anchor="ctr"/>
          <a:lstStyle/>
          <a:p>
            <a:pPr algn="ctr" indent="0" marL="0">
              <a:buNone/>
            </a:pPr>
            <a:r>
              <a:rPr lang="en-US" sz="1250" u="none" dirty="0">
                <a:solidFill>
                  <a:srgbClr val="3C3489"/>
                </a:solidFill>
                <a:latin typeface="Calibri" pitchFamily="34" charset="0"/>
                <a:ea typeface="Calibri" pitchFamily="34" charset="-122"/>
                <a:cs typeface="Calibri" pitchFamily="34" charset="-120"/>
                <a:hlinkClick r:id="rId2" action="ppaction://hlinksldjump" tooltip="Node">
                  <a:extLst>
                    <a:ext uri="{A12FA001-AC4F-418D-AE19-62706E023703}">
                      <ahyp:hlinkClr xmlns:ahyp="http://schemas.microsoft.com/office/drawing/2018/hyperlinkcolor" val="tx"/>
                    </a:ext>
                  </a:extLst>
                </a:hlinkClick>
              </a:rPr>
              <a:t>Node</a:t>
            </a:r>
            <a:endParaRPr lang="en-US" sz="1250" dirty="0"/>
          </a:p>
        </p:txBody>
      </p:sp>
      <p:sp>
        <p:nvSpPr>
          <p:cNvPr id="34" name="!!btn2">
            <a:hlinkClick action="ppaction://hlinksldjump" r:id="rId3"/>
          </p:cNvPr>
          <p:cNvSpPr/>
          <p:nvPr/>
        </p:nvSpPr>
        <p:spPr>
          <a:xfrm>
            <a:off x="3685032" y="5669280"/>
            <a:ext cx="1545336" cy="420624"/>
          </a:xfrm>
          <a:prstGeom prst="roundRect">
            <a:avLst>
              <a:gd name="adj" fmla="val 50000"/>
            </a:avLst>
          </a:prstGeom>
          <a:solidFill>
            <a:srgbClr val="FFFFFF"/>
          </a:solidFill>
          <a:ln w="12700">
            <a:solidFill>
              <a:srgbClr val="534AB7"/>
            </a:solidFill>
            <a:prstDash val="solid"/>
          </a:ln>
        </p:spPr>
        <p:txBody>
          <a:bodyPr wrap="square" lIns="0" tIns="0" rIns="0" bIns="0" rtlCol="0" anchor="ctr"/>
          <a:lstStyle/>
          <a:p>
            <a:pPr algn="ctr" indent="0" marL="0">
              <a:buNone/>
            </a:pPr>
            <a:r>
              <a:rPr lang="en-US" sz="1250" u="none" dirty="0">
                <a:solidFill>
                  <a:srgbClr val="3C3489"/>
                </a:solidFill>
                <a:latin typeface="Calibri" pitchFamily="34" charset="0"/>
                <a:ea typeface="Calibri" pitchFamily="34" charset="-122"/>
                <a:cs typeface="Calibri" pitchFamily="34" charset="-120"/>
                <a:hlinkClick r:id="rId3" action="ppaction://hlinksldjump" tooltip="Edge">
                  <a:extLst>
                    <a:ext uri="{A12FA001-AC4F-418D-AE19-62706E023703}">
                      <ahyp:hlinkClr xmlns:ahyp="http://schemas.microsoft.com/office/drawing/2018/hyperlinkcolor" val="tx"/>
                    </a:ext>
                  </a:extLst>
                </a:hlinkClick>
              </a:rPr>
              <a:t>Edge</a:t>
            </a:r>
            <a:endParaRPr lang="en-US" sz="1250" dirty="0"/>
          </a:p>
        </p:txBody>
      </p:sp>
      <p:sp>
        <p:nvSpPr>
          <p:cNvPr id="35" name="!!btn3">
            <a:hlinkClick action="ppaction://hlinksldjump" r:id="rId4"/>
          </p:cNvPr>
          <p:cNvSpPr/>
          <p:nvPr/>
        </p:nvSpPr>
        <p:spPr>
          <a:xfrm>
            <a:off x="5321808" y="5669280"/>
            <a:ext cx="1545336" cy="420624"/>
          </a:xfrm>
          <a:prstGeom prst="roundRect">
            <a:avLst>
              <a:gd name="adj" fmla="val 50000"/>
            </a:avLst>
          </a:prstGeom>
          <a:solidFill>
            <a:srgbClr val="FFFFFF"/>
          </a:solidFill>
          <a:ln w="12700">
            <a:solidFill>
              <a:srgbClr val="534AB7"/>
            </a:solidFill>
            <a:prstDash val="solid"/>
          </a:ln>
        </p:spPr>
        <p:txBody>
          <a:bodyPr wrap="square" lIns="0" tIns="0" rIns="0" bIns="0" rtlCol="0" anchor="ctr"/>
          <a:lstStyle/>
          <a:p>
            <a:pPr algn="ctr" indent="0" marL="0">
              <a:buNone/>
            </a:pPr>
            <a:r>
              <a:rPr lang="en-US" sz="1250" u="none" dirty="0">
                <a:solidFill>
                  <a:srgbClr val="3C3489"/>
                </a:solidFill>
                <a:latin typeface="Calibri" pitchFamily="34" charset="0"/>
                <a:ea typeface="Calibri" pitchFamily="34" charset="-122"/>
                <a:cs typeface="Calibri" pitchFamily="34" charset="-120"/>
                <a:hlinkClick r:id="rId4" action="ppaction://hlinksldjump" tooltip="Conditional edge">
                  <a:extLst>
                    <a:ext uri="{A12FA001-AC4F-418D-AE19-62706E023703}">
                      <ahyp:hlinkClr xmlns:ahyp="http://schemas.microsoft.com/office/drawing/2018/hyperlinkcolor" val="tx"/>
                    </a:ext>
                  </a:extLst>
                </a:hlinkClick>
              </a:rPr>
              <a:t>Conditional edge</a:t>
            </a:r>
            <a:endParaRPr lang="en-US" sz="1250" dirty="0"/>
          </a:p>
        </p:txBody>
      </p:sp>
      <p:sp>
        <p:nvSpPr>
          <p:cNvPr id="36" name="!!btn4">
            <a:hlinkClick action="ppaction://hlinksldjump" r:id="rId5"/>
          </p:cNvPr>
          <p:cNvSpPr/>
          <p:nvPr/>
        </p:nvSpPr>
        <p:spPr>
          <a:xfrm>
            <a:off x="6958584" y="5669280"/>
            <a:ext cx="1545336" cy="420624"/>
          </a:xfrm>
          <a:prstGeom prst="roundRect">
            <a:avLst>
              <a:gd name="adj" fmla="val 50000"/>
            </a:avLst>
          </a:prstGeom>
          <a:solidFill>
            <a:srgbClr val="534AB7"/>
          </a:solidFill>
          <a:ln w="12700">
            <a:solidFill>
              <a:srgbClr val="534AB7"/>
            </a:solidFill>
            <a:prstDash val="solid"/>
          </a:ln>
        </p:spPr>
        <p:txBody>
          <a:bodyPr wrap="square" lIns="0" tIns="0" rIns="0" bIns="0" rtlCol="0" anchor="ctr"/>
          <a:lstStyle/>
          <a:p>
            <a:pPr algn="ctr" indent="0" marL="0">
              <a:buNone/>
            </a:pPr>
            <a:r>
              <a:rPr lang="en-US" sz="1250" b="1" u="none" dirty="0">
                <a:solidFill>
                  <a:srgbClr val="FFFFFF"/>
                </a:solidFill>
                <a:latin typeface="Calibri" pitchFamily="34" charset="0"/>
                <a:ea typeface="Calibri" pitchFamily="34" charset="-122"/>
                <a:cs typeface="Calibri" pitchFamily="34" charset="-120"/>
                <a:hlinkClick r:id="rId5" action="ppaction://hlinksldjump" tooltip="State">
                  <a:extLst>
                    <a:ext uri="{A12FA001-AC4F-418D-AE19-62706E023703}">
                      <ahyp:hlinkClr xmlns:ahyp="http://schemas.microsoft.com/office/drawing/2018/hyperlinkcolor" val="tx"/>
                    </a:ext>
                  </a:extLst>
                </a:hlinkClick>
              </a:rPr>
              <a:t>State</a:t>
            </a:r>
            <a:endParaRPr lang="en-US" sz="1250" dirty="0"/>
          </a:p>
        </p:txBody>
      </p:sp>
      <p:sp>
        <p:nvSpPr>
          <p:cNvPr id="37" name="!!btn5">
            <a:hlinkClick action="ppaction://hlinksldjump" r:id="rId6"/>
          </p:cNvPr>
          <p:cNvSpPr/>
          <p:nvPr/>
        </p:nvSpPr>
        <p:spPr>
          <a:xfrm>
            <a:off x="8595360" y="5669280"/>
            <a:ext cx="1545336" cy="420624"/>
          </a:xfrm>
          <a:prstGeom prst="roundRect">
            <a:avLst>
              <a:gd name="adj" fmla="val 50000"/>
            </a:avLst>
          </a:prstGeom>
          <a:solidFill>
            <a:srgbClr val="FFFFFF"/>
          </a:solidFill>
          <a:ln w="12700">
            <a:solidFill>
              <a:srgbClr val="534AB7"/>
            </a:solidFill>
            <a:prstDash val="solid"/>
          </a:ln>
        </p:spPr>
        <p:txBody>
          <a:bodyPr wrap="square" lIns="0" tIns="0" rIns="0" bIns="0" rtlCol="0" anchor="ctr"/>
          <a:lstStyle/>
          <a:p>
            <a:pPr algn="ctr" indent="0" marL="0">
              <a:buNone/>
            </a:pPr>
            <a:r>
              <a:rPr lang="en-US" sz="1250" u="none" dirty="0">
                <a:solidFill>
                  <a:srgbClr val="3C3489"/>
                </a:solidFill>
                <a:latin typeface="Calibri" pitchFamily="34" charset="0"/>
                <a:ea typeface="Calibri" pitchFamily="34" charset="-122"/>
                <a:cs typeface="Calibri" pitchFamily="34" charset="-120"/>
                <a:hlinkClick r:id="rId6" action="ppaction://hlinksldjump" tooltip="Subgraph">
                  <a:extLst>
                    <a:ext uri="{A12FA001-AC4F-418D-AE19-62706E023703}">
                      <ahyp:hlinkClr xmlns:ahyp="http://schemas.microsoft.com/office/drawing/2018/hyperlinkcolor" val="tx"/>
                    </a:ext>
                  </a:extLst>
                </a:hlinkClick>
              </a:rPr>
              <a:t>Subgraph</a:t>
            </a:r>
            <a:endParaRPr lang="en-US" sz="1250" dirty="0"/>
          </a:p>
        </p:txBody>
      </p:sp>
      <p:sp>
        <p:nvSpPr>
          <p:cNvPr id="38" name="!!btn6">
            <a:hlinkClick action="ppaction://hlinksldjump" r:id="rId7"/>
          </p:cNvPr>
          <p:cNvSpPr/>
          <p:nvPr/>
        </p:nvSpPr>
        <p:spPr>
          <a:xfrm>
            <a:off x="10232136" y="5669280"/>
            <a:ext cx="1545336" cy="420624"/>
          </a:xfrm>
          <a:prstGeom prst="roundRect">
            <a:avLst>
              <a:gd name="adj" fmla="val 50000"/>
            </a:avLst>
          </a:prstGeom>
          <a:solidFill>
            <a:srgbClr val="FFFFFF"/>
          </a:solidFill>
          <a:ln w="12700">
            <a:solidFill>
              <a:srgbClr val="534AB7"/>
            </a:solidFill>
            <a:prstDash val="solid"/>
          </a:ln>
        </p:spPr>
        <p:txBody>
          <a:bodyPr wrap="square" lIns="0" tIns="0" rIns="0" bIns="0" rtlCol="0" anchor="ctr"/>
          <a:lstStyle/>
          <a:p>
            <a:pPr algn="ctr" indent="0" marL="0">
              <a:buNone/>
            </a:pPr>
            <a:r>
              <a:rPr lang="en-US" sz="1250" u="none" dirty="0">
                <a:solidFill>
                  <a:srgbClr val="3C3489"/>
                </a:solidFill>
                <a:latin typeface="Calibri" pitchFamily="34" charset="0"/>
                <a:ea typeface="Calibri" pitchFamily="34" charset="-122"/>
                <a:cs typeface="Calibri" pitchFamily="34" charset="-120"/>
                <a:hlinkClick r:id="rId7" action="ppaction://hlinksldjump" tooltip="Checkpointer">
                  <a:extLst>
                    <a:ext uri="{A12FA001-AC4F-418D-AE19-62706E023703}">
                      <ahyp:hlinkClr xmlns:ahyp="http://schemas.microsoft.com/office/drawing/2018/hyperlinkcolor" val="tx"/>
                    </a:ext>
                  </a:extLst>
                </a:hlinkClick>
              </a:rPr>
              <a:t>Checkpointer</a:t>
            </a:r>
            <a:endParaRPr lang="en-US" sz="1250" dirty="0"/>
          </a:p>
        </p:txBody>
      </p:sp>
      <p:sp>
        <p:nvSpPr>
          <p:cNvPr id="25" name="Slide Number Placeholder 0"/>
          <p:cNvSpPr>
            <a:spLocks noGrp="1"/>
          </p:cNvSpPr>
          <p:nvPr>
            <p:ph type="sldNum" sz="quarter" idx="4294967295"/>
          </p:nvPr>
        </p:nvSpPr>
        <p:spPr>
          <a:xfrm>
            <a:off x="5641848" y="6382512"/>
            <a:ext cx="914400" cy="201168"/>
          </a:xfrm>
          <a:prstGeom prst="rect">
            <a:avLst/>
          </a:prstGeom>
          <a:extLst>
            <a:ext uri="{C572A759-6A51-4108-AA02-DFA0A04FC94B}">
              <ma14:wrappingTextBoxFlag xmlns:ma14="http://schemas.microsoft.com/office/mac/drawingml/2011/main" val="0"/>
            </a:ext>
          </a:extLst>
        </p:spPr>
        <p:txBody>
          <a:bodyPr/>
          <a:lstStyle>
            <a:lvl1pPr>
              <a:defRPr sz="1000">
                <a:solidFill>
                  <a:srgbClr val="595959"/>
                </a:solidFill>
                <a:latin typeface="Arial"/>
                <a:ea typeface="Arial"/>
                <a:cs typeface="Arial"/>
              </a:defRPr>
            </a:lvl1pPr>
          </a:lstStyle>
          <a:p>
            <a:pPr algn="ctr"/>
            <a:fld id="{F7021451-1387-4CA6-816F-3879F97B5CBC}" type="slidenum">
              <a:rPr b="0" lang="en-US"/>
              <a:t>9</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700">
        <p159:morph option="byObject"/>
      </p:transition>
    </mc:Choice>
    <mc:Fallback>
      <p:transition spd="slow">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itle"/>
          <p:cNvSpPr txBox="1"/>
          <p:nvPr/>
        </p:nvSpPr>
        <p:spPr>
          <a:xfrm>
            <a:off x="411480" y="201168"/>
            <a:ext cx="11338560" cy="530352"/>
          </a:xfrm>
          <a:prstGeom prst="rect">
            <a:avLst/>
          </a:prstGeom>
          <a:noFill/>
          <a:ln/>
        </p:spPr>
        <p:txBody>
          <a:bodyPr wrap="square" lIns="0" tIns="0" rIns="0" bIns="0" rtlCol="0" anchor="b"/>
          <a:lstStyle/>
          <a:p>
            <a:pPr algn="l" indent="0" marL="0">
              <a:buNone/>
            </a:pPr>
            <a:r>
              <a:rPr lang="en-US" sz="2600" b="1" dirty="0">
                <a:solidFill>
                  <a:srgbClr val="1A1A1A"/>
                </a:solidFill>
                <a:latin typeface="Calibri" pitchFamily="34" charset="0"/>
                <a:ea typeface="Calibri" pitchFamily="34" charset="-122"/>
                <a:cs typeface="Calibri" pitchFamily="34" charset="-120"/>
              </a:rPr>
              <a:t>Reading the Graph: What Each Part Does</a:t>
            </a:r>
            <a:endParaRPr lang="en-US" sz="2600" dirty="0"/>
          </a:p>
        </p:txBody>
      </p:sp>
      <p:sp>
        <p:nvSpPr>
          <p:cNvPr id="3" name="!!rule"/>
          <p:cNvSpPr/>
          <p:nvPr/>
        </p:nvSpPr>
        <p:spPr>
          <a:xfrm>
            <a:off x="411480" y="804672"/>
            <a:ext cx="11365992" cy="914"/>
          </a:xfrm>
          <a:prstGeom prst="line">
            <a:avLst/>
          </a:prstGeom>
          <a:noFill/>
          <a:ln w="9525">
            <a:solidFill>
              <a:srgbClr val="7F7F7F"/>
            </a:solidFill>
            <a:prstDash val="solid"/>
          </a:ln>
        </p:spPr>
        <p:txBody>
          <a:bodyPr/>
          <a:p/>
        </p:txBody>
      </p:sp>
      <p:sp>
        <p:nvSpPr>
          <p:cNvPr id="4" name="!!lead"/>
          <p:cNvSpPr txBox="1"/>
          <p:nvPr/>
        </p:nvSpPr>
        <p:spPr>
          <a:xfrm>
            <a:off x="411480" y="886968"/>
            <a:ext cx="11338560" cy="438912"/>
          </a:xfrm>
          <a:prstGeom prst="rect">
            <a:avLst/>
          </a:prstGeom>
          <a:noFill/>
          <a:ln/>
        </p:spPr>
        <p:txBody>
          <a:bodyPr wrap="square" lIns="0" tIns="0" rIns="0" bIns="0" rtlCol="0" anchor="t"/>
          <a:lstStyle/>
          <a:p>
            <a:pPr indent="0" marL="0">
              <a:buNone/>
            </a:pPr>
            <a:r>
              <a:rPr lang="en-US" sz="1400" dirty="0">
                <a:solidFill>
                  <a:srgbClr val="404040"/>
                </a:solidFill>
                <a:latin typeface="Arial" pitchFamily="34" charset="0"/>
                <a:ea typeface="Arial" pitchFamily="34" charset="-122"/>
                <a:cs typeface="Arial" pitchFamily="34" charset="-120"/>
              </a:rPr>
              <a:t>The same graph as the last slide, one part at a time. Click a button to see what that part does, in plain words and in code.</a:t>
            </a:r>
            <a:endParaRPr lang="en-US" sz="1400" dirty="0"/>
          </a:p>
        </p:txBody>
      </p:sp>
      <p:sp>
        <p:nvSpPr>
          <p:cNvPr id="5" name="!!frame"/>
          <p:cNvSpPr/>
          <p:nvPr/>
        </p:nvSpPr>
        <p:spPr>
          <a:xfrm>
            <a:off x="1600200" y="1463040"/>
            <a:ext cx="4023360" cy="3520440"/>
          </a:xfrm>
          <a:prstGeom prst="roundRect">
            <a:avLst>
              <a:gd name="adj" fmla="val 2078"/>
            </a:avLst>
          </a:prstGeom>
          <a:solidFill>
            <a:srgbClr val="FFFFFF"/>
          </a:solidFill>
          <a:ln w="19050">
            <a:solidFill>
              <a:srgbClr val="534AB7"/>
            </a:solidFill>
            <a:prstDash val="dash"/>
          </a:ln>
        </p:spPr>
        <p:txBody>
          <a:bodyPr wrap="square" lIns="50800" tIns="50800" rIns="50800" bIns="50800" rtlCol="0" anchor="ctr"/>
          <a:lstStyle/>
          <a:p>
            <a:pPr algn="ctr" indent="0" marL="0">
              <a:buNone/>
            </a:pPr>
            <a:endParaRPr lang="en-US" sz="1200" dirty="0"/>
          </a:p>
        </p:txBody>
      </p:sp>
      <p:sp>
        <p:nvSpPr>
          <p:cNvPr id="6" name="!!framelbl"/>
          <p:cNvSpPr/>
          <p:nvPr/>
        </p:nvSpPr>
        <p:spPr>
          <a:xfrm>
            <a:off x="1874520" y="4846320"/>
            <a:ext cx="3474720" cy="292608"/>
          </a:xfrm>
          <a:prstGeom prst="roundRect">
            <a:avLst>
              <a:gd name="adj" fmla="val 50000"/>
            </a:avLst>
          </a:prstGeom>
          <a:solidFill>
            <a:srgbClr val="EEEDFE"/>
          </a:solidFill>
          <a:ln w="12700">
            <a:solidFill>
              <a:srgbClr val="534AB7"/>
            </a:solidFill>
            <a:prstDash val="solid"/>
          </a:ln>
        </p:spPr>
        <p:txBody>
          <a:bodyPr wrap="square" lIns="0" tIns="0" rIns="0" bIns="0" rtlCol="0" anchor="ctr"/>
          <a:lstStyle/>
          <a:p>
            <a:pPr algn="ctr" indent="0" marL="0">
              <a:buNone/>
            </a:pPr>
            <a:r>
              <a:rPr lang="en-US" sz="1050" b="1" dirty="0">
                <a:solidFill>
                  <a:srgbClr val="3C3489"/>
                </a:solidFill>
                <a:latin typeface="Calibri" pitchFamily="34" charset="0"/>
                <a:ea typeface="Calibri" pitchFamily="34" charset="-122"/>
                <a:cs typeface="Calibri" pitchFamily="34" charset="-120"/>
              </a:rPr>
              <a:t>fix_ticket · one node in the bigger graph</a:t>
            </a:r>
            <a:endParaRPr lang="en-US" sz="1050" dirty="0"/>
          </a:p>
        </p:txBody>
      </p:sp>
      <p:sp>
        <p:nvSpPr>
          <p:cNvPr id="7" name="!!gs"/>
          <p:cNvSpPr/>
          <p:nvPr/>
        </p:nvSpPr>
        <p:spPr>
          <a:xfrm>
            <a:off x="3108960" y="1572768"/>
            <a:ext cx="1005840" cy="329184"/>
          </a:xfrm>
          <a:prstGeom prst="roundRect">
            <a:avLst>
              <a:gd name="adj" fmla="val 50000"/>
            </a:avLst>
          </a:prstGeom>
          <a:solidFill>
            <a:srgbClr val="FAFAF7"/>
          </a:solidFill>
          <a:ln w="12700">
            <a:solidFill>
              <a:srgbClr val="E3E1D8"/>
            </a:solidFill>
            <a:prstDash val="solid"/>
          </a:ln>
        </p:spPr>
        <p:txBody>
          <a:bodyPr wrap="square" lIns="50800" tIns="50800" rIns="50800" bIns="50800" rtlCol="0" anchor="ctr"/>
          <a:lstStyle/>
          <a:p>
            <a:pPr algn="ctr" indent="0" marL="0">
              <a:buNone/>
            </a:pPr>
            <a:r>
              <a:rPr lang="en-US" sz="1100" b="1" dirty="0">
                <a:solidFill>
                  <a:srgbClr val="B4B2A9"/>
                </a:solidFill>
                <a:latin typeface="Consolas" pitchFamily="34" charset="0"/>
                <a:ea typeface="Consolas" pitchFamily="34" charset="-122"/>
                <a:cs typeface="Consolas" pitchFamily="34" charset="-120"/>
              </a:rPr>
              <a:t>START</a:t>
            </a:r>
            <a:endParaRPr lang="en-US" sz="1100" dirty="0"/>
          </a:p>
        </p:txBody>
      </p:sp>
      <p:sp>
        <p:nvSpPr>
          <p:cNvPr id="8" name="!!e1"/>
          <p:cNvSpPr/>
          <p:nvPr/>
        </p:nvSpPr>
        <p:spPr>
          <a:xfrm>
            <a:off x="3611880" y="1901952"/>
            <a:ext cx="914" cy="219456"/>
          </a:xfrm>
          <a:prstGeom prst="line">
            <a:avLst/>
          </a:prstGeom>
          <a:noFill/>
          <a:ln w="31750">
            <a:solidFill>
              <a:srgbClr val="5F5E5A"/>
            </a:solidFill>
            <a:prstDash val="solid"/>
            <a:tailEnd type="triangle"/>
          </a:ln>
        </p:spPr>
        <p:txBody>
          <a:bodyPr/>
          <a:p/>
        </p:txBody>
      </p:sp>
      <p:sp>
        <p:nvSpPr>
          <p:cNvPr id="9" name="!!gw"/>
          <p:cNvSpPr/>
          <p:nvPr/>
        </p:nvSpPr>
        <p:spPr>
          <a:xfrm>
            <a:off x="2606040" y="2121408"/>
            <a:ext cx="2011680" cy="731520"/>
          </a:xfrm>
          <a:prstGeom prst="roundRect">
            <a:avLst>
              <a:gd name="adj" fmla="val 10000"/>
            </a:avLst>
          </a:prstGeom>
          <a:solidFill>
            <a:srgbClr val="E1F5EE"/>
          </a:solidFill>
          <a:ln w="28575">
            <a:solidFill>
              <a:srgbClr val="0F6E56"/>
            </a:solidFill>
            <a:prstDash val="solid"/>
          </a:ln>
        </p:spPr>
        <p:txBody>
          <a:bodyPr wrap="square" lIns="50800" tIns="50800" rIns="50800" bIns="50800" rtlCol="0" anchor="ctr"/>
          <a:lstStyle/>
          <a:p>
            <a:pPr algn="ctr" indent="0" marL="0">
              <a:buNone/>
            </a:pPr>
            <a:r>
              <a:rPr lang="en-US" sz="1500" b="1" dirty="0">
                <a:solidFill>
                  <a:srgbClr val="085041"/>
                </a:solidFill>
                <a:latin typeface="Calibri" pitchFamily="34" charset="0"/>
                <a:ea typeface="Calibri" pitchFamily="34" charset="-122"/>
                <a:cs typeface="Calibri" pitchFamily="34" charset="-120"/>
              </a:rPr>
              <a:t>worker</a:t>
            </a:r>
            <a:endParaRPr lang="en-US" sz="1200" dirty="0"/>
          </a:p>
          <a:p>
            <a:pPr algn="ctr" indent="0" marL="0">
              <a:buNone/>
            </a:pPr>
            <a:r>
              <a:rPr lang="en-US" sz="1100" dirty="0">
                <a:solidFill>
                  <a:srgbClr val="085041"/>
                </a:solidFill>
                <a:latin typeface="Calibri" pitchFamily="34" charset="0"/>
                <a:ea typeface="Calibri" pitchFamily="34" charset="-122"/>
                <a:cs typeface="Calibri" pitchFamily="34" charset="-120"/>
              </a:rPr>
              <a:t>does the job</a:t>
            </a:r>
            <a:endParaRPr lang="en-US" sz="1200" dirty="0"/>
          </a:p>
        </p:txBody>
      </p:sp>
      <p:sp>
        <p:nvSpPr>
          <p:cNvPr id="10" name="!!e2"/>
          <p:cNvSpPr/>
          <p:nvPr/>
        </p:nvSpPr>
        <p:spPr>
          <a:xfrm>
            <a:off x="3611880" y="2852928"/>
            <a:ext cx="914" cy="411480"/>
          </a:xfrm>
          <a:prstGeom prst="line">
            <a:avLst/>
          </a:prstGeom>
          <a:noFill/>
          <a:ln w="31750">
            <a:solidFill>
              <a:srgbClr val="5F5E5A"/>
            </a:solidFill>
            <a:prstDash val="solid"/>
            <a:tailEnd type="triangle"/>
          </a:ln>
        </p:spPr>
        <p:txBody>
          <a:bodyPr/>
          <a:p/>
        </p:txBody>
      </p:sp>
      <p:sp>
        <p:nvSpPr>
          <p:cNvPr id="11" name="!!gc"/>
          <p:cNvSpPr/>
          <p:nvPr/>
        </p:nvSpPr>
        <p:spPr>
          <a:xfrm>
            <a:off x="2606040" y="3264408"/>
            <a:ext cx="2011680" cy="731520"/>
          </a:xfrm>
          <a:prstGeom prst="roundRect">
            <a:avLst>
              <a:gd name="adj" fmla="val 10000"/>
            </a:avLst>
          </a:prstGeom>
          <a:solidFill>
            <a:srgbClr val="FAECE7"/>
          </a:solidFill>
          <a:ln w="28575">
            <a:solidFill>
              <a:srgbClr val="993C1D"/>
            </a:solidFill>
            <a:prstDash val="solid"/>
          </a:ln>
        </p:spPr>
        <p:txBody>
          <a:bodyPr wrap="square" lIns="50800" tIns="50800" rIns="50800" bIns="50800" rtlCol="0" anchor="ctr"/>
          <a:lstStyle/>
          <a:p>
            <a:pPr algn="ctr" indent="0" marL="0">
              <a:buNone/>
            </a:pPr>
            <a:r>
              <a:rPr lang="en-US" sz="1500" b="1" dirty="0">
                <a:solidFill>
                  <a:srgbClr val="712B13"/>
                </a:solidFill>
                <a:latin typeface="Calibri" pitchFamily="34" charset="0"/>
                <a:ea typeface="Calibri" pitchFamily="34" charset="-122"/>
                <a:cs typeface="Calibri" pitchFamily="34" charset="-120"/>
              </a:rPr>
              <a:t>checker</a:t>
            </a:r>
            <a:endParaRPr lang="en-US" sz="1200" dirty="0"/>
          </a:p>
          <a:p>
            <a:pPr algn="ctr" indent="0" marL="0">
              <a:buNone/>
            </a:pPr>
            <a:r>
              <a:rPr lang="en-US" sz="1100" dirty="0">
                <a:solidFill>
                  <a:srgbClr val="712B13"/>
                </a:solidFill>
                <a:latin typeface="Calibri" pitchFamily="34" charset="0"/>
                <a:ea typeface="Calibri" pitchFamily="34" charset="-122"/>
                <a:cs typeface="Calibri" pitchFamily="34" charset="-120"/>
              </a:rPr>
              <a:t>verifies the work</a:t>
            </a:r>
            <a:endParaRPr lang="en-US" sz="1200" dirty="0"/>
          </a:p>
        </p:txBody>
      </p:sp>
      <p:sp>
        <p:nvSpPr>
          <p:cNvPr id="12" name="!!e3"/>
          <p:cNvSpPr/>
          <p:nvPr/>
        </p:nvSpPr>
        <p:spPr>
          <a:xfrm>
            <a:off x="3611880" y="3995928"/>
            <a:ext cx="914" cy="411480"/>
          </a:xfrm>
          <a:prstGeom prst="line">
            <a:avLst/>
          </a:prstGeom>
          <a:noFill/>
          <a:ln w="31750">
            <a:solidFill>
              <a:srgbClr val="5F5E5A"/>
            </a:solidFill>
            <a:prstDash val="solid"/>
            <a:tailEnd type="triangle"/>
          </a:ln>
        </p:spPr>
        <p:txBody>
          <a:bodyPr/>
          <a:p/>
        </p:txBody>
      </p:sp>
      <p:sp>
        <p:nvSpPr>
          <p:cNvPr id="13" name="!!gpass"/>
          <p:cNvSpPr txBox="1"/>
          <p:nvPr/>
        </p:nvSpPr>
        <p:spPr>
          <a:xfrm>
            <a:off x="3703320" y="4050792"/>
            <a:ext cx="548640" cy="274320"/>
          </a:xfrm>
          <a:prstGeom prst="rect">
            <a:avLst/>
          </a:prstGeom>
          <a:noFill/>
          <a:ln/>
        </p:spPr>
        <p:txBody>
          <a:bodyPr wrap="square" lIns="0" tIns="0" rIns="0" bIns="0" rtlCol="0" anchor="t"/>
          <a:lstStyle/>
          <a:p>
            <a:pPr algn="l" indent="0" marL="0">
              <a:buNone/>
            </a:pPr>
            <a:r>
              <a:rPr lang="en-US" sz="1100" b="1" dirty="0">
                <a:solidFill>
                  <a:srgbClr val="085041"/>
                </a:solidFill>
                <a:latin typeface="Calibri" pitchFamily="34" charset="0"/>
                <a:ea typeface="Calibri" pitchFamily="34" charset="-122"/>
                <a:cs typeface="Calibri" pitchFamily="34" charset="-120"/>
              </a:rPr>
              <a:t>pass</a:t>
            </a:r>
            <a:endParaRPr lang="en-US" sz="1100" dirty="0"/>
          </a:p>
        </p:txBody>
      </p:sp>
      <p:sp>
        <p:nvSpPr>
          <p:cNvPr id="14" name="!!gend"/>
          <p:cNvSpPr/>
          <p:nvPr/>
        </p:nvSpPr>
        <p:spPr>
          <a:xfrm>
            <a:off x="3108960" y="4407408"/>
            <a:ext cx="1005840" cy="329184"/>
          </a:xfrm>
          <a:prstGeom prst="roundRect">
            <a:avLst>
              <a:gd name="adj" fmla="val 50000"/>
            </a:avLst>
          </a:prstGeom>
          <a:solidFill>
            <a:srgbClr val="FAFAF7"/>
          </a:solidFill>
          <a:ln w="12700">
            <a:solidFill>
              <a:srgbClr val="E3E1D8"/>
            </a:solidFill>
            <a:prstDash val="solid"/>
          </a:ln>
        </p:spPr>
        <p:txBody>
          <a:bodyPr wrap="square" lIns="50800" tIns="50800" rIns="50800" bIns="50800" rtlCol="0" anchor="ctr"/>
          <a:lstStyle/>
          <a:p>
            <a:pPr algn="ctr" indent="0" marL="0">
              <a:buNone/>
            </a:pPr>
            <a:r>
              <a:rPr lang="en-US" sz="1100" b="1" dirty="0">
                <a:solidFill>
                  <a:srgbClr val="B4B2A9"/>
                </a:solidFill>
                <a:latin typeface="Consolas" pitchFamily="34" charset="0"/>
                <a:ea typeface="Consolas" pitchFamily="34" charset="-122"/>
                <a:cs typeface="Consolas" pitchFamily="34" charset="-120"/>
              </a:rPr>
              <a:t>END</a:t>
            </a:r>
            <a:endParaRPr lang="en-US" sz="1100" dirty="0"/>
          </a:p>
        </p:txBody>
      </p:sp>
      <p:sp>
        <p:nvSpPr>
          <p:cNvPr id="15" name="!!gf1"/>
          <p:cNvSpPr/>
          <p:nvPr/>
        </p:nvSpPr>
        <p:spPr>
          <a:xfrm flipH="1">
            <a:off x="2103120" y="3630168"/>
            <a:ext cx="502920" cy="914"/>
          </a:xfrm>
          <a:prstGeom prst="line">
            <a:avLst/>
          </a:prstGeom>
          <a:noFill/>
          <a:ln w="31750">
            <a:solidFill>
              <a:srgbClr val="993C1D"/>
            </a:solidFill>
            <a:prstDash val="dash"/>
          </a:ln>
        </p:spPr>
        <p:txBody>
          <a:bodyPr/>
          <a:p/>
        </p:txBody>
      </p:sp>
      <p:sp>
        <p:nvSpPr>
          <p:cNvPr id="16" name="!!gf2"/>
          <p:cNvSpPr/>
          <p:nvPr/>
        </p:nvSpPr>
        <p:spPr>
          <a:xfrm flipV="1">
            <a:off x="2103120" y="2487168"/>
            <a:ext cx="914" cy="1143000"/>
          </a:xfrm>
          <a:prstGeom prst="line">
            <a:avLst/>
          </a:prstGeom>
          <a:noFill/>
          <a:ln w="31750">
            <a:solidFill>
              <a:srgbClr val="993C1D"/>
            </a:solidFill>
            <a:prstDash val="dash"/>
          </a:ln>
        </p:spPr>
        <p:txBody>
          <a:bodyPr/>
          <a:p/>
        </p:txBody>
      </p:sp>
      <p:sp>
        <p:nvSpPr>
          <p:cNvPr id="17" name="!!gf3"/>
          <p:cNvSpPr/>
          <p:nvPr/>
        </p:nvSpPr>
        <p:spPr>
          <a:xfrm>
            <a:off x="2103120" y="2487168"/>
            <a:ext cx="484632" cy="914"/>
          </a:xfrm>
          <a:prstGeom prst="line">
            <a:avLst/>
          </a:prstGeom>
          <a:noFill/>
          <a:ln w="31750">
            <a:solidFill>
              <a:srgbClr val="993C1D"/>
            </a:solidFill>
            <a:prstDash val="dash"/>
            <a:tailEnd type="triangle"/>
          </a:ln>
        </p:spPr>
        <p:txBody>
          <a:bodyPr/>
          <a:p/>
        </p:txBody>
      </p:sp>
      <p:sp>
        <p:nvSpPr>
          <p:cNvPr id="18" name="!!gfail"/>
          <p:cNvSpPr txBox="1"/>
          <p:nvPr/>
        </p:nvSpPr>
        <p:spPr>
          <a:xfrm>
            <a:off x="1645920" y="3081528"/>
            <a:ext cx="411480" cy="274320"/>
          </a:xfrm>
          <a:prstGeom prst="rect">
            <a:avLst/>
          </a:prstGeom>
          <a:noFill/>
          <a:ln/>
        </p:spPr>
        <p:txBody>
          <a:bodyPr wrap="square" lIns="0" tIns="0" rIns="0" bIns="0" rtlCol="0" anchor="t"/>
          <a:lstStyle/>
          <a:p>
            <a:pPr algn="r" indent="0" marL="0">
              <a:buNone/>
            </a:pPr>
            <a:r>
              <a:rPr lang="en-US" sz="1100" b="1" dirty="0">
                <a:solidFill>
                  <a:srgbClr val="712B13"/>
                </a:solidFill>
                <a:latin typeface="Calibri" pitchFamily="34" charset="0"/>
                <a:ea typeface="Calibri" pitchFamily="34" charset="-122"/>
                <a:cs typeface="Calibri" pitchFamily="34" charset="-120"/>
              </a:rPr>
              <a:t>fail</a:t>
            </a:r>
            <a:endParaRPr lang="en-US" sz="1100" dirty="0"/>
          </a:p>
        </p:txBody>
      </p:sp>
      <p:sp>
        <p:nvSpPr>
          <p:cNvPr id="19" name="!!sl1"/>
          <p:cNvSpPr/>
          <p:nvPr/>
        </p:nvSpPr>
        <p:spPr>
          <a:xfrm>
            <a:off x="4617720" y="2487168"/>
            <a:ext cx="731520" cy="914"/>
          </a:xfrm>
          <a:prstGeom prst="line">
            <a:avLst/>
          </a:prstGeom>
          <a:noFill/>
          <a:ln w="9525">
            <a:solidFill>
              <a:srgbClr val="E3E1D8"/>
            </a:solidFill>
            <a:prstDash val="dash"/>
          </a:ln>
        </p:spPr>
        <p:txBody>
          <a:bodyPr/>
          <a:p/>
        </p:txBody>
      </p:sp>
      <p:sp>
        <p:nvSpPr>
          <p:cNvPr id="20" name="!!sl2"/>
          <p:cNvSpPr/>
          <p:nvPr/>
        </p:nvSpPr>
        <p:spPr>
          <a:xfrm>
            <a:off x="4617720" y="3630168"/>
            <a:ext cx="731520" cy="914"/>
          </a:xfrm>
          <a:prstGeom prst="line">
            <a:avLst/>
          </a:prstGeom>
          <a:noFill/>
          <a:ln w="9525">
            <a:solidFill>
              <a:srgbClr val="E3E1D8"/>
            </a:solidFill>
            <a:prstDash val="dash"/>
          </a:ln>
        </p:spPr>
        <p:txBody>
          <a:bodyPr/>
          <a:p/>
        </p:txBody>
      </p:sp>
      <p:sp>
        <p:nvSpPr>
          <p:cNvPr id="21" name="!!st"/>
          <p:cNvSpPr/>
          <p:nvPr/>
        </p:nvSpPr>
        <p:spPr>
          <a:xfrm>
            <a:off x="5349240" y="2121408"/>
            <a:ext cx="1600200" cy="1874520"/>
          </a:xfrm>
          <a:prstGeom prst="roundRect">
            <a:avLst>
              <a:gd name="adj" fmla="val 4571"/>
            </a:avLst>
          </a:prstGeom>
          <a:solidFill>
            <a:srgbClr val="FAFAF7"/>
          </a:solidFill>
          <a:ln w="12700">
            <a:solidFill>
              <a:srgbClr val="E3E1D8"/>
            </a:solidFill>
            <a:prstDash val="solid"/>
          </a:ln>
        </p:spPr>
        <p:txBody>
          <a:bodyPr wrap="square" lIns="50800" tIns="50800" rIns="50800" bIns="50800" rtlCol="0" anchor="ctr"/>
          <a:lstStyle/>
          <a:p>
            <a:pPr algn="ctr" indent="0" marL="0">
              <a:buNone/>
            </a:pPr>
            <a:endParaRPr lang="en-US" sz="1200" dirty="0"/>
          </a:p>
        </p:txBody>
      </p:sp>
      <p:sp>
        <p:nvSpPr>
          <p:cNvPr id="22" name="!!sth"/>
          <p:cNvSpPr txBox="1"/>
          <p:nvPr/>
        </p:nvSpPr>
        <p:spPr>
          <a:xfrm>
            <a:off x="5486400" y="2212848"/>
            <a:ext cx="1325880" cy="274320"/>
          </a:xfrm>
          <a:prstGeom prst="rect">
            <a:avLst/>
          </a:prstGeom>
          <a:noFill/>
          <a:ln/>
        </p:spPr>
        <p:txBody>
          <a:bodyPr wrap="square" lIns="0" tIns="0" rIns="0" bIns="0" rtlCol="0" anchor="t"/>
          <a:lstStyle/>
          <a:p>
            <a:pPr algn="l" indent="0" marL="0">
              <a:buNone/>
            </a:pPr>
            <a:r>
              <a:rPr lang="en-US" sz="1300" b="1" dirty="0">
                <a:solidFill>
                  <a:srgbClr val="B4B2A9"/>
                </a:solidFill>
                <a:latin typeface="Calibri" pitchFamily="34" charset="0"/>
                <a:ea typeface="Calibri" pitchFamily="34" charset="-122"/>
                <a:cs typeface="Calibri" pitchFamily="34" charset="-120"/>
              </a:rPr>
              <a:t>State</a:t>
            </a:r>
            <a:endParaRPr lang="en-US" sz="1300" dirty="0"/>
          </a:p>
        </p:txBody>
      </p:sp>
      <p:sp>
        <p:nvSpPr>
          <p:cNvPr id="23" name="!!str0"/>
          <p:cNvSpPr txBox="1"/>
          <p:nvPr/>
        </p:nvSpPr>
        <p:spPr>
          <a:xfrm>
            <a:off x="5486400" y="2505456"/>
            <a:ext cx="1325880" cy="457200"/>
          </a:xfrm>
          <a:prstGeom prst="rect">
            <a:avLst/>
          </a:prstGeom>
          <a:noFill/>
          <a:ln/>
        </p:spPr>
        <p:txBody>
          <a:bodyPr wrap="square" lIns="0" tIns="0" rIns="0" bIns="0" rtlCol="0" anchor="t"/>
          <a:lstStyle/>
          <a:p>
            <a:pPr algn="l" indent="0" marL="0">
              <a:buNone/>
            </a:pPr>
            <a:r>
              <a:rPr lang="en-US" sz="1150" b="1" dirty="0">
                <a:solidFill>
                  <a:srgbClr val="B4B2A9"/>
                </a:solidFill>
                <a:latin typeface="Consolas" pitchFamily="34" charset="0"/>
                <a:ea typeface="Consolas" pitchFamily="34" charset="-122"/>
                <a:cs typeface="Consolas" pitchFamily="34" charset="-120"/>
              </a:rPr>
              <a:t>ticket</a:t>
            </a:r>
            <a:endParaRPr lang="en-US" sz="1400" dirty="0"/>
          </a:p>
          <a:p>
            <a:pPr algn="l" indent="0" marL="0">
              <a:buNone/>
            </a:pPr>
            <a:r>
              <a:rPr lang="en-US" sz="1000" dirty="0">
                <a:solidFill>
                  <a:srgbClr val="B4B2A9"/>
                </a:solidFill>
                <a:latin typeface="Calibri" pitchFamily="34" charset="0"/>
                <a:ea typeface="Calibri" pitchFamily="34" charset="-122"/>
                <a:cs typeface="Calibri" pitchFamily="34" charset="-120"/>
              </a:rPr>
              <a:t>input</a:t>
            </a:r>
            <a:endParaRPr lang="en-US" sz="1400" dirty="0"/>
          </a:p>
        </p:txBody>
      </p:sp>
      <p:sp>
        <p:nvSpPr>
          <p:cNvPr id="24" name="!!str1"/>
          <p:cNvSpPr txBox="1"/>
          <p:nvPr/>
        </p:nvSpPr>
        <p:spPr>
          <a:xfrm>
            <a:off x="5486400" y="2980944"/>
            <a:ext cx="1325880" cy="457200"/>
          </a:xfrm>
          <a:prstGeom prst="rect">
            <a:avLst/>
          </a:prstGeom>
          <a:noFill/>
          <a:ln/>
        </p:spPr>
        <p:txBody>
          <a:bodyPr wrap="square" lIns="0" tIns="0" rIns="0" bIns="0" rtlCol="0" anchor="t"/>
          <a:lstStyle/>
          <a:p>
            <a:pPr algn="l" indent="0" marL="0">
              <a:buNone/>
            </a:pPr>
            <a:r>
              <a:rPr lang="en-US" sz="1150" b="1" dirty="0">
                <a:solidFill>
                  <a:srgbClr val="B4B2A9"/>
                </a:solidFill>
                <a:latin typeface="Consolas" pitchFamily="34" charset="0"/>
                <a:ea typeface="Consolas" pitchFamily="34" charset="-122"/>
                <a:cs typeface="Consolas" pitchFamily="34" charset="-120"/>
              </a:rPr>
              <a:t>result</a:t>
            </a:r>
            <a:endParaRPr lang="en-US" sz="1400" dirty="0"/>
          </a:p>
          <a:p>
            <a:pPr algn="l" indent="0" marL="0">
              <a:buNone/>
            </a:pPr>
            <a:r>
              <a:rPr lang="en-US" sz="1000" dirty="0">
                <a:solidFill>
                  <a:srgbClr val="B4B2A9"/>
                </a:solidFill>
                <a:latin typeface="Calibri" pitchFamily="34" charset="0"/>
                <a:ea typeface="Calibri" pitchFamily="34" charset="-122"/>
                <a:cs typeface="Calibri" pitchFamily="34" charset="-120"/>
              </a:rPr>
              <a:t>by worker</a:t>
            </a:r>
            <a:endParaRPr lang="en-US" sz="1400" dirty="0"/>
          </a:p>
        </p:txBody>
      </p:sp>
      <p:sp>
        <p:nvSpPr>
          <p:cNvPr id="25" name="!!str2"/>
          <p:cNvSpPr txBox="1"/>
          <p:nvPr/>
        </p:nvSpPr>
        <p:spPr>
          <a:xfrm>
            <a:off x="5486400" y="3456432"/>
            <a:ext cx="1325880" cy="457200"/>
          </a:xfrm>
          <a:prstGeom prst="rect">
            <a:avLst/>
          </a:prstGeom>
          <a:noFill/>
          <a:ln/>
        </p:spPr>
        <p:txBody>
          <a:bodyPr wrap="square" lIns="0" tIns="0" rIns="0" bIns="0" rtlCol="0" anchor="t"/>
          <a:lstStyle/>
          <a:p>
            <a:pPr algn="l" indent="0" marL="0">
              <a:buNone/>
            </a:pPr>
            <a:r>
              <a:rPr lang="en-US" sz="1150" b="1" dirty="0">
                <a:solidFill>
                  <a:srgbClr val="B4B2A9"/>
                </a:solidFill>
                <a:latin typeface="Consolas" pitchFamily="34" charset="0"/>
                <a:ea typeface="Consolas" pitchFamily="34" charset="-122"/>
                <a:cs typeface="Consolas" pitchFamily="34" charset="-120"/>
              </a:rPr>
              <a:t>status</a:t>
            </a:r>
            <a:endParaRPr lang="en-US" sz="1400" dirty="0"/>
          </a:p>
          <a:p>
            <a:pPr algn="l" indent="0" marL="0">
              <a:buNone/>
            </a:pPr>
            <a:r>
              <a:rPr lang="en-US" sz="1000" dirty="0">
                <a:solidFill>
                  <a:srgbClr val="B4B2A9"/>
                </a:solidFill>
                <a:latin typeface="Calibri" pitchFamily="34" charset="0"/>
                <a:ea typeface="Calibri" pitchFamily="34" charset="-122"/>
                <a:cs typeface="Calibri" pitchFamily="34" charset="-120"/>
              </a:rPr>
              <a:t>by checker</a:t>
            </a:r>
            <a:endParaRPr lang="en-US" sz="1400" dirty="0"/>
          </a:p>
        </p:txBody>
      </p:sp>
      <p:sp>
        <p:nvSpPr>
          <p:cNvPr id="26" name="!!panel"/>
          <p:cNvSpPr/>
          <p:nvPr/>
        </p:nvSpPr>
        <p:spPr>
          <a:xfrm>
            <a:off x="7269480" y="1463040"/>
            <a:ext cx="4507992" cy="3977640"/>
          </a:xfrm>
          <a:prstGeom prst="roundRect">
            <a:avLst>
              <a:gd name="adj" fmla="val 1839"/>
            </a:avLst>
          </a:prstGeom>
          <a:solidFill>
            <a:srgbClr val="FFFFFF"/>
          </a:solidFill>
          <a:ln w="12700">
            <a:solidFill>
              <a:srgbClr val="D3D1C7"/>
            </a:solidFill>
            <a:prstDash val="solid"/>
          </a:ln>
        </p:spPr>
        <p:txBody>
          <a:bodyPr wrap="square" lIns="50800" tIns="50800" rIns="50800" bIns="50800" rtlCol="0" anchor="ctr"/>
          <a:lstStyle/>
          <a:p>
            <a:pPr algn="ctr" indent="0" marL="0">
              <a:buNone/>
            </a:pPr>
            <a:endParaRPr lang="en-US" sz="1200" dirty="0"/>
          </a:p>
        </p:txBody>
      </p:sp>
      <p:sp>
        <p:nvSpPr>
          <p:cNvPr id="27" name="!!ptitle"/>
          <p:cNvSpPr txBox="1"/>
          <p:nvPr/>
        </p:nvSpPr>
        <p:spPr>
          <a:xfrm>
            <a:off x="7543800" y="1645920"/>
            <a:ext cx="3959352" cy="411480"/>
          </a:xfrm>
          <a:prstGeom prst="rect">
            <a:avLst/>
          </a:prstGeom>
          <a:noFill/>
          <a:ln/>
        </p:spPr>
        <p:txBody>
          <a:bodyPr wrap="square" lIns="0" tIns="0" rIns="0" bIns="0" rtlCol="0" anchor="ctr"/>
          <a:lstStyle/>
          <a:p>
            <a:pPr algn="l" indent="0" marL="0">
              <a:buNone/>
            </a:pPr>
            <a:r>
              <a:rPr lang="en-US" sz="2000" b="1" dirty="0">
                <a:solidFill>
                  <a:srgbClr val="3C3489"/>
                </a:solidFill>
                <a:latin typeface="Calibri" pitchFamily="34" charset="0"/>
                <a:ea typeface="Calibri" pitchFamily="34" charset="-122"/>
                <a:cs typeface="Calibri" pitchFamily="34" charset="-120"/>
              </a:rPr>
              <a:t>Subgraph</a:t>
            </a:r>
            <a:endParaRPr lang="en-US" sz="2000" dirty="0"/>
          </a:p>
        </p:txBody>
      </p:sp>
      <p:sp>
        <p:nvSpPr>
          <p:cNvPr id="28" name="!!pl1"/>
          <p:cNvSpPr txBox="1"/>
          <p:nvPr/>
        </p:nvSpPr>
        <p:spPr>
          <a:xfrm>
            <a:off x="7543800" y="2176272"/>
            <a:ext cx="3959352" cy="237744"/>
          </a:xfrm>
          <a:prstGeom prst="rect">
            <a:avLst/>
          </a:prstGeom>
          <a:noFill/>
          <a:ln/>
        </p:spPr>
        <p:txBody>
          <a:bodyPr wrap="square" lIns="0" tIns="0" rIns="0" bIns="0" rtlCol="0" anchor="t"/>
          <a:lstStyle/>
          <a:p>
            <a:pPr algn="l" indent="0" marL="0">
              <a:buNone/>
            </a:pPr>
            <a:r>
              <a:rPr lang="en-US" sz="1050" b="1" dirty="0">
                <a:solidFill>
                  <a:srgbClr val="5F5E5A"/>
                </a:solidFill>
                <a:latin typeface="Calibri" pitchFamily="34" charset="0"/>
                <a:ea typeface="Calibri" pitchFamily="34" charset="-122"/>
                <a:cs typeface="Calibri" pitchFamily="34" charset="-120"/>
              </a:rPr>
              <a:t>WHAT IT IS</a:t>
            </a:r>
            <a:endParaRPr lang="en-US" sz="1050" dirty="0"/>
          </a:p>
        </p:txBody>
      </p:sp>
      <p:sp>
        <p:nvSpPr>
          <p:cNvPr id="29" name="!!pwhat"/>
          <p:cNvSpPr txBox="1"/>
          <p:nvPr/>
        </p:nvSpPr>
        <p:spPr>
          <a:xfrm>
            <a:off x="7543800" y="2404872"/>
            <a:ext cx="3959352" cy="566928"/>
          </a:xfrm>
          <a:prstGeom prst="rect">
            <a:avLst/>
          </a:prstGeom>
          <a:noFill/>
          <a:ln/>
        </p:spPr>
        <p:txBody>
          <a:bodyPr wrap="square" lIns="0" tIns="0" rIns="0" bIns="0" rtlCol="0" anchor="t"/>
          <a:lstStyle/>
          <a:p>
            <a:pPr algn="l" indent="0" marL="0">
              <a:buNone/>
            </a:pPr>
            <a:r>
              <a:rPr lang="en-US" sz="1350" dirty="0">
                <a:solidFill>
                  <a:srgbClr val="2C2C2A"/>
                </a:solidFill>
                <a:latin typeface="Calibri" pitchFamily="34" charset="0"/>
                <a:ea typeface="Calibri" pitchFamily="34" charset="-122"/>
                <a:cs typeface="Calibri" pitchFamily="34" charset="-120"/>
              </a:rPr>
              <a:t>A whole graph used as a single node inside a bigger graph.</a:t>
            </a:r>
            <a:endParaRPr lang="en-US" sz="1350" dirty="0"/>
          </a:p>
        </p:txBody>
      </p:sp>
      <p:sp>
        <p:nvSpPr>
          <p:cNvPr id="30" name="!!pl2"/>
          <p:cNvSpPr txBox="1"/>
          <p:nvPr/>
        </p:nvSpPr>
        <p:spPr>
          <a:xfrm>
            <a:off x="7543800" y="3017520"/>
            <a:ext cx="3959352" cy="237744"/>
          </a:xfrm>
          <a:prstGeom prst="rect">
            <a:avLst/>
          </a:prstGeom>
          <a:noFill/>
          <a:ln/>
        </p:spPr>
        <p:txBody>
          <a:bodyPr wrap="square" lIns="0" tIns="0" rIns="0" bIns="0" rtlCol="0" anchor="t"/>
          <a:lstStyle/>
          <a:p>
            <a:pPr algn="l" indent="0" marL="0">
              <a:buNone/>
            </a:pPr>
            <a:r>
              <a:rPr lang="en-US" sz="1050" b="1" dirty="0">
                <a:solidFill>
                  <a:srgbClr val="5F5E5A"/>
                </a:solidFill>
                <a:latin typeface="Calibri" pitchFamily="34" charset="0"/>
                <a:ea typeface="Calibri" pitchFamily="34" charset="-122"/>
                <a:cs typeface="Calibri" pitchFamily="34" charset="-120"/>
              </a:rPr>
              <a:t>IN THIS GRAPH</a:t>
            </a:r>
            <a:endParaRPr lang="en-US" sz="1050" dirty="0"/>
          </a:p>
        </p:txBody>
      </p:sp>
      <p:sp>
        <p:nvSpPr>
          <p:cNvPr id="31" name="!!phere"/>
          <p:cNvSpPr txBox="1"/>
          <p:nvPr/>
        </p:nvSpPr>
        <p:spPr>
          <a:xfrm>
            <a:off x="7543800" y="3246120"/>
            <a:ext cx="3959352" cy="566928"/>
          </a:xfrm>
          <a:prstGeom prst="rect">
            <a:avLst/>
          </a:prstGeom>
          <a:noFill/>
          <a:ln/>
        </p:spPr>
        <p:txBody>
          <a:bodyPr wrap="square" lIns="0" tIns="0" rIns="0" bIns="0" rtlCol="0" anchor="t"/>
          <a:lstStyle/>
          <a:p>
            <a:pPr algn="l" indent="0" marL="0">
              <a:buNone/>
            </a:pPr>
            <a:r>
              <a:rPr lang="en-US" sz="1300" dirty="0">
                <a:solidFill>
                  <a:srgbClr val="2C2C2A"/>
                </a:solidFill>
                <a:latin typeface="Calibri" pitchFamily="34" charset="0"/>
                <a:ea typeface="Calibri" pitchFamily="34" charset="-122"/>
                <a:cs typeface="Calibri" pitchFamily="34" charset="-120"/>
              </a:rPr>
              <a:t>This worker–checker loop becomes one node, fix_ticket, in a larger flow: triage → fix_ticket → report.</a:t>
            </a:r>
            <a:endParaRPr lang="en-US" sz="1300" dirty="0"/>
          </a:p>
        </p:txBody>
      </p:sp>
      <p:sp>
        <p:nvSpPr>
          <p:cNvPr id="32" name="!!plike"/>
          <p:cNvSpPr/>
          <p:nvPr/>
        </p:nvSpPr>
        <p:spPr>
          <a:xfrm>
            <a:off x="7543800" y="3886200"/>
            <a:ext cx="3959352" cy="457200"/>
          </a:xfrm>
          <a:prstGeom prst="roundRect">
            <a:avLst>
              <a:gd name="adj" fmla="val 12000"/>
            </a:avLst>
          </a:prstGeom>
          <a:solidFill>
            <a:srgbClr val="E1F5EE"/>
          </a:solidFill>
          <a:ln w="12700">
            <a:solidFill>
              <a:srgbClr val="0F6E56"/>
            </a:solidFill>
            <a:prstDash val="solid"/>
          </a:ln>
        </p:spPr>
        <p:txBody>
          <a:bodyPr wrap="square" lIns="101600" tIns="101600" rIns="101600" bIns="101600" rtlCol="0" anchor="ctr"/>
          <a:lstStyle/>
          <a:p>
            <a:pPr algn="l" indent="0" marL="0">
              <a:buNone/>
            </a:pPr>
            <a:r>
              <a:rPr lang="en-US" sz="1250" b="1" dirty="0">
                <a:solidFill>
                  <a:srgbClr val="085041"/>
                </a:solidFill>
                <a:latin typeface="Calibri" pitchFamily="34" charset="0"/>
                <a:ea typeface="Calibri" pitchFamily="34" charset="-122"/>
                <a:cs typeface="Calibri" pitchFamily="34" charset="-120"/>
              </a:rPr>
              <a:t>Think of it as  </a:t>
            </a:r>
            <a:pPr algn="l" indent="0" marL="0">
              <a:buNone/>
            </a:pPr>
            <a:r>
              <a:rPr lang="en-US" sz="1250" dirty="0">
                <a:solidFill>
                  <a:srgbClr val="085041"/>
                </a:solidFill>
                <a:latin typeface="Calibri" pitchFamily="34" charset="0"/>
                <a:ea typeface="Calibri" pitchFamily="34" charset="-122"/>
                <a:cs typeface="Calibri" pitchFamily="34" charset="-120"/>
              </a:rPr>
              <a:t>A department: one box from outside, its own team inside.</a:t>
            </a:r>
            <a:endParaRPr lang="en-US" sz="1250" dirty="0"/>
          </a:p>
        </p:txBody>
      </p:sp>
      <p:sp>
        <p:nvSpPr>
          <p:cNvPr id="33" name="!!pcode"/>
          <p:cNvSpPr/>
          <p:nvPr/>
        </p:nvSpPr>
        <p:spPr>
          <a:xfrm>
            <a:off x="7543800" y="4453128"/>
            <a:ext cx="3959352" cy="786384"/>
          </a:xfrm>
          <a:prstGeom prst="roundRect">
            <a:avLst>
              <a:gd name="adj" fmla="val 4651"/>
            </a:avLst>
          </a:prstGeom>
          <a:solidFill>
            <a:srgbClr val="F7F6F2"/>
          </a:solidFill>
          <a:ln w="6350">
            <a:solidFill>
              <a:srgbClr val="D3D1C7"/>
            </a:solidFill>
            <a:prstDash val="solid"/>
          </a:ln>
        </p:spPr>
        <p:txBody>
          <a:bodyPr wrap="square" lIns="101600" tIns="101600" rIns="101600" bIns="101600" rtlCol="0" anchor="ctr"/>
          <a:lstStyle/>
          <a:p>
            <a:pPr algn="l" indent="0" marL="0">
              <a:buNone/>
            </a:pPr>
            <a:r>
              <a:rPr lang="en-US" sz="1000" dirty="0">
                <a:solidFill>
                  <a:srgbClr val="2C2C2A"/>
                </a:solidFill>
                <a:latin typeface="Consolas" pitchFamily="34" charset="0"/>
                <a:ea typeface="Consolas" pitchFamily="34" charset="-122"/>
                <a:cs typeface="Consolas" pitchFamily="34" charset="-120"/>
              </a:rPr>
              <a:t>app = g.compile()</a:t>
            </a:r>
            <a:endParaRPr lang="en-US" sz="1000" dirty="0"/>
          </a:p>
          <a:p>
            <a:pPr algn="l" indent="0" marL="0">
              <a:buNone/>
            </a:pPr>
            <a:r>
              <a:rPr lang="en-US" sz="1000" dirty="0">
                <a:solidFill>
                  <a:srgbClr val="2C2C2A"/>
                </a:solidFill>
                <a:latin typeface="Consolas" pitchFamily="34" charset="0"/>
                <a:ea typeface="Consolas" pitchFamily="34" charset="-122"/>
                <a:cs typeface="Consolas" pitchFamily="34" charset="-120"/>
              </a:rPr>
              <a:t>parent.add_node("fix_ticket", app)</a:t>
            </a:r>
            <a:endParaRPr lang="en-US" sz="1000" dirty="0"/>
          </a:p>
        </p:txBody>
      </p:sp>
      <p:sp>
        <p:nvSpPr>
          <p:cNvPr id="34" name="!!btn0">
            <a:hlinkClick action="ppaction://hlinksldjump" r:id="rId1"/>
          </p:cNvPr>
          <p:cNvSpPr/>
          <p:nvPr/>
        </p:nvSpPr>
        <p:spPr>
          <a:xfrm>
            <a:off x="411480" y="5669280"/>
            <a:ext cx="1545336" cy="420624"/>
          </a:xfrm>
          <a:prstGeom prst="roundRect">
            <a:avLst>
              <a:gd name="adj" fmla="val 50000"/>
            </a:avLst>
          </a:prstGeom>
          <a:solidFill>
            <a:srgbClr val="FFFFFF"/>
          </a:solidFill>
          <a:ln w="12700">
            <a:solidFill>
              <a:srgbClr val="534AB7"/>
            </a:solidFill>
            <a:prstDash val="solid"/>
          </a:ln>
        </p:spPr>
        <p:txBody>
          <a:bodyPr wrap="square" lIns="0" tIns="0" rIns="0" bIns="0" rtlCol="0" anchor="ctr"/>
          <a:lstStyle/>
          <a:p>
            <a:pPr algn="ctr" indent="0" marL="0">
              <a:buNone/>
            </a:pPr>
            <a:r>
              <a:rPr lang="en-US" sz="1250" u="none" dirty="0">
                <a:solidFill>
                  <a:srgbClr val="3C3489"/>
                </a:solidFill>
                <a:latin typeface="Calibri" pitchFamily="34" charset="0"/>
                <a:ea typeface="Calibri" pitchFamily="34" charset="-122"/>
                <a:cs typeface="Calibri" pitchFamily="34" charset="-120"/>
                <a:hlinkClick r:id="rId1" action="ppaction://hlinksldjump" tooltip="How to read it">
                  <a:extLst>
                    <a:ext uri="{A12FA001-AC4F-418D-AE19-62706E023703}">
                      <ahyp:hlinkClr xmlns:ahyp="http://schemas.microsoft.com/office/drawing/2018/hyperlinkcolor" val="tx"/>
                    </a:ext>
                  </a:extLst>
                </a:hlinkClick>
              </a:rPr>
              <a:t>Overview</a:t>
            </a:r>
            <a:endParaRPr lang="en-US" sz="1250" dirty="0"/>
          </a:p>
        </p:txBody>
      </p:sp>
      <p:sp>
        <p:nvSpPr>
          <p:cNvPr id="35" name="!!btn1">
            <a:hlinkClick action="ppaction://hlinksldjump" r:id="rId2"/>
          </p:cNvPr>
          <p:cNvSpPr/>
          <p:nvPr/>
        </p:nvSpPr>
        <p:spPr>
          <a:xfrm>
            <a:off x="2048256" y="5669280"/>
            <a:ext cx="1545336" cy="420624"/>
          </a:xfrm>
          <a:prstGeom prst="roundRect">
            <a:avLst>
              <a:gd name="adj" fmla="val 50000"/>
            </a:avLst>
          </a:prstGeom>
          <a:solidFill>
            <a:srgbClr val="FFFFFF"/>
          </a:solidFill>
          <a:ln w="12700">
            <a:solidFill>
              <a:srgbClr val="534AB7"/>
            </a:solidFill>
            <a:prstDash val="solid"/>
          </a:ln>
        </p:spPr>
        <p:txBody>
          <a:bodyPr wrap="square" lIns="0" tIns="0" rIns="0" bIns="0" rtlCol="0" anchor="ctr"/>
          <a:lstStyle/>
          <a:p>
            <a:pPr algn="ctr" indent="0" marL="0">
              <a:buNone/>
            </a:pPr>
            <a:r>
              <a:rPr lang="en-US" sz="1250" u="none" dirty="0">
                <a:solidFill>
                  <a:srgbClr val="3C3489"/>
                </a:solidFill>
                <a:latin typeface="Calibri" pitchFamily="34" charset="0"/>
                <a:ea typeface="Calibri" pitchFamily="34" charset="-122"/>
                <a:cs typeface="Calibri" pitchFamily="34" charset="-120"/>
                <a:hlinkClick r:id="rId2" action="ppaction://hlinksldjump" tooltip="Node">
                  <a:extLst>
                    <a:ext uri="{A12FA001-AC4F-418D-AE19-62706E023703}">
                      <ahyp:hlinkClr xmlns:ahyp="http://schemas.microsoft.com/office/drawing/2018/hyperlinkcolor" val="tx"/>
                    </a:ext>
                  </a:extLst>
                </a:hlinkClick>
              </a:rPr>
              <a:t>Node</a:t>
            </a:r>
            <a:endParaRPr lang="en-US" sz="1250" dirty="0"/>
          </a:p>
        </p:txBody>
      </p:sp>
      <p:sp>
        <p:nvSpPr>
          <p:cNvPr id="36" name="!!btn2">
            <a:hlinkClick action="ppaction://hlinksldjump" r:id="rId3"/>
          </p:cNvPr>
          <p:cNvSpPr/>
          <p:nvPr/>
        </p:nvSpPr>
        <p:spPr>
          <a:xfrm>
            <a:off x="3685032" y="5669280"/>
            <a:ext cx="1545336" cy="420624"/>
          </a:xfrm>
          <a:prstGeom prst="roundRect">
            <a:avLst>
              <a:gd name="adj" fmla="val 50000"/>
            </a:avLst>
          </a:prstGeom>
          <a:solidFill>
            <a:srgbClr val="FFFFFF"/>
          </a:solidFill>
          <a:ln w="12700">
            <a:solidFill>
              <a:srgbClr val="534AB7"/>
            </a:solidFill>
            <a:prstDash val="solid"/>
          </a:ln>
        </p:spPr>
        <p:txBody>
          <a:bodyPr wrap="square" lIns="0" tIns="0" rIns="0" bIns="0" rtlCol="0" anchor="ctr"/>
          <a:lstStyle/>
          <a:p>
            <a:pPr algn="ctr" indent="0" marL="0">
              <a:buNone/>
            </a:pPr>
            <a:r>
              <a:rPr lang="en-US" sz="1250" u="none" dirty="0">
                <a:solidFill>
                  <a:srgbClr val="3C3489"/>
                </a:solidFill>
                <a:latin typeface="Calibri" pitchFamily="34" charset="0"/>
                <a:ea typeface="Calibri" pitchFamily="34" charset="-122"/>
                <a:cs typeface="Calibri" pitchFamily="34" charset="-120"/>
                <a:hlinkClick r:id="rId3" action="ppaction://hlinksldjump" tooltip="Edge">
                  <a:extLst>
                    <a:ext uri="{A12FA001-AC4F-418D-AE19-62706E023703}">
                      <ahyp:hlinkClr xmlns:ahyp="http://schemas.microsoft.com/office/drawing/2018/hyperlinkcolor" val="tx"/>
                    </a:ext>
                  </a:extLst>
                </a:hlinkClick>
              </a:rPr>
              <a:t>Edge</a:t>
            </a:r>
            <a:endParaRPr lang="en-US" sz="1250" dirty="0"/>
          </a:p>
        </p:txBody>
      </p:sp>
      <p:sp>
        <p:nvSpPr>
          <p:cNvPr id="37" name="!!btn3">
            <a:hlinkClick action="ppaction://hlinksldjump" r:id="rId4"/>
          </p:cNvPr>
          <p:cNvSpPr/>
          <p:nvPr/>
        </p:nvSpPr>
        <p:spPr>
          <a:xfrm>
            <a:off x="5321808" y="5669280"/>
            <a:ext cx="1545336" cy="420624"/>
          </a:xfrm>
          <a:prstGeom prst="roundRect">
            <a:avLst>
              <a:gd name="adj" fmla="val 50000"/>
            </a:avLst>
          </a:prstGeom>
          <a:solidFill>
            <a:srgbClr val="FFFFFF"/>
          </a:solidFill>
          <a:ln w="12700">
            <a:solidFill>
              <a:srgbClr val="534AB7"/>
            </a:solidFill>
            <a:prstDash val="solid"/>
          </a:ln>
        </p:spPr>
        <p:txBody>
          <a:bodyPr wrap="square" lIns="0" tIns="0" rIns="0" bIns="0" rtlCol="0" anchor="ctr"/>
          <a:lstStyle/>
          <a:p>
            <a:pPr algn="ctr" indent="0" marL="0">
              <a:buNone/>
            </a:pPr>
            <a:r>
              <a:rPr lang="en-US" sz="1250" u="none" dirty="0">
                <a:solidFill>
                  <a:srgbClr val="3C3489"/>
                </a:solidFill>
                <a:latin typeface="Calibri" pitchFamily="34" charset="0"/>
                <a:ea typeface="Calibri" pitchFamily="34" charset="-122"/>
                <a:cs typeface="Calibri" pitchFamily="34" charset="-120"/>
                <a:hlinkClick r:id="rId4" action="ppaction://hlinksldjump" tooltip="Conditional edge">
                  <a:extLst>
                    <a:ext uri="{A12FA001-AC4F-418D-AE19-62706E023703}">
                      <ahyp:hlinkClr xmlns:ahyp="http://schemas.microsoft.com/office/drawing/2018/hyperlinkcolor" val="tx"/>
                    </a:ext>
                  </a:extLst>
                </a:hlinkClick>
              </a:rPr>
              <a:t>Conditional edge</a:t>
            </a:r>
            <a:endParaRPr lang="en-US" sz="1250" dirty="0"/>
          </a:p>
        </p:txBody>
      </p:sp>
      <p:sp>
        <p:nvSpPr>
          <p:cNvPr id="38" name="!!btn4">
            <a:hlinkClick action="ppaction://hlinksldjump" r:id="rId5"/>
          </p:cNvPr>
          <p:cNvSpPr/>
          <p:nvPr/>
        </p:nvSpPr>
        <p:spPr>
          <a:xfrm>
            <a:off x="6958584" y="5669280"/>
            <a:ext cx="1545336" cy="420624"/>
          </a:xfrm>
          <a:prstGeom prst="roundRect">
            <a:avLst>
              <a:gd name="adj" fmla="val 50000"/>
            </a:avLst>
          </a:prstGeom>
          <a:solidFill>
            <a:srgbClr val="FFFFFF"/>
          </a:solidFill>
          <a:ln w="12700">
            <a:solidFill>
              <a:srgbClr val="534AB7"/>
            </a:solidFill>
            <a:prstDash val="solid"/>
          </a:ln>
        </p:spPr>
        <p:txBody>
          <a:bodyPr wrap="square" lIns="0" tIns="0" rIns="0" bIns="0" rtlCol="0" anchor="ctr"/>
          <a:lstStyle/>
          <a:p>
            <a:pPr algn="ctr" indent="0" marL="0">
              <a:buNone/>
            </a:pPr>
            <a:r>
              <a:rPr lang="en-US" sz="1250" u="none" dirty="0">
                <a:solidFill>
                  <a:srgbClr val="3C3489"/>
                </a:solidFill>
                <a:latin typeface="Calibri" pitchFamily="34" charset="0"/>
                <a:ea typeface="Calibri" pitchFamily="34" charset="-122"/>
                <a:cs typeface="Calibri" pitchFamily="34" charset="-120"/>
                <a:hlinkClick r:id="rId5" action="ppaction://hlinksldjump" tooltip="State">
                  <a:extLst>
                    <a:ext uri="{A12FA001-AC4F-418D-AE19-62706E023703}">
                      <ahyp:hlinkClr xmlns:ahyp="http://schemas.microsoft.com/office/drawing/2018/hyperlinkcolor" val="tx"/>
                    </a:ext>
                  </a:extLst>
                </a:hlinkClick>
              </a:rPr>
              <a:t>State</a:t>
            </a:r>
            <a:endParaRPr lang="en-US" sz="1250" dirty="0"/>
          </a:p>
        </p:txBody>
      </p:sp>
      <p:sp>
        <p:nvSpPr>
          <p:cNvPr id="39" name="!!btn5">
            <a:hlinkClick action="ppaction://hlinksldjump" r:id="rId6"/>
          </p:cNvPr>
          <p:cNvSpPr/>
          <p:nvPr/>
        </p:nvSpPr>
        <p:spPr>
          <a:xfrm>
            <a:off x="8595360" y="5669280"/>
            <a:ext cx="1545336" cy="420624"/>
          </a:xfrm>
          <a:prstGeom prst="roundRect">
            <a:avLst>
              <a:gd name="adj" fmla="val 50000"/>
            </a:avLst>
          </a:prstGeom>
          <a:solidFill>
            <a:srgbClr val="534AB7"/>
          </a:solidFill>
          <a:ln w="12700">
            <a:solidFill>
              <a:srgbClr val="534AB7"/>
            </a:solidFill>
            <a:prstDash val="solid"/>
          </a:ln>
        </p:spPr>
        <p:txBody>
          <a:bodyPr wrap="square" lIns="0" tIns="0" rIns="0" bIns="0" rtlCol="0" anchor="ctr"/>
          <a:lstStyle/>
          <a:p>
            <a:pPr algn="ctr" indent="0" marL="0">
              <a:buNone/>
            </a:pPr>
            <a:r>
              <a:rPr lang="en-US" sz="1250" b="1" u="none" dirty="0">
                <a:solidFill>
                  <a:srgbClr val="FFFFFF"/>
                </a:solidFill>
                <a:latin typeface="Calibri" pitchFamily="34" charset="0"/>
                <a:ea typeface="Calibri" pitchFamily="34" charset="-122"/>
                <a:cs typeface="Calibri" pitchFamily="34" charset="-120"/>
                <a:hlinkClick r:id="rId6" action="ppaction://hlinksldjump" tooltip="Subgraph">
                  <a:extLst>
                    <a:ext uri="{A12FA001-AC4F-418D-AE19-62706E023703}">
                      <ahyp:hlinkClr xmlns:ahyp="http://schemas.microsoft.com/office/drawing/2018/hyperlinkcolor" val="tx"/>
                    </a:ext>
                  </a:extLst>
                </a:hlinkClick>
              </a:rPr>
              <a:t>Subgraph</a:t>
            </a:r>
            <a:endParaRPr lang="en-US" sz="1250" dirty="0"/>
          </a:p>
        </p:txBody>
      </p:sp>
      <p:sp>
        <p:nvSpPr>
          <p:cNvPr id="40" name="!!btn6">
            <a:hlinkClick action="ppaction://hlinksldjump" r:id="rId7"/>
          </p:cNvPr>
          <p:cNvSpPr/>
          <p:nvPr/>
        </p:nvSpPr>
        <p:spPr>
          <a:xfrm>
            <a:off x="10232136" y="5669280"/>
            <a:ext cx="1545336" cy="420624"/>
          </a:xfrm>
          <a:prstGeom prst="roundRect">
            <a:avLst>
              <a:gd name="adj" fmla="val 50000"/>
            </a:avLst>
          </a:prstGeom>
          <a:solidFill>
            <a:srgbClr val="FFFFFF"/>
          </a:solidFill>
          <a:ln w="12700">
            <a:solidFill>
              <a:srgbClr val="534AB7"/>
            </a:solidFill>
            <a:prstDash val="solid"/>
          </a:ln>
        </p:spPr>
        <p:txBody>
          <a:bodyPr wrap="square" lIns="0" tIns="0" rIns="0" bIns="0" rtlCol="0" anchor="ctr"/>
          <a:lstStyle/>
          <a:p>
            <a:pPr algn="ctr" indent="0" marL="0">
              <a:buNone/>
            </a:pPr>
            <a:r>
              <a:rPr lang="en-US" sz="1250" u="none" dirty="0">
                <a:solidFill>
                  <a:srgbClr val="3C3489"/>
                </a:solidFill>
                <a:latin typeface="Calibri" pitchFamily="34" charset="0"/>
                <a:ea typeface="Calibri" pitchFamily="34" charset="-122"/>
                <a:cs typeface="Calibri" pitchFamily="34" charset="-120"/>
                <a:hlinkClick r:id="rId7" action="ppaction://hlinksldjump" tooltip="Checkpointer">
                  <a:extLst>
                    <a:ext uri="{A12FA001-AC4F-418D-AE19-62706E023703}">
                      <ahyp:hlinkClr xmlns:ahyp="http://schemas.microsoft.com/office/drawing/2018/hyperlinkcolor" val="tx"/>
                    </a:ext>
                  </a:extLst>
                </a:hlinkClick>
              </a:rPr>
              <a:t>Checkpointer</a:t>
            </a:r>
            <a:endParaRPr lang="en-US" sz="1250" dirty="0"/>
          </a:p>
        </p:txBody>
      </p:sp>
      <p:sp>
        <p:nvSpPr>
          <p:cNvPr id="25" name="Slide Number Placeholder 0"/>
          <p:cNvSpPr>
            <a:spLocks noGrp="1"/>
          </p:cNvSpPr>
          <p:nvPr>
            <p:ph type="sldNum" sz="quarter" idx="4294967295"/>
          </p:nvPr>
        </p:nvSpPr>
        <p:spPr>
          <a:xfrm>
            <a:off x="5641848" y="6382512"/>
            <a:ext cx="914400" cy="201168"/>
          </a:xfrm>
          <a:prstGeom prst="rect">
            <a:avLst/>
          </a:prstGeom>
          <a:extLst>
            <a:ext uri="{C572A759-6A51-4108-AA02-DFA0A04FC94B}">
              <ma14:wrappingTextBoxFlag xmlns:ma14="http://schemas.microsoft.com/office/mac/drawingml/2011/main" val="0"/>
            </a:ext>
          </a:extLst>
        </p:spPr>
        <p:txBody>
          <a:bodyPr/>
          <a:lstStyle>
            <a:lvl1pPr>
              <a:defRPr sz="1000">
                <a:solidFill>
                  <a:srgbClr val="595959"/>
                </a:solidFill>
                <a:latin typeface="Arial"/>
                <a:ea typeface="Arial"/>
                <a:cs typeface="Arial"/>
              </a:defRPr>
            </a:lvl1pPr>
          </a:lstStyle>
          <a:p>
            <a:pPr algn="ctr"/>
            <a:fld id="{F7021451-1387-4CA6-816F-3879F97B5CBC}" type="slidenum">
              <a:rPr b="0" lang="en-US"/>
              <a:t>10</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700">
        <p159:morph option="byObject"/>
      </p:transition>
    </mc:Choice>
    <mc:Fallback>
      <p:transition spd="slow">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itle"/>
          <p:cNvSpPr txBox="1"/>
          <p:nvPr/>
        </p:nvSpPr>
        <p:spPr>
          <a:xfrm>
            <a:off x="411480" y="201168"/>
            <a:ext cx="11338560" cy="530352"/>
          </a:xfrm>
          <a:prstGeom prst="rect">
            <a:avLst/>
          </a:prstGeom>
          <a:noFill/>
          <a:ln/>
        </p:spPr>
        <p:txBody>
          <a:bodyPr wrap="square" lIns="0" tIns="0" rIns="0" bIns="0" rtlCol="0" anchor="b"/>
          <a:lstStyle/>
          <a:p>
            <a:pPr algn="l" indent="0" marL="0">
              <a:buNone/>
            </a:pPr>
            <a:r>
              <a:rPr lang="en-US" sz="2600" b="1" dirty="0">
                <a:solidFill>
                  <a:srgbClr val="1A1A1A"/>
                </a:solidFill>
                <a:latin typeface="Calibri" pitchFamily="34" charset="0"/>
                <a:ea typeface="Calibri" pitchFamily="34" charset="-122"/>
                <a:cs typeface="Calibri" pitchFamily="34" charset="-120"/>
              </a:rPr>
              <a:t>Reading the Graph: What Each Part Does</a:t>
            </a:r>
            <a:endParaRPr lang="en-US" sz="2600" dirty="0"/>
          </a:p>
        </p:txBody>
      </p:sp>
      <p:sp>
        <p:nvSpPr>
          <p:cNvPr id="3" name="!!rule"/>
          <p:cNvSpPr/>
          <p:nvPr/>
        </p:nvSpPr>
        <p:spPr>
          <a:xfrm>
            <a:off x="411480" y="804672"/>
            <a:ext cx="11365992" cy="914"/>
          </a:xfrm>
          <a:prstGeom prst="line">
            <a:avLst/>
          </a:prstGeom>
          <a:noFill/>
          <a:ln w="9525">
            <a:solidFill>
              <a:srgbClr val="7F7F7F"/>
            </a:solidFill>
            <a:prstDash val="solid"/>
          </a:ln>
        </p:spPr>
        <p:txBody>
          <a:bodyPr/>
          <a:p/>
        </p:txBody>
      </p:sp>
      <p:sp>
        <p:nvSpPr>
          <p:cNvPr id="4" name="!!lead"/>
          <p:cNvSpPr txBox="1"/>
          <p:nvPr/>
        </p:nvSpPr>
        <p:spPr>
          <a:xfrm>
            <a:off x="411480" y="886968"/>
            <a:ext cx="11338560" cy="438912"/>
          </a:xfrm>
          <a:prstGeom prst="rect">
            <a:avLst/>
          </a:prstGeom>
          <a:noFill/>
          <a:ln/>
        </p:spPr>
        <p:txBody>
          <a:bodyPr wrap="square" lIns="0" tIns="0" rIns="0" bIns="0" rtlCol="0" anchor="t"/>
          <a:lstStyle/>
          <a:p>
            <a:pPr indent="0" marL="0">
              <a:buNone/>
            </a:pPr>
            <a:r>
              <a:rPr lang="en-US" sz="1400" dirty="0">
                <a:solidFill>
                  <a:srgbClr val="404040"/>
                </a:solidFill>
                <a:latin typeface="Arial" pitchFamily="34" charset="0"/>
                <a:ea typeface="Arial" pitchFamily="34" charset="-122"/>
                <a:cs typeface="Arial" pitchFamily="34" charset="-120"/>
              </a:rPr>
              <a:t>The same graph as the last slide, one part at a time. Click a button to see what that part does, in plain words and in code.</a:t>
            </a:r>
            <a:endParaRPr lang="en-US" sz="1400" dirty="0"/>
          </a:p>
        </p:txBody>
      </p:sp>
      <p:sp>
        <p:nvSpPr>
          <p:cNvPr id="5" name="!!gs"/>
          <p:cNvSpPr/>
          <p:nvPr/>
        </p:nvSpPr>
        <p:spPr>
          <a:xfrm>
            <a:off x="3108960" y="1572768"/>
            <a:ext cx="1005840" cy="329184"/>
          </a:xfrm>
          <a:prstGeom prst="roundRect">
            <a:avLst>
              <a:gd name="adj" fmla="val 50000"/>
            </a:avLst>
          </a:prstGeom>
          <a:solidFill>
            <a:srgbClr val="FAFAF7"/>
          </a:solidFill>
          <a:ln w="12700">
            <a:solidFill>
              <a:srgbClr val="E3E1D8"/>
            </a:solidFill>
            <a:prstDash val="solid"/>
          </a:ln>
        </p:spPr>
        <p:txBody>
          <a:bodyPr wrap="square" lIns="50800" tIns="50800" rIns="50800" bIns="50800" rtlCol="0" anchor="ctr"/>
          <a:lstStyle/>
          <a:p>
            <a:pPr algn="ctr" indent="0" marL="0">
              <a:buNone/>
            </a:pPr>
            <a:r>
              <a:rPr lang="en-US" sz="1100" b="1" dirty="0">
                <a:solidFill>
                  <a:srgbClr val="B4B2A9"/>
                </a:solidFill>
                <a:latin typeface="Consolas" pitchFamily="34" charset="0"/>
                <a:ea typeface="Consolas" pitchFamily="34" charset="-122"/>
                <a:cs typeface="Consolas" pitchFamily="34" charset="-120"/>
              </a:rPr>
              <a:t>START</a:t>
            </a:r>
            <a:endParaRPr lang="en-US" sz="1100" dirty="0"/>
          </a:p>
        </p:txBody>
      </p:sp>
      <p:sp>
        <p:nvSpPr>
          <p:cNvPr id="6" name="!!e1"/>
          <p:cNvSpPr/>
          <p:nvPr/>
        </p:nvSpPr>
        <p:spPr>
          <a:xfrm>
            <a:off x="3611880" y="1901952"/>
            <a:ext cx="914" cy="219456"/>
          </a:xfrm>
          <a:prstGeom prst="line">
            <a:avLst/>
          </a:prstGeom>
          <a:noFill/>
          <a:ln w="15875">
            <a:solidFill>
              <a:srgbClr val="E3E1D8"/>
            </a:solidFill>
            <a:prstDash val="solid"/>
            <a:tailEnd type="triangle"/>
          </a:ln>
        </p:spPr>
        <p:txBody>
          <a:bodyPr/>
          <a:p/>
        </p:txBody>
      </p:sp>
      <p:sp>
        <p:nvSpPr>
          <p:cNvPr id="7" name="!!gw"/>
          <p:cNvSpPr/>
          <p:nvPr/>
        </p:nvSpPr>
        <p:spPr>
          <a:xfrm>
            <a:off x="2606040" y="2121408"/>
            <a:ext cx="2011680" cy="731520"/>
          </a:xfrm>
          <a:prstGeom prst="roundRect">
            <a:avLst>
              <a:gd name="adj" fmla="val 10000"/>
            </a:avLst>
          </a:prstGeom>
          <a:solidFill>
            <a:srgbClr val="FAFAF7"/>
          </a:solidFill>
          <a:ln w="12700">
            <a:solidFill>
              <a:srgbClr val="E3E1D8"/>
            </a:solidFill>
            <a:prstDash val="solid"/>
          </a:ln>
        </p:spPr>
        <p:txBody>
          <a:bodyPr wrap="square" lIns="50800" tIns="50800" rIns="50800" bIns="50800" rtlCol="0" anchor="ctr"/>
          <a:lstStyle/>
          <a:p>
            <a:pPr algn="ctr" indent="0" marL="0">
              <a:buNone/>
            </a:pPr>
            <a:r>
              <a:rPr lang="en-US" sz="1500" b="1" dirty="0">
                <a:solidFill>
                  <a:srgbClr val="B4B2A9"/>
                </a:solidFill>
                <a:latin typeface="Calibri" pitchFamily="34" charset="0"/>
                <a:ea typeface="Calibri" pitchFamily="34" charset="-122"/>
                <a:cs typeface="Calibri" pitchFamily="34" charset="-120"/>
              </a:rPr>
              <a:t>worker</a:t>
            </a:r>
            <a:endParaRPr lang="en-US" sz="1200" dirty="0"/>
          </a:p>
          <a:p>
            <a:pPr algn="ctr" indent="0" marL="0">
              <a:buNone/>
            </a:pPr>
            <a:r>
              <a:rPr lang="en-US" sz="1100" dirty="0">
                <a:solidFill>
                  <a:srgbClr val="B4B2A9"/>
                </a:solidFill>
                <a:latin typeface="Calibri" pitchFamily="34" charset="0"/>
                <a:ea typeface="Calibri" pitchFamily="34" charset="-122"/>
                <a:cs typeface="Calibri" pitchFamily="34" charset="-120"/>
              </a:rPr>
              <a:t>does the job</a:t>
            </a:r>
            <a:endParaRPr lang="en-US" sz="1200" dirty="0"/>
          </a:p>
        </p:txBody>
      </p:sp>
      <p:sp>
        <p:nvSpPr>
          <p:cNvPr id="8" name="!!e2"/>
          <p:cNvSpPr/>
          <p:nvPr/>
        </p:nvSpPr>
        <p:spPr>
          <a:xfrm>
            <a:off x="3611880" y="2852928"/>
            <a:ext cx="914" cy="411480"/>
          </a:xfrm>
          <a:prstGeom prst="line">
            <a:avLst/>
          </a:prstGeom>
          <a:noFill/>
          <a:ln w="31750">
            <a:solidFill>
              <a:srgbClr val="5F5E5A"/>
            </a:solidFill>
            <a:prstDash val="solid"/>
            <a:tailEnd type="triangle"/>
          </a:ln>
        </p:spPr>
        <p:txBody>
          <a:bodyPr/>
          <a:p/>
        </p:txBody>
      </p:sp>
      <p:sp>
        <p:nvSpPr>
          <p:cNvPr id="9" name="!!gc"/>
          <p:cNvSpPr/>
          <p:nvPr/>
        </p:nvSpPr>
        <p:spPr>
          <a:xfrm>
            <a:off x="2606040" y="3264408"/>
            <a:ext cx="2011680" cy="731520"/>
          </a:xfrm>
          <a:prstGeom prst="roundRect">
            <a:avLst>
              <a:gd name="adj" fmla="val 10000"/>
            </a:avLst>
          </a:prstGeom>
          <a:solidFill>
            <a:srgbClr val="FAFAF7"/>
          </a:solidFill>
          <a:ln w="12700">
            <a:solidFill>
              <a:srgbClr val="E3E1D8"/>
            </a:solidFill>
            <a:prstDash val="solid"/>
          </a:ln>
        </p:spPr>
        <p:txBody>
          <a:bodyPr wrap="square" lIns="50800" tIns="50800" rIns="50800" bIns="50800" rtlCol="0" anchor="ctr"/>
          <a:lstStyle/>
          <a:p>
            <a:pPr algn="ctr" indent="0" marL="0">
              <a:buNone/>
            </a:pPr>
            <a:r>
              <a:rPr lang="en-US" sz="1500" b="1" dirty="0">
                <a:solidFill>
                  <a:srgbClr val="B4B2A9"/>
                </a:solidFill>
                <a:latin typeface="Calibri" pitchFamily="34" charset="0"/>
                <a:ea typeface="Calibri" pitchFamily="34" charset="-122"/>
                <a:cs typeface="Calibri" pitchFamily="34" charset="-120"/>
              </a:rPr>
              <a:t>checker</a:t>
            </a:r>
            <a:endParaRPr lang="en-US" sz="1200" dirty="0"/>
          </a:p>
          <a:p>
            <a:pPr algn="ctr" indent="0" marL="0">
              <a:buNone/>
            </a:pPr>
            <a:r>
              <a:rPr lang="en-US" sz="1100" dirty="0">
                <a:solidFill>
                  <a:srgbClr val="B4B2A9"/>
                </a:solidFill>
                <a:latin typeface="Calibri" pitchFamily="34" charset="0"/>
                <a:ea typeface="Calibri" pitchFamily="34" charset="-122"/>
                <a:cs typeface="Calibri" pitchFamily="34" charset="-120"/>
              </a:rPr>
              <a:t>verifies the work</a:t>
            </a:r>
            <a:endParaRPr lang="en-US" sz="1200" dirty="0"/>
          </a:p>
        </p:txBody>
      </p:sp>
      <p:sp>
        <p:nvSpPr>
          <p:cNvPr id="10" name="!!e3"/>
          <p:cNvSpPr/>
          <p:nvPr/>
        </p:nvSpPr>
        <p:spPr>
          <a:xfrm>
            <a:off x="3611880" y="3995928"/>
            <a:ext cx="914" cy="411480"/>
          </a:xfrm>
          <a:prstGeom prst="line">
            <a:avLst/>
          </a:prstGeom>
          <a:noFill/>
          <a:ln w="31750">
            <a:solidFill>
              <a:srgbClr val="5F5E5A"/>
            </a:solidFill>
            <a:prstDash val="solid"/>
            <a:tailEnd type="triangle"/>
          </a:ln>
        </p:spPr>
        <p:txBody>
          <a:bodyPr/>
          <a:p/>
        </p:txBody>
      </p:sp>
      <p:sp>
        <p:nvSpPr>
          <p:cNvPr id="11" name="!!gpass"/>
          <p:cNvSpPr txBox="1"/>
          <p:nvPr/>
        </p:nvSpPr>
        <p:spPr>
          <a:xfrm>
            <a:off x="3703320" y="4050792"/>
            <a:ext cx="548640" cy="274320"/>
          </a:xfrm>
          <a:prstGeom prst="rect">
            <a:avLst/>
          </a:prstGeom>
          <a:noFill/>
          <a:ln/>
        </p:spPr>
        <p:txBody>
          <a:bodyPr wrap="square" lIns="0" tIns="0" rIns="0" bIns="0" rtlCol="0" anchor="t"/>
          <a:lstStyle/>
          <a:p>
            <a:pPr algn="l" indent="0" marL="0">
              <a:buNone/>
            </a:pPr>
            <a:r>
              <a:rPr lang="en-US" sz="1100" b="1" dirty="0">
                <a:solidFill>
                  <a:srgbClr val="085041"/>
                </a:solidFill>
                <a:latin typeface="Calibri" pitchFamily="34" charset="0"/>
                <a:ea typeface="Calibri" pitchFamily="34" charset="-122"/>
                <a:cs typeface="Calibri" pitchFamily="34" charset="-120"/>
              </a:rPr>
              <a:t>pass</a:t>
            </a:r>
            <a:endParaRPr lang="en-US" sz="1100" dirty="0"/>
          </a:p>
        </p:txBody>
      </p:sp>
      <p:sp>
        <p:nvSpPr>
          <p:cNvPr id="12" name="!!gend"/>
          <p:cNvSpPr/>
          <p:nvPr/>
        </p:nvSpPr>
        <p:spPr>
          <a:xfrm>
            <a:off x="3108960" y="4407408"/>
            <a:ext cx="1005840" cy="329184"/>
          </a:xfrm>
          <a:prstGeom prst="roundRect">
            <a:avLst>
              <a:gd name="adj" fmla="val 50000"/>
            </a:avLst>
          </a:prstGeom>
          <a:solidFill>
            <a:srgbClr val="FAFAF7"/>
          </a:solidFill>
          <a:ln w="12700">
            <a:solidFill>
              <a:srgbClr val="E3E1D8"/>
            </a:solidFill>
            <a:prstDash val="solid"/>
          </a:ln>
        </p:spPr>
        <p:txBody>
          <a:bodyPr wrap="square" lIns="50800" tIns="50800" rIns="50800" bIns="50800" rtlCol="0" anchor="ctr"/>
          <a:lstStyle/>
          <a:p>
            <a:pPr algn="ctr" indent="0" marL="0">
              <a:buNone/>
            </a:pPr>
            <a:r>
              <a:rPr lang="en-US" sz="1100" b="1" dirty="0">
                <a:solidFill>
                  <a:srgbClr val="B4B2A9"/>
                </a:solidFill>
                <a:latin typeface="Consolas" pitchFamily="34" charset="0"/>
                <a:ea typeface="Consolas" pitchFamily="34" charset="-122"/>
                <a:cs typeface="Consolas" pitchFamily="34" charset="-120"/>
              </a:rPr>
              <a:t>END</a:t>
            </a:r>
            <a:endParaRPr lang="en-US" sz="1100" dirty="0"/>
          </a:p>
        </p:txBody>
      </p:sp>
      <p:sp>
        <p:nvSpPr>
          <p:cNvPr id="13" name="!!gf1"/>
          <p:cNvSpPr/>
          <p:nvPr/>
        </p:nvSpPr>
        <p:spPr>
          <a:xfrm flipH="1">
            <a:off x="2103120" y="3630168"/>
            <a:ext cx="502920" cy="914"/>
          </a:xfrm>
          <a:prstGeom prst="line">
            <a:avLst/>
          </a:prstGeom>
          <a:noFill/>
          <a:ln w="15875">
            <a:solidFill>
              <a:srgbClr val="E3E1D8"/>
            </a:solidFill>
            <a:prstDash val="dash"/>
          </a:ln>
        </p:spPr>
        <p:txBody>
          <a:bodyPr/>
          <a:p/>
        </p:txBody>
      </p:sp>
      <p:sp>
        <p:nvSpPr>
          <p:cNvPr id="14" name="!!gf2"/>
          <p:cNvSpPr/>
          <p:nvPr/>
        </p:nvSpPr>
        <p:spPr>
          <a:xfrm flipV="1">
            <a:off x="2103120" y="2487168"/>
            <a:ext cx="914" cy="1143000"/>
          </a:xfrm>
          <a:prstGeom prst="line">
            <a:avLst/>
          </a:prstGeom>
          <a:noFill/>
          <a:ln w="15875">
            <a:solidFill>
              <a:srgbClr val="E3E1D8"/>
            </a:solidFill>
            <a:prstDash val="dash"/>
          </a:ln>
        </p:spPr>
        <p:txBody>
          <a:bodyPr/>
          <a:p/>
        </p:txBody>
      </p:sp>
      <p:sp>
        <p:nvSpPr>
          <p:cNvPr id="15" name="!!gf3"/>
          <p:cNvSpPr/>
          <p:nvPr/>
        </p:nvSpPr>
        <p:spPr>
          <a:xfrm>
            <a:off x="2103120" y="2487168"/>
            <a:ext cx="484632" cy="914"/>
          </a:xfrm>
          <a:prstGeom prst="line">
            <a:avLst/>
          </a:prstGeom>
          <a:noFill/>
          <a:ln w="15875">
            <a:solidFill>
              <a:srgbClr val="E3E1D8"/>
            </a:solidFill>
            <a:prstDash val="dash"/>
            <a:tailEnd type="triangle"/>
          </a:ln>
        </p:spPr>
        <p:txBody>
          <a:bodyPr/>
          <a:p/>
        </p:txBody>
      </p:sp>
      <p:sp>
        <p:nvSpPr>
          <p:cNvPr id="16" name="!!gfail"/>
          <p:cNvSpPr txBox="1"/>
          <p:nvPr/>
        </p:nvSpPr>
        <p:spPr>
          <a:xfrm>
            <a:off x="1645920" y="3081528"/>
            <a:ext cx="411480" cy="274320"/>
          </a:xfrm>
          <a:prstGeom prst="rect">
            <a:avLst/>
          </a:prstGeom>
          <a:noFill/>
          <a:ln/>
        </p:spPr>
        <p:txBody>
          <a:bodyPr wrap="square" lIns="0" tIns="0" rIns="0" bIns="0" rtlCol="0" anchor="t"/>
          <a:lstStyle/>
          <a:p>
            <a:pPr algn="r" indent="0" marL="0">
              <a:buNone/>
            </a:pPr>
            <a:r>
              <a:rPr lang="en-US" sz="1100" b="1" dirty="0">
                <a:solidFill>
                  <a:srgbClr val="B4B2A9"/>
                </a:solidFill>
                <a:latin typeface="Calibri" pitchFamily="34" charset="0"/>
                <a:ea typeface="Calibri" pitchFamily="34" charset="-122"/>
                <a:cs typeface="Calibri" pitchFamily="34" charset="-120"/>
              </a:rPr>
              <a:t>fail</a:t>
            </a:r>
            <a:endParaRPr lang="en-US" sz="1100" dirty="0"/>
          </a:p>
        </p:txBody>
      </p:sp>
      <p:sp>
        <p:nvSpPr>
          <p:cNvPr id="17" name="!!sl1"/>
          <p:cNvSpPr/>
          <p:nvPr/>
        </p:nvSpPr>
        <p:spPr>
          <a:xfrm>
            <a:off x="4617720" y="2487168"/>
            <a:ext cx="731520" cy="914"/>
          </a:xfrm>
          <a:prstGeom prst="line">
            <a:avLst/>
          </a:prstGeom>
          <a:noFill/>
          <a:ln w="9525">
            <a:solidFill>
              <a:srgbClr val="E3E1D8"/>
            </a:solidFill>
            <a:prstDash val="dash"/>
          </a:ln>
        </p:spPr>
        <p:txBody>
          <a:bodyPr/>
          <a:p/>
        </p:txBody>
      </p:sp>
      <p:sp>
        <p:nvSpPr>
          <p:cNvPr id="18" name="!!sl2"/>
          <p:cNvSpPr/>
          <p:nvPr/>
        </p:nvSpPr>
        <p:spPr>
          <a:xfrm>
            <a:off x="4617720" y="3630168"/>
            <a:ext cx="731520" cy="914"/>
          </a:xfrm>
          <a:prstGeom prst="line">
            <a:avLst/>
          </a:prstGeom>
          <a:noFill/>
          <a:ln w="9525">
            <a:solidFill>
              <a:srgbClr val="E3E1D8"/>
            </a:solidFill>
            <a:prstDash val="dash"/>
          </a:ln>
        </p:spPr>
        <p:txBody>
          <a:bodyPr/>
          <a:p/>
        </p:txBody>
      </p:sp>
      <p:sp>
        <p:nvSpPr>
          <p:cNvPr id="19" name="!!st"/>
          <p:cNvSpPr/>
          <p:nvPr/>
        </p:nvSpPr>
        <p:spPr>
          <a:xfrm>
            <a:off x="5349240" y="2121408"/>
            <a:ext cx="1600200" cy="1874520"/>
          </a:xfrm>
          <a:prstGeom prst="roundRect">
            <a:avLst>
              <a:gd name="adj" fmla="val 4571"/>
            </a:avLst>
          </a:prstGeom>
          <a:solidFill>
            <a:srgbClr val="FAFAF7"/>
          </a:solidFill>
          <a:ln w="12700">
            <a:solidFill>
              <a:srgbClr val="E3E1D8"/>
            </a:solidFill>
            <a:prstDash val="solid"/>
          </a:ln>
        </p:spPr>
        <p:txBody>
          <a:bodyPr wrap="square" lIns="50800" tIns="50800" rIns="50800" bIns="50800" rtlCol="0" anchor="ctr"/>
          <a:lstStyle/>
          <a:p>
            <a:pPr algn="ctr" indent="0" marL="0">
              <a:buNone/>
            </a:pPr>
            <a:endParaRPr lang="en-US" sz="1200" dirty="0"/>
          </a:p>
        </p:txBody>
      </p:sp>
      <p:sp>
        <p:nvSpPr>
          <p:cNvPr id="20" name="!!sth"/>
          <p:cNvSpPr txBox="1"/>
          <p:nvPr/>
        </p:nvSpPr>
        <p:spPr>
          <a:xfrm>
            <a:off x="5486400" y="2212848"/>
            <a:ext cx="1325880" cy="274320"/>
          </a:xfrm>
          <a:prstGeom prst="rect">
            <a:avLst/>
          </a:prstGeom>
          <a:noFill/>
          <a:ln/>
        </p:spPr>
        <p:txBody>
          <a:bodyPr wrap="square" lIns="0" tIns="0" rIns="0" bIns="0" rtlCol="0" anchor="t"/>
          <a:lstStyle/>
          <a:p>
            <a:pPr algn="l" indent="0" marL="0">
              <a:buNone/>
            </a:pPr>
            <a:r>
              <a:rPr lang="en-US" sz="1300" b="1" dirty="0">
                <a:solidFill>
                  <a:srgbClr val="B4B2A9"/>
                </a:solidFill>
                <a:latin typeface="Calibri" pitchFamily="34" charset="0"/>
                <a:ea typeface="Calibri" pitchFamily="34" charset="-122"/>
                <a:cs typeface="Calibri" pitchFamily="34" charset="-120"/>
              </a:rPr>
              <a:t>State</a:t>
            </a:r>
            <a:endParaRPr lang="en-US" sz="1300" dirty="0"/>
          </a:p>
        </p:txBody>
      </p:sp>
      <p:sp>
        <p:nvSpPr>
          <p:cNvPr id="21" name="!!str0"/>
          <p:cNvSpPr txBox="1"/>
          <p:nvPr/>
        </p:nvSpPr>
        <p:spPr>
          <a:xfrm>
            <a:off x="5486400" y="2505456"/>
            <a:ext cx="1325880" cy="457200"/>
          </a:xfrm>
          <a:prstGeom prst="rect">
            <a:avLst/>
          </a:prstGeom>
          <a:noFill/>
          <a:ln/>
        </p:spPr>
        <p:txBody>
          <a:bodyPr wrap="square" lIns="0" tIns="0" rIns="0" bIns="0" rtlCol="0" anchor="t"/>
          <a:lstStyle/>
          <a:p>
            <a:pPr algn="l" indent="0" marL="0">
              <a:buNone/>
            </a:pPr>
            <a:r>
              <a:rPr lang="en-US" sz="1150" b="1" dirty="0">
                <a:solidFill>
                  <a:srgbClr val="B4B2A9"/>
                </a:solidFill>
                <a:latin typeface="Consolas" pitchFamily="34" charset="0"/>
                <a:ea typeface="Consolas" pitchFamily="34" charset="-122"/>
                <a:cs typeface="Consolas" pitchFamily="34" charset="-120"/>
              </a:rPr>
              <a:t>ticket</a:t>
            </a:r>
            <a:endParaRPr lang="en-US" sz="1400" dirty="0"/>
          </a:p>
          <a:p>
            <a:pPr algn="l" indent="0" marL="0">
              <a:buNone/>
            </a:pPr>
            <a:r>
              <a:rPr lang="en-US" sz="1000" dirty="0">
                <a:solidFill>
                  <a:srgbClr val="B4B2A9"/>
                </a:solidFill>
                <a:latin typeface="Calibri" pitchFamily="34" charset="0"/>
                <a:ea typeface="Calibri" pitchFamily="34" charset="-122"/>
                <a:cs typeface="Calibri" pitchFamily="34" charset="-120"/>
              </a:rPr>
              <a:t>input</a:t>
            </a:r>
            <a:endParaRPr lang="en-US" sz="1400" dirty="0"/>
          </a:p>
        </p:txBody>
      </p:sp>
      <p:sp>
        <p:nvSpPr>
          <p:cNvPr id="22" name="!!str1"/>
          <p:cNvSpPr txBox="1"/>
          <p:nvPr/>
        </p:nvSpPr>
        <p:spPr>
          <a:xfrm>
            <a:off x="5486400" y="2980944"/>
            <a:ext cx="1325880" cy="457200"/>
          </a:xfrm>
          <a:prstGeom prst="rect">
            <a:avLst/>
          </a:prstGeom>
          <a:noFill/>
          <a:ln/>
        </p:spPr>
        <p:txBody>
          <a:bodyPr wrap="square" lIns="0" tIns="0" rIns="0" bIns="0" rtlCol="0" anchor="t"/>
          <a:lstStyle/>
          <a:p>
            <a:pPr algn="l" indent="0" marL="0">
              <a:buNone/>
            </a:pPr>
            <a:r>
              <a:rPr lang="en-US" sz="1150" b="1" dirty="0">
                <a:solidFill>
                  <a:srgbClr val="B4B2A9"/>
                </a:solidFill>
                <a:latin typeface="Consolas" pitchFamily="34" charset="0"/>
                <a:ea typeface="Consolas" pitchFamily="34" charset="-122"/>
                <a:cs typeface="Consolas" pitchFamily="34" charset="-120"/>
              </a:rPr>
              <a:t>result</a:t>
            </a:r>
            <a:endParaRPr lang="en-US" sz="1400" dirty="0"/>
          </a:p>
          <a:p>
            <a:pPr algn="l" indent="0" marL="0">
              <a:buNone/>
            </a:pPr>
            <a:r>
              <a:rPr lang="en-US" sz="1000" dirty="0">
                <a:solidFill>
                  <a:srgbClr val="B4B2A9"/>
                </a:solidFill>
                <a:latin typeface="Calibri" pitchFamily="34" charset="0"/>
                <a:ea typeface="Calibri" pitchFamily="34" charset="-122"/>
                <a:cs typeface="Calibri" pitchFamily="34" charset="-120"/>
              </a:rPr>
              <a:t>by worker</a:t>
            </a:r>
            <a:endParaRPr lang="en-US" sz="1400" dirty="0"/>
          </a:p>
        </p:txBody>
      </p:sp>
      <p:sp>
        <p:nvSpPr>
          <p:cNvPr id="23" name="!!str2"/>
          <p:cNvSpPr txBox="1"/>
          <p:nvPr/>
        </p:nvSpPr>
        <p:spPr>
          <a:xfrm>
            <a:off x="5486400" y="3456432"/>
            <a:ext cx="1325880" cy="457200"/>
          </a:xfrm>
          <a:prstGeom prst="rect">
            <a:avLst/>
          </a:prstGeom>
          <a:noFill/>
          <a:ln/>
        </p:spPr>
        <p:txBody>
          <a:bodyPr wrap="square" lIns="0" tIns="0" rIns="0" bIns="0" rtlCol="0" anchor="t"/>
          <a:lstStyle/>
          <a:p>
            <a:pPr algn="l" indent="0" marL="0">
              <a:buNone/>
            </a:pPr>
            <a:r>
              <a:rPr lang="en-US" sz="1150" b="1" dirty="0">
                <a:solidFill>
                  <a:srgbClr val="B4B2A9"/>
                </a:solidFill>
                <a:latin typeface="Consolas" pitchFamily="34" charset="0"/>
                <a:ea typeface="Consolas" pitchFamily="34" charset="-122"/>
                <a:cs typeface="Consolas" pitchFamily="34" charset="-120"/>
              </a:rPr>
              <a:t>status</a:t>
            </a:r>
            <a:endParaRPr lang="en-US" sz="1400" dirty="0"/>
          </a:p>
          <a:p>
            <a:pPr algn="l" indent="0" marL="0">
              <a:buNone/>
            </a:pPr>
            <a:r>
              <a:rPr lang="en-US" sz="1000" dirty="0">
                <a:solidFill>
                  <a:srgbClr val="B4B2A9"/>
                </a:solidFill>
                <a:latin typeface="Calibri" pitchFamily="34" charset="0"/>
                <a:ea typeface="Calibri" pitchFamily="34" charset="-122"/>
                <a:cs typeface="Calibri" pitchFamily="34" charset="-120"/>
              </a:rPr>
              <a:t>by checker</a:t>
            </a:r>
            <a:endParaRPr lang="en-US" sz="1400" dirty="0"/>
          </a:p>
        </p:txBody>
      </p:sp>
      <p:sp>
        <p:nvSpPr>
          <p:cNvPr id="24" name="!!save1"/>
          <p:cNvSpPr/>
          <p:nvPr/>
        </p:nvSpPr>
        <p:spPr>
          <a:xfrm>
            <a:off x="2907792" y="2903220"/>
            <a:ext cx="310896" cy="310896"/>
          </a:xfrm>
          <a:prstGeom prst="ellipse">
            <a:avLst/>
          </a:prstGeom>
          <a:solidFill>
            <a:srgbClr val="FAEEDA"/>
          </a:solidFill>
          <a:ln w="12700">
            <a:solidFill>
              <a:srgbClr val="854F0B"/>
            </a:solidFill>
            <a:prstDash val="solid"/>
          </a:ln>
        </p:spPr>
        <p:txBody>
          <a:bodyPr wrap="square" lIns="50800" tIns="50800" rIns="50800" bIns="50800" rtlCol="0" anchor="ctr"/>
          <a:lstStyle/>
          <a:p>
            <a:pPr algn="ctr" indent="0" marL="0">
              <a:buNone/>
            </a:pPr>
            <a:endParaRPr lang="en-US" sz="1200" dirty="0"/>
          </a:p>
        </p:txBody>
      </p:sp>
      <p:pic>
        <p:nvPicPr>
          <p:cNvPr id="25" name="!!saveic1" descr="/tmp/deck-icons/TbDeviceFloppy_854F0B.png">    </p:cNvPr>
          <p:cNvPicPr>
            <a:picLocks noChangeAspect="1"/>
          </p:cNvPicPr>
          <p:nvPr/>
        </p:nvPicPr>
        <p:blipFill>
          <a:blip r:embed="rId1"/>
          <a:stretch>
            <a:fillRect/>
          </a:stretch>
        </p:blipFill>
        <p:spPr>
          <a:xfrm>
            <a:off x="2962656" y="2958084"/>
            <a:ext cx="201168" cy="201168"/>
          </a:xfrm>
          <a:prstGeom prst="rect">
            <a:avLst/>
          </a:prstGeom>
        </p:spPr>
      </p:pic>
      <p:sp>
        <p:nvSpPr>
          <p:cNvPr id="26" name="!!save2"/>
          <p:cNvSpPr/>
          <p:nvPr/>
        </p:nvSpPr>
        <p:spPr>
          <a:xfrm>
            <a:off x="2907792" y="4046220"/>
            <a:ext cx="310896" cy="310896"/>
          </a:xfrm>
          <a:prstGeom prst="ellipse">
            <a:avLst/>
          </a:prstGeom>
          <a:solidFill>
            <a:srgbClr val="FAEEDA"/>
          </a:solidFill>
          <a:ln w="12700">
            <a:solidFill>
              <a:srgbClr val="854F0B"/>
            </a:solidFill>
            <a:prstDash val="solid"/>
          </a:ln>
        </p:spPr>
        <p:txBody>
          <a:bodyPr wrap="square" lIns="50800" tIns="50800" rIns="50800" bIns="50800" rtlCol="0" anchor="ctr"/>
          <a:lstStyle/>
          <a:p>
            <a:pPr algn="ctr" indent="0" marL="0">
              <a:buNone/>
            </a:pPr>
            <a:endParaRPr lang="en-US" sz="1200" dirty="0"/>
          </a:p>
        </p:txBody>
      </p:sp>
      <p:pic>
        <p:nvPicPr>
          <p:cNvPr id="27" name="!!saveic2" descr="/tmp/deck-icons/TbDeviceFloppy_854F0B.png">    </p:cNvPr>
          <p:cNvPicPr>
            <a:picLocks noChangeAspect="1"/>
          </p:cNvPicPr>
          <p:nvPr/>
        </p:nvPicPr>
        <p:blipFill>
          <a:blip r:embed="rId2"/>
          <a:stretch>
            <a:fillRect/>
          </a:stretch>
        </p:blipFill>
        <p:spPr>
          <a:xfrm>
            <a:off x="2962656" y="4101084"/>
            <a:ext cx="201168" cy="201168"/>
          </a:xfrm>
          <a:prstGeom prst="rect">
            <a:avLst/>
          </a:prstGeom>
        </p:spPr>
      </p:pic>
      <p:sp>
        <p:nvSpPr>
          <p:cNvPr id="28" name="!!savel"/>
          <p:cNvSpPr txBox="1"/>
          <p:nvPr/>
        </p:nvSpPr>
        <p:spPr>
          <a:xfrm>
            <a:off x="2286000" y="2939796"/>
            <a:ext cx="502920" cy="237744"/>
          </a:xfrm>
          <a:prstGeom prst="rect">
            <a:avLst/>
          </a:prstGeom>
          <a:noFill/>
          <a:ln/>
        </p:spPr>
        <p:txBody>
          <a:bodyPr wrap="square" lIns="0" tIns="0" rIns="0" bIns="0" rtlCol="0" anchor="t"/>
          <a:lstStyle/>
          <a:p>
            <a:pPr algn="r" indent="0" marL="0">
              <a:buNone/>
            </a:pPr>
            <a:r>
              <a:rPr lang="en-US" sz="1000" b="1" dirty="0">
                <a:solidFill>
                  <a:srgbClr val="633806"/>
                </a:solidFill>
                <a:latin typeface="Calibri" pitchFamily="34" charset="0"/>
                <a:ea typeface="Calibri" pitchFamily="34" charset="-122"/>
                <a:cs typeface="Calibri" pitchFamily="34" charset="-120"/>
              </a:rPr>
              <a:t>saved</a:t>
            </a:r>
            <a:endParaRPr lang="en-US" sz="1000" dirty="0"/>
          </a:p>
        </p:txBody>
      </p:sp>
      <p:sp>
        <p:nvSpPr>
          <p:cNvPr id="29" name="!!human"/>
          <p:cNvSpPr/>
          <p:nvPr/>
        </p:nvSpPr>
        <p:spPr>
          <a:xfrm>
            <a:off x="4297680" y="4389120"/>
            <a:ext cx="1463040" cy="365760"/>
          </a:xfrm>
          <a:prstGeom prst="roundRect">
            <a:avLst>
              <a:gd name="adj" fmla="val 50000"/>
            </a:avLst>
          </a:prstGeom>
          <a:solidFill>
            <a:srgbClr val="FAEEDA"/>
          </a:solidFill>
          <a:ln w="12700">
            <a:solidFill>
              <a:srgbClr val="854F0B"/>
            </a:solidFill>
            <a:prstDash val="solid"/>
          </a:ln>
        </p:spPr>
        <p:txBody>
          <a:bodyPr wrap="square" lIns="25400" tIns="25400" rIns="25400" bIns="25400" rtlCol="0" anchor="ctr"/>
          <a:lstStyle/>
          <a:p>
            <a:pPr algn="ctr" indent="0" marL="0">
              <a:buNone/>
            </a:pPr>
            <a:r>
              <a:rPr lang="en-US" sz="1050" b="1" dirty="0">
                <a:solidFill>
                  <a:srgbClr val="633806"/>
                </a:solidFill>
                <a:latin typeface="Calibri" pitchFamily="34" charset="0"/>
                <a:ea typeface="Calibri" pitchFamily="34" charset="-122"/>
                <a:cs typeface="Calibri" pitchFamily="34" charset="-120"/>
              </a:rPr>
              <a:t>pause: </a:t>
            </a:r>
            <a:pPr algn="ctr" indent="0" marL="0">
              <a:buNone/>
            </a:pPr>
            <a:r>
              <a:rPr lang="en-US" sz="1050" dirty="0">
                <a:solidFill>
                  <a:srgbClr val="633806"/>
                </a:solidFill>
                <a:latin typeface="Calibri" pitchFamily="34" charset="0"/>
                <a:ea typeface="Calibri" pitchFamily="34" charset="-122"/>
                <a:cs typeface="Calibri" pitchFamily="34" charset="-120"/>
              </a:rPr>
              <a:t>human approves</a:t>
            </a:r>
            <a:endParaRPr lang="en-US" sz="1050" dirty="0"/>
          </a:p>
        </p:txBody>
      </p:sp>
      <p:sp>
        <p:nvSpPr>
          <p:cNvPr id="30" name="!!panel"/>
          <p:cNvSpPr/>
          <p:nvPr/>
        </p:nvSpPr>
        <p:spPr>
          <a:xfrm>
            <a:off x="7269480" y="1463040"/>
            <a:ext cx="4507992" cy="3977640"/>
          </a:xfrm>
          <a:prstGeom prst="roundRect">
            <a:avLst>
              <a:gd name="adj" fmla="val 1839"/>
            </a:avLst>
          </a:prstGeom>
          <a:solidFill>
            <a:srgbClr val="FFFFFF"/>
          </a:solidFill>
          <a:ln w="12700">
            <a:solidFill>
              <a:srgbClr val="D3D1C7"/>
            </a:solidFill>
            <a:prstDash val="solid"/>
          </a:ln>
        </p:spPr>
        <p:txBody>
          <a:bodyPr wrap="square" lIns="50800" tIns="50800" rIns="50800" bIns="50800" rtlCol="0" anchor="ctr"/>
          <a:lstStyle/>
          <a:p>
            <a:pPr algn="ctr" indent="0" marL="0">
              <a:buNone/>
            </a:pPr>
            <a:endParaRPr lang="en-US" sz="1200" dirty="0"/>
          </a:p>
        </p:txBody>
      </p:sp>
      <p:sp>
        <p:nvSpPr>
          <p:cNvPr id="31" name="!!ptitle"/>
          <p:cNvSpPr txBox="1"/>
          <p:nvPr/>
        </p:nvSpPr>
        <p:spPr>
          <a:xfrm>
            <a:off x="7543800" y="1645920"/>
            <a:ext cx="3959352" cy="411480"/>
          </a:xfrm>
          <a:prstGeom prst="rect">
            <a:avLst/>
          </a:prstGeom>
          <a:noFill/>
          <a:ln/>
        </p:spPr>
        <p:txBody>
          <a:bodyPr wrap="square" lIns="0" tIns="0" rIns="0" bIns="0" rtlCol="0" anchor="ctr"/>
          <a:lstStyle/>
          <a:p>
            <a:pPr algn="l" indent="0" marL="0">
              <a:buNone/>
            </a:pPr>
            <a:r>
              <a:rPr lang="en-US" sz="2000" b="1" dirty="0">
                <a:solidFill>
                  <a:srgbClr val="3C3489"/>
                </a:solidFill>
                <a:latin typeface="Calibri" pitchFamily="34" charset="0"/>
                <a:ea typeface="Calibri" pitchFamily="34" charset="-122"/>
                <a:cs typeface="Calibri" pitchFamily="34" charset="-120"/>
              </a:rPr>
              <a:t>Checkpointer</a:t>
            </a:r>
            <a:endParaRPr lang="en-US" sz="2000" dirty="0"/>
          </a:p>
        </p:txBody>
      </p:sp>
      <p:sp>
        <p:nvSpPr>
          <p:cNvPr id="32" name="!!pl1"/>
          <p:cNvSpPr txBox="1"/>
          <p:nvPr/>
        </p:nvSpPr>
        <p:spPr>
          <a:xfrm>
            <a:off x="7543800" y="2176272"/>
            <a:ext cx="3959352" cy="237744"/>
          </a:xfrm>
          <a:prstGeom prst="rect">
            <a:avLst/>
          </a:prstGeom>
          <a:noFill/>
          <a:ln/>
        </p:spPr>
        <p:txBody>
          <a:bodyPr wrap="square" lIns="0" tIns="0" rIns="0" bIns="0" rtlCol="0" anchor="t"/>
          <a:lstStyle/>
          <a:p>
            <a:pPr algn="l" indent="0" marL="0">
              <a:buNone/>
            </a:pPr>
            <a:r>
              <a:rPr lang="en-US" sz="1050" b="1" dirty="0">
                <a:solidFill>
                  <a:srgbClr val="5F5E5A"/>
                </a:solidFill>
                <a:latin typeface="Calibri" pitchFamily="34" charset="0"/>
                <a:ea typeface="Calibri" pitchFamily="34" charset="-122"/>
                <a:cs typeface="Calibri" pitchFamily="34" charset="-120"/>
              </a:rPr>
              <a:t>WHAT IT IS</a:t>
            </a:r>
            <a:endParaRPr lang="en-US" sz="1050" dirty="0"/>
          </a:p>
        </p:txBody>
      </p:sp>
      <p:sp>
        <p:nvSpPr>
          <p:cNvPr id="33" name="!!pwhat"/>
          <p:cNvSpPr txBox="1"/>
          <p:nvPr/>
        </p:nvSpPr>
        <p:spPr>
          <a:xfrm>
            <a:off x="7543800" y="2404872"/>
            <a:ext cx="3959352" cy="566928"/>
          </a:xfrm>
          <a:prstGeom prst="rect">
            <a:avLst/>
          </a:prstGeom>
          <a:noFill/>
          <a:ln/>
        </p:spPr>
        <p:txBody>
          <a:bodyPr wrap="square" lIns="0" tIns="0" rIns="0" bIns="0" rtlCol="0" anchor="t"/>
          <a:lstStyle/>
          <a:p>
            <a:pPr algn="l" indent="0" marL="0">
              <a:buNone/>
            </a:pPr>
            <a:r>
              <a:rPr lang="en-US" sz="1350" dirty="0">
                <a:solidFill>
                  <a:srgbClr val="2C2C2A"/>
                </a:solidFill>
                <a:latin typeface="Calibri" pitchFamily="34" charset="0"/>
                <a:ea typeface="Calibri" pitchFamily="34" charset="-122"/>
                <a:cs typeface="Calibri" pitchFamily="34" charset="-120"/>
              </a:rPr>
              <a:t>Saves the state after every step, so a run can resume after a failure or pause for a person.</a:t>
            </a:r>
            <a:endParaRPr lang="en-US" sz="1350" dirty="0"/>
          </a:p>
        </p:txBody>
      </p:sp>
      <p:sp>
        <p:nvSpPr>
          <p:cNvPr id="34" name="!!pl2"/>
          <p:cNvSpPr txBox="1"/>
          <p:nvPr/>
        </p:nvSpPr>
        <p:spPr>
          <a:xfrm>
            <a:off x="7543800" y="3017520"/>
            <a:ext cx="3959352" cy="237744"/>
          </a:xfrm>
          <a:prstGeom prst="rect">
            <a:avLst/>
          </a:prstGeom>
          <a:noFill/>
          <a:ln/>
        </p:spPr>
        <p:txBody>
          <a:bodyPr wrap="square" lIns="0" tIns="0" rIns="0" bIns="0" rtlCol="0" anchor="t"/>
          <a:lstStyle/>
          <a:p>
            <a:pPr algn="l" indent="0" marL="0">
              <a:buNone/>
            </a:pPr>
            <a:r>
              <a:rPr lang="en-US" sz="1050" b="1" dirty="0">
                <a:solidFill>
                  <a:srgbClr val="5F5E5A"/>
                </a:solidFill>
                <a:latin typeface="Calibri" pitchFamily="34" charset="0"/>
                <a:ea typeface="Calibri" pitchFamily="34" charset="-122"/>
                <a:cs typeface="Calibri" pitchFamily="34" charset="-120"/>
              </a:rPr>
              <a:t>IN THIS GRAPH</a:t>
            </a:r>
            <a:endParaRPr lang="en-US" sz="1050" dirty="0"/>
          </a:p>
        </p:txBody>
      </p:sp>
      <p:sp>
        <p:nvSpPr>
          <p:cNvPr id="35" name="!!phere"/>
          <p:cNvSpPr txBox="1"/>
          <p:nvPr/>
        </p:nvSpPr>
        <p:spPr>
          <a:xfrm>
            <a:off x="7543800" y="3246120"/>
            <a:ext cx="3959352" cy="566928"/>
          </a:xfrm>
          <a:prstGeom prst="rect">
            <a:avLst/>
          </a:prstGeom>
          <a:noFill/>
          <a:ln/>
        </p:spPr>
        <p:txBody>
          <a:bodyPr wrap="square" lIns="0" tIns="0" rIns="0" bIns="0" rtlCol="0" anchor="t"/>
          <a:lstStyle/>
          <a:p>
            <a:pPr algn="l" indent="0" marL="0">
              <a:buNone/>
            </a:pPr>
            <a:r>
              <a:rPr lang="en-US" sz="1300" dirty="0">
                <a:solidFill>
                  <a:srgbClr val="2C2C2A"/>
                </a:solidFill>
                <a:latin typeface="Calibri" pitchFamily="34" charset="0"/>
                <a:ea typeface="Calibri" pitchFamily="34" charset="-122"/>
                <a:cs typeface="Calibri" pitchFamily="34" charset="-120"/>
              </a:rPr>
              <a:t>Saved after worker and after checker. Before it finishes, the run can stop and wait for a human to approve.</a:t>
            </a:r>
            <a:endParaRPr lang="en-US" sz="1300" dirty="0"/>
          </a:p>
        </p:txBody>
      </p:sp>
      <p:sp>
        <p:nvSpPr>
          <p:cNvPr id="36" name="!!plike"/>
          <p:cNvSpPr/>
          <p:nvPr/>
        </p:nvSpPr>
        <p:spPr>
          <a:xfrm>
            <a:off x="7543800" y="3886200"/>
            <a:ext cx="3959352" cy="457200"/>
          </a:xfrm>
          <a:prstGeom prst="roundRect">
            <a:avLst>
              <a:gd name="adj" fmla="val 12000"/>
            </a:avLst>
          </a:prstGeom>
          <a:solidFill>
            <a:srgbClr val="E1F5EE"/>
          </a:solidFill>
          <a:ln w="12700">
            <a:solidFill>
              <a:srgbClr val="0F6E56"/>
            </a:solidFill>
            <a:prstDash val="solid"/>
          </a:ln>
        </p:spPr>
        <p:txBody>
          <a:bodyPr wrap="square" lIns="101600" tIns="101600" rIns="101600" bIns="101600" rtlCol="0" anchor="ctr"/>
          <a:lstStyle/>
          <a:p>
            <a:pPr algn="l" indent="0" marL="0">
              <a:buNone/>
            </a:pPr>
            <a:r>
              <a:rPr lang="en-US" sz="1250" b="1" dirty="0">
                <a:solidFill>
                  <a:srgbClr val="085041"/>
                </a:solidFill>
                <a:latin typeface="Calibri" pitchFamily="34" charset="0"/>
                <a:ea typeface="Calibri" pitchFamily="34" charset="-122"/>
                <a:cs typeface="Calibri" pitchFamily="34" charset="-120"/>
              </a:rPr>
              <a:t>Think of it as  </a:t>
            </a:r>
            <a:pPr algn="l" indent="0" marL="0">
              <a:buNone/>
            </a:pPr>
            <a:r>
              <a:rPr lang="en-US" sz="1250" dirty="0">
                <a:solidFill>
                  <a:srgbClr val="085041"/>
                </a:solidFill>
                <a:latin typeface="Calibri" pitchFamily="34" charset="0"/>
                <a:ea typeface="Calibri" pitchFamily="34" charset="-122"/>
                <a:cs typeface="Calibri" pitchFamily="34" charset="-120"/>
              </a:rPr>
              <a:t>Save points in a game, plus a manager's sign-off.</a:t>
            </a:r>
            <a:endParaRPr lang="en-US" sz="1250" dirty="0"/>
          </a:p>
        </p:txBody>
      </p:sp>
      <p:sp>
        <p:nvSpPr>
          <p:cNvPr id="37" name="!!pcode"/>
          <p:cNvSpPr/>
          <p:nvPr/>
        </p:nvSpPr>
        <p:spPr>
          <a:xfrm>
            <a:off x="7543800" y="4453128"/>
            <a:ext cx="3959352" cy="786384"/>
          </a:xfrm>
          <a:prstGeom prst="roundRect">
            <a:avLst>
              <a:gd name="adj" fmla="val 4651"/>
            </a:avLst>
          </a:prstGeom>
          <a:solidFill>
            <a:srgbClr val="F7F6F2"/>
          </a:solidFill>
          <a:ln w="6350">
            <a:solidFill>
              <a:srgbClr val="D3D1C7"/>
            </a:solidFill>
            <a:prstDash val="solid"/>
          </a:ln>
        </p:spPr>
        <p:txBody>
          <a:bodyPr wrap="square" lIns="101600" tIns="101600" rIns="101600" bIns="101600" rtlCol="0" anchor="ctr"/>
          <a:lstStyle/>
          <a:p>
            <a:pPr algn="l" indent="0" marL="0">
              <a:buNone/>
            </a:pPr>
            <a:r>
              <a:rPr lang="en-US" sz="1000" dirty="0">
                <a:solidFill>
                  <a:srgbClr val="2C2C2A"/>
                </a:solidFill>
                <a:latin typeface="Consolas" pitchFamily="34" charset="0"/>
                <a:ea typeface="Consolas" pitchFamily="34" charset="-122"/>
                <a:cs typeface="Consolas" pitchFamily="34" charset="-120"/>
              </a:rPr>
              <a:t>app = g.compile(checkpointer=InMemorySaver())</a:t>
            </a:r>
            <a:endParaRPr lang="en-US" sz="1000" dirty="0"/>
          </a:p>
          <a:p>
            <a:pPr algn="l" indent="0" marL="0">
              <a:buNone/>
            </a:pPr>
            <a:endParaRPr lang="en-US" sz="1000" dirty="0"/>
          </a:p>
          <a:p>
            <a:pPr algn="l" indent="0" marL="0">
              <a:buNone/>
            </a:pPr>
            <a:r>
              <a:rPr lang="en-US" sz="1000" dirty="0">
                <a:solidFill>
                  <a:srgbClr val="2C2C2A"/>
                </a:solidFill>
                <a:latin typeface="Consolas" pitchFamily="34" charset="0"/>
                <a:ea typeface="Consolas" pitchFamily="34" charset="-122"/>
                <a:cs typeface="Consolas" pitchFamily="34" charset="-120"/>
              </a:rPr>
              <a:t># inside a node: wait for a person</a:t>
            </a:r>
            <a:endParaRPr lang="en-US" sz="1000" dirty="0"/>
          </a:p>
          <a:p>
            <a:pPr algn="l" indent="0" marL="0">
              <a:buNone/>
            </a:pPr>
            <a:r>
              <a:rPr lang="en-US" sz="1000" dirty="0">
                <a:solidFill>
                  <a:srgbClr val="2C2C2A"/>
                </a:solidFill>
                <a:latin typeface="Consolas" pitchFamily="34" charset="0"/>
                <a:ea typeface="Consolas" pitchFamily="34" charset="-122"/>
                <a:cs typeface="Consolas" pitchFamily="34" charset="-120"/>
              </a:rPr>
              <a:t>ok = interrupt("Approve this fix?")</a:t>
            </a:r>
            <a:endParaRPr lang="en-US" sz="1000" dirty="0"/>
          </a:p>
        </p:txBody>
      </p:sp>
      <p:sp>
        <p:nvSpPr>
          <p:cNvPr id="38" name="!!btn0">
            <a:hlinkClick action="ppaction://hlinksldjump" r:id="rId3"/>
          </p:cNvPr>
          <p:cNvSpPr/>
          <p:nvPr/>
        </p:nvSpPr>
        <p:spPr>
          <a:xfrm>
            <a:off x="411480" y="5669280"/>
            <a:ext cx="1545336" cy="420624"/>
          </a:xfrm>
          <a:prstGeom prst="roundRect">
            <a:avLst>
              <a:gd name="adj" fmla="val 50000"/>
            </a:avLst>
          </a:prstGeom>
          <a:solidFill>
            <a:srgbClr val="FFFFFF"/>
          </a:solidFill>
          <a:ln w="12700">
            <a:solidFill>
              <a:srgbClr val="534AB7"/>
            </a:solidFill>
            <a:prstDash val="solid"/>
          </a:ln>
        </p:spPr>
        <p:txBody>
          <a:bodyPr wrap="square" lIns="0" tIns="0" rIns="0" bIns="0" rtlCol="0" anchor="ctr"/>
          <a:lstStyle/>
          <a:p>
            <a:pPr algn="ctr" indent="0" marL="0">
              <a:buNone/>
            </a:pPr>
            <a:r>
              <a:rPr lang="en-US" sz="1250" u="none" dirty="0">
                <a:solidFill>
                  <a:srgbClr val="3C3489"/>
                </a:solidFill>
                <a:latin typeface="Calibri" pitchFamily="34" charset="0"/>
                <a:ea typeface="Calibri" pitchFamily="34" charset="-122"/>
                <a:cs typeface="Calibri" pitchFamily="34" charset="-120"/>
                <a:hlinkClick r:id="rId3" action="ppaction://hlinksldjump" tooltip="How to read it">
                  <a:extLst>
                    <a:ext uri="{A12FA001-AC4F-418D-AE19-62706E023703}">
                      <ahyp:hlinkClr xmlns:ahyp="http://schemas.microsoft.com/office/drawing/2018/hyperlinkcolor" val="tx"/>
                    </a:ext>
                  </a:extLst>
                </a:hlinkClick>
              </a:rPr>
              <a:t>Overview</a:t>
            </a:r>
            <a:endParaRPr lang="en-US" sz="1250" dirty="0"/>
          </a:p>
        </p:txBody>
      </p:sp>
      <p:sp>
        <p:nvSpPr>
          <p:cNvPr id="39" name="!!btn1">
            <a:hlinkClick action="ppaction://hlinksldjump" r:id="rId4"/>
          </p:cNvPr>
          <p:cNvSpPr/>
          <p:nvPr/>
        </p:nvSpPr>
        <p:spPr>
          <a:xfrm>
            <a:off x="2048256" y="5669280"/>
            <a:ext cx="1545336" cy="420624"/>
          </a:xfrm>
          <a:prstGeom prst="roundRect">
            <a:avLst>
              <a:gd name="adj" fmla="val 50000"/>
            </a:avLst>
          </a:prstGeom>
          <a:solidFill>
            <a:srgbClr val="FFFFFF"/>
          </a:solidFill>
          <a:ln w="12700">
            <a:solidFill>
              <a:srgbClr val="534AB7"/>
            </a:solidFill>
            <a:prstDash val="solid"/>
          </a:ln>
        </p:spPr>
        <p:txBody>
          <a:bodyPr wrap="square" lIns="0" tIns="0" rIns="0" bIns="0" rtlCol="0" anchor="ctr"/>
          <a:lstStyle/>
          <a:p>
            <a:pPr algn="ctr" indent="0" marL="0">
              <a:buNone/>
            </a:pPr>
            <a:r>
              <a:rPr lang="en-US" sz="1250" u="none" dirty="0">
                <a:solidFill>
                  <a:srgbClr val="3C3489"/>
                </a:solidFill>
                <a:latin typeface="Calibri" pitchFamily="34" charset="0"/>
                <a:ea typeface="Calibri" pitchFamily="34" charset="-122"/>
                <a:cs typeface="Calibri" pitchFamily="34" charset="-120"/>
                <a:hlinkClick r:id="rId4" action="ppaction://hlinksldjump" tooltip="Node">
                  <a:extLst>
                    <a:ext uri="{A12FA001-AC4F-418D-AE19-62706E023703}">
                      <ahyp:hlinkClr xmlns:ahyp="http://schemas.microsoft.com/office/drawing/2018/hyperlinkcolor" val="tx"/>
                    </a:ext>
                  </a:extLst>
                </a:hlinkClick>
              </a:rPr>
              <a:t>Node</a:t>
            </a:r>
            <a:endParaRPr lang="en-US" sz="1250" dirty="0"/>
          </a:p>
        </p:txBody>
      </p:sp>
      <p:sp>
        <p:nvSpPr>
          <p:cNvPr id="40" name="!!btn2">
            <a:hlinkClick action="ppaction://hlinksldjump" r:id="rId5"/>
          </p:cNvPr>
          <p:cNvSpPr/>
          <p:nvPr/>
        </p:nvSpPr>
        <p:spPr>
          <a:xfrm>
            <a:off x="3685032" y="5669280"/>
            <a:ext cx="1545336" cy="420624"/>
          </a:xfrm>
          <a:prstGeom prst="roundRect">
            <a:avLst>
              <a:gd name="adj" fmla="val 50000"/>
            </a:avLst>
          </a:prstGeom>
          <a:solidFill>
            <a:srgbClr val="FFFFFF"/>
          </a:solidFill>
          <a:ln w="12700">
            <a:solidFill>
              <a:srgbClr val="534AB7"/>
            </a:solidFill>
            <a:prstDash val="solid"/>
          </a:ln>
        </p:spPr>
        <p:txBody>
          <a:bodyPr wrap="square" lIns="0" tIns="0" rIns="0" bIns="0" rtlCol="0" anchor="ctr"/>
          <a:lstStyle/>
          <a:p>
            <a:pPr algn="ctr" indent="0" marL="0">
              <a:buNone/>
            </a:pPr>
            <a:r>
              <a:rPr lang="en-US" sz="1250" u="none" dirty="0">
                <a:solidFill>
                  <a:srgbClr val="3C3489"/>
                </a:solidFill>
                <a:latin typeface="Calibri" pitchFamily="34" charset="0"/>
                <a:ea typeface="Calibri" pitchFamily="34" charset="-122"/>
                <a:cs typeface="Calibri" pitchFamily="34" charset="-120"/>
                <a:hlinkClick r:id="rId5" action="ppaction://hlinksldjump" tooltip="Edge">
                  <a:extLst>
                    <a:ext uri="{A12FA001-AC4F-418D-AE19-62706E023703}">
                      <ahyp:hlinkClr xmlns:ahyp="http://schemas.microsoft.com/office/drawing/2018/hyperlinkcolor" val="tx"/>
                    </a:ext>
                  </a:extLst>
                </a:hlinkClick>
              </a:rPr>
              <a:t>Edge</a:t>
            </a:r>
            <a:endParaRPr lang="en-US" sz="1250" dirty="0"/>
          </a:p>
        </p:txBody>
      </p:sp>
      <p:sp>
        <p:nvSpPr>
          <p:cNvPr id="41" name="!!btn3">
            <a:hlinkClick action="ppaction://hlinksldjump" r:id="rId6"/>
          </p:cNvPr>
          <p:cNvSpPr/>
          <p:nvPr/>
        </p:nvSpPr>
        <p:spPr>
          <a:xfrm>
            <a:off x="5321808" y="5669280"/>
            <a:ext cx="1545336" cy="420624"/>
          </a:xfrm>
          <a:prstGeom prst="roundRect">
            <a:avLst>
              <a:gd name="adj" fmla="val 50000"/>
            </a:avLst>
          </a:prstGeom>
          <a:solidFill>
            <a:srgbClr val="FFFFFF"/>
          </a:solidFill>
          <a:ln w="12700">
            <a:solidFill>
              <a:srgbClr val="534AB7"/>
            </a:solidFill>
            <a:prstDash val="solid"/>
          </a:ln>
        </p:spPr>
        <p:txBody>
          <a:bodyPr wrap="square" lIns="0" tIns="0" rIns="0" bIns="0" rtlCol="0" anchor="ctr"/>
          <a:lstStyle/>
          <a:p>
            <a:pPr algn="ctr" indent="0" marL="0">
              <a:buNone/>
            </a:pPr>
            <a:r>
              <a:rPr lang="en-US" sz="1250" u="none" dirty="0">
                <a:solidFill>
                  <a:srgbClr val="3C3489"/>
                </a:solidFill>
                <a:latin typeface="Calibri" pitchFamily="34" charset="0"/>
                <a:ea typeface="Calibri" pitchFamily="34" charset="-122"/>
                <a:cs typeface="Calibri" pitchFamily="34" charset="-120"/>
                <a:hlinkClick r:id="rId6" action="ppaction://hlinksldjump" tooltip="Conditional edge">
                  <a:extLst>
                    <a:ext uri="{A12FA001-AC4F-418D-AE19-62706E023703}">
                      <ahyp:hlinkClr xmlns:ahyp="http://schemas.microsoft.com/office/drawing/2018/hyperlinkcolor" val="tx"/>
                    </a:ext>
                  </a:extLst>
                </a:hlinkClick>
              </a:rPr>
              <a:t>Conditional edge</a:t>
            </a:r>
            <a:endParaRPr lang="en-US" sz="1250" dirty="0"/>
          </a:p>
        </p:txBody>
      </p:sp>
      <p:sp>
        <p:nvSpPr>
          <p:cNvPr id="42" name="!!btn4">
            <a:hlinkClick action="ppaction://hlinksldjump" r:id="rId7"/>
          </p:cNvPr>
          <p:cNvSpPr/>
          <p:nvPr/>
        </p:nvSpPr>
        <p:spPr>
          <a:xfrm>
            <a:off x="6958584" y="5669280"/>
            <a:ext cx="1545336" cy="420624"/>
          </a:xfrm>
          <a:prstGeom prst="roundRect">
            <a:avLst>
              <a:gd name="adj" fmla="val 50000"/>
            </a:avLst>
          </a:prstGeom>
          <a:solidFill>
            <a:srgbClr val="FFFFFF"/>
          </a:solidFill>
          <a:ln w="12700">
            <a:solidFill>
              <a:srgbClr val="534AB7"/>
            </a:solidFill>
            <a:prstDash val="solid"/>
          </a:ln>
        </p:spPr>
        <p:txBody>
          <a:bodyPr wrap="square" lIns="0" tIns="0" rIns="0" bIns="0" rtlCol="0" anchor="ctr"/>
          <a:lstStyle/>
          <a:p>
            <a:pPr algn="ctr" indent="0" marL="0">
              <a:buNone/>
            </a:pPr>
            <a:r>
              <a:rPr lang="en-US" sz="1250" u="none" dirty="0">
                <a:solidFill>
                  <a:srgbClr val="3C3489"/>
                </a:solidFill>
                <a:latin typeface="Calibri" pitchFamily="34" charset="0"/>
                <a:ea typeface="Calibri" pitchFamily="34" charset="-122"/>
                <a:cs typeface="Calibri" pitchFamily="34" charset="-120"/>
                <a:hlinkClick r:id="rId7" action="ppaction://hlinksldjump" tooltip="State">
                  <a:extLst>
                    <a:ext uri="{A12FA001-AC4F-418D-AE19-62706E023703}">
                      <ahyp:hlinkClr xmlns:ahyp="http://schemas.microsoft.com/office/drawing/2018/hyperlinkcolor" val="tx"/>
                    </a:ext>
                  </a:extLst>
                </a:hlinkClick>
              </a:rPr>
              <a:t>State</a:t>
            </a:r>
            <a:endParaRPr lang="en-US" sz="1250" dirty="0"/>
          </a:p>
        </p:txBody>
      </p:sp>
      <p:sp>
        <p:nvSpPr>
          <p:cNvPr id="43" name="!!btn5">
            <a:hlinkClick action="ppaction://hlinksldjump" r:id="rId8"/>
          </p:cNvPr>
          <p:cNvSpPr/>
          <p:nvPr/>
        </p:nvSpPr>
        <p:spPr>
          <a:xfrm>
            <a:off x="8595360" y="5669280"/>
            <a:ext cx="1545336" cy="420624"/>
          </a:xfrm>
          <a:prstGeom prst="roundRect">
            <a:avLst>
              <a:gd name="adj" fmla="val 50000"/>
            </a:avLst>
          </a:prstGeom>
          <a:solidFill>
            <a:srgbClr val="FFFFFF"/>
          </a:solidFill>
          <a:ln w="12700">
            <a:solidFill>
              <a:srgbClr val="534AB7"/>
            </a:solidFill>
            <a:prstDash val="solid"/>
          </a:ln>
        </p:spPr>
        <p:txBody>
          <a:bodyPr wrap="square" lIns="0" tIns="0" rIns="0" bIns="0" rtlCol="0" anchor="ctr"/>
          <a:lstStyle/>
          <a:p>
            <a:pPr algn="ctr" indent="0" marL="0">
              <a:buNone/>
            </a:pPr>
            <a:r>
              <a:rPr lang="en-US" sz="1250" u="none" dirty="0">
                <a:solidFill>
                  <a:srgbClr val="3C3489"/>
                </a:solidFill>
                <a:latin typeface="Calibri" pitchFamily="34" charset="0"/>
                <a:ea typeface="Calibri" pitchFamily="34" charset="-122"/>
                <a:cs typeface="Calibri" pitchFamily="34" charset="-120"/>
                <a:hlinkClick r:id="rId8" action="ppaction://hlinksldjump" tooltip="Subgraph">
                  <a:extLst>
                    <a:ext uri="{A12FA001-AC4F-418D-AE19-62706E023703}">
                      <ahyp:hlinkClr xmlns:ahyp="http://schemas.microsoft.com/office/drawing/2018/hyperlinkcolor" val="tx"/>
                    </a:ext>
                  </a:extLst>
                </a:hlinkClick>
              </a:rPr>
              <a:t>Subgraph</a:t>
            </a:r>
            <a:endParaRPr lang="en-US" sz="1250" dirty="0"/>
          </a:p>
        </p:txBody>
      </p:sp>
      <p:sp>
        <p:nvSpPr>
          <p:cNvPr id="44" name="!!btn6">
            <a:hlinkClick action="ppaction://hlinksldjump" r:id="rId9"/>
          </p:cNvPr>
          <p:cNvSpPr/>
          <p:nvPr/>
        </p:nvSpPr>
        <p:spPr>
          <a:xfrm>
            <a:off x="10232136" y="5669280"/>
            <a:ext cx="1545336" cy="420624"/>
          </a:xfrm>
          <a:prstGeom prst="roundRect">
            <a:avLst>
              <a:gd name="adj" fmla="val 50000"/>
            </a:avLst>
          </a:prstGeom>
          <a:solidFill>
            <a:srgbClr val="534AB7"/>
          </a:solidFill>
          <a:ln w="12700">
            <a:solidFill>
              <a:srgbClr val="534AB7"/>
            </a:solidFill>
            <a:prstDash val="solid"/>
          </a:ln>
        </p:spPr>
        <p:txBody>
          <a:bodyPr wrap="square" lIns="0" tIns="0" rIns="0" bIns="0" rtlCol="0" anchor="ctr"/>
          <a:lstStyle/>
          <a:p>
            <a:pPr algn="ctr" indent="0" marL="0">
              <a:buNone/>
            </a:pPr>
            <a:r>
              <a:rPr lang="en-US" sz="1250" b="1" u="none" dirty="0">
                <a:solidFill>
                  <a:srgbClr val="FFFFFF"/>
                </a:solidFill>
                <a:latin typeface="Calibri" pitchFamily="34" charset="0"/>
                <a:ea typeface="Calibri" pitchFamily="34" charset="-122"/>
                <a:cs typeface="Calibri" pitchFamily="34" charset="-120"/>
                <a:hlinkClick r:id="rId9" action="ppaction://hlinksldjump" tooltip="Checkpointer">
                  <a:extLst>
                    <a:ext uri="{A12FA001-AC4F-418D-AE19-62706E023703}">
                      <ahyp:hlinkClr xmlns:ahyp="http://schemas.microsoft.com/office/drawing/2018/hyperlinkcolor" val="tx"/>
                    </a:ext>
                  </a:extLst>
                </a:hlinkClick>
              </a:rPr>
              <a:t>Checkpointer</a:t>
            </a:r>
            <a:endParaRPr lang="en-US" sz="1250" dirty="0"/>
          </a:p>
        </p:txBody>
      </p:sp>
      <p:sp>
        <p:nvSpPr>
          <p:cNvPr id="25" name="Slide Number Placeholder 0"/>
          <p:cNvSpPr>
            <a:spLocks noGrp="1"/>
          </p:cNvSpPr>
          <p:nvPr>
            <p:ph type="sldNum" sz="quarter" idx="4294967295"/>
          </p:nvPr>
        </p:nvSpPr>
        <p:spPr>
          <a:xfrm>
            <a:off x="5641848" y="6382512"/>
            <a:ext cx="914400" cy="201168"/>
          </a:xfrm>
          <a:prstGeom prst="rect">
            <a:avLst/>
          </a:prstGeom>
          <a:extLst>
            <a:ext uri="{C572A759-6A51-4108-AA02-DFA0A04FC94B}">
              <ma14:wrappingTextBoxFlag xmlns:ma14="http://schemas.microsoft.com/office/mac/drawingml/2011/main" val="0"/>
            </a:ext>
          </a:extLst>
        </p:spPr>
        <p:txBody>
          <a:bodyPr/>
          <a:lstStyle>
            <a:lvl1pPr>
              <a:defRPr sz="1000">
                <a:solidFill>
                  <a:srgbClr val="595959"/>
                </a:solidFill>
                <a:latin typeface="Arial"/>
                <a:ea typeface="Arial"/>
                <a:cs typeface="Arial"/>
              </a:defRPr>
            </a:lvl1pPr>
          </a:lstStyle>
          <a:p>
            <a:pPr algn="ctr"/>
            <a:fld id="{F7021451-1387-4CA6-816F-3879F97B5CBC}" type="slidenum">
              <a:rPr b="0" lang="en-US"/>
              <a:t>11</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700">
        <p159:morph option="byObject"/>
      </p:transition>
    </mc:Choice>
    <mc:Fallback>
      <p:transition spd="slow">
        <p:fade/>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Multi-Agent Systems · Slides 14–16</dc:title>
  <dc:subject>PptxGenJS Presentation</dc:subject>
  <dc:creator>Amitkumar</dc:creator>
  <cp:lastModifiedBy>Amitkumar</cp:lastModifiedBy>
  <cp:revision>1</cp:revision>
  <dcterms:created xsi:type="dcterms:W3CDTF">2026-10-30T04:19:57Z</dcterms:created>
  <dcterms:modified xsi:type="dcterms:W3CDTF">2026-10-30T04:19:57Z</dcterms:modified>
</cp:coreProperties>
</file>