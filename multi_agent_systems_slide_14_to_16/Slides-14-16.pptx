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4 · Common Mistakes" id="{b2c5637f-5f8b-72af-109c-04b443e4cfcd}">
          <p14:sldIdLst>
            <p14:sldId id="256"/>
          </p14:sldIdLst>
        </p14:section>
        <p14:section name="15 · Choose the Pattern" id="{7d4f336c-0e67-2fcc-22ff-0e329bb0d337}">
          <p14:sldIdLst>
            <p14:sldId id="257"/>
          </p14:sldIdLst>
        </p14:section>
        <p14:section name="16 · Design Principles" id="{c040ac64-7300-dd08-bd7b-2f26cf999b0b}">
          <p14:sldIdLst>
            <p14:sldId id="258"/>
          </p14:sldIdLst>
        </p14:section>
        <p14:section name="16a · LangChain and LangGraph" id="{062fe80e-44d7-3072-1f49-6b8f87906f1e}">
          <p14:sldIdLst>
            <p14:sldId id="259"/>
          </p14:sldIdLst>
        </p14:section>
        <p14:section name="16b · Reading the Graph" id="{6d21e365-8acb-9316-ee42-f076aa0c8322}">
          <p14:sldIdLst>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seen the patterns. Now the traps. Almost every multi-agent system that fails in practice fails for a design reason, not because the model was weak.
The first three are about definition. No clear goal or "done": agents loop, or stop early, because nobody wrote down when the task is finished. Vague roles: two agents do the same work, or a step falls between them. No rules: no step limits, no retry budget, every agent can call every tool.
The next three are about wiring. Using multi-agent for a simple task adds cost, latency and failure points for no gain. Agents chatting instead of handing off pass whole histories around, and the context bloats exactly like our single agent on slide 2. And with no independent check or human gate, "done" gets reported when it isn't.
Close: Every mistake here is a missing decision: who does what, when is it done, and who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need, not the pattern. Read the left column and find the one that sounds like your problem.
If you need to route each request to the right specialist, that's supervisor–worker. If you have a capability you'll reuse inside bigger flows, wrap it as a subgraph. Long task that needs a plan first: planner–executor. A known, fixed sequence: specialist pipeline. Judgement calls where quality matters more than speed: peer and debate. Many independent sub-tasks that end in a sign-off: parallel swarm with a human gate.
The right-hand column matters as much as the pattern: every pattern has a typical way to fail, and it's cheaper to design for it up front.
Close: Pick the simplest pattern that meets the need. Start with one agent; add structure only when it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habits that prevent the mistakes on slide 14. None of them need a framework; you can apply them to the agent you're building this week.
One job per agent. Define "done" as a structured status, not free text, so the next step doesn't have to guess from finish_reason. Give each agent a handful of tools, with least privilege. Pass state, not chat. Bound everything: steps, retries, timeouts, tokens. Keep the maker and the checker separate. Put a human gate in front of anything irreversible. And trace every hand-off so you can see where it went wrong.
The card on the right is the practical version: before you write any code, write one of these for every agent. If you can't fill it in, the agent's job isn't clear yet.
Close: Write the role card first; the code gets much simpler.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libraries, two jobs. LangChain gives you the building blocks: a common interface to models, prompts, tools, and structured output, plus create_agent for a ready-made agent loop. LangGraph is the orchestration layer: you describe your system as a graph of nodes sharing a state, and it runs it, with loops, branching, persistence and human-in-the-loop built in.
The two core ideas are node and graph. A node is one job: a Python function that reads the state and returns the keys it changed. Edges are the hand-offs. A conditional edge is a router: here the checker's status decides whether we finish or go back to the worker. That's exactly the explicit hand-off from slide 5, replacing the finish_reason if/else.
The code is the whole thing: a state, two nodes, three edges, compile, invoke. recursion_limit is our bounded execution. And a compiled graph can itself be used as a node, which is how subgraphs work.
Close: LangChain for the parts, LangGraph for the wiring. Every pattern in this deck is a LangGraph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graph as the last slide, but we'll read it one part at a time. Boxes are nodes: who does the work. Solid arrows are edges: who goes next. The dashed arrow is a decision. And the purple panel is the state that every node shares.
Close: Six words cover all of LangGraph. Let's take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is one step of work. In code it's just a function: it reads the state and returns the part it changed. Here the worker does the job and the checker verifies it. A node can be an LLM agent, a tool call, or plain Python.
Close: Think of a person at a desk with one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edge is a fixed hand-off. When the worker finishes, the checker always runs next. Nobody decides this at run time; it is wired in when you build the graph.
Close: Passing the file to the next desk, always the same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conditional edge is a decision point. A small rule looks at the state and picks where to go: if the status is pass we finish, if it's fail we go back to the worker. This is the explicit replacement for the finish_reason if/else we started with on slide 1.
Close: An approval rule: approved goes out, rejected goes back for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is the shared data. Every node reads it and writes only its own keys: the ticket comes in, the worker writes the result, the checker writes the status. Nodes pass state, not long chat histories, which keeps context small.
Close: One shared case folder that travels with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subgraph is a whole graph used as a single node. Compile this worker–checker loop and drop it into a bigger flow as fix_ticket: triage, then fix_ticket, then report. From outside it's one box; inside it has its own team and its own loop. This is the "subgraph architecture" in our title.
Close: A department: one box from outside, its own team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checkpointer saves the state after every step. If something fails, the run resumes from the last save instead of starting over. It also lets the graph pause, for example before finishing, and wait for a human to approve.
Close: Save points in a game, plus a manager's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 Target="slide9.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Common Mistakes in Multi-Agent Design</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Most multi-agent failures are design mistakes, not model mistakes. Each card shows the symptom you will see and the fix that prevents it.</a:t>
            </a:r>
            <a:endParaRPr lang="en-US" sz="1400" dirty="0"/>
          </a:p>
        </p:txBody>
      </p:sp>
      <p:sp>
        <p:nvSpPr>
          <p:cNvPr id="5" name="!!card1"/>
          <p:cNvSpPr/>
          <p:nvPr/>
        </p:nvSpPr>
        <p:spPr>
          <a:xfrm>
            <a:off x="502920" y="1371600"/>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6" name="!!dot1"/>
          <p:cNvSpPr/>
          <p:nvPr/>
        </p:nvSpPr>
        <p:spPr>
          <a:xfrm>
            <a:off x="704088" y="1572768"/>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7" name="!!ic1" descr="/tmp/deck-icons/TbTarget_993C1D.png">    </p:cNvPr>
          <p:cNvPicPr>
            <a:picLocks noChangeAspect="1"/>
          </p:cNvPicPr>
          <p:nvPr/>
        </p:nvPicPr>
        <p:blipFill>
          <a:blip r:embed="rId1"/>
          <a:stretch>
            <a:fillRect/>
          </a:stretch>
        </p:blipFill>
        <p:spPr>
          <a:xfrm>
            <a:off x="795528" y="1664208"/>
            <a:ext cx="274320" cy="274320"/>
          </a:xfrm>
          <a:prstGeom prst="rect">
            <a:avLst/>
          </a:prstGeom>
        </p:spPr>
      </p:pic>
      <p:sp>
        <p:nvSpPr>
          <p:cNvPr id="8" name="!!mt1"/>
          <p:cNvSpPr txBox="1"/>
          <p:nvPr/>
        </p:nvSpPr>
        <p:spPr>
          <a:xfrm>
            <a:off x="1289304" y="1554480"/>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No clear goal or “done”</a:t>
            </a:r>
            <a:endParaRPr lang="en-US" sz="1600" dirty="0"/>
          </a:p>
        </p:txBody>
      </p:sp>
      <p:sp>
        <p:nvSpPr>
          <p:cNvPr id="9" name="!!mw1"/>
          <p:cNvSpPr txBox="1"/>
          <p:nvPr/>
        </p:nvSpPr>
        <p:spPr>
          <a:xfrm>
            <a:off x="704088" y="2176272"/>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Agents loop or stop early; nobody knows when the task is finished.</a:t>
            </a:r>
            <a:endParaRPr lang="en-US" sz="1300" dirty="0"/>
          </a:p>
        </p:txBody>
      </p:sp>
      <p:sp>
        <p:nvSpPr>
          <p:cNvPr id="10" name="!!fix1"/>
          <p:cNvSpPr/>
          <p:nvPr/>
        </p:nvSpPr>
        <p:spPr>
          <a:xfrm>
            <a:off x="704088" y="2816352"/>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Write success criteria and an exit condition for every agent.</a:t>
            </a:r>
            <a:endParaRPr lang="en-US" sz="1250" dirty="0"/>
          </a:p>
        </p:txBody>
      </p:sp>
      <p:sp>
        <p:nvSpPr>
          <p:cNvPr id="11" name="!!card2"/>
          <p:cNvSpPr/>
          <p:nvPr/>
        </p:nvSpPr>
        <p:spPr>
          <a:xfrm>
            <a:off x="4279392" y="1371600"/>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12" name="!!dot2"/>
          <p:cNvSpPr/>
          <p:nvPr/>
        </p:nvSpPr>
        <p:spPr>
          <a:xfrm>
            <a:off x="4480560" y="1572768"/>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3" name="!!ic2" descr="/tmp/deck-icons/TbUsers_993C1D.png">    </p:cNvPr>
          <p:cNvPicPr>
            <a:picLocks noChangeAspect="1"/>
          </p:cNvPicPr>
          <p:nvPr/>
        </p:nvPicPr>
        <p:blipFill>
          <a:blip r:embed="rId2"/>
          <a:stretch>
            <a:fillRect/>
          </a:stretch>
        </p:blipFill>
        <p:spPr>
          <a:xfrm>
            <a:off x="4572000" y="1664208"/>
            <a:ext cx="274320" cy="274320"/>
          </a:xfrm>
          <a:prstGeom prst="rect">
            <a:avLst/>
          </a:prstGeom>
        </p:spPr>
      </p:pic>
      <p:sp>
        <p:nvSpPr>
          <p:cNvPr id="14" name="!!mt2"/>
          <p:cNvSpPr txBox="1"/>
          <p:nvPr/>
        </p:nvSpPr>
        <p:spPr>
          <a:xfrm>
            <a:off x="5065776" y="1554480"/>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Vague, overlapping roles</a:t>
            </a:r>
            <a:endParaRPr lang="en-US" sz="1600" dirty="0"/>
          </a:p>
        </p:txBody>
      </p:sp>
      <p:sp>
        <p:nvSpPr>
          <p:cNvPr id="15" name="!!mw2"/>
          <p:cNvSpPr txBox="1"/>
          <p:nvPr/>
        </p:nvSpPr>
        <p:spPr>
          <a:xfrm>
            <a:off x="4480560" y="2176272"/>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Two agents do the same work, or a step falls between them.</a:t>
            </a:r>
            <a:endParaRPr lang="en-US" sz="1300" dirty="0"/>
          </a:p>
        </p:txBody>
      </p:sp>
      <p:sp>
        <p:nvSpPr>
          <p:cNvPr id="16" name="!!fix2"/>
          <p:cNvSpPr/>
          <p:nvPr/>
        </p:nvSpPr>
        <p:spPr>
          <a:xfrm>
            <a:off x="4480560" y="2816352"/>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One job per agent, with written inputs and outputs.</a:t>
            </a:r>
            <a:endParaRPr lang="en-US" sz="1250" dirty="0"/>
          </a:p>
        </p:txBody>
      </p:sp>
      <p:sp>
        <p:nvSpPr>
          <p:cNvPr id="17" name="!!card3"/>
          <p:cNvSpPr/>
          <p:nvPr/>
        </p:nvSpPr>
        <p:spPr>
          <a:xfrm>
            <a:off x="8055864" y="1371600"/>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18" name="!!dot3"/>
          <p:cNvSpPr/>
          <p:nvPr/>
        </p:nvSpPr>
        <p:spPr>
          <a:xfrm>
            <a:off x="8257032" y="1572768"/>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9" name="!!ic3" descr="/tmp/deck-icons/TbInfinity_993C1D.png">    </p:cNvPr>
          <p:cNvPicPr>
            <a:picLocks noChangeAspect="1"/>
          </p:cNvPicPr>
          <p:nvPr/>
        </p:nvPicPr>
        <p:blipFill>
          <a:blip r:embed="rId3"/>
          <a:stretch>
            <a:fillRect/>
          </a:stretch>
        </p:blipFill>
        <p:spPr>
          <a:xfrm>
            <a:off x="8348472" y="1664208"/>
            <a:ext cx="274320" cy="274320"/>
          </a:xfrm>
          <a:prstGeom prst="rect">
            <a:avLst/>
          </a:prstGeom>
        </p:spPr>
      </p:pic>
      <p:sp>
        <p:nvSpPr>
          <p:cNvPr id="20" name="!!mt3"/>
          <p:cNvSpPr txBox="1"/>
          <p:nvPr/>
        </p:nvSpPr>
        <p:spPr>
          <a:xfrm>
            <a:off x="8842248" y="1554480"/>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No rules or limits</a:t>
            </a:r>
            <a:endParaRPr lang="en-US" sz="1600" dirty="0"/>
          </a:p>
        </p:txBody>
      </p:sp>
      <p:sp>
        <p:nvSpPr>
          <p:cNvPr id="21" name="!!mw3"/>
          <p:cNvSpPr txBox="1"/>
          <p:nvPr/>
        </p:nvSpPr>
        <p:spPr>
          <a:xfrm>
            <a:off x="8257032" y="2176272"/>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Endless retries, runaway cost, any agent can call any tool.</a:t>
            </a:r>
            <a:endParaRPr lang="en-US" sz="1300" dirty="0"/>
          </a:p>
        </p:txBody>
      </p:sp>
      <p:sp>
        <p:nvSpPr>
          <p:cNvPr id="22" name="!!fix3"/>
          <p:cNvSpPr/>
          <p:nvPr/>
        </p:nvSpPr>
        <p:spPr>
          <a:xfrm>
            <a:off x="8257032" y="2816352"/>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Step limits, retry budgets and least-privilege tools.</a:t>
            </a:r>
            <a:endParaRPr lang="en-US" sz="1250" dirty="0"/>
          </a:p>
        </p:txBody>
      </p:sp>
      <p:sp>
        <p:nvSpPr>
          <p:cNvPr id="23" name="!!card4"/>
          <p:cNvSpPr/>
          <p:nvPr/>
        </p:nvSpPr>
        <p:spPr>
          <a:xfrm>
            <a:off x="502920" y="3730752"/>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4" name="!!dot4"/>
          <p:cNvSpPr/>
          <p:nvPr/>
        </p:nvSpPr>
        <p:spPr>
          <a:xfrm>
            <a:off x="704088" y="3931920"/>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5" name="!!ic4" descr="/tmp/deck-icons/TbHammer_993C1D.png">    </p:cNvPr>
          <p:cNvPicPr>
            <a:picLocks noChangeAspect="1"/>
          </p:cNvPicPr>
          <p:nvPr/>
        </p:nvPicPr>
        <p:blipFill>
          <a:blip r:embed="rId4"/>
          <a:stretch>
            <a:fillRect/>
          </a:stretch>
        </p:blipFill>
        <p:spPr>
          <a:xfrm>
            <a:off x="795528" y="4023360"/>
            <a:ext cx="274320" cy="274320"/>
          </a:xfrm>
          <a:prstGeom prst="rect">
            <a:avLst/>
          </a:prstGeom>
        </p:spPr>
      </p:pic>
      <p:sp>
        <p:nvSpPr>
          <p:cNvPr id="26" name="!!mt4"/>
          <p:cNvSpPr txBox="1"/>
          <p:nvPr/>
        </p:nvSpPr>
        <p:spPr>
          <a:xfrm>
            <a:off x="1289304" y="3913632"/>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Wrong use case</a:t>
            </a:r>
            <a:endParaRPr lang="en-US" sz="1600" dirty="0"/>
          </a:p>
        </p:txBody>
      </p:sp>
      <p:sp>
        <p:nvSpPr>
          <p:cNvPr id="27" name="!!mw4"/>
          <p:cNvSpPr txBox="1"/>
          <p:nvPr/>
        </p:nvSpPr>
        <p:spPr>
          <a:xfrm>
            <a:off x="704088" y="4535424"/>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Multi-agent for a simple task: more cost, latency and failure points.</a:t>
            </a:r>
            <a:endParaRPr lang="en-US" sz="1300" dirty="0"/>
          </a:p>
        </p:txBody>
      </p:sp>
      <p:sp>
        <p:nvSpPr>
          <p:cNvPr id="28" name="!!fix4"/>
          <p:cNvSpPr/>
          <p:nvPr/>
        </p:nvSpPr>
        <p:spPr>
          <a:xfrm>
            <a:off x="704088" y="5175504"/>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Start with one agent or a fixed workflow; split when it breaks.</a:t>
            </a:r>
            <a:endParaRPr lang="en-US" sz="1250" dirty="0"/>
          </a:p>
        </p:txBody>
      </p:sp>
      <p:sp>
        <p:nvSpPr>
          <p:cNvPr id="29" name="!!card5"/>
          <p:cNvSpPr/>
          <p:nvPr/>
        </p:nvSpPr>
        <p:spPr>
          <a:xfrm>
            <a:off x="4279392" y="3730752"/>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0" name="!!dot5"/>
          <p:cNvSpPr/>
          <p:nvPr/>
        </p:nvSpPr>
        <p:spPr>
          <a:xfrm>
            <a:off x="4480560" y="3931920"/>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1" name="!!ic5" descr="/tmp/deck-icons/TbMessages_993C1D.png">    </p:cNvPr>
          <p:cNvPicPr>
            <a:picLocks noChangeAspect="1"/>
          </p:cNvPicPr>
          <p:nvPr/>
        </p:nvPicPr>
        <p:blipFill>
          <a:blip r:embed="rId5"/>
          <a:stretch>
            <a:fillRect/>
          </a:stretch>
        </p:blipFill>
        <p:spPr>
          <a:xfrm>
            <a:off x="4572000" y="4023360"/>
            <a:ext cx="274320" cy="274320"/>
          </a:xfrm>
          <a:prstGeom prst="rect">
            <a:avLst/>
          </a:prstGeom>
        </p:spPr>
      </p:pic>
      <p:sp>
        <p:nvSpPr>
          <p:cNvPr id="32" name="!!mt5"/>
          <p:cNvSpPr txBox="1"/>
          <p:nvPr/>
        </p:nvSpPr>
        <p:spPr>
          <a:xfrm>
            <a:off x="5065776" y="3913632"/>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Agents chat instead of hand off</a:t>
            </a:r>
            <a:endParaRPr lang="en-US" sz="1600" dirty="0"/>
          </a:p>
        </p:txBody>
      </p:sp>
      <p:sp>
        <p:nvSpPr>
          <p:cNvPr id="33" name="!!mw5"/>
          <p:cNvSpPr txBox="1"/>
          <p:nvPr/>
        </p:nvSpPr>
        <p:spPr>
          <a:xfrm>
            <a:off x="4480560" y="4535424"/>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Full histories passed around; context bloats and decisions drift.</a:t>
            </a:r>
            <a:endParaRPr lang="en-US" sz="1300" dirty="0"/>
          </a:p>
        </p:txBody>
      </p:sp>
      <p:sp>
        <p:nvSpPr>
          <p:cNvPr id="34" name="!!fix5"/>
          <p:cNvSpPr/>
          <p:nvPr/>
        </p:nvSpPr>
        <p:spPr>
          <a:xfrm>
            <a:off x="4480560" y="5175504"/>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Pass structured results through a small shared state.</a:t>
            </a:r>
            <a:endParaRPr lang="en-US" sz="1250" dirty="0"/>
          </a:p>
        </p:txBody>
      </p:sp>
      <p:sp>
        <p:nvSpPr>
          <p:cNvPr id="35" name="!!card6"/>
          <p:cNvSpPr/>
          <p:nvPr/>
        </p:nvSpPr>
        <p:spPr>
          <a:xfrm>
            <a:off x="8055864" y="3730752"/>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6" name="!!dot6"/>
          <p:cNvSpPr/>
          <p:nvPr/>
        </p:nvSpPr>
        <p:spPr>
          <a:xfrm>
            <a:off x="8257032" y="3931920"/>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7" name="!!ic6" descr="/tmp/deck-icons/TbEyeOff_993C1D.png">    </p:cNvPr>
          <p:cNvPicPr>
            <a:picLocks noChangeAspect="1"/>
          </p:cNvPicPr>
          <p:nvPr/>
        </p:nvPicPr>
        <p:blipFill>
          <a:blip r:embed="rId6"/>
          <a:stretch>
            <a:fillRect/>
          </a:stretch>
        </p:blipFill>
        <p:spPr>
          <a:xfrm>
            <a:off x="8348472" y="4023360"/>
            <a:ext cx="274320" cy="274320"/>
          </a:xfrm>
          <a:prstGeom prst="rect">
            <a:avLst/>
          </a:prstGeom>
        </p:spPr>
      </p:pic>
      <p:sp>
        <p:nvSpPr>
          <p:cNvPr id="38" name="!!mt6"/>
          <p:cNvSpPr txBox="1"/>
          <p:nvPr/>
        </p:nvSpPr>
        <p:spPr>
          <a:xfrm>
            <a:off x="8842248" y="3913632"/>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No independent check or human gate</a:t>
            </a:r>
            <a:endParaRPr lang="en-US" sz="1600" dirty="0"/>
          </a:p>
        </p:txBody>
      </p:sp>
      <p:sp>
        <p:nvSpPr>
          <p:cNvPr id="39" name="!!mw6"/>
          <p:cNvSpPr txBox="1"/>
          <p:nvPr/>
        </p:nvSpPr>
        <p:spPr>
          <a:xfrm>
            <a:off x="8257032" y="4535424"/>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“Done” is reported when it isn't; risky actions go out unreviewed.</a:t>
            </a:r>
            <a:endParaRPr lang="en-US" sz="1300" dirty="0"/>
          </a:p>
        </p:txBody>
      </p:sp>
      <p:sp>
        <p:nvSpPr>
          <p:cNvPr id="40" name="!!fix6"/>
          <p:cNvSpPr/>
          <p:nvPr/>
        </p:nvSpPr>
        <p:spPr>
          <a:xfrm>
            <a:off x="8257032" y="5175504"/>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A separate checker, plus human approval for irreversible steps.</a:t>
            </a:r>
            <a:endParaRPr lang="en-US" sz="1250" dirty="0"/>
          </a:p>
        </p:txBody>
      </p:sp>
      <p:sp>
        <p:nvSpPr>
          <p:cNvPr id="41" name="!!take"/>
          <p:cNvSpPr txBox="1"/>
          <p:nvPr/>
        </p:nvSpPr>
        <p:spPr>
          <a:xfrm>
            <a:off x="502920" y="5971032"/>
            <a:ext cx="11155680" cy="36576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Every mistake here is a missing decision: who does what, when is it done, and who checks.</a:t>
            </a:r>
            <a:endParaRPr lang="en-US" sz="16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How to Choose the Right Pattern</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Start from the need, not the pattern. Find the row that sounds like your problem, then plan for its typical failure before you build.</a:t>
            </a:r>
            <a:endParaRPr lang="en-US" sz="1400" dirty="0"/>
          </a:p>
        </p:txBody>
      </p:sp>
      <p:graphicFrame>
        <p:nvGraphicFramePr>
          <p:cNvPr id="3" name="!!table"/>
          <p:cNvGraphicFramePr>
            <a:graphicFrameLocks noGrp="1"/>
          </p:cNvGraphicFramePr>
          <p:nvPr>
            <p:extLst>
              <p:ext uri="{D42A27DB-BD31-4B8C-83A1-F6EECF244321}">
                <p14:modId xmlns:p14="http://schemas.microsoft.com/office/powerpoint/2010/main" val="1579011935"/>
              </p:ext>
            </p:extLst>
          </p:nvPr>
        </p:nvGraphicFramePr>
        <p:xfrm>
          <a:off x="502920" y="1371600"/>
          <a:ext cx="11183112" cy="914400"/>
        </p:xfrm>
        <a:graphic>
          <a:graphicData uri="http://schemas.openxmlformats.org/drawingml/2006/table">
            <a:tbl>
              <a:tblPr/>
              <a:tblGrid>
                <a:gridCol w="3063240"/>
                <a:gridCol w="2331720"/>
                <a:gridCol w="3246120"/>
                <a:gridCol w="2542032"/>
              </a:tblGrid>
              <a:tr h="384048">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If you need…</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300" b="1" dirty="0">
                          <a:solidFill>
                            <a:srgbClr val="3C3489"/>
                          </a:solidFill>
                          <a:latin typeface="Calibri" pitchFamily="34" charset="0"/>
                          <a:ea typeface="Calibri" pitchFamily="34" charset="-122"/>
                          <a:cs typeface="Calibri" pitchFamily="34" charset="-120"/>
                        </a:rPr>
                        <a:t>Use this pattern</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EEDFE"/>
                    </a:solidFill>
                  </a:tcPr>
                </a:tc>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300" b="1" dirty="0">
                          <a:solidFill>
                            <a:srgbClr val="712B13"/>
                          </a:solidFill>
                          <a:latin typeface="Calibri" pitchFamily="34" charset="0"/>
                          <a:ea typeface="Calibri" pitchFamily="34" charset="-122"/>
                          <a:cs typeface="Calibri" pitchFamily="34" charset="-120"/>
                        </a:rPr>
                        <a:t>Watch out for</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AECE7"/>
                    </a:solidFill>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Route each request to the right specialist</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Supervisor–Worker</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A service desk sends each query to billing, tech support or refunds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The supervisor becomes a bottleneck</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Reuse a self-contained capability inside bigger flows</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Subgraph</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One identity check reused in account opening, payments and complaints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Keep its input and output state small and explicit</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A long task that needs a plan before doing</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Planner–Executor</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Plan a market-research report, then research and write each section</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Re-plan when a step fails; don't push on</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A known, fixed sequence of stages</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Specialist Pipeline</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Invoices: read → extract → validate → post to accounts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Errors flow downstream; check between stages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Judgement calls where quality beats speed</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Peer + Debate</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Two reviewers challenge a contract summary before it goes out</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Cost and time; cap the number of rounds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Many independent sub-tasks, then a sign-off</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Parallel Swarm + Human Gate</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Screen 50 supplier documents in parallel; a manager approves the shortlist</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Merging results, and approval fatigue</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bl>
          </a:graphicData>
        </a:graphic>
      </p:graphicFrame>
      <p:sp>
        <p:nvSpPr>
          <p:cNvPr id="6" name="!!rule"/>
          <p:cNvSpPr/>
          <p:nvPr/>
        </p:nvSpPr>
        <p:spPr>
          <a:xfrm>
            <a:off x="502920" y="5806440"/>
            <a:ext cx="11183112" cy="502920"/>
          </a:xfrm>
          <a:prstGeom prst="roundRect">
            <a:avLst>
              <a:gd name="adj" fmla="val 18182"/>
            </a:avLst>
          </a:prstGeom>
          <a:solidFill>
            <a:srgbClr val="E1F5EE"/>
          </a:solidFill>
          <a:ln w="12700">
            <a:solidFill>
              <a:srgbClr val="0F6E56"/>
            </a:solidFill>
            <a:prstDash val="solid"/>
          </a:ln>
        </p:spPr>
        <p:txBody>
          <a:bodyPr wrap="square" lIns="152400" tIns="152400" rIns="152400" bIns="152400" rtlCol="0" anchor="ctr"/>
          <a:lstStyle/>
          <a:p>
            <a:pPr algn="l" indent="0" marL="0">
              <a:buNone/>
            </a:pPr>
            <a:r>
              <a:rPr lang="en-US" sz="1400" b="1" dirty="0">
                <a:solidFill>
                  <a:srgbClr val="085041"/>
                </a:solidFill>
                <a:latin typeface="Calibri" pitchFamily="34" charset="0"/>
                <a:ea typeface="Calibri" pitchFamily="34" charset="-122"/>
                <a:cs typeface="Calibri" pitchFamily="34" charset="-120"/>
              </a:rPr>
              <a:t>Rule of thumb  </a:t>
            </a:r>
            <a:pPr algn="l" indent="0" marL="0">
              <a:buNone/>
            </a:pPr>
            <a:r>
              <a:rPr lang="en-US" sz="1400" dirty="0">
                <a:solidFill>
                  <a:srgbClr val="085041"/>
                </a:solidFill>
                <a:latin typeface="Calibri" pitchFamily="34" charset="0"/>
                <a:ea typeface="Calibri" pitchFamily="34" charset="-122"/>
                <a:cs typeface="Calibri" pitchFamily="34" charset="-120"/>
              </a:rPr>
              <a:t>Pick the simplest pattern that meets the need. Start with one agent; add structure only when it breaks.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Design Principles You Can Apply Tomorrow</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Eight habits that prevent the mistakes on slide 14. Capture them in a role card for every agent before any code is written.</a:t>
            </a:r>
            <a:endParaRPr lang="en-US" sz="1400" dirty="0"/>
          </a:p>
        </p:txBody>
      </p:sp>
      <p:sp>
        <p:nvSpPr>
          <p:cNvPr id="5" name="!!pn1"/>
          <p:cNvSpPr/>
          <p:nvPr/>
        </p:nvSpPr>
        <p:spPr>
          <a:xfrm>
            <a:off x="502920" y="1463040"/>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pt1"/>
          <p:cNvSpPr txBox="1"/>
          <p:nvPr/>
        </p:nvSpPr>
        <p:spPr>
          <a:xfrm>
            <a:off x="1033272" y="1417320"/>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One job per agent</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 clear goal, its own tools, inputs and outputs.</a:t>
            </a:r>
            <a:endParaRPr lang="en-US" sz="1400" dirty="0"/>
          </a:p>
        </p:txBody>
      </p:sp>
      <p:sp>
        <p:nvSpPr>
          <p:cNvPr id="7" name="!!pn2"/>
          <p:cNvSpPr/>
          <p:nvPr/>
        </p:nvSpPr>
        <p:spPr>
          <a:xfrm>
            <a:off x="3977640" y="1463040"/>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pt2"/>
          <p:cNvSpPr txBox="1"/>
          <p:nvPr/>
        </p:nvSpPr>
        <p:spPr>
          <a:xfrm>
            <a:off x="4507992" y="1417320"/>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Define “done”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Return a structured status, not free text.</a:t>
            </a:r>
            <a:endParaRPr lang="en-US" sz="1400" dirty="0"/>
          </a:p>
        </p:txBody>
      </p:sp>
      <p:sp>
        <p:nvSpPr>
          <p:cNvPr id="9" name="!!pn3"/>
          <p:cNvSpPr/>
          <p:nvPr/>
        </p:nvSpPr>
        <p:spPr>
          <a:xfrm>
            <a:off x="502920" y="2578608"/>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0" name="!!pt3"/>
          <p:cNvSpPr txBox="1"/>
          <p:nvPr/>
        </p:nvSpPr>
        <p:spPr>
          <a:xfrm>
            <a:off x="1033272" y="2532888"/>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Few tools, least privilege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 handful of tools per agent, read-only where possible.</a:t>
            </a:r>
            <a:endParaRPr lang="en-US" sz="1400" dirty="0"/>
          </a:p>
        </p:txBody>
      </p:sp>
      <p:sp>
        <p:nvSpPr>
          <p:cNvPr id="11" name="!!pn4"/>
          <p:cNvSpPr/>
          <p:nvPr/>
        </p:nvSpPr>
        <p:spPr>
          <a:xfrm>
            <a:off x="3977640" y="2578608"/>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2" name="!!pt4"/>
          <p:cNvSpPr txBox="1"/>
          <p:nvPr/>
        </p:nvSpPr>
        <p:spPr>
          <a:xfrm>
            <a:off x="4507992" y="2532888"/>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Pass state, not chat</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 small typed state; each agent writes only its keys.</a:t>
            </a:r>
            <a:endParaRPr lang="en-US" sz="1400" dirty="0"/>
          </a:p>
        </p:txBody>
      </p:sp>
      <p:sp>
        <p:nvSpPr>
          <p:cNvPr id="13" name="!!pn5"/>
          <p:cNvSpPr/>
          <p:nvPr/>
        </p:nvSpPr>
        <p:spPr>
          <a:xfrm>
            <a:off x="502920" y="3694176"/>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pt5"/>
          <p:cNvSpPr txBox="1"/>
          <p:nvPr/>
        </p:nvSpPr>
        <p:spPr>
          <a:xfrm>
            <a:off x="1033272" y="3648456"/>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Bound everything</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Max steps, retries, timeouts and tokens.</a:t>
            </a:r>
            <a:endParaRPr lang="en-US" sz="1400" dirty="0"/>
          </a:p>
        </p:txBody>
      </p:sp>
      <p:sp>
        <p:nvSpPr>
          <p:cNvPr id="15" name="!!pn6"/>
          <p:cNvSpPr/>
          <p:nvPr/>
        </p:nvSpPr>
        <p:spPr>
          <a:xfrm>
            <a:off x="3977640" y="3694176"/>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6" name="!!pt6"/>
          <p:cNvSpPr txBox="1"/>
          <p:nvPr/>
        </p:nvSpPr>
        <p:spPr>
          <a:xfrm>
            <a:off x="4507992" y="3648456"/>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Separate maker and checker</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The agent that does the work never grades it.</a:t>
            </a:r>
            <a:endParaRPr lang="en-US" sz="1400" dirty="0"/>
          </a:p>
        </p:txBody>
      </p:sp>
      <p:sp>
        <p:nvSpPr>
          <p:cNvPr id="17" name="!!pn7"/>
          <p:cNvSpPr/>
          <p:nvPr/>
        </p:nvSpPr>
        <p:spPr>
          <a:xfrm>
            <a:off x="502920" y="4809744"/>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8" name="!!pt7"/>
          <p:cNvSpPr txBox="1"/>
          <p:nvPr/>
        </p:nvSpPr>
        <p:spPr>
          <a:xfrm>
            <a:off x="1033272" y="4764024"/>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Human gate for the irreversible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Approve before send, deploy, delete or close.</a:t>
            </a:r>
            <a:endParaRPr lang="en-US" sz="1400" dirty="0"/>
          </a:p>
        </p:txBody>
      </p:sp>
      <p:sp>
        <p:nvSpPr>
          <p:cNvPr id="19" name="!!pn8"/>
          <p:cNvSpPr/>
          <p:nvPr/>
        </p:nvSpPr>
        <p:spPr>
          <a:xfrm>
            <a:off x="3977640" y="4809744"/>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0" name="!!pt8"/>
          <p:cNvSpPr txBox="1"/>
          <p:nvPr/>
        </p:nvSpPr>
        <p:spPr>
          <a:xfrm>
            <a:off x="4507992" y="4764024"/>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Make it observable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Trace every hand-off: status, tokens, latency.</a:t>
            </a:r>
            <a:endParaRPr lang="en-US" sz="1400" dirty="0"/>
          </a:p>
        </p:txBody>
      </p:sp>
      <p:sp>
        <p:nvSpPr>
          <p:cNvPr id="21" name="!!card"/>
          <p:cNvSpPr/>
          <p:nvPr/>
        </p:nvSpPr>
        <p:spPr>
          <a:xfrm>
            <a:off x="7543800" y="1371600"/>
            <a:ext cx="4142232" cy="4343400"/>
          </a:xfrm>
          <a:prstGeom prst="roundRect">
            <a:avLst>
              <a:gd name="adj" fmla="val 2649"/>
            </a:avLst>
          </a:prstGeom>
          <a:solidFill>
            <a:srgbClr val="E1F5EE"/>
          </a:solidFill>
          <a:ln w="15875">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2" name="!!cardic" descr="/tmp/deck-icons/TbId_0F6E56.png">    </p:cNvPr>
          <p:cNvPicPr>
            <a:picLocks noChangeAspect="1"/>
          </p:cNvPicPr>
          <p:nvPr/>
        </p:nvPicPr>
        <p:blipFill>
          <a:blip r:embed="rId1"/>
          <a:stretch>
            <a:fillRect/>
          </a:stretch>
        </p:blipFill>
        <p:spPr>
          <a:xfrm>
            <a:off x="7772400" y="1572768"/>
            <a:ext cx="347472" cy="347472"/>
          </a:xfrm>
          <a:prstGeom prst="rect">
            <a:avLst/>
          </a:prstGeom>
        </p:spPr>
      </p:pic>
      <p:sp>
        <p:nvSpPr>
          <p:cNvPr id="23" name="!!cardh"/>
          <p:cNvSpPr txBox="1"/>
          <p:nvPr/>
        </p:nvSpPr>
        <p:spPr>
          <a:xfrm>
            <a:off x="8229600" y="1527048"/>
            <a:ext cx="3319272" cy="548640"/>
          </a:xfrm>
          <a:prstGeom prst="rect">
            <a:avLst/>
          </a:prstGeom>
          <a:noFill/>
          <a:ln/>
        </p:spPr>
        <p:txBody>
          <a:bodyPr wrap="square" lIns="0" tIns="0" rIns="0" bIns="0" rtlCol="0" anchor="t"/>
          <a:lstStyle/>
          <a:p>
            <a:pPr algn="l" indent="0" marL="0">
              <a:buNone/>
            </a:pPr>
            <a:r>
              <a:rPr lang="en-US" sz="1600" b="1" dirty="0">
                <a:solidFill>
                  <a:srgbClr val="085041"/>
                </a:solidFill>
                <a:latin typeface="Calibri" pitchFamily="34" charset="0"/>
                <a:ea typeface="Calibri" pitchFamily="34" charset="-122"/>
                <a:cs typeface="Calibri" pitchFamily="34" charset="-120"/>
              </a:rPr>
              <a:t>Role card · Research agent</a:t>
            </a:r>
            <a:endParaRPr lang="en-US" sz="1400" dirty="0"/>
          </a:p>
          <a:p>
            <a:pPr algn="l" indent="0" marL="0">
              <a:buNone/>
            </a:pPr>
            <a:r>
              <a:rPr lang="en-US" sz="1200" dirty="0">
                <a:solidFill>
                  <a:srgbClr val="0F6E56"/>
                </a:solidFill>
                <a:latin typeface="Calibri" pitchFamily="34" charset="0"/>
                <a:ea typeface="Calibri" pitchFamily="34" charset="-122"/>
                <a:cs typeface="Calibri" pitchFamily="34" charset="-120"/>
              </a:rPr>
              <a:t>Market brief</a:t>
            </a:r>
            <a:endParaRPr lang="en-US" sz="1400" dirty="0"/>
          </a:p>
        </p:txBody>
      </p:sp>
      <p:sp>
        <p:nvSpPr>
          <p:cNvPr id="24" name="!!ck0"/>
          <p:cNvSpPr txBox="1"/>
          <p:nvPr/>
        </p:nvSpPr>
        <p:spPr>
          <a:xfrm>
            <a:off x="7772400" y="2240280"/>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Goal</a:t>
            </a:r>
            <a:endParaRPr lang="en-US" sz="1200" dirty="0"/>
          </a:p>
        </p:txBody>
      </p:sp>
      <p:sp>
        <p:nvSpPr>
          <p:cNvPr id="25" name="!!cv0"/>
          <p:cNvSpPr txBox="1"/>
          <p:nvPr/>
        </p:nvSpPr>
        <p:spPr>
          <a:xfrm>
            <a:off x="8915400" y="2240280"/>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Gather the latest facts for one market brief</a:t>
            </a:r>
            <a:endParaRPr lang="en-US" sz="1200" dirty="0"/>
          </a:p>
        </p:txBody>
      </p:sp>
      <p:sp>
        <p:nvSpPr>
          <p:cNvPr id="26" name="Shape 23"/>
          <p:cNvSpPr/>
          <p:nvPr/>
        </p:nvSpPr>
        <p:spPr>
          <a:xfrm>
            <a:off x="7772400" y="2670048"/>
            <a:ext cx="3685032" cy="914"/>
          </a:xfrm>
          <a:prstGeom prst="line">
            <a:avLst/>
          </a:prstGeom>
          <a:noFill/>
          <a:ln w="6350">
            <a:solidFill>
              <a:srgbClr val="9FE1CB"/>
            </a:solidFill>
            <a:prstDash val="solid"/>
          </a:ln>
        </p:spPr>
        <p:txBody>
          <a:bodyPr/>
          <a:p/>
        </p:txBody>
      </p:sp>
      <p:sp>
        <p:nvSpPr>
          <p:cNvPr id="27" name="!!ck1"/>
          <p:cNvSpPr txBox="1"/>
          <p:nvPr/>
        </p:nvSpPr>
        <p:spPr>
          <a:xfrm>
            <a:off x="7772400" y="2715768"/>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Tools</a:t>
            </a:r>
            <a:endParaRPr lang="en-US" sz="1200" dirty="0"/>
          </a:p>
        </p:txBody>
      </p:sp>
      <p:sp>
        <p:nvSpPr>
          <p:cNvPr id="28" name="!!cv1"/>
          <p:cNvSpPr txBox="1"/>
          <p:nvPr/>
        </p:nvSpPr>
        <p:spPr>
          <a:xfrm>
            <a:off x="8915400" y="2715768"/>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web_search, read_document (read-only)</a:t>
            </a:r>
            <a:endParaRPr lang="en-US" sz="1200" dirty="0"/>
          </a:p>
        </p:txBody>
      </p:sp>
      <p:sp>
        <p:nvSpPr>
          <p:cNvPr id="29" name="Shape 26"/>
          <p:cNvSpPr/>
          <p:nvPr/>
        </p:nvSpPr>
        <p:spPr>
          <a:xfrm>
            <a:off x="7772400" y="3145536"/>
            <a:ext cx="3685032" cy="914"/>
          </a:xfrm>
          <a:prstGeom prst="line">
            <a:avLst/>
          </a:prstGeom>
          <a:noFill/>
          <a:ln w="6350">
            <a:solidFill>
              <a:srgbClr val="9FE1CB"/>
            </a:solidFill>
            <a:prstDash val="solid"/>
          </a:ln>
        </p:spPr>
        <p:txBody>
          <a:bodyPr/>
          <a:p/>
        </p:txBody>
      </p:sp>
      <p:sp>
        <p:nvSpPr>
          <p:cNvPr id="30" name="!!ck2"/>
          <p:cNvSpPr txBox="1"/>
          <p:nvPr/>
        </p:nvSpPr>
        <p:spPr>
          <a:xfrm>
            <a:off x="7772400" y="3191256"/>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Reads</a:t>
            </a:r>
            <a:endParaRPr lang="en-US" sz="1200" dirty="0"/>
          </a:p>
        </p:txBody>
      </p:sp>
      <p:sp>
        <p:nvSpPr>
          <p:cNvPr id="31" name="!!cv2"/>
          <p:cNvSpPr txBox="1"/>
          <p:nvPr/>
        </p:nvSpPr>
        <p:spPr>
          <a:xfrm>
            <a:off x="8915400" y="3191256"/>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brief, plan</a:t>
            </a:r>
            <a:endParaRPr lang="en-US" sz="1200" dirty="0"/>
          </a:p>
        </p:txBody>
      </p:sp>
      <p:sp>
        <p:nvSpPr>
          <p:cNvPr id="32" name="Shape 29"/>
          <p:cNvSpPr/>
          <p:nvPr/>
        </p:nvSpPr>
        <p:spPr>
          <a:xfrm>
            <a:off x="7772400" y="3621024"/>
            <a:ext cx="3685032" cy="914"/>
          </a:xfrm>
          <a:prstGeom prst="line">
            <a:avLst/>
          </a:prstGeom>
          <a:noFill/>
          <a:ln w="6350">
            <a:solidFill>
              <a:srgbClr val="9FE1CB"/>
            </a:solidFill>
            <a:prstDash val="solid"/>
          </a:ln>
        </p:spPr>
        <p:txBody>
          <a:bodyPr/>
          <a:p/>
        </p:txBody>
      </p:sp>
      <p:sp>
        <p:nvSpPr>
          <p:cNvPr id="33" name="!!ck3"/>
          <p:cNvSpPr txBox="1"/>
          <p:nvPr/>
        </p:nvSpPr>
        <p:spPr>
          <a:xfrm>
            <a:off x="7772400" y="3666744"/>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Writes</a:t>
            </a:r>
            <a:endParaRPr lang="en-US" sz="1200" dirty="0"/>
          </a:p>
        </p:txBody>
      </p:sp>
      <p:sp>
        <p:nvSpPr>
          <p:cNvPr id="34" name="!!cv3"/>
          <p:cNvSpPr txBox="1"/>
          <p:nvPr/>
        </p:nvSpPr>
        <p:spPr>
          <a:xfrm>
            <a:off x="8915400" y="3666744"/>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findings, status</a:t>
            </a:r>
            <a:endParaRPr lang="en-US" sz="1200" dirty="0"/>
          </a:p>
        </p:txBody>
      </p:sp>
      <p:sp>
        <p:nvSpPr>
          <p:cNvPr id="35" name="Shape 32"/>
          <p:cNvSpPr/>
          <p:nvPr/>
        </p:nvSpPr>
        <p:spPr>
          <a:xfrm>
            <a:off x="7772400" y="4096512"/>
            <a:ext cx="3685032" cy="914"/>
          </a:xfrm>
          <a:prstGeom prst="line">
            <a:avLst/>
          </a:prstGeom>
          <a:noFill/>
          <a:ln w="6350">
            <a:solidFill>
              <a:srgbClr val="9FE1CB"/>
            </a:solidFill>
            <a:prstDash val="solid"/>
          </a:ln>
        </p:spPr>
        <p:txBody>
          <a:bodyPr/>
          <a:p/>
        </p:txBody>
      </p:sp>
      <p:sp>
        <p:nvSpPr>
          <p:cNvPr id="36" name="!!ck4"/>
          <p:cNvSpPr txBox="1"/>
          <p:nvPr/>
        </p:nvSpPr>
        <p:spPr>
          <a:xfrm>
            <a:off x="7772400" y="4142232"/>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Done when</a:t>
            </a:r>
            <a:endParaRPr lang="en-US" sz="1200" dirty="0"/>
          </a:p>
        </p:txBody>
      </p:sp>
      <p:sp>
        <p:nvSpPr>
          <p:cNvPr id="37" name="!!cv4"/>
          <p:cNvSpPr txBox="1"/>
          <p:nvPr/>
        </p:nvSpPr>
        <p:spPr>
          <a:xfrm>
            <a:off x="8915400" y="4142232"/>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every key point has a cited source</a:t>
            </a:r>
            <a:endParaRPr lang="en-US" sz="1200" dirty="0"/>
          </a:p>
        </p:txBody>
      </p:sp>
      <p:sp>
        <p:nvSpPr>
          <p:cNvPr id="38" name="Shape 35"/>
          <p:cNvSpPr/>
          <p:nvPr/>
        </p:nvSpPr>
        <p:spPr>
          <a:xfrm>
            <a:off x="7772400" y="4572000"/>
            <a:ext cx="3685032" cy="914"/>
          </a:xfrm>
          <a:prstGeom prst="line">
            <a:avLst/>
          </a:prstGeom>
          <a:noFill/>
          <a:ln w="6350">
            <a:solidFill>
              <a:srgbClr val="9FE1CB"/>
            </a:solidFill>
            <a:prstDash val="solid"/>
          </a:ln>
        </p:spPr>
        <p:txBody>
          <a:bodyPr/>
          <a:p/>
        </p:txBody>
      </p:sp>
      <p:sp>
        <p:nvSpPr>
          <p:cNvPr id="39" name="!!ck5"/>
          <p:cNvSpPr txBox="1"/>
          <p:nvPr/>
        </p:nvSpPr>
        <p:spPr>
          <a:xfrm>
            <a:off x="7772400" y="4617720"/>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Limits</a:t>
            </a:r>
            <a:endParaRPr lang="en-US" sz="1200" dirty="0"/>
          </a:p>
        </p:txBody>
      </p:sp>
      <p:sp>
        <p:nvSpPr>
          <p:cNvPr id="40" name="!!cv5"/>
          <p:cNvSpPr txBox="1"/>
          <p:nvPr/>
        </p:nvSpPr>
        <p:spPr>
          <a:xfrm>
            <a:off x="8915400" y="4617720"/>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6 steps · 2 retries · 20k tokens</a:t>
            </a:r>
            <a:endParaRPr lang="en-US" sz="1200" dirty="0"/>
          </a:p>
        </p:txBody>
      </p:sp>
      <p:sp>
        <p:nvSpPr>
          <p:cNvPr id="41" name="Shape 38"/>
          <p:cNvSpPr/>
          <p:nvPr/>
        </p:nvSpPr>
        <p:spPr>
          <a:xfrm>
            <a:off x="7772400" y="5047488"/>
            <a:ext cx="3685032" cy="914"/>
          </a:xfrm>
          <a:prstGeom prst="line">
            <a:avLst/>
          </a:prstGeom>
          <a:noFill/>
          <a:ln w="6350">
            <a:solidFill>
              <a:srgbClr val="9FE1CB"/>
            </a:solidFill>
            <a:prstDash val="solid"/>
          </a:ln>
        </p:spPr>
        <p:txBody>
          <a:bodyPr/>
          <a:p/>
        </p:txBody>
      </p:sp>
      <p:sp>
        <p:nvSpPr>
          <p:cNvPr id="42" name="!!ck6"/>
          <p:cNvSpPr txBox="1"/>
          <p:nvPr/>
        </p:nvSpPr>
        <p:spPr>
          <a:xfrm>
            <a:off x="7772400" y="5093208"/>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Hands off to</a:t>
            </a:r>
            <a:endParaRPr lang="en-US" sz="1200" dirty="0"/>
          </a:p>
        </p:txBody>
      </p:sp>
      <p:sp>
        <p:nvSpPr>
          <p:cNvPr id="43" name="!!cv6"/>
          <p:cNvSpPr txBox="1"/>
          <p:nvPr/>
        </p:nvSpPr>
        <p:spPr>
          <a:xfrm>
            <a:off x="8915400" y="5093208"/>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Checker</a:t>
            </a:r>
            <a:endParaRPr lang="en-US" sz="1200" dirty="0"/>
          </a:p>
        </p:txBody>
      </p:sp>
      <p:sp>
        <p:nvSpPr>
          <p:cNvPr id="44" name="!!cardcap"/>
          <p:cNvSpPr txBox="1"/>
          <p:nvPr/>
        </p:nvSpPr>
        <p:spPr>
          <a:xfrm>
            <a:off x="7543800" y="5852160"/>
            <a:ext cx="4142232" cy="548640"/>
          </a:xfrm>
          <a:prstGeom prst="rect">
            <a:avLst/>
          </a:prstGeom>
          <a:noFill/>
          <a:ln/>
        </p:spPr>
        <p:txBody>
          <a:bodyPr wrap="square" lIns="0" tIns="0" rIns="0" bIns="0" rtlCol="0" anchor="t"/>
          <a:lstStyle/>
          <a:p>
            <a:pPr algn="l" indent="0" marL="0">
              <a:buNone/>
            </a:pPr>
            <a:r>
              <a:rPr lang="en-US" sz="1250" i="1" dirty="0">
                <a:solidFill>
                  <a:srgbClr val="5F5E5A"/>
                </a:solidFill>
                <a:latin typeface="Calibri" pitchFamily="34" charset="0"/>
                <a:ea typeface="Calibri" pitchFamily="34" charset="-122"/>
                <a:cs typeface="Calibri" pitchFamily="34" charset="-120"/>
              </a:rPr>
              <a:t>Write the role card before the code. If you can't fill it in, the agent's job isn't clear yet.</a:t>
            </a:r>
            <a:endParaRPr lang="en-US" sz="12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LangChain and LangGraph</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LangChain gives you the parts: models, prompts and tools. LangGraph wires them into a graph with one shared state, so loops, checks and human approval are built in.</a:t>
            </a:r>
            <a:endParaRPr lang="en-US" sz="1400" dirty="0"/>
          </a:p>
        </p:txBody>
      </p:sp>
      <p:sp>
        <p:nvSpPr>
          <p:cNvPr id="5" name="!!lcbox"/>
          <p:cNvSpPr/>
          <p:nvPr/>
        </p:nvSpPr>
        <p:spPr>
          <a:xfrm>
            <a:off x="502920" y="1371600"/>
            <a:ext cx="3520440" cy="1965960"/>
          </a:xfrm>
          <a:prstGeom prst="roundRect">
            <a:avLst>
              <a:gd name="adj" fmla="val 4651"/>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lcic" descr="/tmp/deck-icons/TbPuzzle_534AB7.png">    </p:cNvPr>
          <p:cNvPicPr>
            <a:picLocks noChangeAspect="1"/>
          </p:cNvPicPr>
          <p:nvPr/>
        </p:nvPicPr>
        <p:blipFill>
          <a:blip r:embed="rId1"/>
          <a:stretch>
            <a:fillRect/>
          </a:stretch>
        </p:blipFill>
        <p:spPr>
          <a:xfrm>
            <a:off x="685800" y="1517904"/>
            <a:ext cx="310896" cy="310896"/>
          </a:xfrm>
          <a:prstGeom prst="rect">
            <a:avLst/>
          </a:prstGeom>
        </p:spPr>
      </p:pic>
      <p:sp>
        <p:nvSpPr>
          <p:cNvPr id="7" name="!!lch"/>
          <p:cNvSpPr txBox="1"/>
          <p:nvPr/>
        </p:nvSpPr>
        <p:spPr>
          <a:xfrm>
            <a:off x="1069848" y="1499616"/>
            <a:ext cx="2834640" cy="365760"/>
          </a:xfrm>
          <a:prstGeom prst="rect">
            <a:avLst/>
          </a:prstGeom>
          <a:noFill/>
          <a:ln/>
        </p:spPr>
        <p:txBody>
          <a:bodyPr wrap="square" lIns="0" tIns="0" rIns="0" bIns="0" rtlCol="0" anchor="ctr"/>
          <a:lstStyle/>
          <a:p>
            <a:pPr algn="l" indent="0" marL="0">
              <a:buNone/>
            </a:pPr>
            <a:r>
              <a:rPr lang="en-US" sz="1500" b="1" dirty="0">
                <a:solidFill>
                  <a:srgbClr val="3C3489"/>
                </a:solidFill>
                <a:latin typeface="Calibri" pitchFamily="34" charset="0"/>
                <a:ea typeface="Calibri" pitchFamily="34" charset="-122"/>
                <a:cs typeface="Calibri" pitchFamily="34" charset="-120"/>
              </a:rPr>
              <a:t>LangChain · the building blocks</a:t>
            </a:r>
            <a:endParaRPr lang="en-US" sz="1500" dirty="0"/>
          </a:p>
        </p:txBody>
      </p:sp>
      <p:sp>
        <p:nvSpPr>
          <p:cNvPr id="8" name="!!lcb"/>
          <p:cNvSpPr txBox="1"/>
          <p:nvPr/>
        </p:nvSpPr>
        <p:spPr>
          <a:xfrm>
            <a:off x="685800" y="1920240"/>
            <a:ext cx="3200400" cy="1325880"/>
          </a:xfrm>
          <a:prstGeom prst="rect">
            <a:avLst/>
          </a:prstGeom>
          <a:noFill/>
          <a:ln/>
        </p:spPr>
        <p:txBody>
          <a:bodyPr wrap="square" lIns="0" tIns="0" rIns="0" bIns="0" rtlCol="0" anchor="t"/>
          <a:lstStyle/>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One interface for chat models (e.g. ChatGroq, ChatAnthropic)</a:t>
            </a:r>
            <a:endParaRPr lang="en-US" sz="1250" dirty="0"/>
          </a:p>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Prompts, tools (@tool) and structured output</a:t>
            </a:r>
            <a:endParaRPr lang="en-US" sz="1250" dirty="0"/>
          </a:p>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create_agent: a ready-made agent loop</a:t>
            </a:r>
            <a:endParaRPr lang="en-US" sz="1250" dirty="0"/>
          </a:p>
        </p:txBody>
      </p:sp>
      <p:sp>
        <p:nvSpPr>
          <p:cNvPr id="9" name="!!lgbox"/>
          <p:cNvSpPr/>
          <p:nvPr/>
        </p:nvSpPr>
        <p:spPr>
          <a:xfrm>
            <a:off x="502920" y="3520440"/>
            <a:ext cx="3520440" cy="1965960"/>
          </a:xfrm>
          <a:prstGeom prst="roundRect">
            <a:avLst>
              <a:gd name="adj" fmla="val 4651"/>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0" name="!!lgic" descr="/tmp/deck-icons/TbGitBranch_0F6E56.png">    </p:cNvPr>
          <p:cNvPicPr>
            <a:picLocks noChangeAspect="1"/>
          </p:cNvPicPr>
          <p:nvPr/>
        </p:nvPicPr>
        <p:blipFill>
          <a:blip r:embed="rId2"/>
          <a:stretch>
            <a:fillRect/>
          </a:stretch>
        </p:blipFill>
        <p:spPr>
          <a:xfrm>
            <a:off x="685800" y="3666744"/>
            <a:ext cx="310896" cy="310896"/>
          </a:xfrm>
          <a:prstGeom prst="rect">
            <a:avLst/>
          </a:prstGeom>
        </p:spPr>
      </p:pic>
      <p:sp>
        <p:nvSpPr>
          <p:cNvPr id="11" name="!!lgh"/>
          <p:cNvSpPr txBox="1"/>
          <p:nvPr/>
        </p:nvSpPr>
        <p:spPr>
          <a:xfrm>
            <a:off x="1069848" y="3648456"/>
            <a:ext cx="2834640" cy="365760"/>
          </a:xfrm>
          <a:prstGeom prst="rect">
            <a:avLst/>
          </a:prstGeom>
          <a:noFill/>
          <a:ln/>
        </p:spPr>
        <p:txBody>
          <a:bodyPr wrap="square" lIns="0" tIns="0" rIns="0" bIns="0" rtlCol="0" anchor="ctr"/>
          <a:lstStyle/>
          <a:p>
            <a:pPr algn="l" indent="0" marL="0">
              <a:buNone/>
            </a:pPr>
            <a:r>
              <a:rPr lang="en-US" sz="1500" b="1" dirty="0">
                <a:solidFill>
                  <a:srgbClr val="085041"/>
                </a:solidFill>
                <a:latin typeface="Calibri" pitchFamily="34" charset="0"/>
                <a:ea typeface="Calibri" pitchFamily="34" charset="-122"/>
                <a:cs typeface="Calibri" pitchFamily="34" charset="-120"/>
              </a:rPr>
              <a:t>LangGraph · the orchestration</a:t>
            </a:r>
            <a:endParaRPr lang="en-US" sz="1500" dirty="0"/>
          </a:p>
        </p:txBody>
      </p:sp>
      <p:sp>
        <p:nvSpPr>
          <p:cNvPr id="12" name="!!lgb"/>
          <p:cNvSpPr txBox="1"/>
          <p:nvPr/>
        </p:nvSpPr>
        <p:spPr>
          <a:xfrm>
            <a:off x="685800" y="4069080"/>
            <a:ext cx="3200400" cy="1325880"/>
          </a:xfrm>
          <a:prstGeom prst="rect">
            <a:avLst/>
          </a:prstGeom>
          <a:noFill/>
          <a:ln/>
        </p:spPr>
        <p:txBody>
          <a:bodyPr wrap="square" lIns="0" tIns="0" rIns="0" bIns="0" rtlCol="0" anchor="t"/>
          <a:lstStyle/>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Describe the system as nodes + edges over a shared state</a:t>
            </a:r>
            <a:endParaRPr lang="en-US" sz="1250" dirty="0"/>
          </a:p>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Loops and branching (conditional edges)</a:t>
            </a:r>
            <a:endParaRPr lang="en-US" sz="1250" dirty="0"/>
          </a:p>
          <a:p>
            <a:pPr algn="l" marL="342900" indent="-342900">
              <a:spcAft>
                <a:spcPts val="400"/>
              </a:spcAft>
              <a:buSzPct val="100000"/>
              <a:buChar char="•"/>
            </a:pPr>
            <a:r>
              <a:rPr lang="en-US" sz="1250" dirty="0">
                <a:solidFill>
                  <a:srgbClr val="2C2C2A"/>
                </a:solidFill>
                <a:latin typeface="Calibri" pitchFamily="34" charset="0"/>
                <a:ea typeface="Calibri" pitchFamily="34" charset="-122"/>
                <a:cs typeface="Calibri" pitchFamily="34" charset="-120"/>
              </a:rPr>
              <a:t>Checkpoints: resume, and pause for a human</a:t>
            </a:r>
            <a:endParaRPr lang="en-US" sz="1250" dirty="0"/>
          </a:p>
        </p:txBody>
      </p:sp>
      <p:sp>
        <p:nvSpPr>
          <p:cNvPr id="13" name="!!gt"/>
          <p:cNvSpPr txBox="1"/>
          <p:nvPr/>
        </p:nvSpPr>
        <p:spPr>
          <a:xfrm>
            <a:off x="4343400" y="1371600"/>
            <a:ext cx="2697480" cy="274320"/>
          </a:xfrm>
          <a:prstGeom prst="rect">
            <a:avLst/>
          </a:prstGeom>
          <a:noFill/>
          <a:ln/>
        </p:spPr>
        <p:txBody>
          <a:bodyPr wrap="square" lIns="0" tIns="0" rIns="0" bIns="0" rtlCol="0" anchor="t"/>
          <a:lstStyle/>
          <a:p>
            <a:pPr algn="ctr" indent="0" marL="0">
              <a:buNone/>
            </a:pPr>
            <a:r>
              <a:rPr lang="en-US" sz="1300" b="1" dirty="0">
                <a:solidFill>
                  <a:srgbClr val="5F5E5A"/>
                </a:solidFill>
                <a:latin typeface="Calibri" pitchFamily="34" charset="0"/>
                <a:ea typeface="Calibri" pitchFamily="34" charset="-122"/>
                <a:cs typeface="Calibri" pitchFamily="34" charset="-120"/>
              </a:rPr>
              <a:t>The graph</a:t>
            </a:r>
            <a:endParaRPr lang="en-US" sz="1300" dirty="0"/>
          </a:p>
        </p:txBody>
      </p:sp>
      <p:sp>
        <p:nvSpPr>
          <p:cNvPr id="14" name="!!gs"/>
          <p:cNvSpPr/>
          <p:nvPr/>
        </p:nvSpPr>
        <p:spPr>
          <a:xfrm>
            <a:off x="5189220" y="1719072"/>
            <a:ext cx="1005840" cy="329184"/>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onsolas" pitchFamily="34" charset="0"/>
                <a:ea typeface="Consolas" pitchFamily="34" charset="-122"/>
                <a:cs typeface="Consolas" pitchFamily="34" charset="-120"/>
              </a:rPr>
              <a:t>START</a:t>
            </a:r>
            <a:endParaRPr lang="en-US" sz="1100" dirty="0"/>
          </a:p>
        </p:txBody>
      </p:sp>
      <p:sp>
        <p:nvSpPr>
          <p:cNvPr id="15" name="!!ge1"/>
          <p:cNvSpPr/>
          <p:nvPr/>
        </p:nvSpPr>
        <p:spPr>
          <a:xfrm>
            <a:off x="5692140" y="2048256"/>
            <a:ext cx="914" cy="292608"/>
          </a:xfrm>
          <a:prstGeom prst="line">
            <a:avLst/>
          </a:prstGeom>
          <a:noFill/>
          <a:ln w="15875">
            <a:solidFill>
              <a:srgbClr val="5F5E5A"/>
            </a:solidFill>
            <a:prstDash val="solid"/>
            <a:tailEnd type="triangle"/>
          </a:ln>
        </p:spPr>
        <p:txBody>
          <a:bodyPr/>
          <a:p/>
        </p:txBody>
      </p:sp>
      <p:sp>
        <p:nvSpPr>
          <p:cNvPr id="16" name="!!gw"/>
          <p:cNvSpPr/>
          <p:nvPr/>
        </p:nvSpPr>
        <p:spPr>
          <a:xfrm>
            <a:off x="4823460" y="2377440"/>
            <a:ext cx="1737360" cy="658368"/>
          </a:xfrm>
          <a:prstGeom prst="roundRect">
            <a:avLst>
              <a:gd name="adj" fmla="val 11111"/>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400" b="1" dirty="0">
                <a:solidFill>
                  <a:srgbClr val="085041"/>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085041"/>
                </a:solidFill>
                <a:latin typeface="Calibri" pitchFamily="34" charset="0"/>
                <a:ea typeface="Calibri" pitchFamily="34" charset="-122"/>
                <a:cs typeface="Calibri" pitchFamily="34" charset="-120"/>
              </a:rPr>
              <a:t>node · does the job</a:t>
            </a:r>
            <a:endParaRPr lang="en-US" sz="1200" dirty="0"/>
          </a:p>
        </p:txBody>
      </p:sp>
      <p:sp>
        <p:nvSpPr>
          <p:cNvPr id="17" name="!!ge2"/>
          <p:cNvSpPr/>
          <p:nvPr/>
        </p:nvSpPr>
        <p:spPr>
          <a:xfrm>
            <a:off x="5692140" y="3035808"/>
            <a:ext cx="914" cy="384048"/>
          </a:xfrm>
          <a:prstGeom prst="line">
            <a:avLst/>
          </a:prstGeom>
          <a:noFill/>
          <a:ln w="15875">
            <a:solidFill>
              <a:srgbClr val="5F5E5A"/>
            </a:solidFill>
            <a:prstDash val="solid"/>
            <a:tailEnd type="triangle"/>
          </a:ln>
        </p:spPr>
        <p:txBody>
          <a:bodyPr/>
          <a:p/>
        </p:txBody>
      </p:sp>
      <p:sp>
        <p:nvSpPr>
          <p:cNvPr id="18" name="!!gc"/>
          <p:cNvSpPr/>
          <p:nvPr/>
        </p:nvSpPr>
        <p:spPr>
          <a:xfrm>
            <a:off x="4823460" y="3456432"/>
            <a:ext cx="1737360" cy="658368"/>
          </a:xfrm>
          <a:prstGeom prst="roundRect">
            <a:avLst>
              <a:gd name="adj" fmla="val 11111"/>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712B13"/>
                </a:solidFill>
                <a:latin typeface="Calibri" pitchFamily="34" charset="0"/>
                <a:ea typeface="Calibri" pitchFamily="34" charset="-122"/>
                <a:cs typeface="Calibri" pitchFamily="34" charset="-120"/>
              </a:rPr>
              <a:t>node · verifies</a:t>
            </a:r>
            <a:endParaRPr lang="en-US" sz="1200" dirty="0"/>
          </a:p>
        </p:txBody>
      </p:sp>
      <p:sp>
        <p:nvSpPr>
          <p:cNvPr id="19" name="!!ge3"/>
          <p:cNvSpPr/>
          <p:nvPr/>
        </p:nvSpPr>
        <p:spPr>
          <a:xfrm>
            <a:off x="5692140" y="4114800"/>
            <a:ext cx="914" cy="438912"/>
          </a:xfrm>
          <a:prstGeom prst="line">
            <a:avLst/>
          </a:prstGeom>
          <a:noFill/>
          <a:ln w="15875">
            <a:solidFill>
              <a:srgbClr val="5F5E5A"/>
            </a:solidFill>
            <a:prstDash val="solid"/>
            <a:tailEnd type="triangle"/>
          </a:ln>
        </p:spPr>
        <p:txBody>
          <a:bodyPr/>
          <a:p/>
        </p:txBody>
      </p:sp>
      <p:sp>
        <p:nvSpPr>
          <p:cNvPr id="20" name="!!gpass"/>
          <p:cNvSpPr txBox="1"/>
          <p:nvPr/>
        </p:nvSpPr>
        <p:spPr>
          <a:xfrm>
            <a:off x="5765292" y="4187952"/>
            <a:ext cx="548640" cy="274320"/>
          </a:xfrm>
          <a:prstGeom prst="rect">
            <a:avLst/>
          </a:prstGeom>
          <a:noFill/>
          <a:ln/>
        </p:spPr>
        <p:txBody>
          <a:bodyPr wrap="square" lIns="0" tIns="0" rIns="0" bIns="0" rtlCol="0" anchor="t"/>
          <a:lstStyle/>
          <a:p>
            <a:pPr algn="l" indent="0" marL="0">
              <a:buNone/>
            </a:pPr>
            <a:r>
              <a:rPr lang="en-US" sz="1100" b="1" dirty="0">
                <a:solidFill>
                  <a:srgbClr val="085041"/>
                </a:solidFill>
                <a:latin typeface="Calibri" pitchFamily="34" charset="0"/>
                <a:ea typeface="Calibri" pitchFamily="34" charset="-122"/>
                <a:cs typeface="Calibri" pitchFamily="34" charset="-120"/>
              </a:rPr>
              <a:t>pass</a:t>
            </a:r>
            <a:endParaRPr lang="en-US" sz="1100" dirty="0"/>
          </a:p>
        </p:txBody>
      </p:sp>
      <p:sp>
        <p:nvSpPr>
          <p:cNvPr id="21" name="!!gend"/>
          <p:cNvSpPr/>
          <p:nvPr/>
        </p:nvSpPr>
        <p:spPr>
          <a:xfrm>
            <a:off x="5189220" y="4590288"/>
            <a:ext cx="1005840" cy="329184"/>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onsolas" pitchFamily="34" charset="0"/>
                <a:ea typeface="Consolas" pitchFamily="34" charset="-122"/>
                <a:cs typeface="Consolas" pitchFamily="34" charset="-120"/>
              </a:rPr>
              <a:t>END</a:t>
            </a:r>
            <a:endParaRPr lang="en-US" sz="1100" dirty="0"/>
          </a:p>
        </p:txBody>
      </p:sp>
      <p:sp>
        <p:nvSpPr>
          <p:cNvPr id="22" name="!!gf1"/>
          <p:cNvSpPr/>
          <p:nvPr/>
        </p:nvSpPr>
        <p:spPr>
          <a:xfrm flipH="1">
            <a:off x="4453128" y="3785616"/>
            <a:ext cx="370332" cy="914"/>
          </a:xfrm>
          <a:prstGeom prst="line">
            <a:avLst/>
          </a:prstGeom>
          <a:noFill/>
          <a:ln w="15875">
            <a:solidFill>
              <a:srgbClr val="993C1D"/>
            </a:solidFill>
            <a:prstDash val="dash"/>
          </a:ln>
        </p:spPr>
        <p:txBody>
          <a:bodyPr/>
          <a:p/>
        </p:txBody>
      </p:sp>
      <p:sp>
        <p:nvSpPr>
          <p:cNvPr id="23" name="!!gf2"/>
          <p:cNvSpPr/>
          <p:nvPr/>
        </p:nvSpPr>
        <p:spPr>
          <a:xfrm flipV="1">
            <a:off x="4453128" y="2706624"/>
            <a:ext cx="914" cy="1078992"/>
          </a:xfrm>
          <a:prstGeom prst="line">
            <a:avLst/>
          </a:prstGeom>
          <a:noFill/>
          <a:ln w="15875">
            <a:solidFill>
              <a:srgbClr val="993C1D"/>
            </a:solidFill>
            <a:prstDash val="dash"/>
          </a:ln>
        </p:spPr>
        <p:txBody>
          <a:bodyPr/>
          <a:p/>
        </p:txBody>
      </p:sp>
      <p:sp>
        <p:nvSpPr>
          <p:cNvPr id="24" name="!!gf3"/>
          <p:cNvSpPr/>
          <p:nvPr/>
        </p:nvSpPr>
        <p:spPr>
          <a:xfrm>
            <a:off x="4453128" y="2706624"/>
            <a:ext cx="352044" cy="914"/>
          </a:xfrm>
          <a:prstGeom prst="line">
            <a:avLst/>
          </a:prstGeom>
          <a:noFill/>
          <a:ln w="15875">
            <a:solidFill>
              <a:srgbClr val="993C1D"/>
            </a:solidFill>
            <a:prstDash val="dash"/>
            <a:tailEnd type="triangle"/>
          </a:ln>
        </p:spPr>
        <p:txBody>
          <a:bodyPr/>
          <a:p/>
        </p:txBody>
      </p:sp>
      <p:sp>
        <p:nvSpPr>
          <p:cNvPr id="25" name="!!gfail"/>
          <p:cNvSpPr txBox="1"/>
          <p:nvPr/>
        </p:nvSpPr>
        <p:spPr>
          <a:xfrm>
            <a:off x="4526280" y="3090672"/>
            <a:ext cx="548640" cy="274320"/>
          </a:xfrm>
          <a:prstGeom prst="rect">
            <a:avLst/>
          </a:prstGeom>
          <a:noFill/>
          <a:ln/>
        </p:spPr>
        <p:txBody>
          <a:bodyPr wrap="square" lIns="0" tIns="0" rIns="0" bIns="0" rtlCol="0" anchor="t"/>
          <a:lstStyle/>
          <a:p>
            <a:pPr algn="l" indent="0" marL="0">
              <a:buNone/>
            </a:pPr>
            <a:r>
              <a:rPr lang="en-US" sz="1100" b="1" dirty="0">
                <a:solidFill>
                  <a:srgbClr val="712B13"/>
                </a:solidFill>
                <a:latin typeface="Calibri" pitchFamily="34" charset="0"/>
                <a:ea typeface="Calibri" pitchFamily="34" charset="-122"/>
                <a:cs typeface="Calibri" pitchFamily="34" charset="-120"/>
              </a:rPr>
              <a:t>fail</a:t>
            </a:r>
            <a:endParaRPr lang="en-US" sz="1100" dirty="0"/>
          </a:p>
        </p:txBody>
      </p:sp>
      <p:sp>
        <p:nvSpPr>
          <p:cNvPr id="26" name="!!gstate"/>
          <p:cNvSpPr/>
          <p:nvPr/>
        </p:nvSpPr>
        <p:spPr>
          <a:xfrm>
            <a:off x="4343400" y="5138928"/>
            <a:ext cx="2697480" cy="347472"/>
          </a:xfrm>
          <a:prstGeom prst="roundRect">
            <a:avLst>
              <a:gd name="adj" fmla="val 15789"/>
            </a:avLst>
          </a:prstGeom>
          <a:solidFill>
            <a:srgbClr val="EEEDFE"/>
          </a:solidFill>
          <a:ln w="12700">
            <a:solidFill>
              <a:srgbClr val="534AB7"/>
            </a:solidFill>
            <a:prstDash val="solid"/>
          </a:ln>
        </p:spPr>
        <p:txBody>
          <a:bodyPr wrap="square" lIns="25400" tIns="25400" rIns="25400" bIns="25400" rtlCol="0" anchor="ctr"/>
          <a:lstStyle/>
          <a:p>
            <a:pPr algn="ctr" indent="0" marL="0">
              <a:buNone/>
            </a:pPr>
            <a:r>
              <a:rPr lang="en-US" sz="1150" b="1" dirty="0">
                <a:solidFill>
                  <a:srgbClr val="3C3489"/>
                </a:solidFill>
                <a:latin typeface="Calibri" pitchFamily="34" charset="0"/>
                <a:ea typeface="Calibri" pitchFamily="34" charset="-122"/>
                <a:cs typeface="Calibri" pitchFamily="34" charset="-120"/>
              </a:rPr>
              <a:t>State  </a:t>
            </a:r>
            <a:pPr algn="ctr" indent="0" marL="0">
              <a:buNone/>
            </a:pPr>
            <a:r>
              <a:rPr lang="en-US" sz="1000" dirty="0">
                <a:solidFill>
                  <a:srgbClr val="3C3489"/>
                </a:solidFill>
                <a:latin typeface="Consolas" pitchFamily="34" charset="0"/>
                <a:ea typeface="Consolas" pitchFamily="34" charset="-122"/>
                <a:cs typeface="Consolas" pitchFamily="34" charset="-120"/>
              </a:rPr>
              <a:t>{ticket, result, status}</a:t>
            </a:r>
            <a:endParaRPr lang="en-US" sz="1150" dirty="0"/>
          </a:p>
        </p:txBody>
      </p:sp>
      <p:sp>
        <p:nvSpPr>
          <p:cNvPr id="27" name="!!codebox"/>
          <p:cNvSpPr/>
          <p:nvPr/>
        </p:nvSpPr>
        <p:spPr>
          <a:xfrm>
            <a:off x="7315200" y="1371600"/>
            <a:ext cx="4370832" cy="4114800"/>
          </a:xfrm>
          <a:prstGeom prst="roundRect">
            <a:avLst>
              <a:gd name="adj" fmla="val 1333"/>
            </a:avLst>
          </a:prstGeom>
          <a:solidFill>
            <a:srgbClr val="F7F6F2"/>
          </a:solidFill>
          <a:ln w="9525">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8" name="!!code"/>
          <p:cNvSpPr txBox="1"/>
          <p:nvPr/>
        </p:nvSpPr>
        <p:spPr>
          <a:xfrm>
            <a:off x="7479792" y="1481328"/>
            <a:ext cx="4096512" cy="3931920"/>
          </a:xfrm>
          <a:prstGeom prst="rect">
            <a:avLst/>
          </a:prstGeom>
          <a:noFill/>
          <a:ln/>
        </p:spPr>
        <p:txBody>
          <a:bodyPr wrap="square" lIns="0" tIns="0" rIns="0" bIns="0" rtlCol="0" anchor="t"/>
          <a:lstStyle/>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from typing import TypedDict</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from langgraph.graph import StateGraph, START, END</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class State(TypedDict):</a:t>
            </a:r>
            <a:pPr algn="l" indent="0" marL="0">
              <a:lnSpc>
                <a:spcPct val="98000"/>
              </a:lnSpc>
              <a:buNone/>
            </a:pPr>
            <a:r>
              <a:rPr lang="en-US" sz="950" dirty="0">
                <a:solidFill>
                  <a:srgbClr val="0F6E56"/>
                </a:solidFill>
                <a:latin typeface="Consolas" pitchFamily="34" charset="0"/>
                <a:ea typeface="Consolas" pitchFamily="34" charset="-122"/>
                <a:cs typeface="Consolas" pitchFamily="34" charset="-120"/>
              </a:rPr>
              <a:t>  # shared state</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ticket: str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result: str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status: str</a:t>
            </a:r>
            <a:pPr algn="l" indent="0" marL="0">
              <a:lnSpc>
                <a:spcPct val="98000"/>
              </a:lnSpc>
              <a:buNone/>
            </a:pPr>
            <a:r>
              <a:rPr lang="en-US" sz="950" dirty="0">
                <a:solidFill>
                  <a:srgbClr val="0F6E56"/>
                </a:solidFill>
                <a:latin typeface="Consolas" pitchFamily="34" charset="0"/>
                <a:ea typeface="Consolas" pitchFamily="34" charset="-122"/>
                <a:cs typeface="Consolas" pitchFamily="34" charset="-120"/>
              </a:rPr>
              <a:t>  # "pass" | "fail"</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def worker(state: State) -&gt; dict:</a:t>
            </a:r>
            <a:pPr algn="l" indent="0" marL="0">
              <a:lnSpc>
                <a:spcPct val="98000"/>
              </a:lnSpc>
              <a:buNone/>
            </a:pPr>
            <a:r>
              <a:rPr lang="en-US" sz="950" dirty="0">
                <a:solidFill>
                  <a:srgbClr val="0F6E56"/>
                </a:solidFill>
                <a:latin typeface="Consolas" pitchFamily="34" charset="0"/>
                <a:ea typeface="Consolas" pitchFamily="34" charset="-122"/>
                <a:cs typeface="Consolas" pitchFamily="34" charset="-120"/>
              </a:rPr>
              <a:t>  # a node</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return {"result": fix(state["ticket"])}</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def checker(state: State) -&gt; dict:</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ok = verify(state["result"])</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return {"status": "pass" if ok else "fail"}</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 = StateGraph(State)</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g.add_node("worker", worker)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g.add_node("checker", checker)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g.add_edge(START, "worker")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g.add_edge("worker", "checker")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g.add_conditional_edges("checker",</a:t>
            </a:r>
            <a:pPr algn="l" indent="0" marL="0">
              <a:lnSpc>
                <a:spcPct val="98000"/>
              </a:lnSpc>
              <a:buNone/>
            </a:pPr>
            <a:r>
              <a:rPr lang="en-US" sz="950" dirty="0">
                <a:solidFill>
                  <a:srgbClr val="0F6E56"/>
                </a:solidFill>
                <a:latin typeface="Consolas" pitchFamily="34" charset="0"/>
                <a:ea typeface="Consolas" pitchFamily="34" charset="-122"/>
                <a:cs typeface="Consolas" pitchFamily="34" charset="-120"/>
              </a:rPr>
              <a:t>  # route on status</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lambda s: END if s["status"] == "pass"</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else "worker")</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 </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app = g.compile()</a:t>
            </a:r>
            <a:endParaRPr lang="en-US" sz="950" dirty="0"/>
          </a:p>
          <a:p>
            <a:pPr algn="l" indent="0" marL="0">
              <a:lnSpc>
                <a:spcPct val="98000"/>
              </a:lnSpc>
              <a:buNone/>
            </a:pPr>
            <a:r>
              <a:rPr lang="en-US" sz="950" dirty="0">
                <a:solidFill>
                  <a:srgbClr val="2C2C2A"/>
                </a:solidFill>
                <a:latin typeface="Consolas" pitchFamily="34" charset="0"/>
                <a:ea typeface="Consolas" pitchFamily="34" charset="-122"/>
                <a:cs typeface="Consolas" pitchFamily="34" charset="-120"/>
              </a:rPr>
              <a:t>app.invoke({"ticket": "4521"}, {"recursion_limit": 10})</a:t>
            </a:r>
            <a:endParaRPr lang="en-US" sz="950" dirty="0"/>
          </a:p>
        </p:txBody>
      </p:sp>
      <p:sp>
        <p:nvSpPr>
          <p:cNvPr id="29" name="!!k0">
            <a:hlinkClick action="ppaction://hlinksldjump" r:id="rId3"/>
          </p:cNvPr>
          <p:cNvSpPr/>
          <p:nvPr/>
        </p:nvSpPr>
        <p:spPr>
          <a:xfrm>
            <a:off x="50292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u="none" dirty="0">
                <a:solidFill>
                  <a:srgbClr val="3C3489"/>
                </a:solidFill>
                <a:latin typeface="Calibri" pitchFamily="34" charset="0"/>
                <a:ea typeface="Calibri" pitchFamily="34" charset="-122"/>
                <a:cs typeface="Calibri" pitchFamily="34" charset="-120"/>
                <a:hlinkClick r:id="rId3" action="ppaction://hlinksldjump" tooltip="Explain State">
                  <a:extLst>
                    <a:ext uri="{A12FA001-AC4F-418D-AE19-62706E023703}">
                      <ahyp:hlinkClr xmlns:ahyp="http://schemas.microsoft.com/office/drawing/2018/hyperlinkcolor" val="tx"/>
                    </a:ext>
                  </a:extLst>
                </a:hlinkClick>
              </a:rPr>
              <a:t>State</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the shared state</a:t>
            </a:r>
            <a:endParaRPr lang="en-US" sz="1200" dirty="0"/>
          </a:p>
        </p:txBody>
      </p:sp>
      <p:sp>
        <p:nvSpPr>
          <p:cNvPr id="30" name="!!k1">
            <a:hlinkClick action="ppaction://hlinksldjump" r:id="rId4"/>
          </p:cNvPr>
          <p:cNvSpPr/>
          <p:nvPr/>
        </p:nvSpPr>
        <p:spPr>
          <a:xfrm>
            <a:off x="238506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u="none" dirty="0">
                <a:solidFill>
                  <a:srgbClr val="3C3489"/>
                </a:solidFill>
                <a:latin typeface="Calibri" pitchFamily="34" charset="0"/>
                <a:ea typeface="Calibri" pitchFamily="34" charset="-122"/>
                <a:cs typeface="Calibri" pitchFamily="34" charset="-120"/>
                <a:hlinkClick r:id="rId4" action="ppaction://hlinksldjump" tooltip="Explain Node">
                  <a:extLst>
                    <a:ext uri="{A12FA001-AC4F-418D-AE19-62706E023703}">
                      <ahyp:hlinkClr xmlns:ahyp="http://schemas.microsoft.com/office/drawing/2018/hyperlinkcolor" val="tx"/>
                    </a:ext>
                  </a:extLst>
                </a:hlinkClick>
              </a:rPr>
              <a:t>Node</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one agent or step</a:t>
            </a:r>
            <a:endParaRPr lang="en-US" sz="1200" dirty="0"/>
          </a:p>
        </p:txBody>
      </p:sp>
      <p:sp>
        <p:nvSpPr>
          <p:cNvPr id="31" name="!!k2">
            <a:hlinkClick action="ppaction://hlinksldjump" r:id="rId5"/>
          </p:cNvPr>
          <p:cNvSpPr/>
          <p:nvPr/>
        </p:nvSpPr>
        <p:spPr>
          <a:xfrm>
            <a:off x="426720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u="none" dirty="0">
                <a:solidFill>
                  <a:srgbClr val="3C3489"/>
                </a:solidFill>
                <a:latin typeface="Calibri" pitchFamily="34" charset="0"/>
                <a:ea typeface="Calibri" pitchFamily="34" charset="-122"/>
                <a:cs typeface="Calibri" pitchFamily="34" charset="-120"/>
                <a:hlinkClick r:id="rId5" action="ppaction://hlinksldjump" tooltip="Explain Edge">
                  <a:extLst>
                    <a:ext uri="{A12FA001-AC4F-418D-AE19-62706E023703}">
                      <ahyp:hlinkClr xmlns:ahyp="http://schemas.microsoft.com/office/drawing/2018/hyperlinkcolor" val="tx"/>
                    </a:ext>
                  </a:extLst>
                </a:hlinkClick>
              </a:rPr>
              <a:t>Edge</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a hand-off</a:t>
            </a:r>
            <a:endParaRPr lang="en-US" sz="1200" dirty="0"/>
          </a:p>
        </p:txBody>
      </p:sp>
      <p:sp>
        <p:nvSpPr>
          <p:cNvPr id="32" name="!!k3">
            <a:hlinkClick action="ppaction://hlinksldjump" r:id="rId6"/>
          </p:cNvPr>
          <p:cNvSpPr/>
          <p:nvPr/>
        </p:nvSpPr>
        <p:spPr>
          <a:xfrm>
            <a:off x="614934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u="none" dirty="0">
                <a:solidFill>
                  <a:srgbClr val="3C3489"/>
                </a:solidFill>
                <a:latin typeface="Calibri" pitchFamily="34" charset="0"/>
                <a:ea typeface="Calibri" pitchFamily="34" charset="-122"/>
                <a:cs typeface="Calibri" pitchFamily="34" charset="-120"/>
                <a:hlinkClick r:id="rId6" action="ppaction://hlinksldjump" tooltip="Explain Conditional edge">
                  <a:extLst>
                    <a:ext uri="{A12FA001-AC4F-418D-AE19-62706E023703}">
                      <ahyp:hlinkClr xmlns:ahyp="http://schemas.microsoft.com/office/drawing/2018/hyperlinkcolor" val="tx"/>
                    </a:ext>
                  </a:extLst>
                </a:hlinkClick>
              </a:rPr>
              <a:t>Conditional edge</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route on status</a:t>
            </a:r>
            <a:endParaRPr lang="en-US" sz="1200" dirty="0"/>
          </a:p>
        </p:txBody>
      </p:sp>
      <p:sp>
        <p:nvSpPr>
          <p:cNvPr id="33" name="!!k4">
            <a:hlinkClick action="ppaction://hlinksldjump" r:id="rId7"/>
          </p:cNvPr>
          <p:cNvSpPr/>
          <p:nvPr/>
        </p:nvSpPr>
        <p:spPr>
          <a:xfrm>
            <a:off x="803148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u="none" dirty="0">
                <a:solidFill>
                  <a:srgbClr val="3C3489"/>
                </a:solidFill>
                <a:latin typeface="Calibri" pitchFamily="34" charset="0"/>
                <a:ea typeface="Calibri" pitchFamily="34" charset="-122"/>
                <a:cs typeface="Calibri" pitchFamily="34" charset="-120"/>
                <a:hlinkClick r:id="rId7" action="ppaction://hlinksldjump" tooltip="Explain Subgraph">
                  <a:extLst>
                    <a:ext uri="{A12FA001-AC4F-418D-AE19-62706E023703}">
                      <ahyp:hlinkClr xmlns:ahyp="http://schemas.microsoft.com/office/drawing/2018/hyperlinkcolor" val="tx"/>
                    </a:ext>
                  </a:extLst>
                </a:hlinkClick>
              </a:rPr>
              <a:t>Subgraph</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a graph used as a node</a:t>
            </a:r>
            <a:endParaRPr lang="en-US" sz="1200" dirty="0"/>
          </a:p>
        </p:txBody>
      </p:sp>
      <p:sp>
        <p:nvSpPr>
          <p:cNvPr id="34" name="!!k5">
            <a:hlinkClick action="ppaction://hlinksldjump" r:id="rId8"/>
          </p:cNvPr>
          <p:cNvSpPr/>
          <p:nvPr/>
        </p:nvSpPr>
        <p:spPr>
          <a:xfrm>
            <a:off x="9913620" y="5715000"/>
            <a:ext cx="1772412" cy="603504"/>
          </a:xfrm>
          <a:prstGeom prst="roundRect">
            <a:avLst>
              <a:gd name="adj" fmla="val 12121"/>
            </a:avLst>
          </a:prstGeom>
          <a:solidFill>
            <a:srgbClr val="FFFFFF"/>
          </a:solidFill>
          <a:ln w="12700">
            <a:solidFill>
              <a:srgbClr val="D3D1C7"/>
            </a:solidFill>
            <a:prstDash val="solid"/>
          </a:ln>
        </p:spPr>
        <p:txBody>
          <a:bodyPr wrap="square" lIns="50800" tIns="50800" rIns="50800" bIns="50800" rtlCol="0" anchor="ctr"/>
          <a:lstStyle/>
          <a:p>
            <a:pPr algn="ctr" indent="0" marL="0">
              <a:buNone/>
            </a:pPr>
            <a:r>
              <a:rPr lang="en-US" sz="1250" b="1" u="none" dirty="0">
                <a:solidFill>
                  <a:srgbClr val="3C3489"/>
                </a:solidFill>
                <a:latin typeface="Calibri" pitchFamily="34" charset="0"/>
                <a:ea typeface="Calibri" pitchFamily="34" charset="-122"/>
                <a:cs typeface="Calibri" pitchFamily="34" charset="-120"/>
                <a:hlinkClick r:id="rId8" action="ppaction://hlinksldjump" tooltip="Explain Checkpointer">
                  <a:extLst>
                    <a:ext uri="{A12FA001-AC4F-418D-AE19-62706E023703}">
                      <ahyp:hlinkClr xmlns:ahyp="http://schemas.microsoft.com/office/drawing/2018/hyperlinkcolor" val="tx"/>
                    </a:ext>
                  </a:extLst>
                </a:hlinkClick>
              </a:rPr>
              <a:t>Checkpointer</a:t>
            </a:r>
            <a:endParaRPr lang="en-US" sz="1200" dirty="0"/>
          </a:p>
          <a:p>
            <a:pPr algn="ctr" indent="0" marL="0">
              <a:buNone/>
            </a:pPr>
            <a:r>
              <a:rPr lang="en-US" sz="1150" dirty="0">
                <a:solidFill>
                  <a:srgbClr val="5F5E5A"/>
                </a:solidFill>
                <a:latin typeface="Calibri" pitchFamily="34" charset="0"/>
                <a:ea typeface="Calibri" pitchFamily="34" charset="-122"/>
                <a:cs typeface="Calibri" pitchFamily="34" charset="-120"/>
              </a:rPr>
              <a:t>resume + human gate</a:t>
            </a: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Reading the Graph: What Each Part Does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The same graph as the last slide, one part at a time. Click a button to see what that part does, in plain words and in code.</a:t>
            </a:r>
            <a:endParaRPr lang="en-US" sz="1400" dirty="0"/>
          </a:p>
        </p:txBody>
      </p:sp>
      <p:sp>
        <p:nvSpPr>
          <p:cNvPr id="5" name="!!gs"/>
          <p:cNvSpPr/>
          <p:nvPr/>
        </p:nvSpPr>
        <p:spPr>
          <a:xfrm>
            <a:off x="3108960" y="1572768"/>
            <a:ext cx="1005840" cy="329184"/>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onsolas" pitchFamily="34" charset="0"/>
                <a:ea typeface="Consolas" pitchFamily="34" charset="-122"/>
                <a:cs typeface="Consolas" pitchFamily="34" charset="-120"/>
              </a:rPr>
              <a:t>START</a:t>
            </a:r>
            <a:endParaRPr lang="en-US" sz="1100" dirty="0"/>
          </a:p>
        </p:txBody>
      </p:sp>
      <p:sp>
        <p:nvSpPr>
          <p:cNvPr id="6" name="!!e1"/>
          <p:cNvSpPr/>
          <p:nvPr/>
        </p:nvSpPr>
        <p:spPr>
          <a:xfrm>
            <a:off x="3611880" y="1901952"/>
            <a:ext cx="914" cy="219456"/>
          </a:xfrm>
          <a:prstGeom prst="line">
            <a:avLst/>
          </a:prstGeom>
          <a:noFill/>
          <a:ln w="15875">
            <a:solidFill>
              <a:srgbClr val="5F5E5A"/>
            </a:solidFill>
            <a:prstDash val="solid"/>
            <a:tailEnd type="triangle"/>
          </a:ln>
        </p:spPr>
        <p:txBody>
          <a:bodyPr/>
          <a:p/>
        </p:txBody>
      </p:sp>
      <p:sp>
        <p:nvSpPr>
          <p:cNvPr id="7" name="!!gw"/>
          <p:cNvSpPr/>
          <p:nvPr/>
        </p:nvSpPr>
        <p:spPr>
          <a:xfrm>
            <a:off x="2606040" y="2121408"/>
            <a:ext cx="2011680" cy="731520"/>
          </a:xfrm>
          <a:prstGeom prst="roundRect">
            <a:avLst>
              <a:gd name="adj" fmla="val 1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500" b="1" dirty="0">
                <a:solidFill>
                  <a:srgbClr val="085041"/>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085041"/>
                </a:solidFill>
                <a:latin typeface="Calibri" pitchFamily="34" charset="0"/>
                <a:ea typeface="Calibri" pitchFamily="34" charset="-122"/>
                <a:cs typeface="Calibri" pitchFamily="34" charset="-120"/>
              </a:rPr>
              <a:t>does the job</a:t>
            </a:r>
            <a:endParaRPr lang="en-US" sz="1200" dirty="0"/>
          </a:p>
        </p:txBody>
      </p:sp>
      <p:sp>
        <p:nvSpPr>
          <p:cNvPr id="8" name="!!e2"/>
          <p:cNvSpPr/>
          <p:nvPr/>
        </p:nvSpPr>
        <p:spPr>
          <a:xfrm>
            <a:off x="3611880" y="2852928"/>
            <a:ext cx="914" cy="411480"/>
          </a:xfrm>
          <a:prstGeom prst="line">
            <a:avLst/>
          </a:prstGeom>
          <a:noFill/>
          <a:ln w="15875">
            <a:solidFill>
              <a:srgbClr val="5F5E5A"/>
            </a:solidFill>
            <a:prstDash val="solid"/>
            <a:tailEnd type="triangle"/>
          </a:ln>
        </p:spPr>
        <p:txBody>
          <a:bodyPr/>
          <a:p/>
        </p:txBody>
      </p:sp>
      <p:sp>
        <p:nvSpPr>
          <p:cNvPr id="9" name="!!gc"/>
          <p:cNvSpPr/>
          <p:nvPr/>
        </p:nvSpPr>
        <p:spPr>
          <a:xfrm>
            <a:off x="2606040" y="3264408"/>
            <a:ext cx="2011680" cy="731520"/>
          </a:xfrm>
          <a:prstGeom prst="roundRect">
            <a:avLst>
              <a:gd name="adj" fmla="val 10000"/>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500" b="1" dirty="0">
                <a:solidFill>
                  <a:srgbClr val="712B13"/>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712B13"/>
                </a:solidFill>
                <a:latin typeface="Calibri" pitchFamily="34" charset="0"/>
                <a:ea typeface="Calibri" pitchFamily="34" charset="-122"/>
                <a:cs typeface="Calibri" pitchFamily="34" charset="-120"/>
              </a:rPr>
              <a:t>verifies the work</a:t>
            </a:r>
            <a:endParaRPr lang="en-US" sz="1200" dirty="0"/>
          </a:p>
        </p:txBody>
      </p:sp>
      <p:sp>
        <p:nvSpPr>
          <p:cNvPr id="10" name="!!e3"/>
          <p:cNvSpPr/>
          <p:nvPr/>
        </p:nvSpPr>
        <p:spPr>
          <a:xfrm>
            <a:off x="3611880" y="3995928"/>
            <a:ext cx="914" cy="411480"/>
          </a:xfrm>
          <a:prstGeom prst="line">
            <a:avLst/>
          </a:prstGeom>
          <a:noFill/>
          <a:ln w="15875">
            <a:solidFill>
              <a:srgbClr val="5F5E5A"/>
            </a:solidFill>
            <a:prstDash val="solid"/>
            <a:tailEnd type="triangle"/>
          </a:ln>
        </p:spPr>
        <p:txBody>
          <a:bodyPr/>
          <a:p/>
        </p:txBody>
      </p:sp>
      <p:sp>
        <p:nvSpPr>
          <p:cNvPr id="11" name="!!gpass"/>
          <p:cNvSpPr txBox="1"/>
          <p:nvPr/>
        </p:nvSpPr>
        <p:spPr>
          <a:xfrm>
            <a:off x="3703320" y="4050792"/>
            <a:ext cx="548640" cy="274320"/>
          </a:xfrm>
          <a:prstGeom prst="rect">
            <a:avLst/>
          </a:prstGeom>
          <a:noFill/>
          <a:ln/>
        </p:spPr>
        <p:txBody>
          <a:bodyPr wrap="square" lIns="0" tIns="0" rIns="0" bIns="0" rtlCol="0" anchor="t"/>
          <a:lstStyle/>
          <a:p>
            <a:pPr algn="l" indent="0" marL="0">
              <a:buNone/>
            </a:pPr>
            <a:r>
              <a:rPr lang="en-US" sz="1100" b="1" dirty="0">
                <a:solidFill>
                  <a:srgbClr val="085041"/>
                </a:solidFill>
                <a:latin typeface="Calibri" pitchFamily="34" charset="0"/>
                <a:ea typeface="Calibri" pitchFamily="34" charset="-122"/>
                <a:cs typeface="Calibri" pitchFamily="34" charset="-120"/>
              </a:rPr>
              <a:t>pass</a:t>
            </a:r>
            <a:endParaRPr lang="en-US" sz="1100" dirty="0"/>
          </a:p>
        </p:txBody>
      </p:sp>
      <p:sp>
        <p:nvSpPr>
          <p:cNvPr id="12" name="!!gend"/>
          <p:cNvSpPr/>
          <p:nvPr/>
        </p:nvSpPr>
        <p:spPr>
          <a:xfrm>
            <a:off x="3108960" y="4407408"/>
            <a:ext cx="1005840" cy="329184"/>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onsolas" pitchFamily="34" charset="0"/>
                <a:ea typeface="Consolas" pitchFamily="34" charset="-122"/>
                <a:cs typeface="Consolas" pitchFamily="34" charset="-120"/>
              </a:rPr>
              <a:t>END</a:t>
            </a:r>
            <a:endParaRPr lang="en-US" sz="1100" dirty="0"/>
          </a:p>
        </p:txBody>
      </p:sp>
      <p:sp>
        <p:nvSpPr>
          <p:cNvPr id="13" name="!!gf1"/>
          <p:cNvSpPr/>
          <p:nvPr/>
        </p:nvSpPr>
        <p:spPr>
          <a:xfrm flipH="1">
            <a:off x="2103120" y="3630168"/>
            <a:ext cx="502920" cy="914"/>
          </a:xfrm>
          <a:prstGeom prst="line">
            <a:avLst/>
          </a:prstGeom>
          <a:noFill/>
          <a:ln w="15875">
            <a:solidFill>
              <a:srgbClr val="993C1D"/>
            </a:solidFill>
            <a:prstDash val="dash"/>
          </a:ln>
        </p:spPr>
        <p:txBody>
          <a:bodyPr/>
          <a:p/>
        </p:txBody>
      </p:sp>
      <p:sp>
        <p:nvSpPr>
          <p:cNvPr id="14" name="!!gf2"/>
          <p:cNvSpPr/>
          <p:nvPr/>
        </p:nvSpPr>
        <p:spPr>
          <a:xfrm flipV="1">
            <a:off x="2103120" y="2487168"/>
            <a:ext cx="914" cy="1143000"/>
          </a:xfrm>
          <a:prstGeom prst="line">
            <a:avLst/>
          </a:prstGeom>
          <a:noFill/>
          <a:ln w="15875">
            <a:solidFill>
              <a:srgbClr val="993C1D"/>
            </a:solidFill>
            <a:prstDash val="dash"/>
          </a:ln>
        </p:spPr>
        <p:txBody>
          <a:bodyPr/>
          <a:p/>
        </p:txBody>
      </p:sp>
      <p:sp>
        <p:nvSpPr>
          <p:cNvPr id="15" name="!!gf3"/>
          <p:cNvSpPr/>
          <p:nvPr/>
        </p:nvSpPr>
        <p:spPr>
          <a:xfrm>
            <a:off x="2103120" y="2487168"/>
            <a:ext cx="484632" cy="914"/>
          </a:xfrm>
          <a:prstGeom prst="line">
            <a:avLst/>
          </a:prstGeom>
          <a:noFill/>
          <a:ln w="15875">
            <a:solidFill>
              <a:srgbClr val="993C1D"/>
            </a:solidFill>
            <a:prstDash val="dash"/>
            <a:tailEnd type="triangle"/>
          </a:ln>
        </p:spPr>
        <p:txBody>
          <a:bodyPr/>
          <a:p/>
        </p:txBody>
      </p:sp>
      <p:sp>
        <p:nvSpPr>
          <p:cNvPr id="16" name="!!gfail"/>
          <p:cNvSpPr txBox="1"/>
          <p:nvPr/>
        </p:nvSpPr>
        <p:spPr>
          <a:xfrm>
            <a:off x="1645920" y="3081528"/>
            <a:ext cx="411480" cy="274320"/>
          </a:xfrm>
          <a:prstGeom prst="rect">
            <a:avLst/>
          </a:prstGeom>
          <a:noFill/>
          <a:ln/>
        </p:spPr>
        <p:txBody>
          <a:bodyPr wrap="square" lIns="0" tIns="0" rIns="0" bIns="0" rtlCol="0" anchor="t"/>
          <a:lstStyle/>
          <a:p>
            <a:pPr algn="r" indent="0" marL="0">
              <a:buNone/>
            </a:pPr>
            <a:r>
              <a:rPr lang="en-US" sz="1100" b="1" dirty="0">
                <a:solidFill>
                  <a:srgbClr val="712B13"/>
                </a:solidFill>
                <a:latin typeface="Calibri" pitchFamily="34" charset="0"/>
                <a:ea typeface="Calibri" pitchFamily="34" charset="-122"/>
                <a:cs typeface="Calibri" pitchFamily="34" charset="-120"/>
              </a:rPr>
              <a:t>fail</a:t>
            </a:r>
            <a:endParaRPr lang="en-US" sz="1100" dirty="0"/>
          </a:p>
        </p:txBody>
      </p:sp>
      <p:sp>
        <p:nvSpPr>
          <p:cNvPr id="17" name="!!sl1"/>
          <p:cNvSpPr/>
          <p:nvPr/>
        </p:nvSpPr>
        <p:spPr>
          <a:xfrm>
            <a:off x="4617720" y="2487168"/>
            <a:ext cx="731520" cy="914"/>
          </a:xfrm>
          <a:prstGeom prst="line">
            <a:avLst/>
          </a:prstGeom>
          <a:noFill/>
          <a:ln w="9525">
            <a:solidFill>
              <a:srgbClr val="534AB7"/>
            </a:solidFill>
            <a:prstDash val="dash"/>
          </a:ln>
        </p:spPr>
        <p:txBody>
          <a:bodyPr/>
          <a:p/>
        </p:txBody>
      </p:sp>
      <p:sp>
        <p:nvSpPr>
          <p:cNvPr id="18" name="!!sl2"/>
          <p:cNvSpPr/>
          <p:nvPr/>
        </p:nvSpPr>
        <p:spPr>
          <a:xfrm>
            <a:off x="4617720" y="3630168"/>
            <a:ext cx="731520" cy="914"/>
          </a:xfrm>
          <a:prstGeom prst="line">
            <a:avLst/>
          </a:prstGeom>
          <a:noFill/>
          <a:ln w="9525">
            <a:solidFill>
              <a:srgbClr val="534AB7"/>
            </a:solidFill>
            <a:prstDash val="dash"/>
          </a:ln>
        </p:spPr>
        <p:txBody>
          <a:bodyPr/>
          <a:p/>
        </p:txBody>
      </p:sp>
      <p:sp>
        <p:nvSpPr>
          <p:cNvPr id="19" name="!!st"/>
          <p:cNvSpPr/>
          <p:nvPr/>
        </p:nvSpPr>
        <p:spPr>
          <a:xfrm>
            <a:off x="5349240" y="2121408"/>
            <a:ext cx="1600200" cy="1874520"/>
          </a:xfrm>
          <a:prstGeom prst="roundRect">
            <a:avLst>
              <a:gd name="adj" fmla="val 4571"/>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20" name="!!sth"/>
          <p:cNvSpPr txBox="1"/>
          <p:nvPr/>
        </p:nvSpPr>
        <p:spPr>
          <a:xfrm>
            <a:off x="5486400" y="2212848"/>
            <a:ext cx="1325880" cy="274320"/>
          </a:xfrm>
          <a:prstGeom prst="rect">
            <a:avLst/>
          </a:prstGeom>
          <a:noFill/>
          <a:ln/>
        </p:spPr>
        <p:txBody>
          <a:bodyPr wrap="square" lIns="0" tIns="0" rIns="0" bIns="0" rtlCol="0" anchor="t"/>
          <a:lstStyle/>
          <a:p>
            <a:pPr algn="l" indent="0" marL="0">
              <a:buNone/>
            </a:pPr>
            <a:r>
              <a:rPr lang="en-US" sz="1300" b="1" dirty="0">
                <a:solidFill>
                  <a:srgbClr val="3C3489"/>
                </a:solidFill>
                <a:latin typeface="Calibri" pitchFamily="34" charset="0"/>
                <a:ea typeface="Calibri" pitchFamily="34" charset="-122"/>
                <a:cs typeface="Calibri" pitchFamily="34" charset="-120"/>
              </a:rPr>
              <a:t>State</a:t>
            </a:r>
            <a:endParaRPr lang="en-US" sz="1300" dirty="0"/>
          </a:p>
        </p:txBody>
      </p:sp>
      <p:sp>
        <p:nvSpPr>
          <p:cNvPr id="21" name="!!str0"/>
          <p:cNvSpPr txBox="1"/>
          <p:nvPr/>
        </p:nvSpPr>
        <p:spPr>
          <a:xfrm>
            <a:off x="5486400" y="2505456"/>
            <a:ext cx="1325880" cy="457200"/>
          </a:xfrm>
          <a:prstGeom prst="rect">
            <a:avLst/>
          </a:prstGeom>
          <a:noFill/>
          <a:ln/>
        </p:spPr>
        <p:txBody>
          <a:bodyPr wrap="square" lIns="0" tIns="0" rIns="0" bIns="0" rtlCol="0" anchor="t"/>
          <a:lstStyle/>
          <a:p>
            <a:pPr algn="l" indent="0" marL="0">
              <a:buNone/>
            </a:pPr>
            <a:r>
              <a:rPr lang="en-US" sz="1150" b="1" dirty="0">
                <a:solidFill>
                  <a:srgbClr val="3C3489"/>
                </a:solidFill>
                <a:latin typeface="Consolas" pitchFamily="34" charset="0"/>
                <a:ea typeface="Consolas" pitchFamily="34" charset="-122"/>
                <a:cs typeface="Consolas" pitchFamily="34" charset="-120"/>
              </a:rPr>
              <a:t>ticket</a:t>
            </a:r>
            <a:endParaRPr lang="en-US" sz="1400" dirty="0"/>
          </a:p>
          <a:p>
            <a:pPr algn="l" indent="0" marL="0">
              <a:buNone/>
            </a:pPr>
            <a:r>
              <a:rPr lang="en-US" sz="1000" dirty="0">
                <a:solidFill>
                  <a:srgbClr val="5F5E5A"/>
                </a:solidFill>
                <a:latin typeface="Calibri" pitchFamily="34" charset="0"/>
                <a:ea typeface="Calibri" pitchFamily="34" charset="-122"/>
                <a:cs typeface="Calibri" pitchFamily="34" charset="-120"/>
              </a:rPr>
              <a:t>input</a:t>
            </a:r>
            <a:endParaRPr lang="en-US" sz="1400" dirty="0"/>
          </a:p>
        </p:txBody>
      </p:sp>
      <p:sp>
        <p:nvSpPr>
          <p:cNvPr id="22" name="!!str1"/>
          <p:cNvSpPr txBox="1"/>
          <p:nvPr/>
        </p:nvSpPr>
        <p:spPr>
          <a:xfrm>
            <a:off x="5486400" y="2980944"/>
            <a:ext cx="1325880" cy="457200"/>
          </a:xfrm>
          <a:prstGeom prst="rect">
            <a:avLst/>
          </a:prstGeom>
          <a:noFill/>
          <a:ln/>
        </p:spPr>
        <p:txBody>
          <a:bodyPr wrap="square" lIns="0" tIns="0" rIns="0" bIns="0" rtlCol="0" anchor="t"/>
          <a:lstStyle/>
          <a:p>
            <a:pPr algn="l" indent="0" marL="0">
              <a:buNone/>
            </a:pPr>
            <a:r>
              <a:rPr lang="en-US" sz="1150" b="1" dirty="0">
                <a:solidFill>
                  <a:srgbClr val="3C3489"/>
                </a:solidFill>
                <a:latin typeface="Consolas" pitchFamily="34" charset="0"/>
                <a:ea typeface="Consolas" pitchFamily="34" charset="-122"/>
                <a:cs typeface="Consolas" pitchFamily="34" charset="-120"/>
              </a:rPr>
              <a:t>result</a:t>
            </a:r>
            <a:endParaRPr lang="en-US" sz="1400" dirty="0"/>
          </a:p>
          <a:p>
            <a:pPr algn="l" indent="0" marL="0">
              <a:buNone/>
            </a:pPr>
            <a:r>
              <a:rPr lang="en-US" sz="1000" dirty="0">
                <a:solidFill>
                  <a:srgbClr val="5F5E5A"/>
                </a:solidFill>
                <a:latin typeface="Calibri" pitchFamily="34" charset="0"/>
                <a:ea typeface="Calibri" pitchFamily="34" charset="-122"/>
                <a:cs typeface="Calibri" pitchFamily="34" charset="-120"/>
              </a:rPr>
              <a:t>by worker</a:t>
            </a:r>
            <a:endParaRPr lang="en-US" sz="1400" dirty="0"/>
          </a:p>
        </p:txBody>
      </p:sp>
      <p:sp>
        <p:nvSpPr>
          <p:cNvPr id="23" name="!!str2"/>
          <p:cNvSpPr txBox="1"/>
          <p:nvPr/>
        </p:nvSpPr>
        <p:spPr>
          <a:xfrm>
            <a:off x="5486400" y="3456432"/>
            <a:ext cx="1325880" cy="457200"/>
          </a:xfrm>
          <a:prstGeom prst="rect">
            <a:avLst/>
          </a:prstGeom>
          <a:noFill/>
          <a:ln/>
        </p:spPr>
        <p:txBody>
          <a:bodyPr wrap="square" lIns="0" tIns="0" rIns="0" bIns="0" rtlCol="0" anchor="t"/>
          <a:lstStyle/>
          <a:p>
            <a:pPr algn="l" indent="0" marL="0">
              <a:buNone/>
            </a:pPr>
            <a:r>
              <a:rPr lang="en-US" sz="1150" b="1" dirty="0">
                <a:solidFill>
                  <a:srgbClr val="3C3489"/>
                </a:solidFill>
                <a:latin typeface="Consolas" pitchFamily="34" charset="0"/>
                <a:ea typeface="Consolas" pitchFamily="34" charset="-122"/>
                <a:cs typeface="Consolas" pitchFamily="34" charset="-120"/>
              </a:rPr>
              <a:t>status</a:t>
            </a:r>
            <a:endParaRPr lang="en-US" sz="1400" dirty="0"/>
          </a:p>
          <a:p>
            <a:pPr algn="l" indent="0" marL="0">
              <a:buNone/>
            </a:pPr>
            <a:r>
              <a:rPr lang="en-US" sz="1000" dirty="0">
                <a:solidFill>
                  <a:srgbClr val="5F5E5A"/>
                </a:solidFill>
                <a:latin typeface="Calibri" pitchFamily="34" charset="0"/>
                <a:ea typeface="Calibri" pitchFamily="34" charset="-122"/>
                <a:cs typeface="Calibri" pitchFamily="34" charset="-120"/>
              </a:rPr>
              <a:t>by checker</a:t>
            </a:r>
            <a:endParaRPr lang="en-US" sz="1400" dirty="0"/>
          </a:p>
        </p:txBody>
      </p:sp>
      <p:sp>
        <p:nvSpPr>
          <p:cNvPr id="24" name="!!panel"/>
          <p:cNvSpPr/>
          <p:nvPr/>
        </p:nvSpPr>
        <p:spPr>
          <a:xfrm>
            <a:off x="7269480" y="1463040"/>
            <a:ext cx="4507992" cy="3977640"/>
          </a:xfrm>
          <a:prstGeom prst="roundRect">
            <a:avLst>
              <a:gd name="adj" fmla="val 1839"/>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5" name="!!ptitle"/>
          <p:cNvSpPr txBox="1"/>
          <p:nvPr/>
        </p:nvSpPr>
        <p:spPr>
          <a:xfrm>
            <a:off x="7543800" y="1645920"/>
            <a:ext cx="3959352" cy="411480"/>
          </a:xfrm>
          <a:prstGeom prst="rect">
            <a:avLst/>
          </a:prstGeom>
          <a:noFill/>
          <a:ln/>
        </p:spPr>
        <p:txBody>
          <a:bodyPr wrap="square" lIns="0" tIns="0" rIns="0" bIns="0" rtlCol="0" anchor="ctr"/>
          <a:lstStyle/>
          <a:p>
            <a:pPr algn="l" indent="0" marL="0">
              <a:buNone/>
            </a:pPr>
            <a:r>
              <a:rPr lang="en-US" sz="2000" b="1" dirty="0">
                <a:solidFill>
                  <a:srgbClr val="3C3489"/>
                </a:solidFill>
                <a:latin typeface="Calibri" pitchFamily="34" charset="0"/>
                <a:ea typeface="Calibri" pitchFamily="34" charset="-122"/>
                <a:cs typeface="Calibri" pitchFamily="34" charset="-120"/>
              </a:rPr>
              <a:t>How to read it</a:t>
            </a:r>
            <a:endParaRPr lang="en-US" sz="2000" dirty="0"/>
          </a:p>
        </p:txBody>
      </p:sp>
      <p:sp>
        <p:nvSpPr>
          <p:cNvPr id="26" name="!!ok0"/>
          <p:cNvSpPr txBox="1"/>
          <p:nvPr/>
        </p:nvSpPr>
        <p:spPr>
          <a:xfrm>
            <a:off x="7543800" y="2286000"/>
            <a:ext cx="1417320" cy="457200"/>
          </a:xfrm>
          <a:prstGeom prst="rect">
            <a:avLst/>
          </a:prstGeom>
          <a:noFill/>
          <a:ln/>
        </p:spPr>
        <p:txBody>
          <a:bodyPr wrap="square" lIns="0" tIns="0" rIns="0" bIns="0" rtlCol="0" anchor="ctr"/>
          <a:lstStyle/>
          <a:p>
            <a:pPr algn="l" indent="0" marL="0">
              <a:buNone/>
            </a:pPr>
            <a:r>
              <a:rPr lang="en-US" sz="1350" b="1" dirty="0">
                <a:solidFill>
                  <a:srgbClr val="2C2C2A"/>
                </a:solidFill>
                <a:latin typeface="Calibri" pitchFamily="34" charset="0"/>
                <a:ea typeface="Calibri" pitchFamily="34" charset="-122"/>
                <a:cs typeface="Calibri" pitchFamily="34" charset="-120"/>
              </a:rPr>
              <a:t>Boxes</a:t>
            </a:r>
            <a:endParaRPr lang="en-US" sz="1350" dirty="0"/>
          </a:p>
        </p:txBody>
      </p:sp>
      <p:sp>
        <p:nvSpPr>
          <p:cNvPr id="27" name="!!ov0"/>
          <p:cNvSpPr txBox="1"/>
          <p:nvPr/>
        </p:nvSpPr>
        <p:spPr>
          <a:xfrm>
            <a:off x="9006840" y="2286000"/>
            <a:ext cx="2496312" cy="457200"/>
          </a:xfrm>
          <a:prstGeom prst="rect">
            <a:avLst/>
          </a:prstGeom>
          <a:noFill/>
          <a:ln/>
        </p:spPr>
        <p:txBody>
          <a:bodyPr wrap="square" lIns="0" tIns="0" rIns="0" bIns="0" rtlCol="0" anchor="ctr"/>
          <a:lstStyle/>
          <a:p>
            <a:pPr algn="l" indent="0" marL="0">
              <a:buNone/>
            </a:pPr>
            <a:r>
              <a:rPr lang="en-US" sz="1350" dirty="0">
                <a:solidFill>
                  <a:srgbClr val="5F5E5A"/>
                </a:solidFill>
                <a:latin typeface="Calibri" pitchFamily="34" charset="0"/>
                <a:ea typeface="Calibri" pitchFamily="34" charset="-122"/>
                <a:cs typeface="Calibri" pitchFamily="34" charset="-120"/>
              </a:rPr>
              <a:t>nodes: who does the work</a:t>
            </a:r>
            <a:endParaRPr lang="en-US" sz="1350" dirty="0"/>
          </a:p>
        </p:txBody>
      </p:sp>
      <p:sp>
        <p:nvSpPr>
          <p:cNvPr id="28" name="!!ok1"/>
          <p:cNvSpPr txBox="1"/>
          <p:nvPr/>
        </p:nvSpPr>
        <p:spPr>
          <a:xfrm>
            <a:off x="7543800" y="2852928"/>
            <a:ext cx="1417320" cy="457200"/>
          </a:xfrm>
          <a:prstGeom prst="rect">
            <a:avLst/>
          </a:prstGeom>
          <a:noFill/>
          <a:ln/>
        </p:spPr>
        <p:txBody>
          <a:bodyPr wrap="square" lIns="0" tIns="0" rIns="0" bIns="0" rtlCol="0" anchor="ctr"/>
          <a:lstStyle/>
          <a:p>
            <a:pPr algn="l" indent="0" marL="0">
              <a:buNone/>
            </a:pPr>
            <a:r>
              <a:rPr lang="en-US" sz="1350" b="1" dirty="0">
                <a:solidFill>
                  <a:srgbClr val="2C2C2A"/>
                </a:solidFill>
                <a:latin typeface="Calibri" pitchFamily="34" charset="0"/>
                <a:ea typeface="Calibri" pitchFamily="34" charset="-122"/>
                <a:cs typeface="Calibri" pitchFamily="34" charset="-120"/>
              </a:rPr>
              <a:t>Solid arrows</a:t>
            </a:r>
            <a:endParaRPr lang="en-US" sz="1350" dirty="0"/>
          </a:p>
        </p:txBody>
      </p:sp>
      <p:sp>
        <p:nvSpPr>
          <p:cNvPr id="29" name="!!ov1"/>
          <p:cNvSpPr txBox="1"/>
          <p:nvPr/>
        </p:nvSpPr>
        <p:spPr>
          <a:xfrm>
            <a:off x="9006840" y="2852928"/>
            <a:ext cx="2496312" cy="457200"/>
          </a:xfrm>
          <a:prstGeom prst="rect">
            <a:avLst/>
          </a:prstGeom>
          <a:noFill/>
          <a:ln/>
        </p:spPr>
        <p:txBody>
          <a:bodyPr wrap="square" lIns="0" tIns="0" rIns="0" bIns="0" rtlCol="0" anchor="ctr"/>
          <a:lstStyle/>
          <a:p>
            <a:pPr algn="l" indent="0" marL="0">
              <a:buNone/>
            </a:pPr>
            <a:r>
              <a:rPr lang="en-US" sz="1350" dirty="0">
                <a:solidFill>
                  <a:srgbClr val="5F5E5A"/>
                </a:solidFill>
                <a:latin typeface="Calibri" pitchFamily="34" charset="0"/>
                <a:ea typeface="Calibri" pitchFamily="34" charset="-122"/>
                <a:cs typeface="Calibri" pitchFamily="34" charset="-120"/>
              </a:rPr>
              <a:t>edges: who goes next</a:t>
            </a:r>
            <a:endParaRPr lang="en-US" sz="1350" dirty="0"/>
          </a:p>
        </p:txBody>
      </p:sp>
      <p:sp>
        <p:nvSpPr>
          <p:cNvPr id="30" name="!!ok2"/>
          <p:cNvSpPr txBox="1"/>
          <p:nvPr/>
        </p:nvSpPr>
        <p:spPr>
          <a:xfrm>
            <a:off x="7543800" y="3419856"/>
            <a:ext cx="1417320" cy="457200"/>
          </a:xfrm>
          <a:prstGeom prst="rect">
            <a:avLst/>
          </a:prstGeom>
          <a:noFill/>
          <a:ln/>
        </p:spPr>
        <p:txBody>
          <a:bodyPr wrap="square" lIns="0" tIns="0" rIns="0" bIns="0" rtlCol="0" anchor="ctr"/>
          <a:lstStyle/>
          <a:p>
            <a:pPr algn="l" indent="0" marL="0">
              <a:buNone/>
            </a:pPr>
            <a:r>
              <a:rPr lang="en-US" sz="1350" b="1" dirty="0">
                <a:solidFill>
                  <a:srgbClr val="2C2C2A"/>
                </a:solidFill>
                <a:latin typeface="Calibri" pitchFamily="34" charset="0"/>
                <a:ea typeface="Calibri" pitchFamily="34" charset="-122"/>
                <a:cs typeface="Calibri" pitchFamily="34" charset="-120"/>
              </a:rPr>
              <a:t>Dashed arrow</a:t>
            </a:r>
            <a:endParaRPr lang="en-US" sz="1350" dirty="0"/>
          </a:p>
        </p:txBody>
      </p:sp>
      <p:sp>
        <p:nvSpPr>
          <p:cNvPr id="31" name="!!ov2"/>
          <p:cNvSpPr txBox="1"/>
          <p:nvPr/>
        </p:nvSpPr>
        <p:spPr>
          <a:xfrm>
            <a:off x="9006840" y="3419856"/>
            <a:ext cx="2496312" cy="457200"/>
          </a:xfrm>
          <a:prstGeom prst="rect">
            <a:avLst/>
          </a:prstGeom>
          <a:noFill/>
          <a:ln/>
        </p:spPr>
        <p:txBody>
          <a:bodyPr wrap="square" lIns="0" tIns="0" rIns="0" bIns="0" rtlCol="0" anchor="ctr"/>
          <a:lstStyle/>
          <a:p>
            <a:pPr algn="l" indent="0" marL="0">
              <a:buNone/>
            </a:pPr>
            <a:r>
              <a:rPr lang="en-US" sz="1350" dirty="0">
                <a:solidFill>
                  <a:srgbClr val="5F5E5A"/>
                </a:solidFill>
                <a:latin typeface="Calibri" pitchFamily="34" charset="0"/>
                <a:ea typeface="Calibri" pitchFamily="34" charset="-122"/>
                <a:cs typeface="Calibri" pitchFamily="34" charset="-120"/>
              </a:rPr>
              <a:t>a decision: pass or fail</a:t>
            </a:r>
            <a:endParaRPr lang="en-US" sz="1350" dirty="0"/>
          </a:p>
        </p:txBody>
      </p:sp>
      <p:sp>
        <p:nvSpPr>
          <p:cNvPr id="32" name="!!ok3"/>
          <p:cNvSpPr txBox="1"/>
          <p:nvPr/>
        </p:nvSpPr>
        <p:spPr>
          <a:xfrm>
            <a:off x="7543800" y="3986784"/>
            <a:ext cx="1417320" cy="457200"/>
          </a:xfrm>
          <a:prstGeom prst="rect">
            <a:avLst/>
          </a:prstGeom>
          <a:noFill/>
          <a:ln/>
        </p:spPr>
        <p:txBody>
          <a:bodyPr wrap="square" lIns="0" tIns="0" rIns="0" bIns="0" rtlCol="0" anchor="ctr"/>
          <a:lstStyle/>
          <a:p>
            <a:pPr algn="l" indent="0" marL="0">
              <a:buNone/>
            </a:pPr>
            <a:r>
              <a:rPr lang="en-US" sz="1350" b="1" dirty="0">
                <a:solidFill>
                  <a:srgbClr val="2C2C2A"/>
                </a:solidFill>
                <a:latin typeface="Calibri" pitchFamily="34" charset="0"/>
                <a:ea typeface="Calibri" pitchFamily="34" charset="-122"/>
                <a:cs typeface="Calibri" pitchFamily="34" charset="-120"/>
              </a:rPr>
              <a:t>Purple panel</a:t>
            </a:r>
            <a:endParaRPr lang="en-US" sz="1350" dirty="0"/>
          </a:p>
        </p:txBody>
      </p:sp>
      <p:sp>
        <p:nvSpPr>
          <p:cNvPr id="33" name="!!ov3"/>
          <p:cNvSpPr txBox="1"/>
          <p:nvPr/>
        </p:nvSpPr>
        <p:spPr>
          <a:xfrm>
            <a:off x="9006840" y="3986784"/>
            <a:ext cx="2496312" cy="457200"/>
          </a:xfrm>
          <a:prstGeom prst="rect">
            <a:avLst/>
          </a:prstGeom>
          <a:noFill/>
          <a:ln/>
        </p:spPr>
        <p:txBody>
          <a:bodyPr wrap="square" lIns="0" tIns="0" rIns="0" bIns="0" rtlCol="0" anchor="ctr"/>
          <a:lstStyle/>
          <a:p>
            <a:pPr algn="l" indent="0" marL="0">
              <a:buNone/>
            </a:pPr>
            <a:r>
              <a:rPr lang="en-US" sz="1350" dirty="0">
                <a:solidFill>
                  <a:srgbClr val="5F5E5A"/>
                </a:solidFill>
                <a:latin typeface="Calibri" pitchFamily="34" charset="0"/>
                <a:ea typeface="Calibri" pitchFamily="34" charset="-122"/>
                <a:cs typeface="Calibri" pitchFamily="34" charset="-120"/>
              </a:rPr>
              <a:t>the state everyone shares</a:t>
            </a:r>
            <a:endParaRPr lang="en-US" sz="1350" dirty="0"/>
          </a:p>
        </p:txBody>
      </p:sp>
      <p:sp>
        <p:nvSpPr>
          <p:cNvPr id="34" name="!!pfoot"/>
          <p:cNvSpPr txBox="1"/>
          <p:nvPr/>
        </p:nvSpPr>
        <p:spPr>
          <a:xfrm>
            <a:off x="7543800" y="4754880"/>
            <a:ext cx="3959352" cy="411480"/>
          </a:xfrm>
          <a:prstGeom prst="rect">
            <a:avLst/>
          </a:prstGeom>
          <a:noFill/>
          <a:ln/>
        </p:spPr>
        <p:txBody>
          <a:bodyPr wrap="square" lIns="0" tIns="0" rIns="0" bIns="0" rtlCol="0" anchor="t"/>
          <a:lstStyle/>
          <a:p>
            <a:pPr algn="l" indent="0" marL="0">
              <a:buNone/>
            </a:pPr>
            <a:r>
              <a:rPr lang="en-US" sz="1350" b="1" i="1" dirty="0">
                <a:solidFill>
                  <a:srgbClr val="534AB7"/>
                </a:solidFill>
                <a:latin typeface="Calibri" pitchFamily="34" charset="0"/>
                <a:ea typeface="Calibri" pitchFamily="34" charset="-122"/>
                <a:cs typeface="Calibri" pitchFamily="34" charset="-120"/>
              </a:rPr>
              <a:t>Click a button below to look at one part.</a:t>
            </a:r>
            <a:endParaRPr lang="en-US" sz="1350" dirty="0"/>
          </a:p>
        </p:txBody>
      </p:sp>
      <p:sp>
        <p:nvSpPr>
          <p:cNvPr id="35" name="!!btn0">
            <a:hlinkClick action="ppaction://hlinksldjump" r:id="rId1"/>
          </p:cNvPr>
          <p:cNvSpPr/>
          <p:nvPr/>
        </p:nvSpPr>
        <p:spPr>
          <a:xfrm>
            <a:off x="411480" y="5669280"/>
            <a:ext cx="1545336" cy="420624"/>
          </a:xfrm>
          <a:prstGeom prst="roundRect">
            <a:avLst>
              <a:gd name="adj" fmla="val 50000"/>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50" b="1" u="none" dirty="0">
                <a:solidFill>
                  <a:srgbClr val="FFFFFF"/>
                </a:solidFill>
                <a:latin typeface="Calibri" pitchFamily="34" charset="0"/>
                <a:ea typeface="Calibri" pitchFamily="34" charset="-122"/>
                <a:cs typeface="Calibri" pitchFamily="34" charset="-120"/>
                <a:hlinkClick r:id="rId1" action="ppaction://hlinksldjump" tooltip="How to read it">
                  <a:extLst>
                    <a:ext uri="{A12FA001-AC4F-418D-AE19-62706E023703}">
                      <ahyp:hlinkClr xmlns:ahyp="http://schemas.microsoft.com/office/drawing/2018/hyperlinkcolor" val="tx"/>
                    </a:ext>
                  </a:extLst>
                </a:hlinkClick>
              </a:rPr>
              <a:t>Overview</a:t>
            </a:r>
            <a:endParaRPr lang="en-US" sz="1250" dirty="0"/>
          </a:p>
        </p:txBody>
      </p:sp>
      <p:sp>
        <p:nvSpPr>
          <p:cNvPr id="36" name="!!btn1">
            <a:hlinkClick action="ppaction://hlinksldjump" r:id="rId2"/>
          </p:cNvPr>
          <p:cNvSpPr/>
          <p:nvPr/>
        </p:nvSpPr>
        <p:spPr>
          <a:xfrm>
            <a:off x="204825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2" action="ppaction://hlinksldjump" tooltip="Node">
                  <a:extLst>
                    <a:ext uri="{A12FA001-AC4F-418D-AE19-62706E023703}">
                      <ahyp:hlinkClr xmlns:ahyp="http://schemas.microsoft.com/office/drawing/2018/hyperlinkcolor" val="tx"/>
                    </a:ext>
                  </a:extLst>
                </a:hlinkClick>
              </a:rPr>
              <a:t>Node</a:t>
            </a:r>
            <a:endParaRPr lang="en-US" sz="1250" dirty="0"/>
          </a:p>
        </p:txBody>
      </p:sp>
      <p:sp>
        <p:nvSpPr>
          <p:cNvPr id="37" name="!!btn2">
            <a:hlinkClick action="ppaction://hlinksldjump" r:id="rId3"/>
          </p:cNvPr>
          <p:cNvSpPr/>
          <p:nvPr/>
        </p:nvSpPr>
        <p:spPr>
          <a:xfrm>
            <a:off x="3685032"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3" action="ppaction://hlinksldjump" tooltip="Edge">
                  <a:extLst>
                    <a:ext uri="{A12FA001-AC4F-418D-AE19-62706E023703}">
                      <ahyp:hlinkClr xmlns:ahyp="http://schemas.microsoft.com/office/drawing/2018/hyperlinkcolor" val="tx"/>
                    </a:ext>
                  </a:extLst>
                </a:hlinkClick>
              </a:rPr>
              <a:t>Edge</a:t>
            </a:r>
            <a:endParaRPr lang="en-US" sz="1250" dirty="0"/>
          </a:p>
        </p:txBody>
      </p:sp>
      <p:sp>
        <p:nvSpPr>
          <p:cNvPr id="38" name="!!btn3">
            <a:hlinkClick action="ppaction://hlinksldjump" r:id="rId4"/>
          </p:cNvPr>
          <p:cNvSpPr/>
          <p:nvPr/>
        </p:nvSpPr>
        <p:spPr>
          <a:xfrm>
            <a:off x="5321808"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4" action="ppaction://hlinksldjump" tooltip="Conditional edge">
                  <a:extLst>
                    <a:ext uri="{A12FA001-AC4F-418D-AE19-62706E023703}">
                      <ahyp:hlinkClr xmlns:ahyp="http://schemas.microsoft.com/office/drawing/2018/hyperlinkcolor" val="tx"/>
                    </a:ext>
                  </a:extLst>
                </a:hlinkClick>
              </a:rPr>
              <a:t>Conditional edge</a:t>
            </a:r>
            <a:endParaRPr lang="en-US" sz="1250" dirty="0"/>
          </a:p>
        </p:txBody>
      </p:sp>
      <p:sp>
        <p:nvSpPr>
          <p:cNvPr id="39" name="!!btn4">
            <a:hlinkClick action="ppaction://hlinksldjump" r:id="rId5"/>
          </p:cNvPr>
          <p:cNvSpPr/>
          <p:nvPr/>
        </p:nvSpPr>
        <p:spPr>
          <a:xfrm>
            <a:off x="6958584"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5" action="ppaction://hlinksldjump" tooltip="State">
                  <a:extLst>
                    <a:ext uri="{A12FA001-AC4F-418D-AE19-62706E023703}">
                      <ahyp:hlinkClr xmlns:ahyp="http://schemas.microsoft.com/office/drawing/2018/hyperlinkcolor" val="tx"/>
                    </a:ext>
                  </a:extLst>
                </a:hlinkClick>
              </a:rPr>
              <a:t>State</a:t>
            </a:r>
            <a:endParaRPr lang="en-US" sz="1250" dirty="0"/>
          </a:p>
        </p:txBody>
      </p:sp>
      <p:sp>
        <p:nvSpPr>
          <p:cNvPr id="40" name="!!btn5">
            <a:hlinkClick action="ppaction://hlinksldjump" r:id="rId6"/>
          </p:cNvPr>
          <p:cNvSpPr/>
          <p:nvPr/>
        </p:nvSpPr>
        <p:spPr>
          <a:xfrm>
            <a:off x="859536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6" action="ppaction://hlinksldjump" tooltip="Subgraph">
                  <a:extLst>
                    <a:ext uri="{A12FA001-AC4F-418D-AE19-62706E023703}">
                      <ahyp:hlinkClr xmlns:ahyp="http://schemas.microsoft.com/office/drawing/2018/hyperlinkcolor" val="tx"/>
                    </a:ext>
                  </a:extLst>
                </a:hlinkClick>
              </a:rPr>
              <a:t>Subgraph</a:t>
            </a:r>
            <a:endParaRPr lang="en-US" sz="1250" dirty="0"/>
          </a:p>
        </p:txBody>
      </p:sp>
      <p:sp>
        <p:nvSpPr>
          <p:cNvPr id="41" name="!!btn6">
            <a:hlinkClick action="ppaction://hlinksldjump" r:id="rId7"/>
          </p:cNvPr>
          <p:cNvSpPr/>
          <p:nvPr/>
        </p:nvSpPr>
        <p:spPr>
          <a:xfrm>
            <a:off x="1023213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7" action="ppaction://hlinksldjump" tooltip="Checkpointer">
                  <a:extLst>
                    <a:ext uri="{A12FA001-AC4F-418D-AE19-62706E023703}">
                      <ahyp:hlinkClr xmlns:ahyp="http://schemas.microsoft.com/office/drawing/2018/hyperlinkcolor" val="tx"/>
                    </a:ext>
                  </a:extLst>
                </a:hlinkClick>
              </a:rPr>
              <a:t>Checkpointer</a:t>
            </a:r>
            <a:endParaRPr lang="en-US" sz="12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Reading the Graph: What Each Part Does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The same graph as the last slide, one part at a time. Click a button to see what that part does, in plain words and in code.</a:t>
            </a:r>
            <a:endParaRPr lang="en-US" sz="1400" dirty="0"/>
          </a:p>
        </p:txBody>
      </p:sp>
      <p:sp>
        <p:nvSpPr>
          <p:cNvPr id="5" name="!!gs"/>
          <p:cNvSpPr/>
          <p:nvPr/>
        </p:nvSpPr>
        <p:spPr>
          <a:xfrm>
            <a:off x="3108960" y="157276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START</a:t>
            </a:r>
            <a:endParaRPr lang="en-US" sz="1100" dirty="0"/>
          </a:p>
        </p:txBody>
      </p:sp>
      <p:sp>
        <p:nvSpPr>
          <p:cNvPr id="6" name="!!e1"/>
          <p:cNvSpPr/>
          <p:nvPr/>
        </p:nvSpPr>
        <p:spPr>
          <a:xfrm>
            <a:off x="3611880" y="1901952"/>
            <a:ext cx="914" cy="219456"/>
          </a:xfrm>
          <a:prstGeom prst="line">
            <a:avLst/>
          </a:prstGeom>
          <a:noFill/>
          <a:ln w="15875">
            <a:solidFill>
              <a:srgbClr val="E3E1D8"/>
            </a:solidFill>
            <a:prstDash val="solid"/>
            <a:tailEnd type="triangle"/>
          </a:ln>
        </p:spPr>
        <p:txBody>
          <a:bodyPr/>
          <a:p/>
        </p:txBody>
      </p:sp>
      <p:sp>
        <p:nvSpPr>
          <p:cNvPr id="7" name="!!gw"/>
          <p:cNvSpPr/>
          <p:nvPr/>
        </p:nvSpPr>
        <p:spPr>
          <a:xfrm>
            <a:off x="2606040" y="2121408"/>
            <a:ext cx="2011680" cy="731520"/>
          </a:xfrm>
          <a:prstGeom prst="roundRect">
            <a:avLst>
              <a:gd name="adj" fmla="val 10000"/>
            </a:avLst>
          </a:prstGeom>
          <a:solidFill>
            <a:srgbClr val="E1F5EE"/>
          </a:solidFill>
          <a:ln w="28575">
            <a:solidFill>
              <a:srgbClr val="0F6E56"/>
            </a:solidFill>
            <a:prstDash val="solid"/>
          </a:ln>
        </p:spPr>
        <p:txBody>
          <a:bodyPr wrap="square" lIns="50800" tIns="50800" rIns="50800" bIns="50800" rtlCol="0" anchor="ctr"/>
          <a:lstStyle/>
          <a:p>
            <a:pPr algn="ctr" indent="0" marL="0">
              <a:buNone/>
            </a:pPr>
            <a:r>
              <a:rPr lang="en-US" sz="1500" b="1" dirty="0">
                <a:solidFill>
                  <a:srgbClr val="085041"/>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085041"/>
                </a:solidFill>
                <a:latin typeface="Calibri" pitchFamily="34" charset="0"/>
                <a:ea typeface="Calibri" pitchFamily="34" charset="-122"/>
                <a:cs typeface="Calibri" pitchFamily="34" charset="-120"/>
              </a:rPr>
              <a:t>does the job</a:t>
            </a:r>
            <a:endParaRPr lang="en-US" sz="1200" dirty="0"/>
          </a:p>
        </p:txBody>
      </p:sp>
      <p:sp>
        <p:nvSpPr>
          <p:cNvPr id="8" name="!!e2"/>
          <p:cNvSpPr/>
          <p:nvPr/>
        </p:nvSpPr>
        <p:spPr>
          <a:xfrm>
            <a:off x="3611880" y="2852928"/>
            <a:ext cx="914" cy="411480"/>
          </a:xfrm>
          <a:prstGeom prst="line">
            <a:avLst/>
          </a:prstGeom>
          <a:noFill/>
          <a:ln w="15875">
            <a:solidFill>
              <a:srgbClr val="E3E1D8"/>
            </a:solidFill>
            <a:prstDash val="solid"/>
            <a:tailEnd type="triangle"/>
          </a:ln>
        </p:spPr>
        <p:txBody>
          <a:bodyPr/>
          <a:p/>
        </p:txBody>
      </p:sp>
      <p:sp>
        <p:nvSpPr>
          <p:cNvPr id="9" name="!!gc"/>
          <p:cNvSpPr/>
          <p:nvPr/>
        </p:nvSpPr>
        <p:spPr>
          <a:xfrm>
            <a:off x="2606040" y="3264408"/>
            <a:ext cx="2011680" cy="731520"/>
          </a:xfrm>
          <a:prstGeom prst="roundRect">
            <a:avLst>
              <a:gd name="adj" fmla="val 10000"/>
            </a:avLst>
          </a:prstGeom>
          <a:solidFill>
            <a:srgbClr val="FAECE7"/>
          </a:solidFill>
          <a:ln w="28575">
            <a:solidFill>
              <a:srgbClr val="993C1D"/>
            </a:solidFill>
            <a:prstDash val="solid"/>
          </a:ln>
        </p:spPr>
        <p:txBody>
          <a:bodyPr wrap="square" lIns="50800" tIns="50800" rIns="50800" bIns="50800" rtlCol="0" anchor="ctr"/>
          <a:lstStyle/>
          <a:p>
            <a:pPr algn="ctr" indent="0" marL="0">
              <a:buNone/>
            </a:pPr>
            <a:r>
              <a:rPr lang="en-US" sz="1500" b="1" dirty="0">
                <a:solidFill>
                  <a:srgbClr val="712B13"/>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712B13"/>
                </a:solidFill>
                <a:latin typeface="Calibri" pitchFamily="34" charset="0"/>
                <a:ea typeface="Calibri" pitchFamily="34" charset="-122"/>
                <a:cs typeface="Calibri" pitchFamily="34" charset="-120"/>
              </a:rPr>
              <a:t>verifies the work</a:t>
            </a:r>
            <a:endParaRPr lang="en-US" sz="1200" dirty="0"/>
          </a:p>
        </p:txBody>
      </p:sp>
      <p:sp>
        <p:nvSpPr>
          <p:cNvPr id="10" name="!!e3"/>
          <p:cNvSpPr/>
          <p:nvPr/>
        </p:nvSpPr>
        <p:spPr>
          <a:xfrm>
            <a:off x="3611880" y="3995928"/>
            <a:ext cx="914" cy="411480"/>
          </a:xfrm>
          <a:prstGeom prst="line">
            <a:avLst/>
          </a:prstGeom>
          <a:noFill/>
          <a:ln w="15875">
            <a:solidFill>
              <a:srgbClr val="E3E1D8"/>
            </a:solidFill>
            <a:prstDash val="solid"/>
            <a:tailEnd type="triangle"/>
          </a:ln>
        </p:spPr>
        <p:txBody>
          <a:bodyPr/>
          <a:p/>
        </p:txBody>
      </p:sp>
      <p:sp>
        <p:nvSpPr>
          <p:cNvPr id="11" name="!!gpass"/>
          <p:cNvSpPr txBox="1"/>
          <p:nvPr/>
        </p:nvSpPr>
        <p:spPr>
          <a:xfrm>
            <a:off x="3703320" y="4050792"/>
            <a:ext cx="548640" cy="274320"/>
          </a:xfrm>
          <a:prstGeom prst="rect">
            <a:avLst/>
          </a:prstGeom>
          <a:noFill/>
          <a:ln/>
        </p:spPr>
        <p:txBody>
          <a:bodyPr wrap="square" lIns="0" tIns="0" rIns="0" bIns="0" rtlCol="0" anchor="t"/>
          <a:lstStyle/>
          <a:p>
            <a:pPr algn="l" indent="0" marL="0">
              <a:buNone/>
            </a:pPr>
            <a:r>
              <a:rPr lang="en-US" sz="1100" b="1" dirty="0">
                <a:solidFill>
                  <a:srgbClr val="B4B2A9"/>
                </a:solidFill>
                <a:latin typeface="Calibri" pitchFamily="34" charset="0"/>
                <a:ea typeface="Calibri" pitchFamily="34" charset="-122"/>
                <a:cs typeface="Calibri" pitchFamily="34" charset="-120"/>
              </a:rPr>
              <a:t>pass</a:t>
            </a:r>
            <a:endParaRPr lang="en-US" sz="1100" dirty="0"/>
          </a:p>
        </p:txBody>
      </p:sp>
      <p:sp>
        <p:nvSpPr>
          <p:cNvPr id="12" name="!!gend"/>
          <p:cNvSpPr/>
          <p:nvPr/>
        </p:nvSpPr>
        <p:spPr>
          <a:xfrm>
            <a:off x="3108960" y="440740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END</a:t>
            </a:r>
            <a:endParaRPr lang="en-US" sz="1100" dirty="0"/>
          </a:p>
        </p:txBody>
      </p:sp>
      <p:sp>
        <p:nvSpPr>
          <p:cNvPr id="13" name="!!gf1"/>
          <p:cNvSpPr/>
          <p:nvPr/>
        </p:nvSpPr>
        <p:spPr>
          <a:xfrm flipH="1">
            <a:off x="2103120" y="3630168"/>
            <a:ext cx="502920" cy="914"/>
          </a:xfrm>
          <a:prstGeom prst="line">
            <a:avLst/>
          </a:prstGeom>
          <a:noFill/>
          <a:ln w="15875">
            <a:solidFill>
              <a:srgbClr val="E3E1D8"/>
            </a:solidFill>
            <a:prstDash val="dash"/>
          </a:ln>
        </p:spPr>
        <p:txBody>
          <a:bodyPr/>
          <a:p/>
        </p:txBody>
      </p:sp>
      <p:sp>
        <p:nvSpPr>
          <p:cNvPr id="14" name="!!gf2"/>
          <p:cNvSpPr/>
          <p:nvPr/>
        </p:nvSpPr>
        <p:spPr>
          <a:xfrm flipV="1">
            <a:off x="2103120" y="2487168"/>
            <a:ext cx="914" cy="1143000"/>
          </a:xfrm>
          <a:prstGeom prst="line">
            <a:avLst/>
          </a:prstGeom>
          <a:noFill/>
          <a:ln w="15875">
            <a:solidFill>
              <a:srgbClr val="E3E1D8"/>
            </a:solidFill>
            <a:prstDash val="dash"/>
          </a:ln>
        </p:spPr>
        <p:txBody>
          <a:bodyPr/>
          <a:p/>
        </p:txBody>
      </p:sp>
      <p:sp>
        <p:nvSpPr>
          <p:cNvPr id="15" name="!!gf3"/>
          <p:cNvSpPr/>
          <p:nvPr/>
        </p:nvSpPr>
        <p:spPr>
          <a:xfrm>
            <a:off x="2103120" y="2487168"/>
            <a:ext cx="484632" cy="914"/>
          </a:xfrm>
          <a:prstGeom prst="line">
            <a:avLst/>
          </a:prstGeom>
          <a:noFill/>
          <a:ln w="15875">
            <a:solidFill>
              <a:srgbClr val="E3E1D8"/>
            </a:solidFill>
            <a:prstDash val="dash"/>
            <a:tailEnd type="triangle"/>
          </a:ln>
        </p:spPr>
        <p:txBody>
          <a:bodyPr/>
          <a:p/>
        </p:txBody>
      </p:sp>
      <p:sp>
        <p:nvSpPr>
          <p:cNvPr id="16" name="!!gfail"/>
          <p:cNvSpPr txBox="1"/>
          <p:nvPr/>
        </p:nvSpPr>
        <p:spPr>
          <a:xfrm>
            <a:off x="1645920" y="3081528"/>
            <a:ext cx="411480" cy="274320"/>
          </a:xfrm>
          <a:prstGeom prst="rect">
            <a:avLst/>
          </a:prstGeom>
          <a:noFill/>
          <a:ln/>
        </p:spPr>
        <p:txBody>
          <a:bodyPr wrap="square" lIns="0" tIns="0" rIns="0" bIns="0" rtlCol="0" anchor="t"/>
          <a:lstStyle/>
          <a:p>
            <a:pPr algn="r" indent="0" marL="0">
              <a:buNone/>
            </a:pPr>
            <a:r>
              <a:rPr lang="en-US" sz="1100" b="1" dirty="0">
                <a:solidFill>
                  <a:srgbClr val="B4B2A9"/>
                </a:solidFill>
                <a:latin typeface="Calibri" pitchFamily="34" charset="0"/>
                <a:ea typeface="Calibri" pitchFamily="34" charset="-122"/>
                <a:cs typeface="Calibri" pitchFamily="34" charset="-120"/>
              </a:rPr>
              <a:t>fail</a:t>
            </a:r>
            <a:endParaRPr lang="en-US" sz="1100" dirty="0"/>
          </a:p>
        </p:txBody>
      </p:sp>
      <p:sp>
        <p:nvSpPr>
          <p:cNvPr id="17" name="!!sl1"/>
          <p:cNvSpPr/>
          <p:nvPr/>
        </p:nvSpPr>
        <p:spPr>
          <a:xfrm>
            <a:off x="4617720" y="2487168"/>
            <a:ext cx="731520" cy="914"/>
          </a:xfrm>
          <a:prstGeom prst="line">
            <a:avLst/>
          </a:prstGeom>
          <a:noFill/>
          <a:ln w="9525">
            <a:solidFill>
              <a:srgbClr val="E3E1D8"/>
            </a:solidFill>
            <a:prstDash val="dash"/>
          </a:ln>
        </p:spPr>
        <p:txBody>
          <a:bodyPr/>
          <a:p/>
        </p:txBody>
      </p:sp>
      <p:sp>
        <p:nvSpPr>
          <p:cNvPr id="18" name="!!sl2"/>
          <p:cNvSpPr/>
          <p:nvPr/>
        </p:nvSpPr>
        <p:spPr>
          <a:xfrm>
            <a:off x="4617720" y="3630168"/>
            <a:ext cx="731520" cy="914"/>
          </a:xfrm>
          <a:prstGeom prst="line">
            <a:avLst/>
          </a:prstGeom>
          <a:noFill/>
          <a:ln w="9525">
            <a:solidFill>
              <a:srgbClr val="E3E1D8"/>
            </a:solidFill>
            <a:prstDash val="dash"/>
          </a:ln>
        </p:spPr>
        <p:txBody>
          <a:bodyPr/>
          <a:p/>
        </p:txBody>
      </p:sp>
      <p:sp>
        <p:nvSpPr>
          <p:cNvPr id="19" name="!!st"/>
          <p:cNvSpPr/>
          <p:nvPr/>
        </p:nvSpPr>
        <p:spPr>
          <a:xfrm>
            <a:off x="5349240" y="2121408"/>
            <a:ext cx="1600200" cy="1874520"/>
          </a:xfrm>
          <a:prstGeom prst="roundRect">
            <a:avLst>
              <a:gd name="adj" fmla="val 4571"/>
            </a:avLst>
          </a:prstGeom>
          <a:solidFill>
            <a:srgbClr val="FAFAF7"/>
          </a:solidFill>
          <a:ln w="12700">
            <a:solidFill>
              <a:srgbClr val="E3E1D8"/>
            </a:solidFill>
            <a:prstDash val="solid"/>
          </a:ln>
        </p:spPr>
        <p:txBody>
          <a:bodyPr wrap="square" lIns="50800" tIns="50800" rIns="50800" bIns="50800" rtlCol="0" anchor="ctr"/>
          <a:lstStyle/>
          <a:p>
            <a:pPr algn="ctr" indent="0" marL="0">
              <a:buNone/>
            </a:pPr>
            <a:endParaRPr lang="en-US" sz="1200" dirty="0"/>
          </a:p>
        </p:txBody>
      </p:sp>
      <p:sp>
        <p:nvSpPr>
          <p:cNvPr id="20" name="!!sth"/>
          <p:cNvSpPr txBox="1"/>
          <p:nvPr/>
        </p:nvSpPr>
        <p:spPr>
          <a:xfrm>
            <a:off x="5486400" y="2212848"/>
            <a:ext cx="1325880" cy="274320"/>
          </a:xfrm>
          <a:prstGeom prst="rect">
            <a:avLst/>
          </a:prstGeom>
          <a:noFill/>
          <a:ln/>
        </p:spPr>
        <p:txBody>
          <a:bodyPr wrap="square" lIns="0" tIns="0" rIns="0" bIns="0" rtlCol="0" anchor="t"/>
          <a:lstStyle/>
          <a:p>
            <a:pPr algn="l" indent="0" marL="0">
              <a:buNone/>
            </a:pPr>
            <a:r>
              <a:rPr lang="en-US" sz="1300" b="1" dirty="0">
                <a:solidFill>
                  <a:srgbClr val="B4B2A9"/>
                </a:solidFill>
                <a:latin typeface="Calibri" pitchFamily="34" charset="0"/>
                <a:ea typeface="Calibri" pitchFamily="34" charset="-122"/>
                <a:cs typeface="Calibri" pitchFamily="34" charset="-120"/>
              </a:rPr>
              <a:t>State</a:t>
            </a:r>
            <a:endParaRPr lang="en-US" sz="1300" dirty="0"/>
          </a:p>
        </p:txBody>
      </p:sp>
      <p:sp>
        <p:nvSpPr>
          <p:cNvPr id="21" name="!!str0"/>
          <p:cNvSpPr txBox="1"/>
          <p:nvPr/>
        </p:nvSpPr>
        <p:spPr>
          <a:xfrm>
            <a:off x="5486400" y="2505456"/>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ticket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input</a:t>
            </a:r>
            <a:endParaRPr lang="en-US" sz="1400" dirty="0"/>
          </a:p>
        </p:txBody>
      </p:sp>
      <p:sp>
        <p:nvSpPr>
          <p:cNvPr id="22" name="!!str1"/>
          <p:cNvSpPr txBox="1"/>
          <p:nvPr/>
        </p:nvSpPr>
        <p:spPr>
          <a:xfrm>
            <a:off x="5486400" y="2980944"/>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result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worker</a:t>
            </a:r>
            <a:endParaRPr lang="en-US" sz="1400" dirty="0"/>
          </a:p>
        </p:txBody>
      </p:sp>
      <p:sp>
        <p:nvSpPr>
          <p:cNvPr id="23" name="!!str2"/>
          <p:cNvSpPr txBox="1"/>
          <p:nvPr/>
        </p:nvSpPr>
        <p:spPr>
          <a:xfrm>
            <a:off x="5486400" y="3456432"/>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status</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checker</a:t>
            </a:r>
            <a:endParaRPr lang="en-US" sz="1400" dirty="0"/>
          </a:p>
        </p:txBody>
      </p:sp>
      <p:sp>
        <p:nvSpPr>
          <p:cNvPr id="24" name="!!panel"/>
          <p:cNvSpPr/>
          <p:nvPr/>
        </p:nvSpPr>
        <p:spPr>
          <a:xfrm>
            <a:off x="7269480" y="1463040"/>
            <a:ext cx="4507992" cy="3977640"/>
          </a:xfrm>
          <a:prstGeom prst="roundRect">
            <a:avLst>
              <a:gd name="adj" fmla="val 1839"/>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5" name="!!ptitle"/>
          <p:cNvSpPr txBox="1"/>
          <p:nvPr/>
        </p:nvSpPr>
        <p:spPr>
          <a:xfrm>
            <a:off x="7543800" y="1645920"/>
            <a:ext cx="3959352" cy="411480"/>
          </a:xfrm>
          <a:prstGeom prst="rect">
            <a:avLst/>
          </a:prstGeom>
          <a:noFill/>
          <a:ln/>
        </p:spPr>
        <p:txBody>
          <a:bodyPr wrap="square" lIns="0" tIns="0" rIns="0" bIns="0" rtlCol="0" anchor="ctr"/>
          <a:lstStyle/>
          <a:p>
            <a:pPr algn="l" indent="0" marL="0">
              <a:buNone/>
            </a:pPr>
            <a:r>
              <a:rPr lang="en-US" sz="2000" b="1" dirty="0">
                <a:solidFill>
                  <a:srgbClr val="3C3489"/>
                </a:solidFill>
                <a:latin typeface="Calibri" pitchFamily="34" charset="0"/>
                <a:ea typeface="Calibri" pitchFamily="34" charset="-122"/>
                <a:cs typeface="Calibri" pitchFamily="34" charset="-120"/>
              </a:rPr>
              <a:t>Node</a:t>
            </a:r>
            <a:endParaRPr lang="en-US" sz="2000" dirty="0"/>
          </a:p>
        </p:txBody>
      </p:sp>
      <p:sp>
        <p:nvSpPr>
          <p:cNvPr id="26" name="!!pl1"/>
          <p:cNvSpPr txBox="1"/>
          <p:nvPr/>
        </p:nvSpPr>
        <p:spPr>
          <a:xfrm>
            <a:off x="7543800" y="2176272"/>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WHAT IT IS</a:t>
            </a:r>
            <a:endParaRPr lang="en-US" sz="1050" dirty="0"/>
          </a:p>
        </p:txBody>
      </p:sp>
      <p:sp>
        <p:nvSpPr>
          <p:cNvPr id="27" name="!!pwhat"/>
          <p:cNvSpPr txBox="1"/>
          <p:nvPr/>
        </p:nvSpPr>
        <p:spPr>
          <a:xfrm>
            <a:off x="7543800" y="2404872"/>
            <a:ext cx="3959352" cy="566928"/>
          </a:xfrm>
          <a:prstGeom prst="rect">
            <a:avLst/>
          </a:prstGeom>
          <a:noFill/>
          <a:ln/>
        </p:spPr>
        <p:txBody>
          <a:bodyPr wrap="square" lIns="0" tIns="0" rIns="0" bIns="0" rtlCol="0" anchor="t"/>
          <a:lstStyle/>
          <a:p>
            <a:pPr algn="l" indent="0" marL="0">
              <a:buNone/>
            </a:pPr>
            <a:r>
              <a:rPr lang="en-US" sz="1350" dirty="0">
                <a:solidFill>
                  <a:srgbClr val="2C2C2A"/>
                </a:solidFill>
                <a:latin typeface="Calibri" pitchFamily="34" charset="0"/>
                <a:ea typeface="Calibri" pitchFamily="34" charset="-122"/>
                <a:cs typeface="Calibri" pitchFamily="34" charset="-120"/>
              </a:rPr>
              <a:t>One step of work: a function that reads the state and returns what it changed.</a:t>
            </a:r>
            <a:endParaRPr lang="en-US" sz="1350" dirty="0"/>
          </a:p>
        </p:txBody>
      </p:sp>
      <p:sp>
        <p:nvSpPr>
          <p:cNvPr id="28" name="!!pl2"/>
          <p:cNvSpPr txBox="1"/>
          <p:nvPr/>
        </p:nvSpPr>
        <p:spPr>
          <a:xfrm>
            <a:off x="7543800" y="3017520"/>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IN THIS GRAPH</a:t>
            </a:r>
            <a:endParaRPr lang="en-US" sz="1050" dirty="0"/>
          </a:p>
        </p:txBody>
      </p:sp>
      <p:sp>
        <p:nvSpPr>
          <p:cNvPr id="29" name="!!phere"/>
          <p:cNvSpPr txBox="1"/>
          <p:nvPr/>
        </p:nvSpPr>
        <p:spPr>
          <a:xfrm>
            <a:off x="7543800" y="3246120"/>
            <a:ext cx="3959352" cy="56692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worker does the job; checker verifies it. A node can be an LLM agent, a tool call or plain code.</a:t>
            </a:r>
            <a:endParaRPr lang="en-US" sz="1300" dirty="0"/>
          </a:p>
        </p:txBody>
      </p:sp>
      <p:sp>
        <p:nvSpPr>
          <p:cNvPr id="30" name="!!plike"/>
          <p:cNvSpPr/>
          <p:nvPr/>
        </p:nvSpPr>
        <p:spPr>
          <a:xfrm>
            <a:off x="7543800" y="3886200"/>
            <a:ext cx="3959352" cy="457200"/>
          </a:xfrm>
          <a:prstGeom prst="roundRect">
            <a:avLst>
              <a:gd name="adj" fmla="val 12000"/>
            </a:avLst>
          </a:prstGeom>
          <a:solidFill>
            <a:srgbClr val="E1F5EE"/>
          </a:solidFill>
          <a:ln w="1270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Think of it as  </a:t>
            </a:r>
            <a:pPr algn="l" indent="0" marL="0">
              <a:buNone/>
            </a:pPr>
            <a:r>
              <a:rPr lang="en-US" sz="1250" dirty="0">
                <a:solidFill>
                  <a:srgbClr val="085041"/>
                </a:solidFill>
                <a:latin typeface="Calibri" pitchFamily="34" charset="0"/>
                <a:ea typeface="Calibri" pitchFamily="34" charset="-122"/>
                <a:cs typeface="Calibri" pitchFamily="34" charset="-120"/>
              </a:rPr>
              <a:t>A person at a desk with one job.</a:t>
            </a:r>
            <a:endParaRPr lang="en-US" sz="1250" dirty="0"/>
          </a:p>
        </p:txBody>
      </p:sp>
      <p:sp>
        <p:nvSpPr>
          <p:cNvPr id="31" name="!!pcode"/>
          <p:cNvSpPr/>
          <p:nvPr/>
        </p:nvSpPr>
        <p:spPr>
          <a:xfrm>
            <a:off x="7543800" y="4453128"/>
            <a:ext cx="3959352" cy="786384"/>
          </a:xfrm>
          <a:prstGeom prst="roundRect">
            <a:avLst>
              <a:gd name="adj" fmla="val 4651"/>
            </a:avLst>
          </a:prstGeom>
          <a:solidFill>
            <a:srgbClr val="F7F6F2"/>
          </a:solidFill>
          <a:ln w="6350">
            <a:solidFill>
              <a:srgbClr val="D3D1C7"/>
            </a:solidFill>
            <a:prstDash val="solid"/>
          </a:ln>
        </p:spPr>
        <p:txBody>
          <a:bodyPr wrap="square" lIns="101600" tIns="101600" rIns="101600" bIns="101600" rtlCol="0" anchor="ctr"/>
          <a:lstStyle/>
          <a:p>
            <a:pPr algn="l" indent="0" marL="0">
              <a:buNone/>
            </a:pPr>
            <a:r>
              <a:rPr lang="en-US" sz="1000" dirty="0">
                <a:solidFill>
                  <a:srgbClr val="2C2C2A"/>
                </a:solidFill>
                <a:latin typeface="Consolas" pitchFamily="34" charset="0"/>
                <a:ea typeface="Consolas" pitchFamily="34" charset="-122"/>
                <a:cs typeface="Consolas" pitchFamily="34" charset="-120"/>
              </a:rPr>
              <a:t>g.add_node("worker", worker)</a:t>
            </a: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g.add_node("checker", checker)</a:t>
            </a:r>
            <a:endParaRPr lang="en-US" sz="1000" dirty="0"/>
          </a:p>
        </p:txBody>
      </p:sp>
      <p:sp>
        <p:nvSpPr>
          <p:cNvPr id="32" name="!!btn0">
            <a:hlinkClick action="ppaction://hlinksldjump" r:id="rId1"/>
          </p:cNvPr>
          <p:cNvSpPr/>
          <p:nvPr/>
        </p:nvSpPr>
        <p:spPr>
          <a:xfrm>
            <a:off x="41148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1" action="ppaction://hlinksldjump" tooltip="How to read it">
                  <a:extLst>
                    <a:ext uri="{A12FA001-AC4F-418D-AE19-62706E023703}">
                      <ahyp:hlinkClr xmlns:ahyp="http://schemas.microsoft.com/office/drawing/2018/hyperlinkcolor" val="tx"/>
                    </a:ext>
                  </a:extLst>
                </a:hlinkClick>
              </a:rPr>
              <a:t>Overview</a:t>
            </a:r>
            <a:endParaRPr lang="en-US" sz="1250" dirty="0"/>
          </a:p>
        </p:txBody>
      </p:sp>
      <p:sp>
        <p:nvSpPr>
          <p:cNvPr id="33" name="!!btn1">
            <a:hlinkClick action="ppaction://hlinksldjump" r:id="rId2"/>
          </p:cNvPr>
          <p:cNvSpPr/>
          <p:nvPr/>
        </p:nvSpPr>
        <p:spPr>
          <a:xfrm>
            <a:off x="2048256" y="5669280"/>
            <a:ext cx="1545336" cy="420624"/>
          </a:xfrm>
          <a:prstGeom prst="roundRect">
            <a:avLst>
              <a:gd name="adj" fmla="val 50000"/>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50" b="1" u="none" dirty="0">
                <a:solidFill>
                  <a:srgbClr val="FFFFFF"/>
                </a:solidFill>
                <a:latin typeface="Calibri" pitchFamily="34" charset="0"/>
                <a:ea typeface="Calibri" pitchFamily="34" charset="-122"/>
                <a:cs typeface="Calibri" pitchFamily="34" charset="-120"/>
                <a:hlinkClick r:id="rId2" action="ppaction://hlinksldjump" tooltip="Node">
                  <a:extLst>
                    <a:ext uri="{A12FA001-AC4F-418D-AE19-62706E023703}">
                      <ahyp:hlinkClr xmlns:ahyp="http://schemas.microsoft.com/office/drawing/2018/hyperlinkcolor" val="tx"/>
                    </a:ext>
                  </a:extLst>
                </a:hlinkClick>
              </a:rPr>
              <a:t>Node</a:t>
            </a:r>
            <a:endParaRPr lang="en-US" sz="1250" dirty="0"/>
          </a:p>
        </p:txBody>
      </p:sp>
      <p:sp>
        <p:nvSpPr>
          <p:cNvPr id="34" name="!!btn2">
            <a:hlinkClick action="ppaction://hlinksldjump" r:id="rId3"/>
          </p:cNvPr>
          <p:cNvSpPr/>
          <p:nvPr/>
        </p:nvSpPr>
        <p:spPr>
          <a:xfrm>
            <a:off x="3685032"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3" action="ppaction://hlinksldjump" tooltip="Edge">
                  <a:extLst>
                    <a:ext uri="{A12FA001-AC4F-418D-AE19-62706E023703}">
                      <ahyp:hlinkClr xmlns:ahyp="http://schemas.microsoft.com/office/drawing/2018/hyperlinkcolor" val="tx"/>
                    </a:ext>
                  </a:extLst>
                </a:hlinkClick>
              </a:rPr>
              <a:t>Edge</a:t>
            </a:r>
            <a:endParaRPr lang="en-US" sz="1250" dirty="0"/>
          </a:p>
        </p:txBody>
      </p:sp>
      <p:sp>
        <p:nvSpPr>
          <p:cNvPr id="35" name="!!btn3">
            <a:hlinkClick action="ppaction://hlinksldjump" r:id="rId4"/>
          </p:cNvPr>
          <p:cNvSpPr/>
          <p:nvPr/>
        </p:nvSpPr>
        <p:spPr>
          <a:xfrm>
            <a:off x="5321808"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4" action="ppaction://hlinksldjump" tooltip="Conditional edge">
                  <a:extLst>
                    <a:ext uri="{A12FA001-AC4F-418D-AE19-62706E023703}">
                      <ahyp:hlinkClr xmlns:ahyp="http://schemas.microsoft.com/office/drawing/2018/hyperlinkcolor" val="tx"/>
                    </a:ext>
                  </a:extLst>
                </a:hlinkClick>
              </a:rPr>
              <a:t>Conditional edge</a:t>
            </a:r>
            <a:endParaRPr lang="en-US" sz="1250" dirty="0"/>
          </a:p>
        </p:txBody>
      </p:sp>
      <p:sp>
        <p:nvSpPr>
          <p:cNvPr id="36" name="!!btn4">
            <a:hlinkClick action="ppaction://hlinksldjump" r:id="rId5"/>
          </p:cNvPr>
          <p:cNvSpPr/>
          <p:nvPr/>
        </p:nvSpPr>
        <p:spPr>
          <a:xfrm>
            <a:off x="6958584"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5" action="ppaction://hlinksldjump" tooltip="State">
                  <a:extLst>
                    <a:ext uri="{A12FA001-AC4F-418D-AE19-62706E023703}">
                      <ahyp:hlinkClr xmlns:ahyp="http://schemas.microsoft.com/office/drawing/2018/hyperlinkcolor" val="tx"/>
                    </a:ext>
                  </a:extLst>
                </a:hlinkClick>
              </a:rPr>
              <a:t>State</a:t>
            </a:r>
            <a:endParaRPr lang="en-US" sz="1250" dirty="0"/>
          </a:p>
        </p:txBody>
      </p:sp>
      <p:sp>
        <p:nvSpPr>
          <p:cNvPr id="37" name="!!btn5">
            <a:hlinkClick action="ppaction://hlinksldjump" r:id="rId6"/>
          </p:cNvPr>
          <p:cNvSpPr/>
          <p:nvPr/>
        </p:nvSpPr>
        <p:spPr>
          <a:xfrm>
            <a:off x="859536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6" action="ppaction://hlinksldjump" tooltip="Subgraph">
                  <a:extLst>
                    <a:ext uri="{A12FA001-AC4F-418D-AE19-62706E023703}">
                      <ahyp:hlinkClr xmlns:ahyp="http://schemas.microsoft.com/office/drawing/2018/hyperlinkcolor" val="tx"/>
                    </a:ext>
                  </a:extLst>
                </a:hlinkClick>
              </a:rPr>
              <a:t>Subgraph</a:t>
            </a:r>
            <a:endParaRPr lang="en-US" sz="1250" dirty="0"/>
          </a:p>
        </p:txBody>
      </p:sp>
      <p:sp>
        <p:nvSpPr>
          <p:cNvPr id="38" name="!!btn6">
            <a:hlinkClick action="ppaction://hlinksldjump" r:id="rId7"/>
          </p:cNvPr>
          <p:cNvSpPr/>
          <p:nvPr/>
        </p:nvSpPr>
        <p:spPr>
          <a:xfrm>
            <a:off x="1023213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7" action="ppaction://hlinksldjump" tooltip="Checkpointer">
                  <a:extLst>
                    <a:ext uri="{A12FA001-AC4F-418D-AE19-62706E023703}">
                      <ahyp:hlinkClr xmlns:ahyp="http://schemas.microsoft.com/office/drawing/2018/hyperlinkcolor" val="tx"/>
                    </a:ext>
                  </a:extLst>
                </a:hlinkClick>
              </a:rPr>
              <a:t>Checkpointer</a:t>
            </a:r>
            <a:endParaRPr lang="en-US" sz="12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Reading the Graph: What Each Part Does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The same graph as the last slide, one part at a time. Click a button to see what that part does, in plain words and in code.</a:t>
            </a:r>
            <a:endParaRPr lang="en-US" sz="1400" dirty="0"/>
          </a:p>
        </p:txBody>
      </p:sp>
      <p:sp>
        <p:nvSpPr>
          <p:cNvPr id="5" name="!!gs"/>
          <p:cNvSpPr/>
          <p:nvPr/>
        </p:nvSpPr>
        <p:spPr>
          <a:xfrm>
            <a:off x="3108960" y="157276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START</a:t>
            </a:r>
            <a:endParaRPr lang="en-US" sz="1100" dirty="0"/>
          </a:p>
        </p:txBody>
      </p:sp>
      <p:sp>
        <p:nvSpPr>
          <p:cNvPr id="6" name="!!e1"/>
          <p:cNvSpPr/>
          <p:nvPr/>
        </p:nvSpPr>
        <p:spPr>
          <a:xfrm>
            <a:off x="3611880" y="1901952"/>
            <a:ext cx="914" cy="219456"/>
          </a:xfrm>
          <a:prstGeom prst="line">
            <a:avLst/>
          </a:prstGeom>
          <a:noFill/>
          <a:ln w="31750">
            <a:solidFill>
              <a:srgbClr val="5F5E5A"/>
            </a:solidFill>
            <a:prstDash val="solid"/>
            <a:tailEnd type="triangle"/>
          </a:ln>
        </p:spPr>
        <p:txBody>
          <a:bodyPr/>
          <a:p/>
        </p:txBody>
      </p:sp>
      <p:sp>
        <p:nvSpPr>
          <p:cNvPr id="7" name="!!gw"/>
          <p:cNvSpPr/>
          <p:nvPr/>
        </p:nvSpPr>
        <p:spPr>
          <a:xfrm>
            <a:off x="2606040" y="2121408"/>
            <a:ext cx="2011680" cy="731520"/>
          </a:xfrm>
          <a:prstGeom prst="roundRect">
            <a:avLst>
              <a:gd name="adj" fmla="val 1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500" b="1" dirty="0">
                <a:solidFill>
                  <a:srgbClr val="B4B2A9"/>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B4B2A9"/>
                </a:solidFill>
                <a:latin typeface="Calibri" pitchFamily="34" charset="0"/>
                <a:ea typeface="Calibri" pitchFamily="34" charset="-122"/>
                <a:cs typeface="Calibri" pitchFamily="34" charset="-120"/>
              </a:rPr>
              <a:t>does the job</a:t>
            </a:r>
            <a:endParaRPr lang="en-US" sz="1200" dirty="0"/>
          </a:p>
        </p:txBody>
      </p:sp>
      <p:sp>
        <p:nvSpPr>
          <p:cNvPr id="8" name="!!e2"/>
          <p:cNvSpPr/>
          <p:nvPr/>
        </p:nvSpPr>
        <p:spPr>
          <a:xfrm>
            <a:off x="3611880" y="2852928"/>
            <a:ext cx="914" cy="411480"/>
          </a:xfrm>
          <a:prstGeom prst="line">
            <a:avLst/>
          </a:prstGeom>
          <a:noFill/>
          <a:ln w="31750">
            <a:solidFill>
              <a:srgbClr val="5F5E5A"/>
            </a:solidFill>
            <a:prstDash val="solid"/>
            <a:tailEnd type="triangle"/>
          </a:ln>
        </p:spPr>
        <p:txBody>
          <a:bodyPr/>
          <a:p/>
        </p:txBody>
      </p:sp>
      <p:sp>
        <p:nvSpPr>
          <p:cNvPr id="9" name="!!gc"/>
          <p:cNvSpPr/>
          <p:nvPr/>
        </p:nvSpPr>
        <p:spPr>
          <a:xfrm>
            <a:off x="2606040" y="3264408"/>
            <a:ext cx="2011680" cy="731520"/>
          </a:xfrm>
          <a:prstGeom prst="roundRect">
            <a:avLst>
              <a:gd name="adj" fmla="val 1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500" b="1" dirty="0">
                <a:solidFill>
                  <a:srgbClr val="B4B2A9"/>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B4B2A9"/>
                </a:solidFill>
                <a:latin typeface="Calibri" pitchFamily="34" charset="0"/>
                <a:ea typeface="Calibri" pitchFamily="34" charset="-122"/>
                <a:cs typeface="Calibri" pitchFamily="34" charset="-120"/>
              </a:rPr>
              <a:t>verifies the work</a:t>
            </a:r>
            <a:endParaRPr lang="en-US" sz="1200" dirty="0"/>
          </a:p>
        </p:txBody>
      </p:sp>
      <p:sp>
        <p:nvSpPr>
          <p:cNvPr id="10" name="!!e3"/>
          <p:cNvSpPr/>
          <p:nvPr/>
        </p:nvSpPr>
        <p:spPr>
          <a:xfrm>
            <a:off x="3611880" y="3995928"/>
            <a:ext cx="914" cy="411480"/>
          </a:xfrm>
          <a:prstGeom prst="line">
            <a:avLst/>
          </a:prstGeom>
          <a:noFill/>
          <a:ln w="31750">
            <a:solidFill>
              <a:srgbClr val="5F5E5A"/>
            </a:solidFill>
            <a:prstDash val="solid"/>
            <a:tailEnd type="triangle"/>
          </a:ln>
        </p:spPr>
        <p:txBody>
          <a:bodyPr/>
          <a:p/>
        </p:txBody>
      </p:sp>
      <p:sp>
        <p:nvSpPr>
          <p:cNvPr id="11" name="!!gpass"/>
          <p:cNvSpPr txBox="1"/>
          <p:nvPr/>
        </p:nvSpPr>
        <p:spPr>
          <a:xfrm>
            <a:off x="3703320" y="4050792"/>
            <a:ext cx="548640" cy="274320"/>
          </a:xfrm>
          <a:prstGeom prst="rect">
            <a:avLst/>
          </a:prstGeom>
          <a:noFill/>
          <a:ln/>
        </p:spPr>
        <p:txBody>
          <a:bodyPr wrap="square" lIns="0" tIns="0" rIns="0" bIns="0" rtlCol="0" anchor="t"/>
          <a:lstStyle/>
          <a:p>
            <a:pPr algn="l" indent="0" marL="0">
              <a:buNone/>
            </a:pPr>
            <a:r>
              <a:rPr lang="en-US" sz="1100" b="1" dirty="0">
                <a:solidFill>
                  <a:srgbClr val="085041"/>
                </a:solidFill>
                <a:latin typeface="Calibri" pitchFamily="34" charset="0"/>
                <a:ea typeface="Calibri" pitchFamily="34" charset="-122"/>
                <a:cs typeface="Calibri" pitchFamily="34" charset="-120"/>
              </a:rPr>
              <a:t>pass</a:t>
            </a:r>
            <a:endParaRPr lang="en-US" sz="1100" dirty="0"/>
          </a:p>
        </p:txBody>
      </p:sp>
      <p:sp>
        <p:nvSpPr>
          <p:cNvPr id="12" name="!!gend"/>
          <p:cNvSpPr/>
          <p:nvPr/>
        </p:nvSpPr>
        <p:spPr>
          <a:xfrm>
            <a:off x="3108960" y="440740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END</a:t>
            </a:r>
            <a:endParaRPr lang="en-US" sz="1100" dirty="0"/>
          </a:p>
        </p:txBody>
      </p:sp>
      <p:sp>
        <p:nvSpPr>
          <p:cNvPr id="13" name="!!gf1"/>
          <p:cNvSpPr/>
          <p:nvPr/>
        </p:nvSpPr>
        <p:spPr>
          <a:xfrm flipH="1">
            <a:off x="2103120" y="3630168"/>
            <a:ext cx="502920" cy="914"/>
          </a:xfrm>
          <a:prstGeom prst="line">
            <a:avLst/>
          </a:prstGeom>
          <a:noFill/>
          <a:ln w="15875">
            <a:solidFill>
              <a:srgbClr val="E3E1D8"/>
            </a:solidFill>
            <a:prstDash val="dash"/>
          </a:ln>
        </p:spPr>
        <p:txBody>
          <a:bodyPr/>
          <a:p/>
        </p:txBody>
      </p:sp>
      <p:sp>
        <p:nvSpPr>
          <p:cNvPr id="14" name="!!gf2"/>
          <p:cNvSpPr/>
          <p:nvPr/>
        </p:nvSpPr>
        <p:spPr>
          <a:xfrm flipV="1">
            <a:off x="2103120" y="2487168"/>
            <a:ext cx="914" cy="1143000"/>
          </a:xfrm>
          <a:prstGeom prst="line">
            <a:avLst/>
          </a:prstGeom>
          <a:noFill/>
          <a:ln w="15875">
            <a:solidFill>
              <a:srgbClr val="E3E1D8"/>
            </a:solidFill>
            <a:prstDash val="dash"/>
          </a:ln>
        </p:spPr>
        <p:txBody>
          <a:bodyPr/>
          <a:p/>
        </p:txBody>
      </p:sp>
      <p:sp>
        <p:nvSpPr>
          <p:cNvPr id="15" name="!!gf3"/>
          <p:cNvSpPr/>
          <p:nvPr/>
        </p:nvSpPr>
        <p:spPr>
          <a:xfrm>
            <a:off x="2103120" y="2487168"/>
            <a:ext cx="484632" cy="914"/>
          </a:xfrm>
          <a:prstGeom prst="line">
            <a:avLst/>
          </a:prstGeom>
          <a:noFill/>
          <a:ln w="15875">
            <a:solidFill>
              <a:srgbClr val="E3E1D8"/>
            </a:solidFill>
            <a:prstDash val="dash"/>
            <a:tailEnd type="triangle"/>
          </a:ln>
        </p:spPr>
        <p:txBody>
          <a:bodyPr/>
          <a:p/>
        </p:txBody>
      </p:sp>
      <p:sp>
        <p:nvSpPr>
          <p:cNvPr id="16" name="!!gfail"/>
          <p:cNvSpPr txBox="1"/>
          <p:nvPr/>
        </p:nvSpPr>
        <p:spPr>
          <a:xfrm>
            <a:off x="1645920" y="3081528"/>
            <a:ext cx="411480" cy="274320"/>
          </a:xfrm>
          <a:prstGeom prst="rect">
            <a:avLst/>
          </a:prstGeom>
          <a:noFill/>
          <a:ln/>
        </p:spPr>
        <p:txBody>
          <a:bodyPr wrap="square" lIns="0" tIns="0" rIns="0" bIns="0" rtlCol="0" anchor="t"/>
          <a:lstStyle/>
          <a:p>
            <a:pPr algn="r" indent="0" marL="0">
              <a:buNone/>
            </a:pPr>
            <a:r>
              <a:rPr lang="en-US" sz="1100" b="1" dirty="0">
                <a:solidFill>
                  <a:srgbClr val="B4B2A9"/>
                </a:solidFill>
                <a:latin typeface="Calibri" pitchFamily="34" charset="0"/>
                <a:ea typeface="Calibri" pitchFamily="34" charset="-122"/>
                <a:cs typeface="Calibri" pitchFamily="34" charset="-120"/>
              </a:rPr>
              <a:t>fail</a:t>
            </a:r>
            <a:endParaRPr lang="en-US" sz="1100" dirty="0"/>
          </a:p>
        </p:txBody>
      </p:sp>
      <p:sp>
        <p:nvSpPr>
          <p:cNvPr id="17" name="!!sl1"/>
          <p:cNvSpPr/>
          <p:nvPr/>
        </p:nvSpPr>
        <p:spPr>
          <a:xfrm>
            <a:off x="4617720" y="2487168"/>
            <a:ext cx="731520" cy="914"/>
          </a:xfrm>
          <a:prstGeom prst="line">
            <a:avLst/>
          </a:prstGeom>
          <a:noFill/>
          <a:ln w="9525">
            <a:solidFill>
              <a:srgbClr val="E3E1D8"/>
            </a:solidFill>
            <a:prstDash val="dash"/>
          </a:ln>
        </p:spPr>
        <p:txBody>
          <a:bodyPr/>
          <a:p/>
        </p:txBody>
      </p:sp>
      <p:sp>
        <p:nvSpPr>
          <p:cNvPr id="18" name="!!sl2"/>
          <p:cNvSpPr/>
          <p:nvPr/>
        </p:nvSpPr>
        <p:spPr>
          <a:xfrm>
            <a:off x="4617720" y="3630168"/>
            <a:ext cx="731520" cy="914"/>
          </a:xfrm>
          <a:prstGeom prst="line">
            <a:avLst/>
          </a:prstGeom>
          <a:noFill/>
          <a:ln w="9525">
            <a:solidFill>
              <a:srgbClr val="E3E1D8"/>
            </a:solidFill>
            <a:prstDash val="dash"/>
          </a:ln>
        </p:spPr>
        <p:txBody>
          <a:bodyPr/>
          <a:p/>
        </p:txBody>
      </p:sp>
      <p:sp>
        <p:nvSpPr>
          <p:cNvPr id="19" name="!!st"/>
          <p:cNvSpPr/>
          <p:nvPr/>
        </p:nvSpPr>
        <p:spPr>
          <a:xfrm>
            <a:off x="5349240" y="2121408"/>
            <a:ext cx="1600200" cy="1874520"/>
          </a:xfrm>
          <a:prstGeom prst="roundRect">
            <a:avLst>
              <a:gd name="adj" fmla="val 4571"/>
            </a:avLst>
          </a:prstGeom>
          <a:solidFill>
            <a:srgbClr val="FAFAF7"/>
          </a:solidFill>
          <a:ln w="12700">
            <a:solidFill>
              <a:srgbClr val="E3E1D8"/>
            </a:solidFill>
            <a:prstDash val="solid"/>
          </a:ln>
        </p:spPr>
        <p:txBody>
          <a:bodyPr wrap="square" lIns="50800" tIns="50800" rIns="50800" bIns="50800" rtlCol="0" anchor="ctr"/>
          <a:lstStyle/>
          <a:p>
            <a:pPr algn="ctr" indent="0" marL="0">
              <a:buNone/>
            </a:pPr>
            <a:endParaRPr lang="en-US" sz="1200" dirty="0"/>
          </a:p>
        </p:txBody>
      </p:sp>
      <p:sp>
        <p:nvSpPr>
          <p:cNvPr id="20" name="!!sth"/>
          <p:cNvSpPr txBox="1"/>
          <p:nvPr/>
        </p:nvSpPr>
        <p:spPr>
          <a:xfrm>
            <a:off x="5486400" y="2212848"/>
            <a:ext cx="1325880" cy="274320"/>
          </a:xfrm>
          <a:prstGeom prst="rect">
            <a:avLst/>
          </a:prstGeom>
          <a:noFill/>
          <a:ln/>
        </p:spPr>
        <p:txBody>
          <a:bodyPr wrap="square" lIns="0" tIns="0" rIns="0" bIns="0" rtlCol="0" anchor="t"/>
          <a:lstStyle/>
          <a:p>
            <a:pPr algn="l" indent="0" marL="0">
              <a:buNone/>
            </a:pPr>
            <a:r>
              <a:rPr lang="en-US" sz="1300" b="1" dirty="0">
                <a:solidFill>
                  <a:srgbClr val="B4B2A9"/>
                </a:solidFill>
                <a:latin typeface="Calibri" pitchFamily="34" charset="0"/>
                <a:ea typeface="Calibri" pitchFamily="34" charset="-122"/>
                <a:cs typeface="Calibri" pitchFamily="34" charset="-120"/>
              </a:rPr>
              <a:t>State</a:t>
            </a:r>
            <a:endParaRPr lang="en-US" sz="1300" dirty="0"/>
          </a:p>
        </p:txBody>
      </p:sp>
      <p:sp>
        <p:nvSpPr>
          <p:cNvPr id="21" name="!!str0"/>
          <p:cNvSpPr txBox="1"/>
          <p:nvPr/>
        </p:nvSpPr>
        <p:spPr>
          <a:xfrm>
            <a:off x="5486400" y="2505456"/>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ticket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input</a:t>
            </a:r>
            <a:endParaRPr lang="en-US" sz="1400" dirty="0"/>
          </a:p>
        </p:txBody>
      </p:sp>
      <p:sp>
        <p:nvSpPr>
          <p:cNvPr id="22" name="!!str1"/>
          <p:cNvSpPr txBox="1"/>
          <p:nvPr/>
        </p:nvSpPr>
        <p:spPr>
          <a:xfrm>
            <a:off x="5486400" y="2980944"/>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result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worker</a:t>
            </a:r>
            <a:endParaRPr lang="en-US" sz="1400" dirty="0"/>
          </a:p>
        </p:txBody>
      </p:sp>
      <p:sp>
        <p:nvSpPr>
          <p:cNvPr id="23" name="!!str2"/>
          <p:cNvSpPr txBox="1"/>
          <p:nvPr/>
        </p:nvSpPr>
        <p:spPr>
          <a:xfrm>
            <a:off x="5486400" y="3456432"/>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status</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checker</a:t>
            </a:r>
            <a:endParaRPr lang="en-US" sz="1400" dirty="0"/>
          </a:p>
        </p:txBody>
      </p:sp>
      <p:sp>
        <p:nvSpPr>
          <p:cNvPr id="24" name="!!panel"/>
          <p:cNvSpPr/>
          <p:nvPr/>
        </p:nvSpPr>
        <p:spPr>
          <a:xfrm>
            <a:off x="7269480" y="1463040"/>
            <a:ext cx="4507992" cy="3977640"/>
          </a:xfrm>
          <a:prstGeom prst="roundRect">
            <a:avLst>
              <a:gd name="adj" fmla="val 1839"/>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5" name="!!ptitle"/>
          <p:cNvSpPr txBox="1"/>
          <p:nvPr/>
        </p:nvSpPr>
        <p:spPr>
          <a:xfrm>
            <a:off x="7543800" y="1645920"/>
            <a:ext cx="3959352" cy="411480"/>
          </a:xfrm>
          <a:prstGeom prst="rect">
            <a:avLst/>
          </a:prstGeom>
          <a:noFill/>
          <a:ln/>
        </p:spPr>
        <p:txBody>
          <a:bodyPr wrap="square" lIns="0" tIns="0" rIns="0" bIns="0" rtlCol="0" anchor="ctr"/>
          <a:lstStyle/>
          <a:p>
            <a:pPr algn="l" indent="0" marL="0">
              <a:buNone/>
            </a:pPr>
            <a:r>
              <a:rPr lang="en-US" sz="2000" b="1" dirty="0">
                <a:solidFill>
                  <a:srgbClr val="3C3489"/>
                </a:solidFill>
                <a:latin typeface="Calibri" pitchFamily="34" charset="0"/>
                <a:ea typeface="Calibri" pitchFamily="34" charset="-122"/>
                <a:cs typeface="Calibri" pitchFamily="34" charset="-120"/>
              </a:rPr>
              <a:t>Edge</a:t>
            </a:r>
            <a:endParaRPr lang="en-US" sz="2000" dirty="0"/>
          </a:p>
        </p:txBody>
      </p:sp>
      <p:sp>
        <p:nvSpPr>
          <p:cNvPr id="26" name="!!pl1"/>
          <p:cNvSpPr txBox="1"/>
          <p:nvPr/>
        </p:nvSpPr>
        <p:spPr>
          <a:xfrm>
            <a:off x="7543800" y="2176272"/>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WHAT IT IS</a:t>
            </a:r>
            <a:endParaRPr lang="en-US" sz="1050" dirty="0"/>
          </a:p>
        </p:txBody>
      </p:sp>
      <p:sp>
        <p:nvSpPr>
          <p:cNvPr id="27" name="!!pwhat"/>
          <p:cNvSpPr txBox="1"/>
          <p:nvPr/>
        </p:nvSpPr>
        <p:spPr>
          <a:xfrm>
            <a:off x="7543800" y="2404872"/>
            <a:ext cx="3959352" cy="566928"/>
          </a:xfrm>
          <a:prstGeom prst="rect">
            <a:avLst/>
          </a:prstGeom>
          <a:noFill/>
          <a:ln/>
        </p:spPr>
        <p:txBody>
          <a:bodyPr wrap="square" lIns="0" tIns="0" rIns="0" bIns="0" rtlCol="0" anchor="t"/>
          <a:lstStyle/>
          <a:p>
            <a:pPr algn="l" indent="0" marL="0">
              <a:buNone/>
            </a:pPr>
            <a:r>
              <a:rPr lang="en-US" sz="1350" dirty="0">
                <a:solidFill>
                  <a:srgbClr val="2C2C2A"/>
                </a:solidFill>
                <a:latin typeface="Calibri" pitchFamily="34" charset="0"/>
                <a:ea typeface="Calibri" pitchFamily="34" charset="-122"/>
                <a:cs typeface="Calibri" pitchFamily="34" charset="-120"/>
              </a:rPr>
              <a:t>A fixed hand-off: when one node finishes, the next one runs.</a:t>
            </a:r>
            <a:endParaRPr lang="en-US" sz="1350" dirty="0"/>
          </a:p>
        </p:txBody>
      </p:sp>
      <p:sp>
        <p:nvSpPr>
          <p:cNvPr id="28" name="!!pl2"/>
          <p:cNvSpPr txBox="1"/>
          <p:nvPr/>
        </p:nvSpPr>
        <p:spPr>
          <a:xfrm>
            <a:off x="7543800" y="3017520"/>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IN THIS GRAPH</a:t>
            </a:r>
            <a:endParaRPr lang="en-US" sz="1050" dirty="0"/>
          </a:p>
        </p:txBody>
      </p:sp>
      <p:sp>
        <p:nvSpPr>
          <p:cNvPr id="29" name="!!phere"/>
          <p:cNvSpPr txBox="1"/>
          <p:nvPr/>
        </p:nvSpPr>
        <p:spPr>
          <a:xfrm>
            <a:off x="7543800" y="3246120"/>
            <a:ext cx="3959352" cy="56692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START → worker → checker. Nobody decides this at run time; it is wired in.</a:t>
            </a:r>
            <a:endParaRPr lang="en-US" sz="1300" dirty="0"/>
          </a:p>
        </p:txBody>
      </p:sp>
      <p:sp>
        <p:nvSpPr>
          <p:cNvPr id="30" name="!!plike"/>
          <p:cNvSpPr/>
          <p:nvPr/>
        </p:nvSpPr>
        <p:spPr>
          <a:xfrm>
            <a:off x="7543800" y="3886200"/>
            <a:ext cx="3959352" cy="457200"/>
          </a:xfrm>
          <a:prstGeom prst="roundRect">
            <a:avLst>
              <a:gd name="adj" fmla="val 12000"/>
            </a:avLst>
          </a:prstGeom>
          <a:solidFill>
            <a:srgbClr val="E1F5EE"/>
          </a:solidFill>
          <a:ln w="1270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Think of it as  </a:t>
            </a:r>
            <a:pPr algn="l" indent="0" marL="0">
              <a:buNone/>
            </a:pPr>
            <a:r>
              <a:rPr lang="en-US" sz="1250" dirty="0">
                <a:solidFill>
                  <a:srgbClr val="085041"/>
                </a:solidFill>
                <a:latin typeface="Calibri" pitchFamily="34" charset="0"/>
                <a:ea typeface="Calibri" pitchFamily="34" charset="-122"/>
                <a:cs typeface="Calibri" pitchFamily="34" charset="-120"/>
              </a:rPr>
              <a:t>Passing the file to the next desk, always the same desk.</a:t>
            </a:r>
            <a:endParaRPr lang="en-US" sz="1250" dirty="0"/>
          </a:p>
        </p:txBody>
      </p:sp>
      <p:sp>
        <p:nvSpPr>
          <p:cNvPr id="31" name="!!pcode"/>
          <p:cNvSpPr/>
          <p:nvPr/>
        </p:nvSpPr>
        <p:spPr>
          <a:xfrm>
            <a:off x="7543800" y="4453128"/>
            <a:ext cx="3959352" cy="786384"/>
          </a:xfrm>
          <a:prstGeom prst="roundRect">
            <a:avLst>
              <a:gd name="adj" fmla="val 4651"/>
            </a:avLst>
          </a:prstGeom>
          <a:solidFill>
            <a:srgbClr val="F7F6F2"/>
          </a:solidFill>
          <a:ln w="6350">
            <a:solidFill>
              <a:srgbClr val="D3D1C7"/>
            </a:solidFill>
            <a:prstDash val="solid"/>
          </a:ln>
        </p:spPr>
        <p:txBody>
          <a:bodyPr wrap="square" lIns="101600" tIns="101600" rIns="101600" bIns="101600" rtlCol="0" anchor="ctr"/>
          <a:lstStyle/>
          <a:p>
            <a:pPr algn="l" indent="0" marL="0">
              <a:buNone/>
            </a:pPr>
            <a:r>
              <a:rPr lang="en-US" sz="1000" dirty="0">
                <a:solidFill>
                  <a:srgbClr val="2C2C2A"/>
                </a:solidFill>
                <a:latin typeface="Consolas" pitchFamily="34" charset="0"/>
                <a:ea typeface="Consolas" pitchFamily="34" charset="-122"/>
                <a:cs typeface="Consolas" pitchFamily="34" charset="-120"/>
              </a:rPr>
              <a:t>g.add_edge(START, "worker")</a:t>
            </a: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g.add_edge("worker", "checker")</a:t>
            </a:r>
            <a:endParaRPr lang="en-US" sz="1000" dirty="0"/>
          </a:p>
        </p:txBody>
      </p:sp>
      <p:sp>
        <p:nvSpPr>
          <p:cNvPr id="32" name="!!btn0">
            <a:hlinkClick action="ppaction://hlinksldjump" r:id="rId1"/>
          </p:cNvPr>
          <p:cNvSpPr/>
          <p:nvPr/>
        </p:nvSpPr>
        <p:spPr>
          <a:xfrm>
            <a:off x="41148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1" action="ppaction://hlinksldjump" tooltip="How to read it">
                  <a:extLst>
                    <a:ext uri="{A12FA001-AC4F-418D-AE19-62706E023703}">
                      <ahyp:hlinkClr xmlns:ahyp="http://schemas.microsoft.com/office/drawing/2018/hyperlinkcolor" val="tx"/>
                    </a:ext>
                  </a:extLst>
                </a:hlinkClick>
              </a:rPr>
              <a:t>Overview</a:t>
            </a:r>
            <a:endParaRPr lang="en-US" sz="1250" dirty="0"/>
          </a:p>
        </p:txBody>
      </p:sp>
      <p:sp>
        <p:nvSpPr>
          <p:cNvPr id="33" name="!!btn1">
            <a:hlinkClick action="ppaction://hlinksldjump" r:id="rId2"/>
          </p:cNvPr>
          <p:cNvSpPr/>
          <p:nvPr/>
        </p:nvSpPr>
        <p:spPr>
          <a:xfrm>
            <a:off x="204825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2" action="ppaction://hlinksldjump" tooltip="Node">
                  <a:extLst>
                    <a:ext uri="{A12FA001-AC4F-418D-AE19-62706E023703}">
                      <ahyp:hlinkClr xmlns:ahyp="http://schemas.microsoft.com/office/drawing/2018/hyperlinkcolor" val="tx"/>
                    </a:ext>
                  </a:extLst>
                </a:hlinkClick>
              </a:rPr>
              <a:t>Node</a:t>
            </a:r>
            <a:endParaRPr lang="en-US" sz="1250" dirty="0"/>
          </a:p>
        </p:txBody>
      </p:sp>
      <p:sp>
        <p:nvSpPr>
          <p:cNvPr id="34" name="!!btn2">
            <a:hlinkClick action="ppaction://hlinksldjump" r:id="rId3"/>
          </p:cNvPr>
          <p:cNvSpPr/>
          <p:nvPr/>
        </p:nvSpPr>
        <p:spPr>
          <a:xfrm>
            <a:off x="3685032" y="5669280"/>
            <a:ext cx="1545336" cy="420624"/>
          </a:xfrm>
          <a:prstGeom prst="roundRect">
            <a:avLst>
              <a:gd name="adj" fmla="val 50000"/>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50" b="1" u="none" dirty="0">
                <a:solidFill>
                  <a:srgbClr val="FFFFFF"/>
                </a:solidFill>
                <a:latin typeface="Calibri" pitchFamily="34" charset="0"/>
                <a:ea typeface="Calibri" pitchFamily="34" charset="-122"/>
                <a:cs typeface="Calibri" pitchFamily="34" charset="-120"/>
                <a:hlinkClick r:id="rId3" action="ppaction://hlinksldjump" tooltip="Edge">
                  <a:extLst>
                    <a:ext uri="{A12FA001-AC4F-418D-AE19-62706E023703}">
                      <ahyp:hlinkClr xmlns:ahyp="http://schemas.microsoft.com/office/drawing/2018/hyperlinkcolor" val="tx"/>
                    </a:ext>
                  </a:extLst>
                </a:hlinkClick>
              </a:rPr>
              <a:t>Edge</a:t>
            </a:r>
            <a:endParaRPr lang="en-US" sz="1250" dirty="0"/>
          </a:p>
        </p:txBody>
      </p:sp>
      <p:sp>
        <p:nvSpPr>
          <p:cNvPr id="35" name="!!btn3">
            <a:hlinkClick action="ppaction://hlinksldjump" r:id="rId4"/>
          </p:cNvPr>
          <p:cNvSpPr/>
          <p:nvPr/>
        </p:nvSpPr>
        <p:spPr>
          <a:xfrm>
            <a:off x="5321808"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4" action="ppaction://hlinksldjump" tooltip="Conditional edge">
                  <a:extLst>
                    <a:ext uri="{A12FA001-AC4F-418D-AE19-62706E023703}">
                      <ahyp:hlinkClr xmlns:ahyp="http://schemas.microsoft.com/office/drawing/2018/hyperlinkcolor" val="tx"/>
                    </a:ext>
                  </a:extLst>
                </a:hlinkClick>
              </a:rPr>
              <a:t>Conditional edge</a:t>
            </a:r>
            <a:endParaRPr lang="en-US" sz="1250" dirty="0"/>
          </a:p>
        </p:txBody>
      </p:sp>
      <p:sp>
        <p:nvSpPr>
          <p:cNvPr id="36" name="!!btn4">
            <a:hlinkClick action="ppaction://hlinksldjump" r:id="rId5"/>
          </p:cNvPr>
          <p:cNvSpPr/>
          <p:nvPr/>
        </p:nvSpPr>
        <p:spPr>
          <a:xfrm>
            <a:off x="6958584"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5" action="ppaction://hlinksldjump" tooltip="State">
                  <a:extLst>
                    <a:ext uri="{A12FA001-AC4F-418D-AE19-62706E023703}">
                      <ahyp:hlinkClr xmlns:ahyp="http://schemas.microsoft.com/office/drawing/2018/hyperlinkcolor" val="tx"/>
                    </a:ext>
                  </a:extLst>
                </a:hlinkClick>
              </a:rPr>
              <a:t>State</a:t>
            </a:r>
            <a:endParaRPr lang="en-US" sz="1250" dirty="0"/>
          </a:p>
        </p:txBody>
      </p:sp>
      <p:sp>
        <p:nvSpPr>
          <p:cNvPr id="37" name="!!btn5">
            <a:hlinkClick action="ppaction://hlinksldjump" r:id="rId6"/>
          </p:cNvPr>
          <p:cNvSpPr/>
          <p:nvPr/>
        </p:nvSpPr>
        <p:spPr>
          <a:xfrm>
            <a:off x="859536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6" action="ppaction://hlinksldjump" tooltip="Subgraph">
                  <a:extLst>
                    <a:ext uri="{A12FA001-AC4F-418D-AE19-62706E023703}">
                      <ahyp:hlinkClr xmlns:ahyp="http://schemas.microsoft.com/office/drawing/2018/hyperlinkcolor" val="tx"/>
                    </a:ext>
                  </a:extLst>
                </a:hlinkClick>
              </a:rPr>
              <a:t>Subgraph</a:t>
            </a:r>
            <a:endParaRPr lang="en-US" sz="1250" dirty="0"/>
          </a:p>
        </p:txBody>
      </p:sp>
      <p:sp>
        <p:nvSpPr>
          <p:cNvPr id="38" name="!!btn6">
            <a:hlinkClick action="ppaction://hlinksldjump" r:id="rId7"/>
          </p:cNvPr>
          <p:cNvSpPr/>
          <p:nvPr/>
        </p:nvSpPr>
        <p:spPr>
          <a:xfrm>
            <a:off x="1023213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7" action="ppaction://hlinksldjump" tooltip="Checkpointer">
                  <a:extLst>
                    <a:ext uri="{A12FA001-AC4F-418D-AE19-62706E023703}">
                      <ahyp:hlinkClr xmlns:ahyp="http://schemas.microsoft.com/office/drawing/2018/hyperlinkcolor" val="tx"/>
                    </a:ext>
                  </a:extLst>
                </a:hlinkClick>
              </a:rPr>
              <a:t>Checkpointer</a:t>
            </a:r>
            <a:endParaRPr lang="en-US" sz="12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Reading the Graph: What Each Part Does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The same graph as the last slide, one part at a time. Click a button to see what that part does, in plain words and in code.</a:t>
            </a:r>
            <a:endParaRPr lang="en-US" sz="1400" dirty="0"/>
          </a:p>
        </p:txBody>
      </p:sp>
      <p:sp>
        <p:nvSpPr>
          <p:cNvPr id="5" name="!!gs"/>
          <p:cNvSpPr/>
          <p:nvPr/>
        </p:nvSpPr>
        <p:spPr>
          <a:xfrm>
            <a:off x="3108960" y="157276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START</a:t>
            </a:r>
            <a:endParaRPr lang="en-US" sz="1100" dirty="0"/>
          </a:p>
        </p:txBody>
      </p:sp>
      <p:sp>
        <p:nvSpPr>
          <p:cNvPr id="6" name="!!e1"/>
          <p:cNvSpPr/>
          <p:nvPr/>
        </p:nvSpPr>
        <p:spPr>
          <a:xfrm>
            <a:off x="3611880" y="1901952"/>
            <a:ext cx="914" cy="219456"/>
          </a:xfrm>
          <a:prstGeom prst="line">
            <a:avLst/>
          </a:prstGeom>
          <a:noFill/>
          <a:ln w="15875">
            <a:solidFill>
              <a:srgbClr val="E3E1D8"/>
            </a:solidFill>
            <a:prstDash val="solid"/>
            <a:tailEnd type="triangle"/>
          </a:ln>
        </p:spPr>
        <p:txBody>
          <a:bodyPr/>
          <a:p/>
        </p:txBody>
      </p:sp>
      <p:sp>
        <p:nvSpPr>
          <p:cNvPr id="7" name="!!gw"/>
          <p:cNvSpPr/>
          <p:nvPr/>
        </p:nvSpPr>
        <p:spPr>
          <a:xfrm>
            <a:off x="2606040" y="2121408"/>
            <a:ext cx="2011680" cy="731520"/>
          </a:xfrm>
          <a:prstGeom prst="roundRect">
            <a:avLst>
              <a:gd name="adj" fmla="val 1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500" b="1" dirty="0">
                <a:solidFill>
                  <a:srgbClr val="B4B2A9"/>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B4B2A9"/>
                </a:solidFill>
                <a:latin typeface="Calibri" pitchFamily="34" charset="0"/>
                <a:ea typeface="Calibri" pitchFamily="34" charset="-122"/>
                <a:cs typeface="Calibri" pitchFamily="34" charset="-120"/>
              </a:rPr>
              <a:t>does the job</a:t>
            </a:r>
            <a:endParaRPr lang="en-US" sz="1200" dirty="0"/>
          </a:p>
        </p:txBody>
      </p:sp>
      <p:sp>
        <p:nvSpPr>
          <p:cNvPr id="8" name="!!e2"/>
          <p:cNvSpPr/>
          <p:nvPr/>
        </p:nvSpPr>
        <p:spPr>
          <a:xfrm>
            <a:off x="3611880" y="2852928"/>
            <a:ext cx="914" cy="411480"/>
          </a:xfrm>
          <a:prstGeom prst="line">
            <a:avLst/>
          </a:prstGeom>
          <a:noFill/>
          <a:ln w="15875">
            <a:solidFill>
              <a:srgbClr val="E3E1D8"/>
            </a:solidFill>
            <a:prstDash val="solid"/>
            <a:tailEnd type="triangle"/>
          </a:ln>
        </p:spPr>
        <p:txBody>
          <a:bodyPr/>
          <a:p/>
        </p:txBody>
      </p:sp>
      <p:sp>
        <p:nvSpPr>
          <p:cNvPr id="9" name="!!gc"/>
          <p:cNvSpPr/>
          <p:nvPr/>
        </p:nvSpPr>
        <p:spPr>
          <a:xfrm>
            <a:off x="2606040" y="3264408"/>
            <a:ext cx="2011680" cy="731520"/>
          </a:xfrm>
          <a:prstGeom prst="roundRect">
            <a:avLst>
              <a:gd name="adj" fmla="val 1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500" b="1" dirty="0">
                <a:solidFill>
                  <a:srgbClr val="B4B2A9"/>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B4B2A9"/>
                </a:solidFill>
                <a:latin typeface="Calibri" pitchFamily="34" charset="0"/>
                <a:ea typeface="Calibri" pitchFamily="34" charset="-122"/>
                <a:cs typeface="Calibri" pitchFamily="34" charset="-120"/>
              </a:rPr>
              <a:t>verifies the work</a:t>
            </a:r>
            <a:endParaRPr lang="en-US" sz="1200" dirty="0"/>
          </a:p>
        </p:txBody>
      </p:sp>
      <p:sp>
        <p:nvSpPr>
          <p:cNvPr id="10" name="!!e3"/>
          <p:cNvSpPr/>
          <p:nvPr/>
        </p:nvSpPr>
        <p:spPr>
          <a:xfrm>
            <a:off x="3611880" y="3995928"/>
            <a:ext cx="914" cy="411480"/>
          </a:xfrm>
          <a:prstGeom prst="line">
            <a:avLst/>
          </a:prstGeom>
          <a:noFill/>
          <a:ln w="31750">
            <a:solidFill>
              <a:srgbClr val="5F5E5A"/>
            </a:solidFill>
            <a:prstDash val="solid"/>
            <a:tailEnd type="triangle"/>
          </a:ln>
        </p:spPr>
        <p:txBody>
          <a:bodyPr/>
          <a:p/>
        </p:txBody>
      </p:sp>
      <p:sp>
        <p:nvSpPr>
          <p:cNvPr id="11" name="!!gpass"/>
          <p:cNvSpPr txBox="1"/>
          <p:nvPr/>
        </p:nvSpPr>
        <p:spPr>
          <a:xfrm>
            <a:off x="3703320" y="4050792"/>
            <a:ext cx="548640" cy="274320"/>
          </a:xfrm>
          <a:prstGeom prst="rect">
            <a:avLst/>
          </a:prstGeom>
          <a:noFill/>
          <a:ln/>
        </p:spPr>
        <p:txBody>
          <a:bodyPr wrap="square" lIns="0" tIns="0" rIns="0" bIns="0" rtlCol="0" anchor="t"/>
          <a:lstStyle/>
          <a:p>
            <a:pPr algn="l" indent="0" marL="0">
              <a:buNone/>
            </a:pPr>
            <a:r>
              <a:rPr lang="en-US" sz="1100" b="1" dirty="0">
                <a:solidFill>
                  <a:srgbClr val="085041"/>
                </a:solidFill>
                <a:latin typeface="Calibri" pitchFamily="34" charset="0"/>
                <a:ea typeface="Calibri" pitchFamily="34" charset="-122"/>
                <a:cs typeface="Calibri" pitchFamily="34" charset="-120"/>
              </a:rPr>
              <a:t>pass</a:t>
            </a:r>
            <a:endParaRPr lang="en-US" sz="1100" dirty="0"/>
          </a:p>
        </p:txBody>
      </p:sp>
      <p:sp>
        <p:nvSpPr>
          <p:cNvPr id="12" name="!!gend"/>
          <p:cNvSpPr/>
          <p:nvPr/>
        </p:nvSpPr>
        <p:spPr>
          <a:xfrm>
            <a:off x="3108960" y="440740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END</a:t>
            </a:r>
            <a:endParaRPr lang="en-US" sz="1100" dirty="0"/>
          </a:p>
        </p:txBody>
      </p:sp>
      <p:sp>
        <p:nvSpPr>
          <p:cNvPr id="13" name="!!gf1"/>
          <p:cNvSpPr/>
          <p:nvPr/>
        </p:nvSpPr>
        <p:spPr>
          <a:xfrm flipH="1">
            <a:off x="2103120" y="3630168"/>
            <a:ext cx="502920" cy="914"/>
          </a:xfrm>
          <a:prstGeom prst="line">
            <a:avLst/>
          </a:prstGeom>
          <a:noFill/>
          <a:ln w="31750">
            <a:solidFill>
              <a:srgbClr val="993C1D"/>
            </a:solidFill>
            <a:prstDash val="dash"/>
          </a:ln>
        </p:spPr>
        <p:txBody>
          <a:bodyPr/>
          <a:p/>
        </p:txBody>
      </p:sp>
      <p:sp>
        <p:nvSpPr>
          <p:cNvPr id="14" name="!!gf2"/>
          <p:cNvSpPr/>
          <p:nvPr/>
        </p:nvSpPr>
        <p:spPr>
          <a:xfrm flipV="1">
            <a:off x="2103120" y="2487168"/>
            <a:ext cx="914" cy="1143000"/>
          </a:xfrm>
          <a:prstGeom prst="line">
            <a:avLst/>
          </a:prstGeom>
          <a:noFill/>
          <a:ln w="31750">
            <a:solidFill>
              <a:srgbClr val="993C1D"/>
            </a:solidFill>
            <a:prstDash val="dash"/>
          </a:ln>
        </p:spPr>
        <p:txBody>
          <a:bodyPr/>
          <a:p/>
        </p:txBody>
      </p:sp>
      <p:sp>
        <p:nvSpPr>
          <p:cNvPr id="15" name="!!gf3"/>
          <p:cNvSpPr/>
          <p:nvPr/>
        </p:nvSpPr>
        <p:spPr>
          <a:xfrm>
            <a:off x="2103120" y="2487168"/>
            <a:ext cx="484632" cy="914"/>
          </a:xfrm>
          <a:prstGeom prst="line">
            <a:avLst/>
          </a:prstGeom>
          <a:noFill/>
          <a:ln w="31750">
            <a:solidFill>
              <a:srgbClr val="993C1D"/>
            </a:solidFill>
            <a:prstDash val="dash"/>
            <a:tailEnd type="triangle"/>
          </a:ln>
        </p:spPr>
        <p:txBody>
          <a:bodyPr/>
          <a:p/>
        </p:txBody>
      </p:sp>
      <p:sp>
        <p:nvSpPr>
          <p:cNvPr id="16" name="!!gfail"/>
          <p:cNvSpPr txBox="1"/>
          <p:nvPr/>
        </p:nvSpPr>
        <p:spPr>
          <a:xfrm>
            <a:off x="1645920" y="3081528"/>
            <a:ext cx="411480" cy="274320"/>
          </a:xfrm>
          <a:prstGeom prst="rect">
            <a:avLst/>
          </a:prstGeom>
          <a:noFill/>
          <a:ln/>
        </p:spPr>
        <p:txBody>
          <a:bodyPr wrap="square" lIns="0" tIns="0" rIns="0" bIns="0" rtlCol="0" anchor="t"/>
          <a:lstStyle/>
          <a:p>
            <a:pPr algn="r" indent="0" marL="0">
              <a:buNone/>
            </a:pPr>
            <a:r>
              <a:rPr lang="en-US" sz="1100" b="1" dirty="0">
                <a:solidFill>
                  <a:srgbClr val="712B13"/>
                </a:solidFill>
                <a:latin typeface="Calibri" pitchFamily="34" charset="0"/>
                <a:ea typeface="Calibri" pitchFamily="34" charset="-122"/>
                <a:cs typeface="Calibri" pitchFamily="34" charset="-120"/>
              </a:rPr>
              <a:t>fail</a:t>
            </a:r>
            <a:endParaRPr lang="en-US" sz="1100" dirty="0"/>
          </a:p>
        </p:txBody>
      </p:sp>
      <p:sp>
        <p:nvSpPr>
          <p:cNvPr id="17" name="!!sl1"/>
          <p:cNvSpPr/>
          <p:nvPr/>
        </p:nvSpPr>
        <p:spPr>
          <a:xfrm>
            <a:off x="4617720" y="2487168"/>
            <a:ext cx="731520" cy="914"/>
          </a:xfrm>
          <a:prstGeom prst="line">
            <a:avLst/>
          </a:prstGeom>
          <a:noFill/>
          <a:ln w="9525">
            <a:solidFill>
              <a:srgbClr val="E3E1D8"/>
            </a:solidFill>
            <a:prstDash val="dash"/>
          </a:ln>
        </p:spPr>
        <p:txBody>
          <a:bodyPr/>
          <a:p/>
        </p:txBody>
      </p:sp>
      <p:sp>
        <p:nvSpPr>
          <p:cNvPr id="18" name="!!sl2"/>
          <p:cNvSpPr/>
          <p:nvPr/>
        </p:nvSpPr>
        <p:spPr>
          <a:xfrm>
            <a:off x="4617720" y="3630168"/>
            <a:ext cx="731520" cy="914"/>
          </a:xfrm>
          <a:prstGeom prst="line">
            <a:avLst/>
          </a:prstGeom>
          <a:noFill/>
          <a:ln w="9525">
            <a:solidFill>
              <a:srgbClr val="E3E1D8"/>
            </a:solidFill>
            <a:prstDash val="dash"/>
          </a:ln>
        </p:spPr>
        <p:txBody>
          <a:bodyPr/>
          <a:p/>
        </p:txBody>
      </p:sp>
      <p:sp>
        <p:nvSpPr>
          <p:cNvPr id="19" name="!!st"/>
          <p:cNvSpPr/>
          <p:nvPr/>
        </p:nvSpPr>
        <p:spPr>
          <a:xfrm>
            <a:off x="5349240" y="2121408"/>
            <a:ext cx="1600200" cy="1874520"/>
          </a:xfrm>
          <a:prstGeom prst="roundRect">
            <a:avLst>
              <a:gd name="adj" fmla="val 4571"/>
            </a:avLst>
          </a:prstGeom>
          <a:solidFill>
            <a:srgbClr val="FAFAF7"/>
          </a:solidFill>
          <a:ln w="12700">
            <a:solidFill>
              <a:srgbClr val="E3E1D8"/>
            </a:solidFill>
            <a:prstDash val="solid"/>
          </a:ln>
        </p:spPr>
        <p:txBody>
          <a:bodyPr wrap="square" lIns="50800" tIns="50800" rIns="50800" bIns="50800" rtlCol="0" anchor="ctr"/>
          <a:lstStyle/>
          <a:p>
            <a:pPr algn="ctr" indent="0" marL="0">
              <a:buNone/>
            </a:pPr>
            <a:endParaRPr lang="en-US" sz="1200" dirty="0"/>
          </a:p>
        </p:txBody>
      </p:sp>
      <p:sp>
        <p:nvSpPr>
          <p:cNvPr id="20" name="!!sth"/>
          <p:cNvSpPr txBox="1"/>
          <p:nvPr/>
        </p:nvSpPr>
        <p:spPr>
          <a:xfrm>
            <a:off x="5486400" y="2212848"/>
            <a:ext cx="1325880" cy="274320"/>
          </a:xfrm>
          <a:prstGeom prst="rect">
            <a:avLst/>
          </a:prstGeom>
          <a:noFill/>
          <a:ln/>
        </p:spPr>
        <p:txBody>
          <a:bodyPr wrap="square" lIns="0" tIns="0" rIns="0" bIns="0" rtlCol="0" anchor="t"/>
          <a:lstStyle/>
          <a:p>
            <a:pPr algn="l" indent="0" marL="0">
              <a:buNone/>
            </a:pPr>
            <a:r>
              <a:rPr lang="en-US" sz="1300" b="1" dirty="0">
                <a:solidFill>
                  <a:srgbClr val="B4B2A9"/>
                </a:solidFill>
                <a:latin typeface="Calibri" pitchFamily="34" charset="0"/>
                <a:ea typeface="Calibri" pitchFamily="34" charset="-122"/>
                <a:cs typeface="Calibri" pitchFamily="34" charset="-120"/>
              </a:rPr>
              <a:t>State</a:t>
            </a:r>
            <a:endParaRPr lang="en-US" sz="1300" dirty="0"/>
          </a:p>
        </p:txBody>
      </p:sp>
      <p:sp>
        <p:nvSpPr>
          <p:cNvPr id="21" name="!!str0"/>
          <p:cNvSpPr txBox="1"/>
          <p:nvPr/>
        </p:nvSpPr>
        <p:spPr>
          <a:xfrm>
            <a:off x="5486400" y="2505456"/>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ticket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input</a:t>
            </a:r>
            <a:endParaRPr lang="en-US" sz="1400" dirty="0"/>
          </a:p>
        </p:txBody>
      </p:sp>
      <p:sp>
        <p:nvSpPr>
          <p:cNvPr id="22" name="!!str1"/>
          <p:cNvSpPr txBox="1"/>
          <p:nvPr/>
        </p:nvSpPr>
        <p:spPr>
          <a:xfrm>
            <a:off x="5486400" y="2980944"/>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result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worker</a:t>
            </a:r>
            <a:endParaRPr lang="en-US" sz="1400" dirty="0"/>
          </a:p>
        </p:txBody>
      </p:sp>
      <p:sp>
        <p:nvSpPr>
          <p:cNvPr id="23" name="!!str2"/>
          <p:cNvSpPr txBox="1"/>
          <p:nvPr/>
        </p:nvSpPr>
        <p:spPr>
          <a:xfrm>
            <a:off x="5486400" y="3456432"/>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status</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checker</a:t>
            </a:r>
            <a:endParaRPr lang="en-US" sz="1400" dirty="0"/>
          </a:p>
        </p:txBody>
      </p:sp>
      <p:sp>
        <p:nvSpPr>
          <p:cNvPr id="24" name="!!panel"/>
          <p:cNvSpPr/>
          <p:nvPr/>
        </p:nvSpPr>
        <p:spPr>
          <a:xfrm>
            <a:off x="7269480" y="1463040"/>
            <a:ext cx="4507992" cy="3977640"/>
          </a:xfrm>
          <a:prstGeom prst="roundRect">
            <a:avLst>
              <a:gd name="adj" fmla="val 1839"/>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5" name="!!ptitle"/>
          <p:cNvSpPr txBox="1"/>
          <p:nvPr/>
        </p:nvSpPr>
        <p:spPr>
          <a:xfrm>
            <a:off x="7543800" y="1645920"/>
            <a:ext cx="3959352" cy="411480"/>
          </a:xfrm>
          <a:prstGeom prst="rect">
            <a:avLst/>
          </a:prstGeom>
          <a:noFill/>
          <a:ln/>
        </p:spPr>
        <p:txBody>
          <a:bodyPr wrap="square" lIns="0" tIns="0" rIns="0" bIns="0" rtlCol="0" anchor="ctr"/>
          <a:lstStyle/>
          <a:p>
            <a:pPr algn="l" indent="0" marL="0">
              <a:buNone/>
            </a:pPr>
            <a:r>
              <a:rPr lang="en-US" sz="2000" b="1" dirty="0">
                <a:solidFill>
                  <a:srgbClr val="3C3489"/>
                </a:solidFill>
                <a:latin typeface="Calibri" pitchFamily="34" charset="0"/>
                <a:ea typeface="Calibri" pitchFamily="34" charset="-122"/>
                <a:cs typeface="Calibri" pitchFamily="34" charset="-120"/>
              </a:rPr>
              <a:t>Conditional edge</a:t>
            </a:r>
            <a:endParaRPr lang="en-US" sz="2000" dirty="0"/>
          </a:p>
        </p:txBody>
      </p:sp>
      <p:sp>
        <p:nvSpPr>
          <p:cNvPr id="26" name="!!pl1"/>
          <p:cNvSpPr txBox="1"/>
          <p:nvPr/>
        </p:nvSpPr>
        <p:spPr>
          <a:xfrm>
            <a:off x="7543800" y="2176272"/>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WHAT IT IS</a:t>
            </a:r>
            <a:endParaRPr lang="en-US" sz="1050" dirty="0"/>
          </a:p>
        </p:txBody>
      </p:sp>
      <p:sp>
        <p:nvSpPr>
          <p:cNvPr id="27" name="!!pwhat"/>
          <p:cNvSpPr txBox="1"/>
          <p:nvPr/>
        </p:nvSpPr>
        <p:spPr>
          <a:xfrm>
            <a:off x="7543800" y="2404872"/>
            <a:ext cx="3959352" cy="566928"/>
          </a:xfrm>
          <a:prstGeom prst="rect">
            <a:avLst/>
          </a:prstGeom>
          <a:noFill/>
          <a:ln/>
        </p:spPr>
        <p:txBody>
          <a:bodyPr wrap="square" lIns="0" tIns="0" rIns="0" bIns="0" rtlCol="0" anchor="t"/>
          <a:lstStyle/>
          <a:p>
            <a:pPr algn="l" indent="0" marL="0">
              <a:buNone/>
            </a:pPr>
            <a:r>
              <a:rPr lang="en-US" sz="1350" dirty="0">
                <a:solidFill>
                  <a:srgbClr val="2C2C2A"/>
                </a:solidFill>
                <a:latin typeface="Calibri" pitchFamily="34" charset="0"/>
                <a:ea typeface="Calibri" pitchFamily="34" charset="-122"/>
                <a:cs typeface="Calibri" pitchFamily="34" charset="-120"/>
              </a:rPr>
              <a:t>A decision point: a small rule looks at the state and picks the next node.</a:t>
            </a:r>
            <a:endParaRPr lang="en-US" sz="1350" dirty="0"/>
          </a:p>
        </p:txBody>
      </p:sp>
      <p:sp>
        <p:nvSpPr>
          <p:cNvPr id="28" name="!!pl2"/>
          <p:cNvSpPr txBox="1"/>
          <p:nvPr/>
        </p:nvSpPr>
        <p:spPr>
          <a:xfrm>
            <a:off x="7543800" y="3017520"/>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IN THIS GRAPH</a:t>
            </a:r>
            <a:endParaRPr lang="en-US" sz="1050" dirty="0"/>
          </a:p>
        </p:txBody>
      </p:sp>
      <p:sp>
        <p:nvSpPr>
          <p:cNvPr id="29" name="!!phere"/>
          <p:cNvSpPr txBox="1"/>
          <p:nvPr/>
        </p:nvSpPr>
        <p:spPr>
          <a:xfrm>
            <a:off x="7543800" y="3246120"/>
            <a:ext cx="3959352" cy="56692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After checker: pass → END, fail → back to worker. This replaces the finish_reason if/else.</a:t>
            </a:r>
            <a:endParaRPr lang="en-US" sz="1300" dirty="0"/>
          </a:p>
        </p:txBody>
      </p:sp>
      <p:sp>
        <p:nvSpPr>
          <p:cNvPr id="30" name="!!plike"/>
          <p:cNvSpPr/>
          <p:nvPr/>
        </p:nvSpPr>
        <p:spPr>
          <a:xfrm>
            <a:off x="7543800" y="3886200"/>
            <a:ext cx="3959352" cy="457200"/>
          </a:xfrm>
          <a:prstGeom prst="roundRect">
            <a:avLst>
              <a:gd name="adj" fmla="val 12000"/>
            </a:avLst>
          </a:prstGeom>
          <a:solidFill>
            <a:srgbClr val="E1F5EE"/>
          </a:solidFill>
          <a:ln w="1270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Think of it as  </a:t>
            </a:r>
            <a:pPr algn="l" indent="0" marL="0">
              <a:buNone/>
            </a:pPr>
            <a:r>
              <a:rPr lang="en-US" sz="1250" dirty="0">
                <a:solidFill>
                  <a:srgbClr val="085041"/>
                </a:solidFill>
                <a:latin typeface="Calibri" pitchFamily="34" charset="0"/>
                <a:ea typeface="Calibri" pitchFamily="34" charset="-122"/>
                <a:cs typeface="Calibri" pitchFamily="34" charset="-120"/>
              </a:rPr>
              <a:t>An approval rule: approved goes out, rejected goes back for rework.</a:t>
            </a:r>
            <a:endParaRPr lang="en-US" sz="1250" dirty="0"/>
          </a:p>
        </p:txBody>
      </p:sp>
      <p:sp>
        <p:nvSpPr>
          <p:cNvPr id="31" name="!!pcode"/>
          <p:cNvSpPr/>
          <p:nvPr/>
        </p:nvSpPr>
        <p:spPr>
          <a:xfrm>
            <a:off x="7543800" y="4453128"/>
            <a:ext cx="3959352" cy="786384"/>
          </a:xfrm>
          <a:prstGeom prst="roundRect">
            <a:avLst>
              <a:gd name="adj" fmla="val 4651"/>
            </a:avLst>
          </a:prstGeom>
          <a:solidFill>
            <a:srgbClr val="F7F6F2"/>
          </a:solidFill>
          <a:ln w="6350">
            <a:solidFill>
              <a:srgbClr val="D3D1C7"/>
            </a:solidFill>
            <a:prstDash val="solid"/>
          </a:ln>
        </p:spPr>
        <p:txBody>
          <a:bodyPr wrap="square" lIns="101600" tIns="101600" rIns="101600" bIns="101600" rtlCol="0" anchor="ctr"/>
          <a:lstStyle/>
          <a:p>
            <a:pPr algn="l" indent="0" marL="0">
              <a:buNone/>
            </a:pPr>
            <a:r>
              <a:rPr lang="en-US" sz="1000" dirty="0">
                <a:solidFill>
                  <a:srgbClr val="2C2C2A"/>
                </a:solidFill>
                <a:latin typeface="Consolas" pitchFamily="34" charset="0"/>
                <a:ea typeface="Consolas" pitchFamily="34" charset="-122"/>
                <a:cs typeface="Consolas" pitchFamily="34" charset="-120"/>
              </a:rPr>
              <a:t>g.add_conditional_edges("checker",</a:t>
            </a: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    lambda s: END if s["status"] == "pass"</a:t>
            </a: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              else "worker")</a:t>
            </a:r>
            <a:endParaRPr lang="en-US" sz="1000" dirty="0"/>
          </a:p>
        </p:txBody>
      </p:sp>
      <p:sp>
        <p:nvSpPr>
          <p:cNvPr id="32" name="!!btn0">
            <a:hlinkClick action="ppaction://hlinksldjump" r:id="rId1"/>
          </p:cNvPr>
          <p:cNvSpPr/>
          <p:nvPr/>
        </p:nvSpPr>
        <p:spPr>
          <a:xfrm>
            <a:off x="41148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1" action="ppaction://hlinksldjump" tooltip="How to read it">
                  <a:extLst>
                    <a:ext uri="{A12FA001-AC4F-418D-AE19-62706E023703}">
                      <ahyp:hlinkClr xmlns:ahyp="http://schemas.microsoft.com/office/drawing/2018/hyperlinkcolor" val="tx"/>
                    </a:ext>
                  </a:extLst>
                </a:hlinkClick>
              </a:rPr>
              <a:t>Overview</a:t>
            </a:r>
            <a:endParaRPr lang="en-US" sz="1250" dirty="0"/>
          </a:p>
        </p:txBody>
      </p:sp>
      <p:sp>
        <p:nvSpPr>
          <p:cNvPr id="33" name="!!btn1">
            <a:hlinkClick action="ppaction://hlinksldjump" r:id="rId2"/>
          </p:cNvPr>
          <p:cNvSpPr/>
          <p:nvPr/>
        </p:nvSpPr>
        <p:spPr>
          <a:xfrm>
            <a:off x="204825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2" action="ppaction://hlinksldjump" tooltip="Node">
                  <a:extLst>
                    <a:ext uri="{A12FA001-AC4F-418D-AE19-62706E023703}">
                      <ahyp:hlinkClr xmlns:ahyp="http://schemas.microsoft.com/office/drawing/2018/hyperlinkcolor" val="tx"/>
                    </a:ext>
                  </a:extLst>
                </a:hlinkClick>
              </a:rPr>
              <a:t>Node</a:t>
            </a:r>
            <a:endParaRPr lang="en-US" sz="1250" dirty="0"/>
          </a:p>
        </p:txBody>
      </p:sp>
      <p:sp>
        <p:nvSpPr>
          <p:cNvPr id="34" name="!!btn2">
            <a:hlinkClick action="ppaction://hlinksldjump" r:id="rId3"/>
          </p:cNvPr>
          <p:cNvSpPr/>
          <p:nvPr/>
        </p:nvSpPr>
        <p:spPr>
          <a:xfrm>
            <a:off x="3685032"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3" action="ppaction://hlinksldjump" tooltip="Edge">
                  <a:extLst>
                    <a:ext uri="{A12FA001-AC4F-418D-AE19-62706E023703}">
                      <ahyp:hlinkClr xmlns:ahyp="http://schemas.microsoft.com/office/drawing/2018/hyperlinkcolor" val="tx"/>
                    </a:ext>
                  </a:extLst>
                </a:hlinkClick>
              </a:rPr>
              <a:t>Edge</a:t>
            </a:r>
            <a:endParaRPr lang="en-US" sz="1250" dirty="0"/>
          </a:p>
        </p:txBody>
      </p:sp>
      <p:sp>
        <p:nvSpPr>
          <p:cNvPr id="35" name="!!btn3">
            <a:hlinkClick action="ppaction://hlinksldjump" r:id="rId4"/>
          </p:cNvPr>
          <p:cNvSpPr/>
          <p:nvPr/>
        </p:nvSpPr>
        <p:spPr>
          <a:xfrm>
            <a:off x="5321808" y="5669280"/>
            <a:ext cx="1545336" cy="420624"/>
          </a:xfrm>
          <a:prstGeom prst="roundRect">
            <a:avLst>
              <a:gd name="adj" fmla="val 50000"/>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50" b="1" u="none" dirty="0">
                <a:solidFill>
                  <a:srgbClr val="FFFFFF"/>
                </a:solidFill>
                <a:latin typeface="Calibri" pitchFamily="34" charset="0"/>
                <a:ea typeface="Calibri" pitchFamily="34" charset="-122"/>
                <a:cs typeface="Calibri" pitchFamily="34" charset="-120"/>
                <a:hlinkClick r:id="rId4" action="ppaction://hlinksldjump" tooltip="Conditional edge">
                  <a:extLst>
                    <a:ext uri="{A12FA001-AC4F-418D-AE19-62706E023703}">
                      <ahyp:hlinkClr xmlns:ahyp="http://schemas.microsoft.com/office/drawing/2018/hyperlinkcolor" val="tx"/>
                    </a:ext>
                  </a:extLst>
                </a:hlinkClick>
              </a:rPr>
              <a:t>Conditional edge</a:t>
            </a:r>
            <a:endParaRPr lang="en-US" sz="1250" dirty="0"/>
          </a:p>
        </p:txBody>
      </p:sp>
      <p:sp>
        <p:nvSpPr>
          <p:cNvPr id="36" name="!!btn4">
            <a:hlinkClick action="ppaction://hlinksldjump" r:id="rId5"/>
          </p:cNvPr>
          <p:cNvSpPr/>
          <p:nvPr/>
        </p:nvSpPr>
        <p:spPr>
          <a:xfrm>
            <a:off x="6958584"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5" action="ppaction://hlinksldjump" tooltip="State">
                  <a:extLst>
                    <a:ext uri="{A12FA001-AC4F-418D-AE19-62706E023703}">
                      <ahyp:hlinkClr xmlns:ahyp="http://schemas.microsoft.com/office/drawing/2018/hyperlinkcolor" val="tx"/>
                    </a:ext>
                  </a:extLst>
                </a:hlinkClick>
              </a:rPr>
              <a:t>State</a:t>
            </a:r>
            <a:endParaRPr lang="en-US" sz="1250" dirty="0"/>
          </a:p>
        </p:txBody>
      </p:sp>
      <p:sp>
        <p:nvSpPr>
          <p:cNvPr id="37" name="!!btn5">
            <a:hlinkClick action="ppaction://hlinksldjump" r:id="rId6"/>
          </p:cNvPr>
          <p:cNvSpPr/>
          <p:nvPr/>
        </p:nvSpPr>
        <p:spPr>
          <a:xfrm>
            <a:off x="859536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6" action="ppaction://hlinksldjump" tooltip="Subgraph">
                  <a:extLst>
                    <a:ext uri="{A12FA001-AC4F-418D-AE19-62706E023703}">
                      <ahyp:hlinkClr xmlns:ahyp="http://schemas.microsoft.com/office/drawing/2018/hyperlinkcolor" val="tx"/>
                    </a:ext>
                  </a:extLst>
                </a:hlinkClick>
              </a:rPr>
              <a:t>Subgraph</a:t>
            </a:r>
            <a:endParaRPr lang="en-US" sz="1250" dirty="0"/>
          </a:p>
        </p:txBody>
      </p:sp>
      <p:sp>
        <p:nvSpPr>
          <p:cNvPr id="38" name="!!btn6">
            <a:hlinkClick action="ppaction://hlinksldjump" r:id="rId7"/>
          </p:cNvPr>
          <p:cNvSpPr/>
          <p:nvPr/>
        </p:nvSpPr>
        <p:spPr>
          <a:xfrm>
            <a:off x="1023213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7" action="ppaction://hlinksldjump" tooltip="Checkpointer">
                  <a:extLst>
                    <a:ext uri="{A12FA001-AC4F-418D-AE19-62706E023703}">
                      <ahyp:hlinkClr xmlns:ahyp="http://schemas.microsoft.com/office/drawing/2018/hyperlinkcolor" val="tx"/>
                    </a:ext>
                  </a:extLst>
                </a:hlinkClick>
              </a:rPr>
              <a:t>Checkpointer</a:t>
            </a:r>
            <a:endParaRPr lang="en-US" sz="12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Reading the Graph: What Each Part Does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The same graph as the last slide, one part at a time. Click a button to see what that part does, in plain words and in code.</a:t>
            </a:r>
            <a:endParaRPr lang="en-US" sz="1400" dirty="0"/>
          </a:p>
        </p:txBody>
      </p:sp>
      <p:sp>
        <p:nvSpPr>
          <p:cNvPr id="5" name="!!gs"/>
          <p:cNvSpPr/>
          <p:nvPr/>
        </p:nvSpPr>
        <p:spPr>
          <a:xfrm>
            <a:off x="3108960" y="157276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START</a:t>
            </a:r>
            <a:endParaRPr lang="en-US" sz="1100" dirty="0"/>
          </a:p>
        </p:txBody>
      </p:sp>
      <p:sp>
        <p:nvSpPr>
          <p:cNvPr id="6" name="!!e1"/>
          <p:cNvSpPr/>
          <p:nvPr/>
        </p:nvSpPr>
        <p:spPr>
          <a:xfrm>
            <a:off x="3611880" y="1901952"/>
            <a:ext cx="914" cy="219456"/>
          </a:xfrm>
          <a:prstGeom prst="line">
            <a:avLst/>
          </a:prstGeom>
          <a:noFill/>
          <a:ln w="15875">
            <a:solidFill>
              <a:srgbClr val="E3E1D8"/>
            </a:solidFill>
            <a:prstDash val="solid"/>
            <a:tailEnd type="triangle"/>
          </a:ln>
        </p:spPr>
        <p:txBody>
          <a:bodyPr/>
          <a:p/>
        </p:txBody>
      </p:sp>
      <p:sp>
        <p:nvSpPr>
          <p:cNvPr id="7" name="!!gw"/>
          <p:cNvSpPr/>
          <p:nvPr/>
        </p:nvSpPr>
        <p:spPr>
          <a:xfrm>
            <a:off x="2606040" y="2121408"/>
            <a:ext cx="2011680" cy="731520"/>
          </a:xfrm>
          <a:prstGeom prst="roundRect">
            <a:avLst>
              <a:gd name="adj" fmla="val 1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500" b="1" dirty="0">
                <a:solidFill>
                  <a:srgbClr val="B4B2A9"/>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B4B2A9"/>
                </a:solidFill>
                <a:latin typeface="Calibri" pitchFamily="34" charset="0"/>
                <a:ea typeface="Calibri" pitchFamily="34" charset="-122"/>
                <a:cs typeface="Calibri" pitchFamily="34" charset="-120"/>
              </a:rPr>
              <a:t>does the job</a:t>
            </a:r>
            <a:endParaRPr lang="en-US" sz="1200" dirty="0"/>
          </a:p>
        </p:txBody>
      </p:sp>
      <p:sp>
        <p:nvSpPr>
          <p:cNvPr id="8" name="!!e2"/>
          <p:cNvSpPr/>
          <p:nvPr/>
        </p:nvSpPr>
        <p:spPr>
          <a:xfrm>
            <a:off x="3611880" y="2852928"/>
            <a:ext cx="914" cy="411480"/>
          </a:xfrm>
          <a:prstGeom prst="line">
            <a:avLst/>
          </a:prstGeom>
          <a:noFill/>
          <a:ln w="15875">
            <a:solidFill>
              <a:srgbClr val="E3E1D8"/>
            </a:solidFill>
            <a:prstDash val="solid"/>
            <a:tailEnd type="triangle"/>
          </a:ln>
        </p:spPr>
        <p:txBody>
          <a:bodyPr/>
          <a:p/>
        </p:txBody>
      </p:sp>
      <p:sp>
        <p:nvSpPr>
          <p:cNvPr id="9" name="!!gc"/>
          <p:cNvSpPr/>
          <p:nvPr/>
        </p:nvSpPr>
        <p:spPr>
          <a:xfrm>
            <a:off x="2606040" y="3264408"/>
            <a:ext cx="2011680" cy="731520"/>
          </a:xfrm>
          <a:prstGeom prst="roundRect">
            <a:avLst>
              <a:gd name="adj" fmla="val 1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500" b="1" dirty="0">
                <a:solidFill>
                  <a:srgbClr val="B4B2A9"/>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B4B2A9"/>
                </a:solidFill>
                <a:latin typeface="Calibri" pitchFamily="34" charset="0"/>
                <a:ea typeface="Calibri" pitchFamily="34" charset="-122"/>
                <a:cs typeface="Calibri" pitchFamily="34" charset="-120"/>
              </a:rPr>
              <a:t>verifies the work</a:t>
            </a:r>
            <a:endParaRPr lang="en-US" sz="1200" dirty="0"/>
          </a:p>
        </p:txBody>
      </p:sp>
      <p:sp>
        <p:nvSpPr>
          <p:cNvPr id="10" name="!!e3"/>
          <p:cNvSpPr/>
          <p:nvPr/>
        </p:nvSpPr>
        <p:spPr>
          <a:xfrm>
            <a:off x="3611880" y="3995928"/>
            <a:ext cx="914" cy="411480"/>
          </a:xfrm>
          <a:prstGeom prst="line">
            <a:avLst/>
          </a:prstGeom>
          <a:noFill/>
          <a:ln w="15875">
            <a:solidFill>
              <a:srgbClr val="E3E1D8"/>
            </a:solidFill>
            <a:prstDash val="solid"/>
            <a:tailEnd type="triangle"/>
          </a:ln>
        </p:spPr>
        <p:txBody>
          <a:bodyPr/>
          <a:p/>
        </p:txBody>
      </p:sp>
      <p:sp>
        <p:nvSpPr>
          <p:cNvPr id="11" name="!!gpass"/>
          <p:cNvSpPr txBox="1"/>
          <p:nvPr/>
        </p:nvSpPr>
        <p:spPr>
          <a:xfrm>
            <a:off x="3703320" y="4050792"/>
            <a:ext cx="548640" cy="274320"/>
          </a:xfrm>
          <a:prstGeom prst="rect">
            <a:avLst/>
          </a:prstGeom>
          <a:noFill/>
          <a:ln/>
        </p:spPr>
        <p:txBody>
          <a:bodyPr wrap="square" lIns="0" tIns="0" rIns="0" bIns="0" rtlCol="0" anchor="t"/>
          <a:lstStyle/>
          <a:p>
            <a:pPr algn="l" indent="0" marL="0">
              <a:buNone/>
            </a:pPr>
            <a:r>
              <a:rPr lang="en-US" sz="1100" b="1" dirty="0">
                <a:solidFill>
                  <a:srgbClr val="B4B2A9"/>
                </a:solidFill>
                <a:latin typeface="Calibri" pitchFamily="34" charset="0"/>
                <a:ea typeface="Calibri" pitchFamily="34" charset="-122"/>
                <a:cs typeface="Calibri" pitchFamily="34" charset="-120"/>
              </a:rPr>
              <a:t>pass</a:t>
            </a:r>
            <a:endParaRPr lang="en-US" sz="1100" dirty="0"/>
          </a:p>
        </p:txBody>
      </p:sp>
      <p:sp>
        <p:nvSpPr>
          <p:cNvPr id="12" name="!!gend"/>
          <p:cNvSpPr/>
          <p:nvPr/>
        </p:nvSpPr>
        <p:spPr>
          <a:xfrm>
            <a:off x="3108960" y="440740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END</a:t>
            </a:r>
            <a:endParaRPr lang="en-US" sz="1100" dirty="0"/>
          </a:p>
        </p:txBody>
      </p:sp>
      <p:sp>
        <p:nvSpPr>
          <p:cNvPr id="13" name="!!gf1"/>
          <p:cNvSpPr/>
          <p:nvPr/>
        </p:nvSpPr>
        <p:spPr>
          <a:xfrm flipH="1">
            <a:off x="2103120" y="3630168"/>
            <a:ext cx="502920" cy="914"/>
          </a:xfrm>
          <a:prstGeom prst="line">
            <a:avLst/>
          </a:prstGeom>
          <a:noFill/>
          <a:ln w="15875">
            <a:solidFill>
              <a:srgbClr val="E3E1D8"/>
            </a:solidFill>
            <a:prstDash val="dash"/>
          </a:ln>
        </p:spPr>
        <p:txBody>
          <a:bodyPr/>
          <a:p/>
        </p:txBody>
      </p:sp>
      <p:sp>
        <p:nvSpPr>
          <p:cNvPr id="14" name="!!gf2"/>
          <p:cNvSpPr/>
          <p:nvPr/>
        </p:nvSpPr>
        <p:spPr>
          <a:xfrm flipV="1">
            <a:off x="2103120" y="2487168"/>
            <a:ext cx="914" cy="1143000"/>
          </a:xfrm>
          <a:prstGeom prst="line">
            <a:avLst/>
          </a:prstGeom>
          <a:noFill/>
          <a:ln w="15875">
            <a:solidFill>
              <a:srgbClr val="E3E1D8"/>
            </a:solidFill>
            <a:prstDash val="dash"/>
          </a:ln>
        </p:spPr>
        <p:txBody>
          <a:bodyPr/>
          <a:p/>
        </p:txBody>
      </p:sp>
      <p:sp>
        <p:nvSpPr>
          <p:cNvPr id="15" name="!!gf3"/>
          <p:cNvSpPr/>
          <p:nvPr/>
        </p:nvSpPr>
        <p:spPr>
          <a:xfrm>
            <a:off x="2103120" y="2487168"/>
            <a:ext cx="484632" cy="914"/>
          </a:xfrm>
          <a:prstGeom prst="line">
            <a:avLst/>
          </a:prstGeom>
          <a:noFill/>
          <a:ln w="15875">
            <a:solidFill>
              <a:srgbClr val="E3E1D8"/>
            </a:solidFill>
            <a:prstDash val="dash"/>
            <a:tailEnd type="triangle"/>
          </a:ln>
        </p:spPr>
        <p:txBody>
          <a:bodyPr/>
          <a:p/>
        </p:txBody>
      </p:sp>
      <p:sp>
        <p:nvSpPr>
          <p:cNvPr id="16" name="!!gfail"/>
          <p:cNvSpPr txBox="1"/>
          <p:nvPr/>
        </p:nvSpPr>
        <p:spPr>
          <a:xfrm>
            <a:off x="1645920" y="3081528"/>
            <a:ext cx="411480" cy="274320"/>
          </a:xfrm>
          <a:prstGeom prst="rect">
            <a:avLst/>
          </a:prstGeom>
          <a:noFill/>
          <a:ln/>
        </p:spPr>
        <p:txBody>
          <a:bodyPr wrap="square" lIns="0" tIns="0" rIns="0" bIns="0" rtlCol="0" anchor="t"/>
          <a:lstStyle/>
          <a:p>
            <a:pPr algn="r" indent="0" marL="0">
              <a:buNone/>
            </a:pPr>
            <a:r>
              <a:rPr lang="en-US" sz="1100" b="1" dirty="0">
                <a:solidFill>
                  <a:srgbClr val="B4B2A9"/>
                </a:solidFill>
                <a:latin typeface="Calibri" pitchFamily="34" charset="0"/>
                <a:ea typeface="Calibri" pitchFamily="34" charset="-122"/>
                <a:cs typeface="Calibri" pitchFamily="34" charset="-120"/>
              </a:rPr>
              <a:t>fail</a:t>
            </a:r>
            <a:endParaRPr lang="en-US" sz="1100" dirty="0"/>
          </a:p>
        </p:txBody>
      </p:sp>
      <p:sp>
        <p:nvSpPr>
          <p:cNvPr id="17" name="!!sl1"/>
          <p:cNvSpPr/>
          <p:nvPr/>
        </p:nvSpPr>
        <p:spPr>
          <a:xfrm>
            <a:off x="4617720" y="2487168"/>
            <a:ext cx="731520" cy="914"/>
          </a:xfrm>
          <a:prstGeom prst="line">
            <a:avLst/>
          </a:prstGeom>
          <a:noFill/>
          <a:ln w="25400">
            <a:solidFill>
              <a:srgbClr val="534AB7"/>
            </a:solidFill>
            <a:prstDash val="dash"/>
          </a:ln>
        </p:spPr>
        <p:txBody>
          <a:bodyPr/>
          <a:p/>
        </p:txBody>
      </p:sp>
      <p:sp>
        <p:nvSpPr>
          <p:cNvPr id="18" name="!!sl2"/>
          <p:cNvSpPr/>
          <p:nvPr/>
        </p:nvSpPr>
        <p:spPr>
          <a:xfrm>
            <a:off x="4617720" y="3630168"/>
            <a:ext cx="731520" cy="914"/>
          </a:xfrm>
          <a:prstGeom prst="line">
            <a:avLst/>
          </a:prstGeom>
          <a:noFill/>
          <a:ln w="25400">
            <a:solidFill>
              <a:srgbClr val="534AB7"/>
            </a:solidFill>
            <a:prstDash val="dash"/>
          </a:ln>
        </p:spPr>
        <p:txBody>
          <a:bodyPr/>
          <a:p/>
        </p:txBody>
      </p:sp>
      <p:sp>
        <p:nvSpPr>
          <p:cNvPr id="19" name="!!st"/>
          <p:cNvSpPr/>
          <p:nvPr/>
        </p:nvSpPr>
        <p:spPr>
          <a:xfrm>
            <a:off x="5349240" y="2121408"/>
            <a:ext cx="1600200" cy="1874520"/>
          </a:xfrm>
          <a:prstGeom prst="roundRect">
            <a:avLst>
              <a:gd name="adj" fmla="val 4571"/>
            </a:avLst>
          </a:prstGeom>
          <a:solidFill>
            <a:srgbClr val="EEEDFE"/>
          </a:solidFill>
          <a:ln w="28575">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20" name="!!sth"/>
          <p:cNvSpPr txBox="1"/>
          <p:nvPr/>
        </p:nvSpPr>
        <p:spPr>
          <a:xfrm>
            <a:off x="5486400" y="2212848"/>
            <a:ext cx="1325880" cy="274320"/>
          </a:xfrm>
          <a:prstGeom prst="rect">
            <a:avLst/>
          </a:prstGeom>
          <a:noFill/>
          <a:ln/>
        </p:spPr>
        <p:txBody>
          <a:bodyPr wrap="square" lIns="0" tIns="0" rIns="0" bIns="0" rtlCol="0" anchor="t"/>
          <a:lstStyle/>
          <a:p>
            <a:pPr algn="l" indent="0" marL="0">
              <a:buNone/>
            </a:pPr>
            <a:r>
              <a:rPr lang="en-US" sz="1300" b="1" dirty="0">
                <a:solidFill>
                  <a:srgbClr val="3C3489"/>
                </a:solidFill>
                <a:latin typeface="Calibri" pitchFamily="34" charset="0"/>
                <a:ea typeface="Calibri" pitchFamily="34" charset="-122"/>
                <a:cs typeface="Calibri" pitchFamily="34" charset="-120"/>
              </a:rPr>
              <a:t>State</a:t>
            </a:r>
            <a:endParaRPr lang="en-US" sz="1300" dirty="0"/>
          </a:p>
        </p:txBody>
      </p:sp>
      <p:sp>
        <p:nvSpPr>
          <p:cNvPr id="21" name="!!str0"/>
          <p:cNvSpPr txBox="1"/>
          <p:nvPr/>
        </p:nvSpPr>
        <p:spPr>
          <a:xfrm>
            <a:off x="5486400" y="2505456"/>
            <a:ext cx="1325880" cy="457200"/>
          </a:xfrm>
          <a:prstGeom prst="rect">
            <a:avLst/>
          </a:prstGeom>
          <a:noFill/>
          <a:ln/>
        </p:spPr>
        <p:txBody>
          <a:bodyPr wrap="square" lIns="0" tIns="0" rIns="0" bIns="0" rtlCol="0" anchor="t"/>
          <a:lstStyle/>
          <a:p>
            <a:pPr algn="l" indent="0" marL="0">
              <a:buNone/>
            </a:pPr>
            <a:r>
              <a:rPr lang="en-US" sz="1150" b="1" dirty="0">
                <a:solidFill>
                  <a:srgbClr val="3C3489"/>
                </a:solidFill>
                <a:latin typeface="Consolas" pitchFamily="34" charset="0"/>
                <a:ea typeface="Consolas" pitchFamily="34" charset="-122"/>
                <a:cs typeface="Consolas" pitchFamily="34" charset="-120"/>
              </a:rPr>
              <a:t>ticket</a:t>
            </a:r>
            <a:endParaRPr lang="en-US" sz="1400" dirty="0"/>
          </a:p>
          <a:p>
            <a:pPr algn="l" indent="0" marL="0">
              <a:buNone/>
            </a:pPr>
            <a:r>
              <a:rPr lang="en-US" sz="1000" dirty="0">
                <a:solidFill>
                  <a:srgbClr val="5F5E5A"/>
                </a:solidFill>
                <a:latin typeface="Calibri" pitchFamily="34" charset="0"/>
                <a:ea typeface="Calibri" pitchFamily="34" charset="-122"/>
                <a:cs typeface="Calibri" pitchFamily="34" charset="-120"/>
              </a:rPr>
              <a:t>input</a:t>
            </a:r>
            <a:endParaRPr lang="en-US" sz="1400" dirty="0"/>
          </a:p>
        </p:txBody>
      </p:sp>
      <p:sp>
        <p:nvSpPr>
          <p:cNvPr id="22" name="!!str1"/>
          <p:cNvSpPr txBox="1"/>
          <p:nvPr/>
        </p:nvSpPr>
        <p:spPr>
          <a:xfrm>
            <a:off x="5486400" y="2980944"/>
            <a:ext cx="1325880" cy="457200"/>
          </a:xfrm>
          <a:prstGeom prst="rect">
            <a:avLst/>
          </a:prstGeom>
          <a:noFill/>
          <a:ln/>
        </p:spPr>
        <p:txBody>
          <a:bodyPr wrap="square" lIns="0" tIns="0" rIns="0" bIns="0" rtlCol="0" anchor="t"/>
          <a:lstStyle/>
          <a:p>
            <a:pPr algn="l" indent="0" marL="0">
              <a:buNone/>
            </a:pPr>
            <a:r>
              <a:rPr lang="en-US" sz="1150" b="1" dirty="0">
                <a:solidFill>
                  <a:srgbClr val="3C3489"/>
                </a:solidFill>
                <a:latin typeface="Consolas" pitchFamily="34" charset="0"/>
                <a:ea typeface="Consolas" pitchFamily="34" charset="-122"/>
                <a:cs typeface="Consolas" pitchFamily="34" charset="-120"/>
              </a:rPr>
              <a:t>result</a:t>
            </a:r>
            <a:endParaRPr lang="en-US" sz="1400" dirty="0"/>
          </a:p>
          <a:p>
            <a:pPr algn="l" indent="0" marL="0">
              <a:buNone/>
            </a:pPr>
            <a:r>
              <a:rPr lang="en-US" sz="1000" dirty="0">
                <a:solidFill>
                  <a:srgbClr val="5F5E5A"/>
                </a:solidFill>
                <a:latin typeface="Calibri" pitchFamily="34" charset="0"/>
                <a:ea typeface="Calibri" pitchFamily="34" charset="-122"/>
                <a:cs typeface="Calibri" pitchFamily="34" charset="-120"/>
              </a:rPr>
              <a:t>by worker</a:t>
            </a:r>
            <a:endParaRPr lang="en-US" sz="1400" dirty="0"/>
          </a:p>
        </p:txBody>
      </p:sp>
      <p:sp>
        <p:nvSpPr>
          <p:cNvPr id="23" name="!!str2"/>
          <p:cNvSpPr txBox="1"/>
          <p:nvPr/>
        </p:nvSpPr>
        <p:spPr>
          <a:xfrm>
            <a:off x="5486400" y="3456432"/>
            <a:ext cx="1325880" cy="457200"/>
          </a:xfrm>
          <a:prstGeom prst="rect">
            <a:avLst/>
          </a:prstGeom>
          <a:noFill/>
          <a:ln/>
        </p:spPr>
        <p:txBody>
          <a:bodyPr wrap="square" lIns="0" tIns="0" rIns="0" bIns="0" rtlCol="0" anchor="t"/>
          <a:lstStyle/>
          <a:p>
            <a:pPr algn="l" indent="0" marL="0">
              <a:buNone/>
            </a:pPr>
            <a:r>
              <a:rPr lang="en-US" sz="1150" b="1" dirty="0">
                <a:solidFill>
                  <a:srgbClr val="3C3489"/>
                </a:solidFill>
                <a:latin typeface="Consolas" pitchFamily="34" charset="0"/>
                <a:ea typeface="Consolas" pitchFamily="34" charset="-122"/>
                <a:cs typeface="Consolas" pitchFamily="34" charset="-120"/>
              </a:rPr>
              <a:t>status</a:t>
            </a:r>
            <a:endParaRPr lang="en-US" sz="1400" dirty="0"/>
          </a:p>
          <a:p>
            <a:pPr algn="l" indent="0" marL="0">
              <a:buNone/>
            </a:pPr>
            <a:r>
              <a:rPr lang="en-US" sz="1000" dirty="0">
                <a:solidFill>
                  <a:srgbClr val="5F5E5A"/>
                </a:solidFill>
                <a:latin typeface="Calibri" pitchFamily="34" charset="0"/>
                <a:ea typeface="Calibri" pitchFamily="34" charset="-122"/>
                <a:cs typeface="Calibri" pitchFamily="34" charset="-120"/>
              </a:rPr>
              <a:t>by checker</a:t>
            </a:r>
            <a:endParaRPr lang="en-US" sz="1400" dirty="0"/>
          </a:p>
        </p:txBody>
      </p:sp>
      <p:sp>
        <p:nvSpPr>
          <p:cNvPr id="24" name="!!panel"/>
          <p:cNvSpPr/>
          <p:nvPr/>
        </p:nvSpPr>
        <p:spPr>
          <a:xfrm>
            <a:off x="7269480" y="1463040"/>
            <a:ext cx="4507992" cy="3977640"/>
          </a:xfrm>
          <a:prstGeom prst="roundRect">
            <a:avLst>
              <a:gd name="adj" fmla="val 1839"/>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5" name="!!ptitle"/>
          <p:cNvSpPr txBox="1"/>
          <p:nvPr/>
        </p:nvSpPr>
        <p:spPr>
          <a:xfrm>
            <a:off x="7543800" y="1645920"/>
            <a:ext cx="3959352" cy="411480"/>
          </a:xfrm>
          <a:prstGeom prst="rect">
            <a:avLst/>
          </a:prstGeom>
          <a:noFill/>
          <a:ln/>
        </p:spPr>
        <p:txBody>
          <a:bodyPr wrap="square" lIns="0" tIns="0" rIns="0" bIns="0" rtlCol="0" anchor="ctr"/>
          <a:lstStyle/>
          <a:p>
            <a:pPr algn="l" indent="0" marL="0">
              <a:buNone/>
            </a:pPr>
            <a:r>
              <a:rPr lang="en-US" sz="2000" b="1" dirty="0">
                <a:solidFill>
                  <a:srgbClr val="3C3489"/>
                </a:solidFill>
                <a:latin typeface="Calibri" pitchFamily="34" charset="0"/>
                <a:ea typeface="Calibri" pitchFamily="34" charset="-122"/>
                <a:cs typeface="Calibri" pitchFamily="34" charset="-120"/>
              </a:rPr>
              <a:t>State</a:t>
            </a:r>
            <a:endParaRPr lang="en-US" sz="2000" dirty="0"/>
          </a:p>
        </p:txBody>
      </p:sp>
      <p:sp>
        <p:nvSpPr>
          <p:cNvPr id="26" name="!!pl1"/>
          <p:cNvSpPr txBox="1"/>
          <p:nvPr/>
        </p:nvSpPr>
        <p:spPr>
          <a:xfrm>
            <a:off x="7543800" y="2176272"/>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WHAT IT IS</a:t>
            </a:r>
            <a:endParaRPr lang="en-US" sz="1050" dirty="0"/>
          </a:p>
        </p:txBody>
      </p:sp>
      <p:sp>
        <p:nvSpPr>
          <p:cNvPr id="27" name="!!pwhat"/>
          <p:cNvSpPr txBox="1"/>
          <p:nvPr/>
        </p:nvSpPr>
        <p:spPr>
          <a:xfrm>
            <a:off x="7543800" y="2404872"/>
            <a:ext cx="3959352" cy="566928"/>
          </a:xfrm>
          <a:prstGeom prst="rect">
            <a:avLst/>
          </a:prstGeom>
          <a:noFill/>
          <a:ln/>
        </p:spPr>
        <p:txBody>
          <a:bodyPr wrap="square" lIns="0" tIns="0" rIns="0" bIns="0" rtlCol="0" anchor="t"/>
          <a:lstStyle/>
          <a:p>
            <a:pPr algn="l" indent="0" marL="0">
              <a:buNone/>
            </a:pPr>
            <a:r>
              <a:rPr lang="en-US" sz="1350" dirty="0">
                <a:solidFill>
                  <a:srgbClr val="2C2C2A"/>
                </a:solidFill>
                <a:latin typeface="Calibri" pitchFamily="34" charset="0"/>
                <a:ea typeface="Calibri" pitchFamily="34" charset="-122"/>
                <a:cs typeface="Calibri" pitchFamily="34" charset="-120"/>
              </a:rPr>
              <a:t>The shared data every node reads and writes. Nodes pass state, not chat history.</a:t>
            </a:r>
            <a:endParaRPr lang="en-US" sz="1350" dirty="0"/>
          </a:p>
        </p:txBody>
      </p:sp>
      <p:sp>
        <p:nvSpPr>
          <p:cNvPr id="28" name="!!pl2"/>
          <p:cNvSpPr txBox="1"/>
          <p:nvPr/>
        </p:nvSpPr>
        <p:spPr>
          <a:xfrm>
            <a:off x="7543800" y="3017520"/>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IN THIS GRAPH</a:t>
            </a:r>
            <a:endParaRPr lang="en-US" sz="1050" dirty="0"/>
          </a:p>
        </p:txBody>
      </p:sp>
      <p:sp>
        <p:nvSpPr>
          <p:cNvPr id="29" name="!!phere"/>
          <p:cNvSpPr txBox="1"/>
          <p:nvPr/>
        </p:nvSpPr>
        <p:spPr>
          <a:xfrm>
            <a:off x="7543800" y="3246120"/>
            <a:ext cx="3959352" cy="56692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ticket is the input, worker writes result, checker writes status.</a:t>
            </a:r>
            <a:endParaRPr lang="en-US" sz="1300" dirty="0"/>
          </a:p>
        </p:txBody>
      </p:sp>
      <p:sp>
        <p:nvSpPr>
          <p:cNvPr id="30" name="!!plike"/>
          <p:cNvSpPr/>
          <p:nvPr/>
        </p:nvSpPr>
        <p:spPr>
          <a:xfrm>
            <a:off x="7543800" y="3886200"/>
            <a:ext cx="3959352" cy="457200"/>
          </a:xfrm>
          <a:prstGeom prst="roundRect">
            <a:avLst>
              <a:gd name="adj" fmla="val 12000"/>
            </a:avLst>
          </a:prstGeom>
          <a:solidFill>
            <a:srgbClr val="E1F5EE"/>
          </a:solidFill>
          <a:ln w="1270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Think of it as  </a:t>
            </a:r>
            <a:pPr algn="l" indent="0" marL="0">
              <a:buNone/>
            </a:pPr>
            <a:r>
              <a:rPr lang="en-US" sz="1250" dirty="0">
                <a:solidFill>
                  <a:srgbClr val="085041"/>
                </a:solidFill>
                <a:latin typeface="Calibri" pitchFamily="34" charset="0"/>
                <a:ea typeface="Calibri" pitchFamily="34" charset="-122"/>
                <a:cs typeface="Calibri" pitchFamily="34" charset="-120"/>
              </a:rPr>
              <a:t>One shared case folder that travels with the work.</a:t>
            </a:r>
            <a:endParaRPr lang="en-US" sz="1250" dirty="0"/>
          </a:p>
        </p:txBody>
      </p:sp>
      <p:sp>
        <p:nvSpPr>
          <p:cNvPr id="31" name="!!pcode"/>
          <p:cNvSpPr/>
          <p:nvPr/>
        </p:nvSpPr>
        <p:spPr>
          <a:xfrm>
            <a:off x="7543800" y="4453128"/>
            <a:ext cx="3959352" cy="786384"/>
          </a:xfrm>
          <a:prstGeom prst="roundRect">
            <a:avLst>
              <a:gd name="adj" fmla="val 4651"/>
            </a:avLst>
          </a:prstGeom>
          <a:solidFill>
            <a:srgbClr val="F7F6F2"/>
          </a:solidFill>
          <a:ln w="6350">
            <a:solidFill>
              <a:srgbClr val="D3D1C7"/>
            </a:solidFill>
            <a:prstDash val="solid"/>
          </a:ln>
        </p:spPr>
        <p:txBody>
          <a:bodyPr wrap="square" lIns="101600" tIns="101600" rIns="101600" bIns="101600" rtlCol="0" anchor="ctr"/>
          <a:lstStyle/>
          <a:p>
            <a:pPr algn="l" indent="0" marL="0">
              <a:buNone/>
            </a:pPr>
            <a:r>
              <a:rPr lang="en-US" sz="1000" dirty="0">
                <a:solidFill>
                  <a:srgbClr val="2C2C2A"/>
                </a:solidFill>
                <a:latin typeface="Consolas" pitchFamily="34" charset="0"/>
                <a:ea typeface="Consolas" pitchFamily="34" charset="-122"/>
                <a:cs typeface="Consolas" pitchFamily="34" charset="-120"/>
              </a:rPr>
              <a:t>class State(TypedDict):</a:t>
            </a: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    ticket: str</a:t>
            </a: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    result: str</a:t>
            </a: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    status: str</a:t>
            </a:r>
            <a:endParaRPr lang="en-US" sz="1000" dirty="0"/>
          </a:p>
        </p:txBody>
      </p:sp>
      <p:sp>
        <p:nvSpPr>
          <p:cNvPr id="32" name="!!btn0">
            <a:hlinkClick action="ppaction://hlinksldjump" r:id="rId1"/>
          </p:cNvPr>
          <p:cNvSpPr/>
          <p:nvPr/>
        </p:nvSpPr>
        <p:spPr>
          <a:xfrm>
            <a:off x="41148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1" action="ppaction://hlinksldjump" tooltip="How to read it">
                  <a:extLst>
                    <a:ext uri="{A12FA001-AC4F-418D-AE19-62706E023703}">
                      <ahyp:hlinkClr xmlns:ahyp="http://schemas.microsoft.com/office/drawing/2018/hyperlinkcolor" val="tx"/>
                    </a:ext>
                  </a:extLst>
                </a:hlinkClick>
              </a:rPr>
              <a:t>Overview</a:t>
            </a:r>
            <a:endParaRPr lang="en-US" sz="1250" dirty="0"/>
          </a:p>
        </p:txBody>
      </p:sp>
      <p:sp>
        <p:nvSpPr>
          <p:cNvPr id="33" name="!!btn1">
            <a:hlinkClick action="ppaction://hlinksldjump" r:id="rId2"/>
          </p:cNvPr>
          <p:cNvSpPr/>
          <p:nvPr/>
        </p:nvSpPr>
        <p:spPr>
          <a:xfrm>
            <a:off x="204825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2" action="ppaction://hlinksldjump" tooltip="Node">
                  <a:extLst>
                    <a:ext uri="{A12FA001-AC4F-418D-AE19-62706E023703}">
                      <ahyp:hlinkClr xmlns:ahyp="http://schemas.microsoft.com/office/drawing/2018/hyperlinkcolor" val="tx"/>
                    </a:ext>
                  </a:extLst>
                </a:hlinkClick>
              </a:rPr>
              <a:t>Node</a:t>
            </a:r>
            <a:endParaRPr lang="en-US" sz="1250" dirty="0"/>
          </a:p>
        </p:txBody>
      </p:sp>
      <p:sp>
        <p:nvSpPr>
          <p:cNvPr id="34" name="!!btn2">
            <a:hlinkClick action="ppaction://hlinksldjump" r:id="rId3"/>
          </p:cNvPr>
          <p:cNvSpPr/>
          <p:nvPr/>
        </p:nvSpPr>
        <p:spPr>
          <a:xfrm>
            <a:off x="3685032"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3" action="ppaction://hlinksldjump" tooltip="Edge">
                  <a:extLst>
                    <a:ext uri="{A12FA001-AC4F-418D-AE19-62706E023703}">
                      <ahyp:hlinkClr xmlns:ahyp="http://schemas.microsoft.com/office/drawing/2018/hyperlinkcolor" val="tx"/>
                    </a:ext>
                  </a:extLst>
                </a:hlinkClick>
              </a:rPr>
              <a:t>Edge</a:t>
            </a:r>
            <a:endParaRPr lang="en-US" sz="1250" dirty="0"/>
          </a:p>
        </p:txBody>
      </p:sp>
      <p:sp>
        <p:nvSpPr>
          <p:cNvPr id="35" name="!!btn3">
            <a:hlinkClick action="ppaction://hlinksldjump" r:id="rId4"/>
          </p:cNvPr>
          <p:cNvSpPr/>
          <p:nvPr/>
        </p:nvSpPr>
        <p:spPr>
          <a:xfrm>
            <a:off x="5321808"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4" action="ppaction://hlinksldjump" tooltip="Conditional edge">
                  <a:extLst>
                    <a:ext uri="{A12FA001-AC4F-418D-AE19-62706E023703}">
                      <ahyp:hlinkClr xmlns:ahyp="http://schemas.microsoft.com/office/drawing/2018/hyperlinkcolor" val="tx"/>
                    </a:ext>
                  </a:extLst>
                </a:hlinkClick>
              </a:rPr>
              <a:t>Conditional edge</a:t>
            </a:r>
            <a:endParaRPr lang="en-US" sz="1250" dirty="0"/>
          </a:p>
        </p:txBody>
      </p:sp>
      <p:sp>
        <p:nvSpPr>
          <p:cNvPr id="36" name="!!btn4">
            <a:hlinkClick action="ppaction://hlinksldjump" r:id="rId5"/>
          </p:cNvPr>
          <p:cNvSpPr/>
          <p:nvPr/>
        </p:nvSpPr>
        <p:spPr>
          <a:xfrm>
            <a:off x="6958584" y="5669280"/>
            <a:ext cx="1545336" cy="420624"/>
          </a:xfrm>
          <a:prstGeom prst="roundRect">
            <a:avLst>
              <a:gd name="adj" fmla="val 50000"/>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50" b="1" u="none" dirty="0">
                <a:solidFill>
                  <a:srgbClr val="FFFFFF"/>
                </a:solidFill>
                <a:latin typeface="Calibri" pitchFamily="34" charset="0"/>
                <a:ea typeface="Calibri" pitchFamily="34" charset="-122"/>
                <a:cs typeface="Calibri" pitchFamily="34" charset="-120"/>
                <a:hlinkClick r:id="rId5" action="ppaction://hlinksldjump" tooltip="State">
                  <a:extLst>
                    <a:ext uri="{A12FA001-AC4F-418D-AE19-62706E023703}">
                      <ahyp:hlinkClr xmlns:ahyp="http://schemas.microsoft.com/office/drawing/2018/hyperlinkcolor" val="tx"/>
                    </a:ext>
                  </a:extLst>
                </a:hlinkClick>
              </a:rPr>
              <a:t>State</a:t>
            </a:r>
            <a:endParaRPr lang="en-US" sz="1250" dirty="0"/>
          </a:p>
        </p:txBody>
      </p:sp>
      <p:sp>
        <p:nvSpPr>
          <p:cNvPr id="37" name="!!btn5">
            <a:hlinkClick action="ppaction://hlinksldjump" r:id="rId6"/>
          </p:cNvPr>
          <p:cNvSpPr/>
          <p:nvPr/>
        </p:nvSpPr>
        <p:spPr>
          <a:xfrm>
            <a:off x="859536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6" action="ppaction://hlinksldjump" tooltip="Subgraph">
                  <a:extLst>
                    <a:ext uri="{A12FA001-AC4F-418D-AE19-62706E023703}">
                      <ahyp:hlinkClr xmlns:ahyp="http://schemas.microsoft.com/office/drawing/2018/hyperlinkcolor" val="tx"/>
                    </a:ext>
                  </a:extLst>
                </a:hlinkClick>
              </a:rPr>
              <a:t>Subgraph</a:t>
            </a:r>
            <a:endParaRPr lang="en-US" sz="1250" dirty="0"/>
          </a:p>
        </p:txBody>
      </p:sp>
      <p:sp>
        <p:nvSpPr>
          <p:cNvPr id="38" name="!!btn6">
            <a:hlinkClick action="ppaction://hlinksldjump" r:id="rId7"/>
          </p:cNvPr>
          <p:cNvSpPr/>
          <p:nvPr/>
        </p:nvSpPr>
        <p:spPr>
          <a:xfrm>
            <a:off x="1023213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7" action="ppaction://hlinksldjump" tooltip="Checkpointer">
                  <a:extLst>
                    <a:ext uri="{A12FA001-AC4F-418D-AE19-62706E023703}">
                      <ahyp:hlinkClr xmlns:ahyp="http://schemas.microsoft.com/office/drawing/2018/hyperlinkcolor" val="tx"/>
                    </a:ext>
                  </a:extLst>
                </a:hlinkClick>
              </a:rPr>
              <a:t>Checkpointer</a:t>
            </a:r>
            <a:endParaRPr lang="en-US" sz="12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Reading the Graph: What Each Part Does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The same graph as the last slide, one part at a time. Click a button to see what that part does, in plain words and in code.</a:t>
            </a:r>
            <a:endParaRPr lang="en-US" sz="1400" dirty="0"/>
          </a:p>
        </p:txBody>
      </p:sp>
      <p:sp>
        <p:nvSpPr>
          <p:cNvPr id="5" name="!!frame"/>
          <p:cNvSpPr/>
          <p:nvPr/>
        </p:nvSpPr>
        <p:spPr>
          <a:xfrm>
            <a:off x="1600200" y="1463040"/>
            <a:ext cx="4023360" cy="3520440"/>
          </a:xfrm>
          <a:prstGeom prst="roundRect">
            <a:avLst>
              <a:gd name="adj" fmla="val 2078"/>
            </a:avLst>
          </a:prstGeom>
          <a:solidFill>
            <a:srgbClr val="FFFFFF"/>
          </a:solidFill>
          <a:ln w="19050">
            <a:solidFill>
              <a:srgbClr val="534AB7"/>
            </a:solidFill>
            <a:prstDash val="dash"/>
          </a:ln>
        </p:spPr>
        <p:txBody>
          <a:bodyPr wrap="square" lIns="50800" tIns="50800" rIns="50800" bIns="50800" rtlCol="0" anchor="ctr"/>
          <a:lstStyle/>
          <a:p>
            <a:pPr algn="ctr" indent="0" marL="0">
              <a:buNone/>
            </a:pPr>
            <a:endParaRPr lang="en-US" sz="1200" dirty="0"/>
          </a:p>
        </p:txBody>
      </p:sp>
      <p:sp>
        <p:nvSpPr>
          <p:cNvPr id="6" name="!!framelbl"/>
          <p:cNvSpPr/>
          <p:nvPr/>
        </p:nvSpPr>
        <p:spPr>
          <a:xfrm>
            <a:off x="1874520" y="4846320"/>
            <a:ext cx="3474720" cy="292608"/>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1050" b="1" dirty="0">
                <a:solidFill>
                  <a:srgbClr val="3C3489"/>
                </a:solidFill>
                <a:latin typeface="Calibri" pitchFamily="34" charset="0"/>
                <a:ea typeface="Calibri" pitchFamily="34" charset="-122"/>
                <a:cs typeface="Calibri" pitchFamily="34" charset="-120"/>
              </a:rPr>
              <a:t>fix_ticket · one node in the bigger graph</a:t>
            </a:r>
            <a:endParaRPr lang="en-US" sz="1050" dirty="0"/>
          </a:p>
        </p:txBody>
      </p:sp>
      <p:sp>
        <p:nvSpPr>
          <p:cNvPr id="7" name="!!gs"/>
          <p:cNvSpPr/>
          <p:nvPr/>
        </p:nvSpPr>
        <p:spPr>
          <a:xfrm>
            <a:off x="3108960" y="157276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START</a:t>
            </a:r>
            <a:endParaRPr lang="en-US" sz="1100" dirty="0"/>
          </a:p>
        </p:txBody>
      </p:sp>
      <p:sp>
        <p:nvSpPr>
          <p:cNvPr id="8" name="!!e1"/>
          <p:cNvSpPr/>
          <p:nvPr/>
        </p:nvSpPr>
        <p:spPr>
          <a:xfrm>
            <a:off x="3611880" y="1901952"/>
            <a:ext cx="914" cy="219456"/>
          </a:xfrm>
          <a:prstGeom prst="line">
            <a:avLst/>
          </a:prstGeom>
          <a:noFill/>
          <a:ln w="31750">
            <a:solidFill>
              <a:srgbClr val="5F5E5A"/>
            </a:solidFill>
            <a:prstDash val="solid"/>
            <a:tailEnd type="triangle"/>
          </a:ln>
        </p:spPr>
        <p:txBody>
          <a:bodyPr/>
          <a:p/>
        </p:txBody>
      </p:sp>
      <p:sp>
        <p:nvSpPr>
          <p:cNvPr id="9" name="!!gw"/>
          <p:cNvSpPr/>
          <p:nvPr/>
        </p:nvSpPr>
        <p:spPr>
          <a:xfrm>
            <a:off x="2606040" y="2121408"/>
            <a:ext cx="2011680" cy="731520"/>
          </a:xfrm>
          <a:prstGeom prst="roundRect">
            <a:avLst>
              <a:gd name="adj" fmla="val 10000"/>
            </a:avLst>
          </a:prstGeom>
          <a:solidFill>
            <a:srgbClr val="E1F5EE"/>
          </a:solidFill>
          <a:ln w="28575">
            <a:solidFill>
              <a:srgbClr val="0F6E56"/>
            </a:solidFill>
            <a:prstDash val="solid"/>
          </a:ln>
        </p:spPr>
        <p:txBody>
          <a:bodyPr wrap="square" lIns="50800" tIns="50800" rIns="50800" bIns="50800" rtlCol="0" anchor="ctr"/>
          <a:lstStyle/>
          <a:p>
            <a:pPr algn="ctr" indent="0" marL="0">
              <a:buNone/>
            </a:pPr>
            <a:r>
              <a:rPr lang="en-US" sz="1500" b="1" dirty="0">
                <a:solidFill>
                  <a:srgbClr val="085041"/>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085041"/>
                </a:solidFill>
                <a:latin typeface="Calibri" pitchFamily="34" charset="0"/>
                <a:ea typeface="Calibri" pitchFamily="34" charset="-122"/>
                <a:cs typeface="Calibri" pitchFamily="34" charset="-120"/>
              </a:rPr>
              <a:t>does the job</a:t>
            </a:r>
            <a:endParaRPr lang="en-US" sz="1200" dirty="0"/>
          </a:p>
        </p:txBody>
      </p:sp>
      <p:sp>
        <p:nvSpPr>
          <p:cNvPr id="10" name="!!e2"/>
          <p:cNvSpPr/>
          <p:nvPr/>
        </p:nvSpPr>
        <p:spPr>
          <a:xfrm>
            <a:off x="3611880" y="2852928"/>
            <a:ext cx="914" cy="411480"/>
          </a:xfrm>
          <a:prstGeom prst="line">
            <a:avLst/>
          </a:prstGeom>
          <a:noFill/>
          <a:ln w="31750">
            <a:solidFill>
              <a:srgbClr val="5F5E5A"/>
            </a:solidFill>
            <a:prstDash val="solid"/>
            <a:tailEnd type="triangle"/>
          </a:ln>
        </p:spPr>
        <p:txBody>
          <a:bodyPr/>
          <a:p/>
        </p:txBody>
      </p:sp>
      <p:sp>
        <p:nvSpPr>
          <p:cNvPr id="11" name="!!gc"/>
          <p:cNvSpPr/>
          <p:nvPr/>
        </p:nvSpPr>
        <p:spPr>
          <a:xfrm>
            <a:off x="2606040" y="3264408"/>
            <a:ext cx="2011680" cy="731520"/>
          </a:xfrm>
          <a:prstGeom prst="roundRect">
            <a:avLst>
              <a:gd name="adj" fmla="val 10000"/>
            </a:avLst>
          </a:prstGeom>
          <a:solidFill>
            <a:srgbClr val="FAECE7"/>
          </a:solidFill>
          <a:ln w="28575">
            <a:solidFill>
              <a:srgbClr val="993C1D"/>
            </a:solidFill>
            <a:prstDash val="solid"/>
          </a:ln>
        </p:spPr>
        <p:txBody>
          <a:bodyPr wrap="square" lIns="50800" tIns="50800" rIns="50800" bIns="50800" rtlCol="0" anchor="ctr"/>
          <a:lstStyle/>
          <a:p>
            <a:pPr algn="ctr" indent="0" marL="0">
              <a:buNone/>
            </a:pPr>
            <a:r>
              <a:rPr lang="en-US" sz="1500" b="1" dirty="0">
                <a:solidFill>
                  <a:srgbClr val="712B13"/>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712B13"/>
                </a:solidFill>
                <a:latin typeface="Calibri" pitchFamily="34" charset="0"/>
                <a:ea typeface="Calibri" pitchFamily="34" charset="-122"/>
                <a:cs typeface="Calibri" pitchFamily="34" charset="-120"/>
              </a:rPr>
              <a:t>verifies the work</a:t>
            </a:r>
            <a:endParaRPr lang="en-US" sz="1200" dirty="0"/>
          </a:p>
        </p:txBody>
      </p:sp>
      <p:sp>
        <p:nvSpPr>
          <p:cNvPr id="12" name="!!e3"/>
          <p:cNvSpPr/>
          <p:nvPr/>
        </p:nvSpPr>
        <p:spPr>
          <a:xfrm>
            <a:off x="3611880" y="3995928"/>
            <a:ext cx="914" cy="411480"/>
          </a:xfrm>
          <a:prstGeom prst="line">
            <a:avLst/>
          </a:prstGeom>
          <a:noFill/>
          <a:ln w="31750">
            <a:solidFill>
              <a:srgbClr val="5F5E5A"/>
            </a:solidFill>
            <a:prstDash val="solid"/>
            <a:tailEnd type="triangle"/>
          </a:ln>
        </p:spPr>
        <p:txBody>
          <a:bodyPr/>
          <a:p/>
        </p:txBody>
      </p:sp>
      <p:sp>
        <p:nvSpPr>
          <p:cNvPr id="13" name="!!gpass"/>
          <p:cNvSpPr txBox="1"/>
          <p:nvPr/>
        </p:nvSpPr>
        <p:spPr>
          <a:xfrm>
            <a:off x="3703320" y="4050792"/>
            <a:ext cx="548640" cy="274320"/>
          </a:xfrm>
          <a:prstGeom prst="rect">
            <a:avLst/>
          </a:prstGeom>
          <a:noFill/>
          <a:ln/>
        </p:spPr>
        <p:txBody>
          <a:bodyPr wrap="square" lIns="0" tIns="0" rIns="0" bIns="0" rtlCol="0" anchor="t"/>
          <a:lstStyle/>
          <a:p>
            <a:pPr algn="l" indent="0" marL="0">
              <a:buNone/>
            </a:pPr>
            <a:r>
              <a:rPr lang="en-US" sz="1100" b="1" dirty="0">
                <a:solidFill>
                  <a:srgbClr val="085041"/>
                </a:solidFill>
                <a:latin typeface="Calibri" pitchFamily="34" charset="0"/>
                <a:ea typeface="Calibri" pitchFamily="34" charset="-122"/>
                <a:cs typeface="Calibri" pitchFamily="34" charset="-120"/>
              </a:rPr>
              <a:t>pass</a:t>
            </a:r>
            <a:endParaRPr lang="en-US" sz="1100" dirty="0"/>
          </a:p>
        </p:txBody>
      </p:sp>
      <p:sp>
        <p:nvSpPr>
          <p:cNvPr id="14" name="!!gend"/>
          <p:cNvSpPr/>
          <p:nvPr/>
        </p:nvSpPr>
        <p:spPr>
          <a:xfrm>
            <a:off x="3108960" y="440740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END</a:t>
            </a:r>
            <a:endParaRPr lang="en-US" sz="1100" dirty="0"/>
          </a:p>
        </p:txBody>
      </p:sp>
      <p:sp>
        <p:nvSpPr>
          <p:cNvPr id="15" name="!!gf1"/>
          <p:cNvSpPr/>
          <p:nvPr/>
        </p:nvSpPr>
        <p:spPr>
          <a:xfrm flipH="1">
            <a:off x="2103120" y="3630168"/>
            <a:ext cx="502920" cy="914"/>
          </a:xfrm>
          <a:prstGeom prst="line">
            <a:avLst/>
          </a:prstGeom>
          <a:noFill/>
          <a:ln w="31750">
            <a:solidFill>
              <a:srgbClr val="993C1D"/>
            </a:solidFill>
            <a:prstDash val="dash"/>
          </a:ln>
        </p:spPr>
        <p:txBody>
          <a:bodyPr/>
          <a:p/>
        </p:txBody>
      </p:sp>
      <p:sp>
        <p:nvSpPr>
          <p:cNvPr id="16" name="!!gf2"/>
          <p:cNvSpPr/>
          <p:nvPr/>
        </p:nvSpPr>
        <p:spPr>
          <a:xfrm flipV="1">
            <a:off x="2103120" y="2487168"/>
            <a:ext cx="914" cy="1143000"/>
          </a:xfrm>
          <a:prstGeom prst="line">
            <a:avLst/>
          </a:prstGeom>
          <a:noFill/>
          <a:ln w="31750">
            <a:solidFill>
              <a:srgbClr val="993C1D"/>
            </a:solidFill>
            <a:prstDash val="dash"/>
          </a:ln>
        </p:spPr>
        <p:txBody>
          <a:bodyPr/>
          <a:p/>
        </p:txBody>
      </p:sp>
      <p:sp>
        <p:nvSpPr>
          <p:cNvPr id="17" name="!!gf3"/>
          <p:cNvSpPr/>
          <p:nvPr/>
        </p:nvSpPr>
        <p:spPr>
          <a:xfrm>
            <a:off x="2103120" y="2487168"/>
            <a:ext cx="484632" cy="914"/>
          </a:xfrm>
          <a:prstGeom prst="line">
            <a:avLst/>
          </a:prstGeom>
          <a:noFill/>
          <a:ln w="31750">
            <a:solidFill>
              <a:srgbClr val="993C1D"/>
            </a:solidFill>
            <a:prstDash val="dash"/>
            <a:tailEnd type="triangle"/>
          </a:ln>
        </p:spPr>
        <p:txBody>
          <a:bodyPr/>
          <a:p/>
        </p:txBody>
      </p:sp>
      <p:sp>
        <p:nvSpPr>
          <p:cNvPr id="18" name="!!gfail"/>
          <p:cNvSpPr txBox="1"/>
          <p:nvPr/>
        </p:nvSpPr>
        <p:spPr>
          <a:xfrm>
            <a:off x="1645920" y="3081528"/>
            <a:ext cx="411480" cy="274320"/>
          </a:xfrm>
          <a:prstGeom prst="rect">
            <a:avLst/>
          </a:prstGeom>
          <a:noFill/>
          <a:ln/>
        </p:spPr>
        <p:txBody>
          <a:bodyPr wrap="square" lIns="0" tIns="0" rIns="0" bIns="0" rtlCol="0" anchor="t"/>
          <a:lstStyle/>
          <a:p>
            <a:pPr algn="r" indent="0" marL="0">
              <a:buNone/>
            </a:pPr>
            <a:r>
              <a:rPr lang="en-US" sz="1100" b="1" dirty="0">
                <a:solidFill>
                  <a:srgbClr val="712B13"/>
                </a:solidFill>
                <a:latin typeface="Calibri" pitchFamily="34" charset="0"/>
                <a:ea typeface="Calibri" pitchFamily="34" charset="-122"/>
                <a:cs typeface="Calibri" pitchFamily="34" charset="-120"/>
              </a:rPr>
              <a:t>fail</a:t>
            </a:r>
            <a:endParaRPr lang="en-US" sz="1100" dirty="0"/>
          </a:p>
        </p:txBody>
      </p:sp>
      <p:sp>
        <p:nvSpPr>
          <p:cNvPr id="19" name="!!sl1"/>
          <p:cNvSpPr/>
          <p:nvPr/>
        </p:nvSpPr>
        <p:spPr>
          <a:xfrm>
            <a:off x="4617720" y="2487168"/>
            <a:ext cx="731520" cy="914"/>
          </a:xfrm>
          <a:prstGeom prst="line">
            <a:avLst/>
          </a:prstGeom>
          <a:noFill/>
          <a:ln w="9525">
            <a:solidFill>
              <a:srgbClr val="E3E1D8"/>
            </a:solidFill>
            <a:prstDash val="dash"/>
          </a:ln>
        </p:spPr>
        <p:txBody>
          <a:bodyPr/>
          <a:p/>
        </p:txBody>
      </p:sp>
      <p:sp>
        <p:nvSpPr>
          <p:cNvPr id="20" name="!!sl2"/>
          <p:cNvSpPr/>
          <p:nvPr/>
        </p:nvSpPr>
        <p:spPr>
          <a:xfrm>
            <a:off x="4617720" y="3630168"/>
            <a:ext cx="731520" cy="914"/>
          </a:xfrm>
          <a:prstGeom prst="line">
            <a:avLst/>
          </a:prstGeom>
          <a:noFill/>
          <a:ln w="9525">
            <a:solidFill>
              <a:srgbClr val="E3E1D8"/>
            </a:solidFill>
            <a:prstDash val="dash"/>
          </a:ln>
        </p:spPr>
        <p:txBody>
          <a:bodyPr/>
          <a:p/>
        </p:txBody>
      </p:sp>
      <p:sp>
        <p:nvSpPr>
          <p:cNvPr id="21" name="!!st"/>
          <p:cNvSpPr/>
          <p:nvPr/>
        </p:nvSpPr>
        <p:spPr>
          <a:xfrm>
            <a:off x="5349240" y="2121408"/>
            <a:ext cx="1600200" cy="1874520"/>
          </a:xfrm>
          <a:prstGeom prst="roundRect">
            <a:avLst>
              <a:gd name="adj" fmla="val 4571"/>
            </a:avLst>
          </a:prstGeom>
          <a:solidFill>
            <a:srgbClr val="FAFAF7"/>
          </a:solidFill>
          <a:ln w="12700">
            <a:solidFill>
              <a:srgbClr val="E3E1D8"/>
            </a:solidFill>
            <a:prstDash val="solid"/>
          </a:ln>
        </p:spPr>
        <p:txBody>
          <a:bodyPr wrap="square" lIns="50800" tIns="50800" rIns="50800" bIns="50800" rtlCol="0" anchor="ctr"/>
          <a:lstStyle/>
          <a:p>
            <a:pPr algn="ctr" indent="0" marL="0">
              <a:buNone/>
            </a:pPr>
            <a:endParaRPr lang="en-US" sz="1200" dirty="0"/>
          </a:p>
        </p:txBody>
      </p:sp>
      <p:sp>
        <p:nvSpPr>
          <p:cNvPr id="22" name="!!sth"/>
          <p:cNvSpPr txBox="1"/>
          <p:nvPr/>
        </p:nvSpPr>
        <p:spPr>
          <a:xfrm>
            <a:off x="5486400" y="2212848"/>
            <a:ext cx="1325880" cy="274320"/>
          </a:xfrm>
          <a:prstGeom prst="rect">
            <a:avLst/>
          </a:prstGeom>
          <a:noFill/>
          <a:ln/>
        </p:spPr>
        <p:txBody>
          <a:bodyPr wrap="square" lIns="0" tIns="0" rIns="0" bIns="0" rtlCol="0" anchor="t"/>
          <a:lstStyle/>
          <a:p>
            <a:pPr algn="l" indent="0" marL="0">
              <a:buNone/>
            </a:pPr>
            <a:r>
              <a:rPr lang="en-US" sz="1300" b="1" dirty="0">
                <a:solidFill>
                  <a:srgbClr val="B4B2A9"/>
                </a:solidFill>
                <a:latin typeface="Calibri" pitchFamily="34" charset="0"/>
                <a:ea typeface="Calibri" pitchFamily="34" charset="-122"/>
                <a:cs typeface="Calibri" pitchFamily="34" charset="-120"/>
              </a:rPr>
              <a:t>State</a:t>
            </a:r>
            <a:endParaRPr lang="en-US" sz="1300" dirty="0"/>
          </a:p>
        </p:txBody>
      </p:sp>
      <p:sp>
        <p:nvSpPr>
          <p:cNvPr id="23" name="!!str0"/>
          <p:cNvSpPr txBox="1"/>
          <p:nvPr/>
        </p:nvSpPr>
        <p:spPr>
          <a:xfrm>
            <a:off x="5486400" y="2505456"/>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ticket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input</a:t>
            </a:r>
            <a:endParaRPr lang="en-US" sz="1400" dirty="0"/>
          </a:p>
        </p:txBody>
      </p:sp>
      <p:sp>
        <p:nvSpPr>
          <p:cNvPr id="24" name="!!str1"/>
          <p:cNvSpPr txBox="1"/>
          <p:nvPr/>
        </p:nvSpPr>
        <p:spPr>
          <a:xfrm>
            <a:off x="5486400" y="2980944"/>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result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worker</a:t>
            </a:r>
            <a:endParaRPr lang="en-US" sz="1400" dirty="0"/>
          </a:p>
        </p:txBody>
      </p:sp>
      <p:sp>
        <p:nvSpPr>
          <p:cNvPr id="25" name="!!str2"/>
          <p:cNvSpPr txBox="1"/>
          <p:nvPr/>
        </p:nvSpPr>
        <p:spPr>
          <a:xfrm>
            <a:off x="5486400" y="3456432"/>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status</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checker</a:t>
            </a:r>
            <a:endParaRPr lang="en-US" sz="1400" dirty="0"/>
          </a:p>
        </p:txBody>
      </p:sp>
      <p:sp>
        <p:nvSpPr>
          <p:cNvPr id="26" name="!!panel"/>
          <p:cNvSpPr/>
          <p:nvPr/>
        </p:nvSpPr>
        <p:spPr>
          <a:xfrm>
            <a:off x="7269480" y="1463040"/>
            <a:ext cx="4507992" cy="3977640"/>
          </a:xfrm>
          <a:prstGeom prst="roundRect">
            <a:avLst>
              <a:gd name="adj" fmla="val 1839"/>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7" name="!!ptitle"/>
          <p:cNvSpPr txBox="1"/>
          <p:nvPr/>
        </p:nvSpPr>
        <p:spPr>
          <a:xfrm>
            <a:off x="7543800" y="1645920"/>
            <a:ext cx="3959352" cy="411480"/>
          </a:xfrm>
          <a:prstGeom prst="rect">
            <a:avLst/>
          </a:prstGeom>
          <a:noFill/>
          <a:ln/>
        </p:spPr>
        <p:txBody>
          <a:bodyPr wrap="square" lIns="0" tIns="0" rIns="0" bIns="0" rtlCol="0" anchor="ctr"/>
          <a:lstStyle/>
          <a:p>
            <a:pPr algn="l" indent="0" marL="0">
              <a:buNone/>
            </a:pPr>
            <a:r>
              <a:rPr lang="en-US" sz="2000" b="1" dirty="0">
                <a:solidFill>
                  <a:srgbClr val="3C3489"/>
                </a:solidFill>
                <a:latin typeface="Calibri" pitchFamily="34" charset="0"/>
                <a:ea typeface="Calibri" pitchFamily="34" charset="-122"/>
                <a:cs typeface="Calibri" pitchFamily="34" charset="-120"/>
              </a:rPr>
              <a:t>Subgraph</a:t>
            </a:r>
            <a:endParaRPr lang="en-US" sz="2000" dirty="0"/>
          </a:p>
        </p:txBody>
      </p:sp>
      <p:sp>
        <p:nvSpPr>
          <p:cNvPr id="28" name="!!pl1"/>
          <p:cNvSpPr txBox="1"/>
          <p:nvPr/>
        </p:nvSpPr>
        <p:spPr>
          <a:xfrm>
            <a:off x="7543800" y="2176272"/>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WHAT IT IS</a:t>
            </a:r>
            <a:endParaRPr lang="en-US" sz="1050" dirty="0"/>
          </a:p>
        </p:txBody>
      </p:sp>
      <p:sp>
        <p:nvSpPr>
          <p:cNvPr id="29" name="!!pwhat"/>
          <p:cNvSpPr txBox="1"/>
          <p:nvPr/>
        </p:nvSpPr>
        <p:spPr>
          <a:xfrm>
            <a:off x="7543800" y="2404872"/>
            <a:ext cx="3959352" cy="566928"/>
          </a:xfrm>
          <a:prstGeom prst="rect">
            <a:avLst/>
          </a:prstGeom>
          <a:noFill/>
          <a:ln/>
        </p:spPr>
        <p:txBody>
          <a:bodyPr wrap="square" lIns="0" tIns="0" rIns="0" bIns="0" rtlCol="0" anchor="t"/>
          <a:lstStyle/>
          <a:p>
            <a:pPr algn="l" indent="0" marL="0">
              <a:buNone/>
            </a:pPr>
            <a:r>
              <a:rPr lang="en-US" sz="1350" dirty="0">
                <a:solidFill>
                  <a:srgbClr val="2C2C2A"/>
                </a:solidFill>
                <a:latin typeface="Calibri" pitchFamily="34" charset="0"/>
                <a:ea typeface="Calibri" pitchFamily="34" charset="-122"/>
                <a:cs typeface="Calibri" pitchFamily="34" charset="-120"/>
              </a:rPr>
              <a:t>A whole graph used as a single node inside a bigger graph.</a:t>
            </a:r>
            <a:endParaRPr lang="en-US" sz="1350" dirty="0"/>
          </a:p>
        </p:txBody>
      </p:sp>
      <p:sp>
        <p:nvSpPr>
          <p:cNvPr id="30" name="!!pl2"/>
          <p:cNvSpPr txBox="1"/>
          <p:nvPr/>
        </p:nvSpPr>
        <p:spPr>
          <a:xfrm>
            <a:off x="7543800" y="3017520"/>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IN THIS GRAPH</a:t>
            </a:r>
            <a:endParaRPr lang="en-US" sz="1050" dirty="0"/>
          </a:p>
        </p:txBody>
      </p:sp>
      <p:sp>
        <p:nvSpPr>
          <p:cNvPr id="31" name="!!phere"/>
          <p:cNvSpPr txBox="1"/>
          <p:nvPr/>
        </p:nvSpPr>
        <p:spPr>
          <a:xfrm>
            <a:off x="7543800" y="3246120"/>
            <a:ext cx="3959352" cy="56692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This worker–checker loop becomes one node, fix_ticket, in a larger flow: triage → fix_ticket → report.</a:t>
            </a:r>
            <a:endParaRPr lang="en-US" sz="1300" dirty="0"/>
          </a:p>
        </p:txBody>
      </p:sp>
      <p:sp>
        <p:nvSpPr>
          <p:cNvPr id="32" name="!!plike"/>
          <p:cNvSpPr/>
          <p:nvPr/>
        </p:nvSpPr>
        <p:spPr>
          <a:xfrm>
            <a:off x="7543800" y="3886200"/>
            <a:ext cx="3959352" cy="457200"/>
          </a:xfrm>
          <a:prstGeom prst="roundRect">
            <a:avLst>
              <a:gd name="adj" fmla="val 12000"/>
            </a:avLst>
          </a:prstGeom>
          <a:solidFill>
            <a:srgbClr val="E1F5EE"/>
          </a:solidFill>
          <a:ln w="1270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Think of it as  </a:t>
            </a:r>
            <a:pPr algn="l" indent="0" marL="0">
              <a:buNone/>
            </a:pPr>
            <a:r>
              <a:rPr lang="en-US" sz="1250" dirty="0">
                <a:solidFill>
                  <a:srgbClr val="085041"/>
                </a:solidFill>
                <a:latin typeface="Calibri" pitchFamily="34" charset="0"/>
                <a:ea typeface="Calibri" pitchFamily="34" charset="-122"/>
                <a:cs typeface="Calibri" pitchFamily="34" charset="-120"/>
              </a:rPr>
              <a:t>A department: one box from outside, its own team inside.</a:t>
            </a:r>
            <a:endParaRPr lang="en-US" sz="1250" dirty="0"/>
          </a:p>
        </p:txBody>
      </p:sp>
      <p:sp>
        <p:nvSpPr>
          <p:cNvPr id="33" name="!!pcode"/>
          <p:cNvSpPr/>
          <p:nvPr/>
        </p:nvSpPr>
        <p:spPr>
          <a:xfrm>
            <a:off x="7543800" y="4453128"/>
            <a:ext cx="3959352" cy="786384"/>
          </a:xfrm>
          <a:prstGeom prst="roundRect">
            <a:avLst>
              <a:gd name="adj" fmla="val 4651"/>
            </a:avLst>
          </a:prstGeom>
          <a:solidFill>
            <a:srgbClr val="F7F6F2"/>
          </a:solidFill>
          <a:ln w="6350">
            <a:solidFill>
              <a:srgbClr val="D3D1C7"/>
            </a:solidFill>
            <a:prstDash val="solid"/>
          </a:ln>
        </p:spPr>
        <p:txBody>
          <a:bodyPr wrap="square" lIns="101600" tIns="101600" rIns="101600" bIns="101600" rtlCol="0" anchor="ctr"/>
          <a:lstStyle/>
          <a:p>
            <a:pPr algn="l" indent="0" marL="0">
              <a:buNone/>
            </a:pPr>
            <a:r>
              <a:rPr lang="en-US" sz="1000" dirty="0">
                <a:solidFill>
                  <a:srgbClr val="2C2C2A"/>
                </a:solidFill>
                <a:latin typeface="Consolas" pitchFamily="34" charset="0"/>
                <a:ea typeface="Consolas" pitchFamily="34" charset="-122"/>
                <a:cs typeface="Consolas" pitchFamily="34" charset="-120"/>
              </a:rPr>
              <a:t>app = g.compile()</a:t>
            </a: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parent.add_node("fix_ticket", app)</a:t>
            </a:r>
            <a:endParaRPr lang="en-US" sz="1000" dirty="0"/>
          </a:p>
        </p:txBody>
      </p:sp>
      <p:sp>
        <p:nvSpPr>
          <p:cNvPr id="34" name="!!btn0">
            <a:hlinkClick action="ppaction://hlinksldjump" r:id="rId1"/>
          </p:cNvPr>
          <p:cNvSpPr/>
          <p:nvPr/>
        </p:nvSpPr>
        <p:spPr>
          <a:xfrm>
            <a:off x="41148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1" action="ppaction://hlinksldjump" tooltip="How to read it">
                  <a:extLst>
                    <a:ext uri="{A12FA001-AC4F-418D-AE19-62706E023703}">
                      <ahyp:hlinkClr xmlns:ahyp="http://schemas.microsoft.com/office/drawing/2018/hyperlinkcolor" val="tx"/>
                    </a:ext>
                  </a:extLst>
                </a:hlinkClick>
              </a:rPr>
              <a:t>Overview</a:t>
            </a:r>
            <a:endParaRPr lang="en-US" sz="1250" dirty="0"/>
          </a:p>
        </p:txBody>
      </p:sp>
      <p:sp>
        <p:nvSpPr>
          <p:cNvPr id="35" name="!!btn1">
            <a:hlinkClick action="ppaction://hlinksldjump" r:id="rId2"/>
          </p:cNvPr>
          <p:cNvSpPr/>
          <p:nvPr/>
        </p:nvSpPr>
        <p:spPr>
          <a:xfrm>
            <a:off x="204825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2" action="ppaction://hlinksldjump" tooltip="Node">
                  <a:extLst>
                    <a:ext uri="{A12FA001-AC4F-418D-AE19-62706E023703}">
                      <ahyp:hlinkClr xmlns:ahyp="http://schemas.microsoft.com/office/drawing/2018/hyperlinkcolor" val="tx"/>
                    </a:ext>
                  </a:extLst>
                </a:hlinkClick>
              </a:rPr>
              <a:t>Node</a:t>
            </a:r>
            <a:endParaRPr lang="en-US" sz="1250" dirty="0"/>
          </a:p>
        </p:txBody>
      </p:sp>
      <p:sp>
        <p:nvSpPr>
          <p:cNvPr id="36" name="!!btn2">
            <a:hlinkClick action="ppaction://hlinksldjump" r:id="rId3"/>
          </p:cNvPr>
          <p:cNvSpPr/>
          <p:nvPr/>
        </p:nvSpPr>
        <p:spPr>
          <a:xfrm>
            <a:off x="3685032"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3" action="ppaction://hlinksldjump" tooltip="Edge">
                  <a:extLst>
                    <a:ext uri="{A12FA001-AC4F-418D-AE19-62706E023703}">
                      <ahyp:hlinkClr xmlns:ahyp="http://schemas.microsoft.com/office/drawing/2018/hyperlinkcolor" val="tx"/>
                    </a:ext>
                  </a:extLst>
                </a:hlinkClick>
              </a:rPr>
              <a:t>Edge</a:t>
            </a:r>
            <a:endParaRPr lang="en-US" sz="1250" dirty="0"/>
          </a:p>
        </p:txBody>
      </p:sp>
      <p:sp>
        <p:nvSpPr>
          <p:cNvPr id="37" name="!!btn3">
            <a:hlinkClick action="ppaction://hlinksldjump" r:id="rId4"/>
          </p:cNvPr>
          <p:cNvSpPr/>
          <p:nvPr/>
        </p:nvSpPr>
        <p:spPr>
          <a:xfrm>
            <a:off x="5321808"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4" action="ppaction://hlinksldjump" tooltip="Conditional edge">
                  <a:extLst>
                    <a:ext uri="{A12FA001-AC4F-418D-AE19-62706E023703}">
                      <ahyp:hlinkClr xmlns:ahyp="http://schemas.microsoft.com/office/drawing/2018/hyperlinkcolor" val="tx"/>
                    </a:ext>
                  </a:extLst>
                </a:hlinkClick>
              </a:rPr>
              <a:t>Conditional edge</a:t>
            </a:r>
            <a:endParaRPr lang="en-US" sz="1250" dirty="0"/>
          </a:p>
        </p:txBody>
      </p:sp>
      <p:sp>
        <p:nvSpPr>
          <p:cNvPr id="38" name="!!btn4">
            <a:hlinkClick action="ppaction://hlinksldjump" r:id="rId5"/>
          </p:cNvPr>
          <p:cNvSpPr/>
          <p:nvPr/>
        </p:nvSpPr>
        <p:spPr>
          <a:xfrm>
            <a:off x="6958584"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5" action="ppaction://hlinksldjump" tooltip="State">
                  <a:extLst>
                    <a:ext uri="{A12FA001-AC4F-418D-AE19-62706E023703}">
                      <ahyp:hlinkClr xmlns:ahyp="http://schemas.microsoft.com/office/drawing/2018/hyperlinkcolor" val="tx"/>
                    </a:ext>
                  </a:extLst>
                </a:hlinkClick>
              </a:rPr>
              <a:t>State</a:t>
            </a:r>
            <a:endParaRPr lang="en-US" sz="1250" dirty="0"/>
          </a:p>
        </p:txBody>
      </p:sp>
      <p:sp>
        <p:nvSpPr>
          <p:cNvPr id="39" name="!!btn5">
            <a:hlinkClick action="ppaction://hlinksldjump" r:id="rId6"/>
          </p:cNvPr>
          <p:cNvSpPr/>
          <p:nvPr/>
        </p:nvSpPr>
        <p:spPr>
          <a:xfrm>
            <a:off x="8595360" y="5669280"/>
            <a:ext cx="1545336" cy="420624"/>
          </a:xfrm>
          <a:prstGeom prst="roundRect">
            <a:avLst>
              <a:gd name="adj" fmla="val 50000"/>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50" b="1" u="none" dirty="0">
                <a:solidFill>
                  <a:srgbClr val="FFFFFF"/>
                </a:solidFill>
                <a:latin typeface="Calibri" pitchFamily="34" charset="0"/>
                <a:ea typeface="Calibri" pitchFamily="34" charset="-122"/>
                <a:cs typeface="Calibri" pitchFamily="34" charset="-120"/>
                <a:hlinkClick r:id="rId6" action="ppaction://hlinksldjump" tooltip="Subgraph">
                  <a:extLst>
                    <a:ext uri="{A12FA001-AC4F-418D-AE19-62706E023703}">
                      <ahyp:hlinkClr xmlns:ahyp="http://schemas.microsoft.com/office/drawing/2018/hyperlinkcolor" val="tx"/>
                    </a:ext>
                  </a:extLst>
                </a:hlinkClick>
              </a:rPr>
              <a:t>Subgraph</a:t>
            </a:r>
            <a:endParaRPr lang="en-US" sz="1250" dirty="0"/>
          </a:p>
        </p:txBody>
      </p:sp>
      <p:sp>
        <p:nvSpPr>
          <p:cNvPr id="40" name="!!btn6">
            <a:hlinkClick action="ppaction://hlinksldjump" r:id="rId7"/>
          </p:cNvPr>
          <p:cNvSpPr/>
          <p:nvPr/>
        </p:nvSpPr>
        <p:spPr>
          <a:xfrm>
            <a:off x="1023213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7" action="ppaction://hlinksldjump" tooltip="Checkpointer">
                  <a:extLst>
                    <a:ext uri="{A12FA001-AC4F-418D-AE19-62706E023703}">
                      <ahyp:hlinkClr xmlns:ahyp="http://schemas.microsoft.com/office/drawing/2018/hyperlinkcolor" val="tx"/>
                    </a:ext>
                  </a:extLst>
                </a:hlinkClick>
              </a:rPr>
              <a:t>Checkpointer</a:t>
            </a:r>
            <a:endParaRPr lang="en-US" sz="12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Reading the Graph: What Each Part Does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txBody>
          <a:bodyPr/>
          <a:p/>
        </p:txBody>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The same graph as the last slide, one part at a time. Click a button to see what that part does, in plain words and in code.</a:t>
            </a:r>
            <a:endParaRPr lang="en-US" sz="1400" dirty="0"/>
          </a:p>
        </p:txBody>
      </p:sp>
      <p:sp>
        <p:nvSpPr>
          <p:cNvPr id="5" name="!!gs"/>
          <p:cNvSpPr/>
          <p:nvPr/>
        </p:nvSpPr>
        <p:spPr>
          <a:xfrm>
            <a:off x="3108960" y="157276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START</a:t>
            </a:r>
            <a:endParaRPr lang="en-US" sz="1100" dirty="0"/>
          </a:p>
        </p:txBody>
      </p:sp>
      <p:sp>
        <p:nvSpPr>
          <p:cNvPr id="6" name="!!e1"/>
          <p:cNvSpPr/>
          <p:nvPr/>
        </p:nvSpPr>
        <p:spPr>
          <a:xfrm>
            <a:off x="3611880" y="1901952"/>
            <a:ext cx="914" cy="219456"/>
          </a:xfrm>
          <a:prstGeom prst="line">
            <a:avLst/>
          </a:prstGeom>
          <a:noFill/>
          <a:ln w="15875">
            <a:solidFill>
              <a:srgbClr val="E3E1D8"/>
            </a:solidFill>
            <a:prstDash val="solid"/>
            <a:tailEnd type="triangle"/>
          </a:ln>
        </p:spPr>
        <p:txBody>
          <a:bodyPr/>
          <a:p/>
        </p:txBody>
      </p:sp>
      <p:sp>
        <p:nvSpPr>
          <p:cNvPr id="7" name="!!gw"/>
          <p:cNvSpPr/>
          <p:nvPr/>
        </p:nvSpPr>
        <p:spPr>
          <a:xfrm>
            <a:off x="2606040" y="2121408"/>
            <a:ext cx="2011680" cy="731520"/>
          </a:xfrm>
          <a:prstGeom prst="roundRect">
            <a:avLst>
              <a:gd name="adj" fmla="val 1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500" b="1" dirty="0">
                <a:solidFill>
                  <a:srgbClr val="B4B2A9"/>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B4B2A9"/>
                </a:solidFill>
                <a:latin typeface="Calibri" pitchFamily="34" charset="0"/>
                <a:ea typeface="Calibri" pitchFamily="34" charset="-122"/>
                <a:cs typeface="Calibri" pitchFamily="34" charset="-120"/>
              </a:rPr>
              <a:t>does the job</a:t>
            </a:r>
            <a:endParaRPr lang="en-US" sz="1200" dirty="0"/>
          </a:p>
        </p:txBody>
      </p:sp>
      <p:sp>
        <p:nvSpPr>
          <p:cNvPr id="8" name="!!e2"/>
          <p:cNvSpPr/>
          <p:nvPr/>
        </p:nvSpPr>
        <p:spPr>
          <a:xfrm>
            <a:off x="3611880" y="2852928"/>
            <a:ext cx="914" cy="411480"/>
          </a:xfrm>
          <a:prstGeom prst="line">
            <a:avLst/>
          </a:prstGeom>
          <a:noFill/>
          <a:ln w="31750">
            <a:solidFill>
              <a:srgbClr val="5F5E5A"/>
            </a:solidFill>
            <a:prstDash val="solid"/>
            <a:tailEnd type="triangle"/>
          </a:ln>
        </p:spPr>
        <p:txBody>
          <a:bodyPr/>
          <a:p/>
        </p:txBody>
      </p:sp>
      <p:sp>
        <p:nvSpPr>
          <p:cNvPr id="9" name="!!gc"/>
          <p:cNvSpPr/>
          <p:nvPr/>
        </p:nvSpPr>
        <p:spPr>
          <a:xfrm>
            <a:off x="2606040" y="3264408"/>
            <a:ext cx="2011680" cy="731520"/>
          </a:xfrm>
          <a:prstGeom prst="roundRect">
            <a:avLst>
              <a:gd name="adj" fmla="val 1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500" b="1" dirty="0">
                <a:solidFill>
                  <a:srgbClr val="B4B2A9"/>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B4B2A9"/>
                </a:solidFill>
                <a:latin typeface="Calibri" pitchFamily="34" charset="0"/>
                <a:ea typeface="Calibri" pitchFamily="34" charset="-122"/>
                <a:cs typeface="Calibri" pitchFamily="34" charset="-120"/>
              </a:rPr>
              <a:t>verifies the work</a:t>
            </a:r>
            <a:endParaRPr lang="en-US" sz="1200" dirty="0"/>
          </a:p>
        </p:txBody>
      </p:sp>
      <p:sp>
        <p:nvSpPr>
          <p:cNvPr id="10" name="!!e3"/>
          <p:cNvSpPr/>
          <p:nvPr/>
        </p:nvSpPr>
        <p:spPr>
          <a:xfrm>
            <a:off x="3611880" y="3995928"/>
            <a:ext cx="914" cy="411480"/>
          </a:xfrm>
          <a:prstGeom prst="line">
            <a:avLst/>
          </a:prstGeom>
          <a:noFill/>
          <a:ln w="31750">
            <a:solidFill>
              <a:srgbClr val="5F5E5A"/>
            </a:solidFill>
            <a:prstDash val="solid"/>
            <a:tailEnd type="triangle"/>
          </a:ln>
        </p:spPr>
        <p:txBody>
          <a:bodyPr/>
          <a:p/>
        </p:txBody>
      </p:sp>
      <p:sp>
        <p:nvSpPr>
          <p:cNvPr id="11" name="!!gpass"/>
          <p:cNvSpPr txBox="1"/>
          <p:nvPr/>
        </p:nvSpPr>
        <p:spPr>
          <a:xfrm>
            <a:off x="3703320" y="4050792"/>
            <a:ext cx="548640" cy="274320"/>
          </a:xfrm>
          <a:prstGeom prst="rect">
            <a:avLst/>
          </a:prstGeom>
          <a:noFill/>
          <a:ln/>
        </p:spPr>
        <p:txBody>
          <a:bodyPr wrap="square" lIns="0" tIns="0" rIns="0" bIns="0" rtlCol="0" anchor="t"/>
          <a:lstStyle/>
          <a:p>
            <a:pPr algn="l" indent="0" marL="0">
              <a:buNone/>
            </a:pPr>
            <a:r>
              <a:rPr lang="en-US" sz="1100" b="1" dirty="0">
                <a:solidFill>
                  <a:srgbClr val="085041"/>
                </a:solidFill>
                <a:latin typeface="Calibri" pitchFamily="34" charset="0"/>
                <a:ea typeface="Calibri" pitchFamily="34" charset="-122"/>
                <a:cs typeface="Calibri" pitchFamily="34" charset="-120"/>
              </a:rPr>
              <a:t>pass</a:t>
            </a:r>
            <a:endParaRPr lang="en-US" sz="1100" dirty="0"/>
          </a:p>
        </p:txBody>
      </p:sp>
      <p:sp>
        <p:nvSpPr>
          <p:cNvPr id="12" name="!!gend"/>
          <p:cNvSpPr/>
          <p:nvPr/>
        </p:nvSpPr>
        <p:spPr>
          <a:xfrm>
            <a:off x="3108960" y="4407408"/>
            <a:ext cx="1005840" cy="329184"/>
          </a:xfrm>
          <a:prstGeom prst="roundRect">
            <a:avLst>
              <a:gd name="adj" fmla="val 50000"/>
            </a:avLst>
          </a:prstGeom>
          <a:solidFill>
            <a:srgbClr val="FAFAF7"/>
          </a:solidFill>
          <a:ln w="12700">
            <a:solidFill>
              <a:srgbClr val="E3E1D8"/>
            </a:solidFill>
            <a:prstDash val="solid"/>
          </a:ln>
        </p:spPr>
        <p:txBody>
          <a:bodyPr wrap="square" lIns="50800" tIns="50800" rIns="50800" bIns="50800" rtlCol="0" anchor="ctr"/>
          <a:lstStyle/>
          <a:p>
            <a:pPr algn="ctr" indent="0" marL="0">
              <a:buNone/>
            </a:pPr>
            <a:r>
              <a:rPr lang="en-US" sz="1100" b="1" dirty="0">
                <a:solidFill>
                  <a:srgbClr val="B4B2A9"/>
                </a:solidFill>
                <a:latin typeface="Consolas" pitchFamily="34" charset="0"/>
                <a:ea typeface="Consolas" pitchFamily="34" charset="-122"/>
                <a:cs typeface="Consolas" pitchFamily="34" charset="-120"/>
              </a:rPr>
              <a:t>END</a:t>
            </a:r>
            <a:endParaRPr lang="en-US" sz="1100" dirty="0"/>
          </a:p>
        </p:txBody>
      </p:sp>
      <p:sp>
        <p:nvSpPr>
          <p:cNvPr id="13" name="!!gf1"/>
          <p:cNvSpPr/>
          <p:nvPr/>
        </p:nvSpPr>
        <p:spPr>
          <a:xfrm flipH="1">
            <a:off x="2103120" y="3630168"/>
            <a:ext cx="502920" cy="914"/>
          </a:xfrm>
          <a:prstGeom prst="line">
            <a:avLst/>
          </a:prstGeom>
          <a:noFill/>
          <a:ln w="15875">
            <a:solidFill>
              <a:srgbClr val="E3E1D8"/>
            </a:solidFill>
            <a:prstDash val="dash"/>
          </a:ln>
        </p:spPr>
        <p:txBody>
          <a:bodyPr/>
          <a:p/>
        </p:txBody>
      </p:sp>
      <p:sp>
        <p:nvSpPr>
          <p:cNvPr id="14" name="!!gf2"/>
          <p:cNvSpPr/>
          <p:nvPr/>
        </p:nvSpPr>
        <p:spPr>
          <a:xfrm flipV="1">
            <a:off x="2103120" y="2487168"/>
            <a:ext cx="914" cy="1143000"/>
          </a:xfrm>
          <a:prstGeom prst="line">
            <a:avLst/>
          </a:prstGeom>
          <a:noFill/>
          <a:ln w="15875">
            <a:solidFill>
              <a:srgbClr val="E3E1D8"/>
            </a:solidFill>
            <a:prstDash val="dash"/>
          </a:ln>
        </p:spPr>
        <p:txBody>
          <a:bodyPr/>
          <a:p/>
        </p:txBody>
      </p:sp>
      <p:sp>
        <p:nvSpPr>
          <p:cNvPr id="15" name="!!gf3"/>
          <p:cNvSpPr/>
          <p:nvPr/>
        </p:nvSpPr>
        <p:spPr>
          <a:xfrm>
            <a:off x="2103120" y="2487168"/>
            <a:ext cx="484632" cy="914"/>
          </a:xfrm>
          <a:prstGeom prst="line">
            <a:avLst/>
          </a:prstGeom>
          <a:noFill/>
          <a:ln w="15875">
            <a:solidFill>
              <a:srgbClr val="E3E1D8"/>
            </a:solidFill>
            <a:prstDash val="dash"/>
            <a:tailEnd type="triangle"/>
          </a:ln>
        </p:spPr>
        <p:txBody>
          <a:bodyPr/>
          <a:p/>
        </p:txBody>
      </p:sp>
      <p:sp>
        <p:nvSpPr>
          <p:cNvPr id="16" name="!!gfail"/>
          <p:cNvSpPr txBox="1"/>
          <p:nvPr/>
        </p:nvSpPr>
        <p:spPr>
          <a:xfrm>
            <a:off x="1645920" y="3081528"/>
            <a:ext cx="411480" cy="274320"/>
          </a:xfrm>
          <a:prstGeom prst="rect">
            <a:avLst/>
          </a:prstGeom>
          <a:noFill/>
          <a:ln/>
        </p:spPr>
        <p:txBody>
          <a:bodyPr wrap="square" lIns="0" tIns="0" rIns="0" bIns="0" rtlCol="0" anchor="t"/>
          <a:lstStyle/>
          <a:p>
            <a:pPr algn="r" indent="0" marL="0">
              <a:buNone/>
            </a:pPr>
            <a:r>
              <a:rPr lang="en-US" sz="1100" b="1" dirty="0">
                <a:solidFill>
                  <a:srgbClr val="B4B2A9"/>
                </a:solidFill>
                <a:latin typeface="Calibri" pitchFamily="34" charset="0"/>
                <a:ea typeface="Calibri" pitchFamily="34" charset="-122"/>
                <a:cs typeface="Calibri" pitchFamily="34" charset="-120"/>
              </a:rPr>
              <a:t>fail</a:t>
            </a:r>
            <a:endParaRPr lang="en-US" sz="1100" dirty="0"/>
          </a:p>
        </p:txBody>
      </p:sp>
      <p:sp>
        <p:nvSpPr>
          <p:cNvPr id="17" name="!!sl1"/>
          <p:cNvSpPr/>
          <p:nvPr/>
        </p:nvSpPr>
        <p:spPr>
          <a:xfrm>
            <a:off x="4617720" y="2487168"/>
            <a:ext cx="731520" cy="914"/>
          </a:xfrm>
          <a:prstGeom prst="line">
            <a:avLst/>
          </a:prstGeom>
          <a:noFill/>
          <a:ln w="9525">
            <a:solidFill>
              <a:srgbClr val="E3E1D8"/>
            </a:solidFill>
            <a:prstDash val="dash"/>
          </a:ln>
        </p:spPr>
        <p:txBody>
          <a:bodyPr/>
          <a:p/>
        </p:txBody>
      </p:sp>
      <p:sp>
        <p:nvSpPr>
          <p:cNvPr id="18" name="!!sl2"/>
          <p:cNvSpPr/>
          <p:nvPr/>
        </p:nvSpPr>
        <p:spPr>
          <a:xfrm>
            <a:off x="4617720" y="3630168"/>
            <a:ext cx="731520" cy="914"/>
          </a:xfrm>
          <a:prstGeom prst="line">
            <a:avLst/>
          </a:prstGeom>
          <a:noFill/>
          <a:ln w="9525">
            <a:solidFill>
              <a:srgbClr val="E3E1D8"/>
            </a:solidFill>
            <a:prstDash val="dash"/>
          </a:ln>
        </p:spPr>
        <p:txBody>
          <a:bodyPr/>
          <a:p/>
        </p:txBody>
      </p:sp>
      <p:sp>
        <p:nvSpPr>
          <p:cNvPr id="19" name="!!st"/>
          <p:cNvSpPr/>
          <p:nvPr/>
        </p:nvSpPr>
        <p:spPr>
          <a:xfrm>
            <a:off x="5349240" y="2121408"/>
            <a:ext cx="1600200" cy="1874520"/>
          </a:xfrm>
          <a:prstGeom prst="roundRect">
            <a:avLst>
              <a:gd name="adj" fmla="val 4571"/>
            </a:avLst>
          </a:prstGeom>
          <a:solidFill>
            <a:srgbClr val="FAFAF7"/>
          </a:solidFill>
          <a:ln w="12700">
            <a:solidFill>
              <a:srgbClr val="E3E1D8"/>
            </a:solidFill>
            <a:prstDash val="solid"/>
          </a:ln>
        </p:spPr>
        <p:txBody>
          <a:bodyPr wrap="square" lIns="50800" tIns="50800" rIns="50800" bIns="50800" rtlCol="0" anchor="ctr"/>
          <a:lstStyle/>
          <a:p>
            <a:pPr algn="ctr" indent="0" marL="0">
              <a:buNone/>
            </a:pPr>
            <a:endParaRPr lang="en-US" sz="1200" dirty="0"/>
          </a:p>
        </p:txBody>
      </p:sp>
      <p:sp>
        <p:nvSpPr>
          <p:cNvPr id="20" name="!!sth"/>
          <p:cNvSpPr txBox="1"/>
          <p:nvPr/>
        </p:nvSpPr>
        <p:spPr>
          <a:xfrm>
            <a:off x="5486400" y="2212848"/>
            <a:ext cx="1325880" cy="274320"/>
          </a:xfrm>
          <a:prstGeom prst="rect">
            <a:avLst/>
          </a:prstGeom>
          <a:noFill/>
          <a:ln/>
        </p:spPr>
        <p:txBody>
          <a:bodyPr wrap="square" lIns="0" tIns="0" rIns="0" bIns="0" rtlCol="0" anchor="t"/>
          <a:lstStyle/>
          <a:p>
            <a:pPr algn="l" indent="0" marL="0">
              <a:buNone/>
            </a:pPr>
            <a:r>
              <a:rPr lang="en-US" sz="1300" b="1" dirty="0">
                <a:solidFill>
                  <a:srgbClr val="B4B2A9"/>
                </a:solidFill>
                <a:latin typeface="Calibri" pitchFamily="34" charset="0"/>
                <a:ea typeface="Calibri" pitchFamily="34" charset="-122"/>
                <a:cs typeface="Calibri" pitchFamily="34" charset="-120"/>
              </a:rPr>
              <a:t>State</a:t>
            </a:r>
            <a:endParaRPr lang="en-US" sz="1300" dirty="0"/>
          </a:p>
        </p:txBody>
      </p:sp>
      <p:sp>
        <p:nvSpPr>
          <p:cNvPr id="21" name="!!str0"/>
          <p:cNvSpPr txBox="1"/>
          <p:nvPr/>
        </p:nvSpPr>
        <p:spPr>
          <a:xfrm>
            <a:off x="5486400" y="2505456"/>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ticket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input</a:t>
            </a:r>
            <a:endParaRPr lang="en-US" sz="1400" dirty="0"/>
          </a:p>
        </p:txBody>
      </p:sp>
      <p:sp>
        <p:nvSpPr>
          <p:cNvPr id="22" name="!!str1"/>
          <p:cNvSpPr txBox="1"/>
          <p:nvPr/>
        </p:nvSpPr>
        <p:spPr>
          <a:xfrm>
            <a:off x="5486400" y="2980944"/>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result</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worker</a:t>
            </a:r>
            <a:endParaRPr lang="en-US" sz="1400" dirty="0"/>
          </a:p>
        </p:txBody>
      </p:sp>
      <p:sp>
        <p:nvSpPr>
          <p:cNvPr id="23" name="!!str2"/>
          <p:cNvSpPr txBox="1"/>
          <p:nvPr/>
        </p:nvSpPr>
        <p:spPr>
          <a:xfrm>
            <a:off x="5486400" y="3456432"/>
            <a:ext cx="1325880" cy="457200"/>
          </a:xfrm>
          <a:prstGeom prst="rect">
            <a:avLst/>
          </a:prstGeom>
          <a:noFill/>
          <a:ln/>
        </p:spPr>
        <p:txBody>
          <a:bodyPr wrap="square" lIns="0" tIns="0" rIns="0" bIns="0" rtlCol="0" anchor="t"/>
          <a:lstStyle/>
          <a:p>
            <a:pPr algn="l" indent="0" marL="0">
              <a:buNone/>
            </a:pPr>
            <a:r>
              <a:rPr lang="en-US" sz="1150" b="1" dirty="0">
                <a:solidFill>
                  <a:srgbClr val="B4B2A9"/>
                </a:solidFill>
                <a:latin typeface="Consolas" pitchFamily="34" charset="0"/>
                <a:ea typeface="Consolas" pitchFamily="34" charset="-122"/>
                <a:cs typeface="Consolas" pitchFamily="34" charset="-120"/>
              </a:rPr>
              <a:t>status</a:t>
            </a:r>
            <a:endParaRPr lang="en-US" sz="1400" dirty="0"/>
          </a:p>
          <a:p>
            <a:pPr algn="l" indent="0" marL="0">
              <a:buNone/>
            </a:pPr>
            <a:r>
              <a:rPr lang="en-US" sz="1000" dirty="0">
                <a:solidFill>
                  <a:srgbClr val="B4B2A9"/>
                </a:solidFill>
                <a:latin typeface="Calibri" pitchFamily="34" charset="0"/>
                <a:ea typeface="Calibri" pitchFamily="34" charset="-122"/>
                <a:cs typeface="Calibri" pitchFamily="34" charset="-120"/>
              </a:rPr>
              <a:t>by checker</a:t>
            </a:r>
            <a:endParaRPr lang="en-US" sz="1400" dirty="0"/>
          </a:p>
        </p:txBody>
      </p:sp>
      <p:sp>
        <p:nvSpPr>
          <p:cNvPr id="24" name="!!save1"/>
          <p:cNvSpPr/>
          <p:nvPr/>
        </p:nvSpPr>
        <p:spPr>
          <a:xfrm>
            <a:off x="2907792" y="2903220"/>
            <a:ext cx="310896" cy="310896"/>
          </a:xfrm>
          <a:prstGeom prst="ellipse">
            <a:avLst/>
          </a:prstGeom>
          <a:solidFill>
            <a:srgbClr val="FAEEDA"/>
          </a:solidFill>
          <a:ln w="12700">
            <a:solidFill>
              <a:srgbClr val="854F0B"/>
            </a:solidFill>
            <a:prstDash val="solid"/>
          </a:ln>
        </p:spPr>
        <p:txBody>
          <a:bodyPr wrap="square" lIns="50800" tIns="50800" rIns="50800" bIns="50800" rtlCol="0" anchor="ctr"/>
          <a:lstStyle/>
          <a:p>
            <a:pPr algn="ctr" indent="0" marL="0">
              <a:buNone/>
            </a:pPr>
            <a:endParaRPr lang="en-US" sz="1200" dirty="0"/>
          </a:p>
        </p:txBody>
      </p:sp>
      <p:pic>
        <p:nvPicPr>
          <p:cNvPr id="25" name="!!saveic1" descr="/tmp/deck-icons/TbDeviceFloppy_854F0B.png">    </p:cNvPr>
          <p:cNvPicPr>
            <a:picLocks noChangeAspect="1"/>
          </p:cNvPicPr>
          <p:nvPr/>
        </p:nvPicPr>
        <p:blipFill>
          <a:blip r:embed="rId1"/>
          <a:stretch>
            <a:fillRect/>
          </a:stretch>
        </p:blipFill>
        <p:spPr>
          <a:xfrm>
            <a:off x="2962656" y="2958084"/>
            <a:ext cx="201168" cy="201168"/>
          </a:xfrm>
          <a:prstGeom prst="rect">
            <a:avLst/>
          </a:prstGeom>
        </p:spPr>
      </p:pic>
      <p:sp>
        <p:nvSpPr>
          <p:cNvPr id="26" name="!!save2"/>
          <p:cNvSpPr/>
          <p:nvPr/>
        </p:nvSpPr>
        <p:spPr>
          <a:xfrm>
            <a:off x="2907792" y="4046220"/>
            <a:ext cx="310896" cy="310896"/>
          </a:xfrm>
          <a:prstGeom prst="ellipse">
            <a:avLst/>
          </a:prstGeom>
          <a:solidFill>
            <a:srgbClr val="FAEEDA"/>
          </a:solidFill>
          <a:ln w="12700">
            <a:solidFill>
              <a:srgbClr val="854F0B"/>
            </a:solidFill>
            <a:prstDash val="solid"/>
          </a:ln>
        </p:spPr>
        <p:txBody>
          <a:bodyPr wrap="square" lIns="50800" tIns="50800" rIns="50800" bIns="50800" rtlCol="0" anchor="ctr"/>
          <a:lstStyle/>
          <a:p>
            <a:pPr algn="ctr" indent="0" marL="0">
              <a:buNone/>
            </a:pPr>
            <a:endParaRPr lang="en-US" sz="1200" dirty="0"/>
          </a:p>
        </p:txBody>
      </p:sp>
      <p:pic>
        <p:nvPicPr>
          <p:cNvPr id="27" name="!!saveic2" descr="/tmp/deck-icons/TbDeviceFloppy_854F0B.png">    </p:cNvPr>
          <p:cNvPicPr>
            <a:picLocks noChangeAspect="1"/>
          </p:cNvPicPr>
          <p:nvPr/>
        </p:nvPicPr>
        <p:blipFill>
          <a:blip r:embed="rId2"/>
          <a:stretch>
            <a:fillRect/>
          </a:stretch>
        </p:blipFill>
        <p:spPr>
          <a:xfrm>
            <a:off x="2962656" y="4101084"/>
            <a:ext cx="201168" cy="201168"/>
          </a:xfrm>
          <a:prstGeom prst="rect">
            <a:avLst/>
          </a:prstGeom>
        </p:spPr>
      </p:pic>
      <p:sp>
        <p:nvSpPr>
          <p:cNvPr id="28" name="!!savel"/>
          <p:cNvSpPr txBox="1"/>
          <p:nvPr/>
        </p:nvSpPr>
        <p:spPr>
          <a:xfrm>
            <a:off x="2286000" y="2939796"/>
            <a:ext cx="502920" cy="237744"/>
          </a:xfrm>
          <a:prstGeom prst="rect">
            <a:avLst/>
          </a:prstGeom>
          <a:noFill/>
          <a:ln/>
        </p:spPr>
        <p:txBody>
          <a:bodyPr wrap="square" lIns="0" tIns="0" rIns="0" bIns="0" rtlCol="0" anchor="t"/>
          <a:lstStyle/>
          <a:p>
            <a:pPr algn="r" indent="0" marL="0">
              <a:buNone/>
            </a:pPr>
            <a:r>
              <a:rPr lang="en-US" sz="1000" b="1" dirty="0">
                <a:solidFill>
                  <a:srgbClr val="633806"/>
                </a:solidFill>
                <a:latin typeface="Calibri" pitchFamily="34" charset="0"/>
                <a:ea typeface="Calibri" pitchFamily="34" charset="-122"/>
                <a:cs typeface="Calibri" pitchFamily="34" charset="-120"/>
              </a:rPr>
              <a:t>saved</a:t>
            </a:r>
            <a:endParaRPr lang="en-US" sz="1000" dirty="0"/>
          </a:p>
        </p:txBody>
      </p:sp>
      <p:sp>
        <p:nvSpPr>
          <p:cNvPr id="29" name="!!human"/>
          <p:cNvSpPr/>
          <p:nvPr/>
        </p:nvSpPr>
        <p:spPr>
          <a:xfrm>
            <a:off x="4297680" y="4389120"/>
            <a:ext cx="1463040" cy="365760"/>
          </a:xfrm>
          <a:prstGeom prst="roundRect">
            <a:avLst>
              <a:gd name="adj" fmla="val 50000"/>
            </a:avLst>
          </a:prstGeom>
          <a:solidFill>
            <a:srgbClr val="FAEEDA"/>
          </a:solidFill>
          <a:ln w="12700">
            <a:solidFill>
              <a:srgbClr val="854F0B"/>
            </a:solidFill>
            <a:prstDash val="solid"/>
          </a:ln>
        </p:spPr>
        <p:txBody>
          <a:bodyPr wrap="square" lIns="25400" tIns="25400" rIns="25400" bIns="25400" rtlCol="0" anchor="ctr"/>
          <a:lstStyle/>
          <a:p>
            <a:pPr algn="ctr" indent="0" marL="0">
              <a:buNone/>
            </a:pPr>
            <a:r>
              <a:rPr lang="en-US" sz="1050" b="1" dirty="0">
                <a:solidFill>
                  <a:srgbClr val="633806"/>
                </a:solidFill>
                <a:latin typeface="Calibri" pitchFamily="34" charset="0"/>
                <a:ea typeface="Calibri" pitchFamily="34" charset="-122"/>
                <a:cs typeface="Calibri" pitchFamily="34" charset="-120"/>
              </a:rPr>
              <a:t>pause: </a:t>
            </a:r>
            <a:pPr algn="ctr" indent="0" marL="0">
              <a:buNone/>
            </a:pPr>
            <a:r>
              <a:rPr lang="en-US" sz="1050" dirty="0">
                <a:solidFill>
                  <a:srgbClr val="633806"/>
                </a:solidFill>
                <a:latin typeface="Calibri" pitchFamily="34" charset="0"/>
                <a:ea typeface="Calibri" pitchFamily="34" charset="-122"/>
                <a:cs typeface="Calibri" pitchFamily="34" charset="-120"/>
              </a:rPr>
              <a:t>human approves</a:t>
            </a:r>
            <a:endParaRPr lang="en-US" sz="1050" dirty="0"/>
          </a:p>
        </p:txBody>
      </p:sp>
      <p:sp>
        <p:nvSpPr>
          <p:cNvPr id="30" name="!!panel"/>
          <p:cNvSpPr/>
          <p:nvPr/>
        </p:nvSpPr>
        <p:spPr>
          <a:xfrm>
            <a:off x="7269480" y="1463040"/>
            <a:ext cx="4507992" cy="3977640"/>
          </a:xfrm>
          <a:prstGeom prst="roundRect">
            <a:avLst>
              <a:gd name="adj" fmla="val 1839"/>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1" name="!!ptitle"/>
          <p:cNvSpPr txBox="1"/>
          <p:nvPr/>
        </p:nvSpPr>
        <p:spPr>
          <a:xfrm>
            <a:off x="7543800" y="1645920"/>
            <a:ext cx="3959352" cy="411480"/>
          </a:xfrm>
          <a:prstGeom prst="rect">
            <a:avLst/>
          </a:prstGeom>
          <a:noFill/>
          <a:ln/>
        </p:spPr>
        <p:txBody>
          <a:bodyPr wrap="square" lIns="0" tIns="0" rIns="0" bIns="0" rtlCol="0" anchor="ctr"/>
          <a:lstStyle/>
          <a:p>
            <a:pPr algn="l" indent="0" marL="0">
              <a:buNone/>
            </a:pPr>
            <a:r>
              <a:rPr lang="en-US" sz="2000" b="1" dirty="0">
                <a:solidFill>
                  <a:srgbClr val="3C3489"/>
                </a:solidFill>
                <a:latin typeface="Calibri" pitchFamily="34" charset="0"/>
                <a:ea typeface="Calibri" pitchFamily="34" charset="-122"/>
                <a:cs typeface="Calibri" pitchFamily="34" charset="-120"/>
              </a:rPr>
              <a:t>Checkpointer</a:t>
            </a:r>
            <a:endParaRPr lang="en-US" sz="2000" dirty="0"/>
          </a:p>
        </p:txBody>
      </p:sp>
      <p:sp>
        <p:nvSpPr>
          <p:cNvPr id="32" name="!!pl1"/>
          <p:cNvSpPr txBox="1"/>
          <p:nvPr/>
        </p:nvSpPr>
        <p:spPr>
          <a:xfrm>
            <a:off x="7543800" y="2176272"/>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WHAT IT IS</a:t>
            </a:r>
            <a:endParaRPr lang="en-US" sz="1050" dirty="0"/>
          </a:p>
        </p:txBody>
      </p:sp>
      <p:sp>
        <p:nvSpPr>
          <p:cNvPr id="33" name="!!pwhat"/>
          <p:cNvSpPr txBox="1"/>
          <p:nvPr/>
        </p:nvSpPr>
        <p:spPr>
          <a:xfrm>
            <a:off x="7543800" y="2404872"/>
            <a:ext cx="3959352" cy="566928"/>
          </a:xfrm>
          <a:prstGeom prst="rect">
            <a:avLst/>
          </a:prstGeom>
          <a:noFill/>
          <a:ln/>
        </p:spPr>
        <p:txBody>
          <a:bodyPr wrap="square" lIns="0" tIns="0" rIns="0" bIns="0" rtlCol="0" anchor="t"/>
          <a:lstStyle/>
          <a:p>
            <a:pPr algn="l" indent="0" marL="0">
              <a:buNone/>
            </a:pPr>
            <a:r>
              <a:rPr lang="en-US" sz="1350" dirty="0">
                <a:solidFill>
                  <a:srgbClr val="2C2C2A"/>
                </a:solidFill>
                <a:latin typeface="Calibri" pitchFamily="34" charset="0"/>
                <a:ea typeface="Calibri" pitchFamily="34" charset="-122"/>
                <a:cs typeface="Calibri" pitchFamily="34" charset="-120"/>
              </a:rPr>
              <a:t>Saves the state after every step, so a run can resume after a failure or pause for a person.</a:t>
            </a:r>
            <a:endParaRPr lang="en-US" sz="1350" dirty="0"/>
          </a:p>
        </p:txBody>
      </p:sp>
      <p:sp>
        <p:nvSpPr>
          <p:cNvPr id="34" name="!!pl2"/>
          <p:cNvSpPr txBox="1"/>
          <p:nvPr/>
        </p:nvSpPr>
        <p:spPr>
          <a:xfrm>
            <a:off x="7543800" y="3017520"/>
            <a:ext cx="3959352" cy="237744"/>
          </a:xfrm>
          <a:prstGeom prst="rect">
            <a:avLst/>
          </a:prstGeom>
          <a:noFill/>
          <a:ln/>
        </p:spPr>
        <p:txBody>
          <a:bodyPr wrap="square" lIns="0" tIns="0" rIns="0" bIns="0" rtlCol="0" anchor="t"/>
          <a:lstStyle/>
          <a:p>
            <a:pPr algn="l" indent="0" marL="0">
              <a:buNone/>
            </a:pPr>
            <a:r>
              <a:rPr lang="en-US" sz="1050" b="1" dirty="0">
                <a:solidFill>
                  <a:srgbClr val="5F5E5A"/>
                </a:solidFill>
                <a:latin typeface="Calibri" pitchFamily="34" charset="0"/>
                <a:ea typeface="Calibri" pitchFamily="34" charset="-122"/>
                <a:cs typeface="Calibri" pitchFamily="34" charset="-120"/>
              </a:rPr>
              <a:t>IN THIS GRAPH</a:t>
            </a:r>
            <a:endParaRPr lang="en-US" sz="1050" dirty="0"/>
          </a:p>
        </p:txBody>
      </p:sp>
      <p:sp>
        <p:nvSpPr>
          <p:cNvPr id="35" name="!!phere"/>
          <p:cNvSpPr txBox="1"/>
          <p:nvPr/>
        </p:nvSpPr>
        <p:spPr>
          <a:xfrm>
            <a:off x="7543800" y="3246120"/>
            <a:ext cx="3959352" cy="56692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Saved after worker and after checker. Before it finishes, the run can stop and wait for a human to approve.</a:t>
            </a:r>
            <a:endParaRPr lang="en-US" sz="1300" dirty="0"/>
          </a:p>
        </p:txBody>
      </p:sp>
      <p:sp>
        <p:nvSpPr>
          <p:cNvPr id="36" name="!!plike"/>
          <p:cNvSpPr/>
          <p:nvPr/>
        </p:nvSpPr>
        <p:spPr>
          <a:xfrm>
            <a:off x="7543800" y="3886200"/>
            <a:ext cx="3959352" cy="457200"/>
          </a:xfrm>
          <a:prstGeom prst="roundRect">
            <a:avLst>
              <a:gd name="adj" fmla="val 12000"/>
            </a:avLst>
          </a:prstGeom>
          <a:solidFill>
            <a:srgbClr val="E1F5EE"/>
          </a:solidFill>
          <a:ln w="1270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Think of it as  </a:t>
            </a:r>
            <a:pPr algn="l" indent="0" marL="0">
              <a:buNone/>
            </a:pPr>
            <a:r>
              <a:rPr lang="en-US" sz="1250" dirty="0">
                <a:solidFill>
                  <a:srgbClr val="085041"/>
                </a:solidFill>
                <a:latin typeface="Calibri" pitchFamily="34" charset="0"/>
                <a:ea typeface="Calibri" pitchFamily="34" charset="-122"/>
                <a:cs typeface="Calibri" pitchFamily="34" charset="-120"/>
              </a:rPr>
              <a:t>Save points in a game, plus a manager's sign-off.</a:t>
            </a:r>
            <a:endParaRPr lang="en-US" sz="1250" dirty="0"/>
          </a:p>
        </p:txBody>
      </p:sp>
      <p:sp>
        <p:nvSpPr>
          <p:cNvPr id="37" name="!!pcode"/>
          <p:cNvSpPr/>
          <p:nvPr/>
        </p:nvSpPr>
        <p:spPr>
          <a:xfrm>
            <a:off x="7543800" y="4453128"/>
            <a:ext cx="3959352" cy="786384"/>
          </a:xfrm>
          <a:prstGeom prst="roundRect">
            <a:avLst>
              <a:gd name="adj" fmla="val 4651"/>
            </a:avLst>
          </a:prstGeom>
          <a:solidFill>
            <a:srgbClr val="F7F6F2"/>
          </a:solidFill>
          <a:ln w="6350">
            <a:solidFill>
              <a:srgbClr val="D3D1C7"/>
            </a:solidFill>
            <a:prstDash val="solid"/>
          </a:ln>
        </p:spPr>
        <p:txBody>
          <a:bodyPr wrap="square" lIns="101600" tIns="101600" rIns="101600" bIns="101600" rtlCol="0" anchor="ctr"/>
          <a:lstStyle/>
          <a:p>
            <a:pPr algn="l" indent="0" marL="0">
              <a:buNone/>
            </a:pPr>
            <a:r>
              <a:rPr lang="en-US" sz="1000" dirty="0">
                <a:solidFill>
                  <a:srgbClr val="2C2C2A"/>
                </a:solidFill>
                <a:latin typeface="Consolas" pitchFamily="34" charset="0"/>
                <a:ea typeface="Consolas" pitchFamily="34" charset="-122"/>
                <a:cs typeface="Consolas" pitchFamily="34" charset="-120"/>
              </a:rPr>
              <a:t>app = g.compile(checkpointer=InMemorySaver())</a:t>
            </a:r>
            <a:endParaRPr lang="en-US" sz="1000" dirty="0"/>
          </a:p>
          <a:p>
            <a:pPr algn="l" indent="0" marL="0">
              <a:buNone/>
            </a:pP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 inside a node: wait for a person</a:t>
            </a:r>
            <a:endParaRPr lang="en-US" sz="1000" dirty="0"/>
          </a:p>
          <a:p>
            <a:pPr algn="l" indent="0" marL="0">
              <a:buNone/>
            </a:pPr>
            <a:r>
              <a:rPr lang="en-US" sz="1000" dirty="0">
                <a:solidFill>
                  <a:srgbClr val="2C2C2A"/>
                </a:solidFill>
                <a:latin typeface="Consolas" pitchFamily="34" charset="0"/>
                <a:ea typeface="Consolas" pitchFamily="34" charset="-122"/>
                <a:cs typeface="Consolas" pitchFamily="34" charset="-120"/>
              </a:rPr>
              <a:t>ok = interrupt("Approve this fix?")</a:t>
            </a:r>
            <a:endParaRPr lang="en-US" sz="1000" dirty="0"/>
          </a:p>
        </p:txBody>
      </p:sp>
      <p:sp>
        <p:nvSpPr>
          <p:cNvPr id="38" name="!!btn0">
            <a:hlinkClick action="ppaction://hlinksldjump" r:id="rId3"/>
          </p:cNvPr>
          <p:cNvSpPr/>
          <p:nvPr/>
        </p:nvSpPr>
        <p:spPr>
          <a:xfrm>
            <a:off x="41148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3" action="ppaction://hlinksldjump" tooltip="How to read it">
                  <a:extLst>
                    <a:ext uri="{A12FA001-AC4F-418D-AE19-62706E023703}">
                      <ahyp:hlinkClr xmlns:ahyp="http://schemas.microsoft.com/office/drawing/2018/hyperlinkcolor" val="tx"/>
                    </a:ext>
                  </a:extLst>
                </a:hlinkClick>
              </a:rPr>
              <a:t>Overview</a:t>
            </a:r>
            <a:endParaRPr lang="en-US" sz="1250" dirty="0"/>
          </a:p>
        </p:txBody>
      </p:sp>
      <p:sp>
        <p:nvSpPr>
          <p:cNvPr id="39" name="!!btn1">
            <a:hlinkClick action="ppaction://hlinksldjump" r:id="rId4"/>
          </p:cNvPr>
          <p:cNvSpPr/>
          <p:nvPr/>
        </p:nvSpPr>
        <p:spPr>
          <a:xfrm>
            <a:off x="2048256"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4" action="ppaction://hlinksldjump" tooltip="Node">
                  <a:extLst>
                    <a:ext uri="{A12FA001-AC4F-418D-AE19-62706E023703}">
                      <ahyp:hlinkClr xmlns:ahyp="http://schemas.microsoft.com/office/drawing/2018/hyperlinkcolor" val="tx"/>
                    </a:ext>
                  </a:extLst>
                </a:hlinkClick>
              </a:rPr>
              <a:t>Node</a:t>
            </a:r>
            <a:endParaRPr lang="en-US" sz="1250" dirty="0"/>
          </a:p>
        </p:txBody>
      </p:sp>
      <p:sp>
        <p:nvSpPr>
          <p:cNvPr id="40" name="!!btn2">
            <a:hlinkClick action="ppaction://hlinksldjump" r:id="rId5"/>
          </p:cNvPr>
          <p:cNvSpPr/>
          <p:nvPr/>
        </p:nvSpPr>
        <p:spPr>
          <a:xfrm>
            <a:off x="3685032"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5" action="ppaction://hlinksldjump" tooltip="Edge">
                  <a:extLst>
                    <a:ext uri="{A12FA001-AC4F-418D-AE19-62706E023703}">
                      <ahyp:hlinkClr xmlns:ahyp="http://schemas.microsoft.com/office/drawing/2018/hyperlinkcolor" val="tx"/>
                    </a:ext>
                  </a:extLst>
                </a:hlinkClick>
              </a:rPr>
              <a:t>Edge</a:t>
            </a:r>
            <a:endParaRPr lang="en-US" sz="1250" dirty="0"/>
          </a:p>
        </p:txBody>
      </p:sp>
      <p:sp>
        <p:nvSpPr>
          <p:cNvPr id="41" name="!!btn3">
            <a:hlinkClick action="ppaction://hlinksldjump" r:id="rId6"/>
          </p:cNvPr>
          <p:cNvSpPr/>
          <p:nvPr/>
        </p:nvSpPr>
        <p:spPr>
          <a:xfrm>
            <a:off x="5321808"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6" action="ppaction://hlinksldjump" tooltip="Conditional edge">
                  <a:extLst>
                    <a:ext uri="{A12FA001-AC4F-418D-AE19-62706E023703}">
                      <ahyp:hlinkClr xmlns:ahyp="http://schemas.microsoft.com/office/drawing/2018/hyperlinkcolor" val="tx"/>
                    </a:ext>
                  </a:extLst>
                </a:hlinkClick>
              </a:rPr>
              <a:t>Conditional edge</a:t>
            </a:r>
            <a:endParaRPr lang="en-US" sz="1250" dirty="0"/>
          </a:p>
        </p:txBody>
      </p:sp>
      <p:sp>
        <p:nvSpPr>
          <p:cNvPr id="42" name="!!btn4">
            <a:hlinkClick action="ppaction://hlinksldjump" r:id="rId7"/>
          </p:cNvPr>
          <p:cNvSpPr/>
          <p:nvPr/>
        </p:nvSpPr>
        <p:spPr>
          <a:xfrm>
            <a:off x="6958584"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7" action="ppaction://hlinksldjump" tooltip="State">
                  <a:extLst>
                    <a:ext uri="{A12FA001-AC4F-418D-AE19-62706E023703}">
                      <ahyp:hlinkClr xmlns:ahyp="http://schemas.microsoft.com/office/drawing/2018/hyperlinkcolor" val="tx"/>
                    </a:ext>
                  </a:extLst>
                </a:hlinkClick>
              </a:rPr>
              <a:t>State</a:t>
            </a:r>
            <a:endParaRPr lang="en-US" sz="1250" dirty="0"/>
          </a:p>
        </p:txBody>
      </p:sp>
      <p:sp>
        <p:nvSpPr>
          <p:cNvPr id="43" name="!!btn5">
            <a:hlinkClick action="ppaction://hlinksldjump" r:id="rId8"/>
          </p:cNvPr>
          <p:cNvSpPr/>
          <p:nvPr/>
        </p:nvSpPr>
        <p:spPr>
          <a:xfrm>
            <a:off x="8595360" y="5669280"/>
            <a:ext cx="1545336" cy="420624"/>
          </a:xfrm>
          <a:prstGeom prst="roundRect">
            <a:avLst>
              <a:gd name="adj" fmla="val 50000"/>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u="none" dirty="0">
                <a:solidFill>
                  <a:srgbClr val="3C3489"/>
                </a:solidFill>
                <a:latin typeface="Calibri" pitchFamily="34" charset="0"/>
                <a:ea typeface="Calibri" pitchFamily="34" charset="-122"/>
                <a:cs typeface="Calibri" pitchFamily="34" charset="-120"/>
                <a:hlinkClick r:id="rId8" action="ppaction://hlinksldjump" tooltip="Subgraph">
                  <a:extLst>
                    <a:ext uri="{A12FA001-AC4F-418D-AE19-62706E023703}">
                      <ahyp:hlinkClr xmlns:ahyp="http://schemas.microsoft.com/office/drawing/2018/hyperlinkcolor" val="tx"/>
                    </a:ext>
                  </a:extLst>
                </a:hlinkClick>
              </a:rPr>
              <a:t>Subgraph</a:t>
            </a:r>
            <a:endParaRPr lang="en-US" sz="1250" dirty="0"/>
          </a:p>
        </p:txBody>
      </p:sp>
      <p:sp>
        <p:nvSpPr>
          <p:cNvPr id="44" name="!!btn6">
            <a:hlinkClick action="ppaction://hlinksldjump" r:id="rId9"/>
          </p:cNvPr>
          <p:cNvSpPr/>
          <p:nvPr/>
        </p:nvSpPr>
        <p:spPr>
          <a:xfrm>
            <a:off x="10232136" y="5669280"/>
            <a:ext cx="1545336" cy="420624"/>
          </a:xfrm>
          <a:prstGeom prst="roundRect">
            <a:avLst>
              <a:gd name="adj" fmla="val 50000"/>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50" b="1" u="none" dirty="0">
                <a:solidFill>
                  <a:srgbClr val="FFFFFF"/>
                </a:solidFill>
                <a:latin typeface="Calibri" pitchFamily="34" charset="0"/>
                <a:ea typeface="Calibri" pitchFamily="34" charset="-122"/>
                <a:cs typeface="Calibri" pitchFamily="34" charset="-120"/>
                <a:hlinkClick r:id="rId9" action="ppaction://hlinksldjump" tooltip="Checkpointer">
                  <a:extLst>
                    <a:ext uri="{A12FA001-AC4F-418D-AE19-62706E023703}">
                      <ahyp:hlinkClr xmlns:ahyp="http://schemas.microsoft.com/office/drawing/2018/hyperlinkcolor" val="tx"/>
                    </a:ext>
                  </a:extLst>
                </a:hlinkClick>
              </a:rPr>
              <a:t>Checkpointer</a:t>
            </a:r>
            <a:endParaRPr lang="en-US" sz="12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 Slides 14–16</dc:title>
  <dc:subject>PptxGenJS Presentation</dc:subject>
  <dc:creator>Amitkumar</dc:creator>
  <cp:lastModifiedBy>Amitkumar</cp:lastModifiedBy>
  <cp:revision>1</cp:revision>
  <dcterms:created xsi:type="dcterms:W3CDTF">2026-10-29T07:33:55Z</dcterms:created>
  <dcterms:modified xsi:type="dcterms:W3CDTF">2026-10-29T07:33:55Z</dcterms:modified>
</cp:coreProperties>
</file>