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 · Why Single Agents Fail" id="{14d2ae41-1694-774d-a99c-fcaae37a3183}">
          <p14:sldIdLst>
            <p14:sldId id="256"/>
          </p14:sldIdLst>
        </p14:section>
        <p14:section name="3 · Why Single Agents Fail – Part 2" id="{b703dd77-c341-6d82-abcc-801d8900abeb}">
          <p14:sldIdLst>
            <p14:sldId id="257"/>
          </p14:sldIdLst>
        </p14:section>
        <p14:section name="4 · Failure Modes" id="{45805259-a3bd-5852-603b-195355cabed2}">
          <p14:sldIdLst>
            <p14:sldId id="258"/>
          </p14:sldIdLst>
        </p14:section>
        <p14:section name="5 · Root Cause" id="{4c1cc3fb-867c-e800-995f-18be02245564}">
          <p14:sldIdLst>
            <p14:sldId id="259"/>
          </p14:sldIdLst>
        </p14:section>
        <p14:section name="6 · Core Idea" id="{a300c5c9-506b-1140-8952-62fada95bff0}">
          <p14:sldIdLst>
            <p14:sldId id="260"/>
          </p14:sldIdLst>
        </p14:section>
        <p14:section name="14 · Common Mistakes" id="{270663be-e5f5-987b-7e99-ca1ccd8f5b1f}">
          <p14:sldIdLst>
            <p14:sldId id="261"/>
          </p14:sldIdLst>
        </p14:section>
        <p14:section name="15 · Choose the Pattern" id="{07f58793-9f40-e961-a002-8a7672fa8fd9}">
          <p14:sldIdLst>
            <p14:sldId id="262"/>
          </p14:sldIdLst>
        </p14:section>
        <p14:section name="16 · Design Principles" id="{f249b907-ee70-cd84-220a-d255812951f9}">
          <p14:sldIdLst>
            <p14:sldId id="263"/>
          </p14:sldIdLst>
        </p14:section>
        <p14:section name="16a · LangChain and LangGraph" id="{12b8cd26-1288-dd9d-3ab5-92ec7515073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agent is one AI model doing every job on its own: it plans, it uses the tools, and it checks its own work. For a small task that's fine. As the task grows, six things go wrong.
Ego blindness: the agent reviews its own work with the same logic that made the mistake, so it looks at its own error and calls it correct. It's like proofreading your own essay: you read what you meant, not what you wrote, so you miss your own mistakes.
No limits: nothing tells the agent when to stop. There's no step limit, no budget and no time-out, so a five-minute task can still be running an hour later.
Context overcrowding: documents, data, logs and API responses all pile into the same memory, and the original instructions get buried; this is often called "lost in the middle". You said "keep it under one page" at the start, and you get five pages back.
Prompt dilution: you can't write one prompt that makes a model a creative writer and a strict compliance officer at the same time; the instructions pull against each other, and the result is bland.
Too many tools: the agent has to choose from dozens of tools at every step, and every extra tool is another way to choose wrong: it emails the customer when it meant to search the database.
One step at a time: a single agent thinks, acts and checks in sequence, so gathering data from five sources happens one by one, and one slow website holds up the whole report.
Close: None of these is fixed by a bigger model. So what does fix them? That's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has three jobs: thinking (working out the plan), acting (using the tools) and checking (verifying the result). Let's follow one everyday task where a single agent does all three in the same loop, with the same memory.
The task: send the October sales report to the finance team.
Step 1, thinking: sensible. It decides to query the sales database.
Step 2, acting: the query returns 48,000 rows, and somewhere inside is a warning that three regions are missing. That warning is now buried in the same memory as the plan, and the agent never sees it.
Step 3, thinking: the totals look low, but instead of asking why, it decides the date format must be the problem. It has drifted away from the actual goal.
Step 4, acting: it rewrites the query and gets an error, then retries the same query and gets the same error. Nobody outside the loop is there to stop it.
Step 5 is the key moment, a wrong decision: to get the report out, it quietly uses September's data instead.
Step 6, checking: it asks itself "does the report match my plan?", and of course it does, because it's checking against its own plan. It passes.
Step 7: the email goes out. Finance receives September's numbers labelled as October's, and the agent marks the task done.
Notice that every single step looked reasonable from inside the loop. The problem is that the same "head" planned, acted and judged, so nothing ever challenged it.
Close: The problem isn't any single job. It's doing all three in the same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from the example. The first slide was about why agents fail; this one is about what you actually see when they do. These symptoms aren't random: they fall into the same three jobs we just saw.
Thinking failures are when the agent loses the plot: it drifts from the goal, or picks the wrong tool.
Acting failures are when it can't stop doing: it loops on the same step, or one bad step poisons everything after it.
Checking failures are the most dangerous, because they look like success: it says "done" when it isn't, or stops halfway and sounds confident.
Each of these symptoms traces back to the reasons on the first slide: a crowded memory, too many tools, no limits, and an agent grading its own work.
Close: Every failure is one of three jobs going wrong: thinking, acting or checking. And because the reasons are design choices, the fix is a design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the obvious question is: can't we just use a better model? The research says no. Without structure, quality degrades, and a smarter model doesn't fix it.
More memory, worse thinking. Researchers tested 18 leading AI models and found that performance gets less reliable as the input grows, even on simple tasks. Asked the same question, models did far better with a focused prompt of about a page than with the full history of around a hundred thousand words. An agent that carries everything forgets what matters.
Structure beats size. In one published comparison, the same top model did about 90% better on research tasks when a lead agent split the work between specialist sub-agents, instead of doing it all alone. It costs more to run, so it's worth it for valuable tasks, but the point stands: how the work is organised matters more than how clever the model is.
Better models won't fix bad design. A study of seven popular agent frameworks found that roughly four in five failures came from design problems: unclear roles and specifications, and agents not lining up with each other. The authors concluded that better base models alone won't be enough.
Close: It's not the brain, it's the org chart. Next, what good structure looks like.
*Sources for questions: Chroma, "Context Rot" (July 2025, 18 models; ~300 vs ~113k tokens). Anthropic, multi-agent research system (June 2025; +90.2% vs single agent, ~15× tokens). UC Berkeley, "Why Do Multi-Agent LLM Systems Fail?" (MAST, 2025; 41.8% specification + 36.9% inter-agent misalignment).*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good structure look like? Instead of one agent doing everything, we split the work between small agents, each with one job, its own clean memory and only the tools it needs. And simple, ordinary code decides who goes next, so the route is predictable.
Let's replay the October sales report. A manager holds the goal. It hands the first job to a data agent, which only has access to the sales database. The data agent does the messy work, all 48,000 rows, but it passes on only a short summary: the totals, and the warning that three regions are missing.
A writer agent turns that summary into a report. Its memory is clean, because it never saw the raw data.
Then a separate reviewer agent, with no tools at all, compares the report with the original request. It spots the missing regions and sends the job back to the data agent. Only when everything is in does the report go to finance.
The same mistake from our example is caught before it leaves the team.
Three things change. Clean memory: agents pass summaries, not raw data. Fewer tools: each agent only sees what its job needs. And right-sized models: you can use a strong model where planning is hard and a small, fast, cheap one for simple steps, which also helps with cost.
Close: Same task, same kind of model. The difference is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the patterns. Now the traps. Almost every multi-agent system that fails in practice fails for a design reason, not because the model was weak.
The first three are about definition. No clear goal or "done": agents loop, or stop early, because nobody wrote down when the task is finished. Vague roles: two agents do the same work, or a step falls between them. No rules: no step limits, no retry budget, every agent can call every tool.
The next three are about wiring. Using multi-agent for a simple task adds cost, latency and failure points for no gain. Agents chatting instead of handing off pass whole histories around, and the context bloats exactly like our single agent on slide 2. And with no independent check or human gate, "done" gets reported when it isn't.
Close: Every mistake here is a missing decision: who does what, when is it done, and who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need, not the pattern. Read the left column and find the one that sounds like your problem.
If you need to route each request to the right specialist, that's supervisor–worker. If you have a capability you'll reuse inside bigger flows, wrap it as a subgraph. Long task that needs a plan first: planner–executor. A known, fixed sequence: specialist pipeline. Judgement calls where quality matters more than speed: peer and debate. Many independent sub-tasks that end in a sign-off: parallel swarm with a human gate.
The right-hand column matters as much as the pattern: every pattern has a typical way to fail, and it's cheaper to design for it up front.
Close: Pick the simplest pattern that meets the need. Start with one agent; add structure only when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habits that prevent the mistakes on slide 14. None of them need a framework; you can apply them to the agent you're building this week.
One job per agent. Define "done" as a structured status, not free text, so the next step doesn't have to guess from finish_reason. Give each agent a handful of tools, with least privilege. Pass state, not chat. Bound everything: steps, retries, timeouts, tokens. Keep the maker and the checker separate. Put a human gate in front of anything irreversible. And trace every hand-off so you can see where it went wrong.
The card on the right is the practical version: before you write any code, write one of these for every agent. If you can't fill it in, the agent's job isn't clear yet.
Close: Write the role card first; the code gets much simpler.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names you'll hear a lot. They come from the same team, and both do the same basic thing: they connect AI steps into a workflow, using models, prompts, your data and tools. The difference is the shape of that workflow.
LangChain is sequential. Steps run in a fixed order, one after another: the question goes to the model, the model uses a tool, out comes the answer. Each step runs once. That's ideal when you know the steps up front and they never change order, like finding the right document and answering a question.
LangGraph is non-sequential: it connects the steps as a graph. The next step can depend on the result. Work can loop back and try again, branch to a different path, run steps in parallel, or stop and wait for a person to approve. Every step shares one memory, and progress is saved as it goes. That's what a multi-agent team needs.
They also work together: LangChain's own agents now run on LangGraph underneath.
Close: Both connect the steps: LangChain in a straight line, LangGraph in any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build with LangGraph, you draw the flow as a graph. Here's how to read one. This is the same worker-and-checker loop we've seen: the worker does the job and the checker verifies it.
One, the boxes are nodes. A node is one step of work: it can be an AI agent, a tool, or plain code. It reads the state, does its job, and writes its result.
Two, the solid arrows are edges: fixed hand-offs. When the worker finishes, the checker always runs next.
Three, the dashed arrow is a conditional edge: a decision. The checker's result decides where to go: pass, and we finish; fail, and it goes back to the worker to try again. This is the explicit, predictable version of the decision a single agent used to make on its own.
Four, the purple panel is the state: the shared memory. The request comes in, the worker writes its result, the checker writes its status. Nodes pass state, not long chat histories, so each step's memory stays clean.
Five, START and END: where the work comes in and where the result goes out.
And built in underneath, LangGraph saves progress after every step, so a run can resume after a failure, or pause for a person to approve before it continues.
Close: Every pattern in this deck can be drawn with these five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A single agent is one AI model doing every job on its own: planning, using tools and checking its own work. That works for small tasks, but breaks down as tasks grow.</a:t>
            </a:r>
            <a:endParaRPr lang="en-US" sz="1400" dirty="0"/>
          </a:p>
        </p:txBody>
      </p:sp>
      <p:sp>
        <p:nvSpPr>
          <p:cNvPr id="5" name="Text 3"/>
          <p:cNvSpPr/>
          <p:nvPr/>
        </p:nvSpPr>
        <p:spPr>
          <a:xfrm>
            <a:off x="411480" y="1481328"/>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6" name="Text 4"/>
          <p:cNvSpPr/>
          <p:nvPr/>
        </p:nvSpPr>
        <p:spPr>
          <a:xfrm>
            <a:off x="640080" y="1682496"/>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7" name="Image 0" descr="/tmp/deck-icons/TbEyeOff_993C1D.png">    </p:cNvPr>
          <p:cNvPicPr>
            <a:picLocks noChangeAspect="1"/>
          </p:cNvPicPr>
          <p:nvPr/>
        </p:nvPicPr>
        <p:blipFill>
          <a:blip r:embed="rId1"/>
          <a:stretch>
            <a:fillRect/>
          </a:stretch>
        </p:blipFill>
        <p:spPr>
          <a:xfrm>
            <a:off x="763524" y="1805940"/>
            <a:ext cx="283464" cy="283464"/>
          </a:xfrm>
          <a:prstGeom prst="rect">
            <a:avLst/>
          </a:prstGeom>
        </p:spPr>
      </p:pic>
      <p:sp>
        <p:nvSpPr>
          <p:cNvPr id="8" name="Text 5"/>
          <p:cNvSpPr txBox="1"/>
          <p:nvPr/>
        </p:nvSpPr>
        <p:spPr>
          <a:xfrm>
            <a:off x="1325880" y="1682496"/>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Ego blindness</a:t>
            </a:r>
            <a:endParaRPr lang="en-US" sz="1800" dirty="0"/>
          </a:p>
        </p:txBody>
      </p:sp>
      <p:sp>
        <p:nvSpPr>
          <p:cNvPr id="9" name="Text 6"/>
          <p:cNvSpPr txBox="1"/>
          <p:nvPr/>
        </p:nvSpPr>
        <p:spPr>
          <a:xfrm>
            <a:off x="640080" y="2350008"/>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It reviews its own work with the same logic that made the mistake, so it calls it correct.</a:t>
            </a:r>
            <a:endParaRPr lang="en-US" sz="1300" dirty="0"/>
          </a:p>
        </p:txBody>
      </p:sp>
      <p:sp>
        <p:nvSpPr>
          <p:cNvPr id="10" name="Text 7"/>
          <p:cNvSpPr/>
          <p:nvPr/>
        </p:nvSpPr>
        <p:spPr>
          <a:xfrm>
            <a:off x="640080" y="3017520"/>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Like proofreading your own essay: you miss your own mistakes.</a:t>
            </a:r>
            <a:endParaRPr lang="en-US" sz="1200" dirty="0"/>
          </a:p>
        </p:txBody>
      </p:sp>
      <p:sp>
        <p:nvSpPr>
          <p:cNvPr id="11" name="Text 8"/>
          <p:cNvSpPr/>
          <p:nvPr/>
        </p:nvSpPr>
        <p:spPr>
          <a:xfrm>
            <a:off x="4261104" y="1481328"/>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2" name="Text 9"/>
          <p:cNvSpPr/>
          <p:nvPr/>
        </p:nvSpPr>
        <p:spPr>
          <a:xfrm>
            <a:off x="4489704" y="1682496"/>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3" name="Image 1" descr="/tmp/deck-icons/TbInfinity_993C1D.png">    </p:cNvPr>
          <p:cNvPicPr>
            <a:picLocks noChangeAspect="1"/>
          </p:cNvPicPr>
          <p:nvPr/>
        </p:nvPicPr>
        <p:blipFill>
          <a:blip r:embed="rId2"/>
          <a:stretch>
            <a:fillRect/>
          </a:stretch>
        </p:blipFill>
        <p:spPr>
          <a:xfrm>
            <a:off x="4613148" y="1805940"/>
            <a:ext cx="283464" cy="283464"/>
          </a:xfrm>
          <a:prstGeom prst="rect">
            <a:avLst/>
          </a:prstGeom>
        </p:spPr>
      </p:pic>
      <p:sp>
        <p:nvSpPr>
          <p:cNvPr id="14" name="Text 10"/>
          <p:cNvSpPr txBox="1"/>
          <p:nvPr/>
        </p:nvSpPr>
        <p:spPr>
          <a:xfrm>
            <a:off x="5175504" y="1682496"/>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No limits</a:t>
            </a:r>
            <a:endParaRPr lang="en-US" sz="1800" dirty="0"/>
          </a:p>
        </p:txBody>
      </p:sp>
      <p:sp>
        <p:nvSpPr>
          <p:cNvPr id="15" name="Text 11"/>
          <p:cNvSpPr txBox="1"/>
          <p:nvPr/>
        </p:nvSpPr>
        <p:spPr>
          <a:xfrm>
            <a:off x="4489704" y="2350008"/>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Nothing tells it when to stop: no step limit, no budget, no time-out.</a:t>
            </a:r>
            <a:endParaRPr lang="en-US" sz="1300" dirty="0"/>
          </a:p>
        </p:txBody>
      </p:sp>
      <p:sp>
        <p:nvSpPr>
          <p:cNvPr id="16" name="Text 12"/>
          <p:cNvSpPr/>
          <p:nvPr/>
        </p:nvSpPr>
        <p:spPr>
          <a:xfrm>
            <a:off x="4489704" y="3017520"/>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A five-minute task still running an hour later.</a:t>
            </a:r>
            <a:endParaRPr lang="en-US" sz="1200" dirty="0"/>
          </a:p>
        </p:txBody>
      </p:sp>
      <p:sp>
        <p:nvSpPr>
          <p:cNvPr id="17" name="Text 13"/>
          <p:cNvSpPr/>
          <p:nvPr/>
        </p:nvSpPr>
        <p:spPr>
          <a:xfrm>
            <a:off x="8110728" y="1481328"/>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8" name="Text 14"/>
          <p:cNvSpPr/>
          <p:nvPr/>
        </p:nvSpPr>
        <p:spPr>
          <a:xfrm>
            <a:off x="8339328" y="1682496"/>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9" name="Image 2" descr="/tmp/deck-icons/TbStack2_993C1D.png">    </p:cNvPr>
          <p:cNvPicPr>
            <a:picLocks noChangeAspect="1"/>
          </p:cNvPicPr>
          <p:nvPr/>
        </p:nvPicPr>
        <p:blipFill>
          <a:blip r:embed="rId3"/>
          <a:stretch>
            <a:fillRect/>
          </a:stretch>
        </p:blipFill>
        <p:spPr>
          <a:xfrm>
            <a:off x="8462772" y="1805940"/>
            <a:ext cx="283464" cy="283464"/>
          </a:xfrm>
          <a:prstGeom prst="rect">
            <a:avLst/>
          </a:prstGeom>
        </p:spPr>
      </p:pic>
      <p:sp>
        <p:nvSpPr>
          <p:cNvPr id="20" name="Text 15"/>
          <p:cNvSpPr txBox="1"/>
          <p:nvPr/>
        </p:nvSpPr>
        <p:spPr>
          <a:xfrm>
            <a:off x="9025128" y="1682496"/>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Context overcrowding</a:t>
            </a:r>
            <a:endParaRPr lang="en-US" sz="1800" dirty="0"/>
          </a:p>
        </p:txBody>
      </p:sp>
      <p:sp>
        <p:nvSpPr>
          <p:cNvPr id="21" name="Text 16"/>
          <p:cNvSpPr txBox="1"/>
          <p:nvPr/>
        </p:nvSpPr>
        <p:spPr>
          <a:xfrm>
            <a:off x="8339328" y="2350008"/>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Raw data, logs and API responses pile up and bury the original instructions.</a:t>
            </a:r>
            <a:endParaRPr lang="en-US" sz="1300" dirty="0"/>
          </a:p>
        </p:txBody>
      </p:sp>
      <p:sp>
        <p:nvSpPr>
          <p:cNvPr id="22" name="Text 17"/>
          <p:cNvSpPr/>
          <p:nvPr/>
        </p:nvSpPr>
        <p:spPr>
          <a:xfrm>
            <a:off x="8339328" y="3017520"/>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Told “keep it under one page” at the start, it hands back five pages.</a:t>
            </a:r>
            <a:endParaRPr lang="en-US" sz="1200" dirty="0"/>
          </a:p>
        </p:txBody>
      </p:sp>
      <p:sp>
        <p:nvSpPr>
          <p:cNvPr id="23" name="Text 18"/>
          <p:cNvSpPr/>
          <p:nvPr/>
        </p:nvSpPr>
        <p:spPr>
          <a:xfrm>
            <a:off x="411480" y="3840480"/>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4" name="Text 19"/>
          <p:cNvSpPr/>
          <p:nvPr/>
        </p:nvSpPr>
        <p:spPr>
          <a:xfrm>
            <a:off x="640080" y="4041648"/>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5" name="Image 3" descr="/tmp/deck-icons/TbMasksTheater_993C1D.png">    </p:cNvPr>
          <p:cNvPicPr>
            <a:picLocks noChangeAspect="1"/>
          </p:cNvPicPr>
          <p:nvPr/>
        </p:nvPicPr>
        <p:blipFill>
          <a:blip r:embed="rId4"/>
          <a:stretch>
            <a:fillRect/>
          </a:stretch>
        </p:blipFill>
        <p:spPr>
          <a:xfrm>
            <a:off x="763524" y="4165092"/>
            <a:ext cx="283464" cy="283464"/>
          </a:xfrm>
          <a:prstGeom prst="rect">
            <a:avLst/>
          </a:prstGeom>
        </p:spPr>
      </p:pic>
      <p:sp>
        <p:nvSpPr>
          <p:cNvPr id="26" name="Text 20"/>
          <p:cNvSpPr txBox="1"/>
          <p:nvPr/>
        </p:nvSpPr>
        <p:spPr>
          <a:xfrm>
            <a:off x="1325880" y="4041648"/>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Prompt dilution</a:t>
            </a:r>
            <a:endParaRPr lang="en-US" sz="1800" dirty="0"/>
          </a:p>
        </p:txBody>
      </p:sp>
      <p:sp>
        <p:nvSpPr>
          <p:cNvPr id="27" name="Text 21"/>
          <p:cNvSpPr txBox="1"/>
          <p:nvPr/>
        </p:nvSpPr>
        <p:spPr>
          <a:xfrm>
            <a:off x="640080" y="4709160"/>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One prompt can't be a creative writer and a strict compliance officer at once.</a:t>
            </a:r>
            <a:endParaRPr lang="en-US" sz="1300" dirty="0"/>
          </a:p>
        </p:txBody>
      </p:sp>
      <p:sp>
        <p:nvSpPr>
          <p:cNvPr id="28" name="Text 22"/>
          <p:cNvSpPr/>
          <p:nvPr/>
        </p:nvSpPr>
        <p:spPr>
          <a:xfrm>
            <a:off x="640080" y="5376672"/>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Asked to be bold and careful at once, it ends up bland.</a:t>
            </a:r>
            <a:endParaRPr lang="en-US" sz="1200" dirty="0"/>
          </a:p>
        </p:txBody>
      </p:sp>
      <p:sp>
        <p:nvSpPr>
          <p:cNvPr id="29" name="Text 23"/>
          <p:cNvSpPr/>
          <p:nvPr/>
        </p:nvSpPr>
        <p:spPr>
          <a:xfrm>
            <a:off x="4261104" y="3840480"/>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0" name="Text 24"/>
          <p:cNvSpPr/>
          <p:nvPr/>
        </p:nvSpPr>
        <p:spPr>
          <a:xfrm>
            <a:off x="4489704" y="4041648"/>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1" name="Image 4" descr="/tmp/deck-icons/TbTool_993C1D.png">    </p:cNvPr>
          <p:cNvPicPr>
            <a:picLocks noChangeAspect="1"/>
          </p:cNvPicPr>
          <p:nvPr/>
        </p:nvPicPr>
        <p:blipFill>
          <a:blip r:embed="rId5"/>
          <a:stretch>
            <a:fillRect/>
          </a:stretch>
        </p:blipFill>
        <p:spPr>
          <a:xfrm>
            <a:off x="4613148" y="4165092"/>
            <a:ext cx="283464" cy="283464"/>
          </a:xfrm>
          <a:prstGeom prst="rect">
            <a:avLst/>
          </a:prstGeom>
        </p:spPr>
      </p:pic>
      <p:sp>
        <p:nvSpPr>
          <p:cNvPr id="32" name="Text 25"/>
          <p:cNvSpPr txBox="1"/>
          <p:nvPr/>
        </p:nvSpPr>
        <p:spPr>
          <a:xfrm>
            <a:off x="5175504" y="4041648"/>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Too many tools</a:t>
            </a:r>
            <a:endParaRPr lang="en-US" sz="1800" dirty="0"/>
          </a:p>
        </p:txBody>
      </p:sp>
      <p:sp>
        <p:nvSpPr>
          <p:cNvPr id="33" name="Text 26"/>
          <p:cNvSpPr txBox="1"/>
          <p:nvPr/>
        </p:nvSpPr>
        <p:spPr>
          <a:xfrm>
            <a:off x="4489704" y="4709160"/>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It must choose from dozens of tools at every step, and each extra tool is another way to choose wrong.</a:t>
            </a:r>
            <a:endParaRPr lang="en-US" sz="1300" dirty="0"/>
          </a:p>
        </p:txBody>
      </p:sp>
      <p:sp>
        <p:nvSpPr>
          <p:cNvPr id="34" name="Text 27"/>
          <p:cNvSpPr/>
          <p:nvPr/>
        </p:nvSpPr>
        <p:spPr>
          <a:xfrm>
            <a:off x="4489704" y="5376672"/>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It emails the customer when it meant to search the database.</a:t>
            </a:r>
            <a:endParaRPr lang="en-US" sz="1200" dirty="0"/>
          </a:p>
        </p:txBody>
      </p:sp>
      <p:sp>
        <p:nvSpPr>
          <p:cNvPr id="35" name="Text 28"/>
          <p:cNvSpPr/>
          <p:nvPr/>
        </p:nvSpPr>
        <p:spPr>
          <a:xfrm>
            <a:off x="8110728" y="3840480"/>
            <a:ext cx="3666744"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6" name="Text 29"/>
          <p:cNvSpPr/>
          <p:nvPr/>
        </p:nvSpPr>
        <p:spPr>
          <a:xfrm>
            <a:off x="8339328" y="4041648"/>
            <a:ext cx="530352" cy="530352"/>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7" name="Image 5" descr="/tmp/deck-icons/TbHourglass_993C1D.png">    </p:cNvPr>
          <p:cNvPicPr>
            <a:picLocks noChangeAspect="1"/>
          </p:cNvPicPr>
          <p:nvPr/>
        </p:nvPicPr>
        <p:blipFill>
          <a:blip r:embed="rId6"/>
          <a:stretch>
            <a:fillRect/>
          </a:stretch>
        </p:blipFill>
        <p:spPr>
          <a:xfrm>
            <a:off x="8462772" y="4165092"/>
            <a:ext cx="283464" cy="283464"/>
          </a:xfrm>
          <a:prstGeom prst="rect">
            <a:avLst/>
          </a:prstGeom>
        </p:spPr>
      </p:pic>
      <p:sp>
        <p:nvSpPr>
          <p:cNvPr id="38" name="Text 30"/>
          <p:cNvSpPr txBox="1"/>
          <p:nvPr/>
        </p:nvSpPr>
        <p:spPr>
          <a:xfrm>
            <a:off x="9025128" y="4041648"/>
            <a:ext cx="2569464" cy="530352"/>
          </a:xfrm>
          <a:prstGeom prst="rect">
            <a:avLst/>
          </a:prstGeom>
          <a:noFill/>
          <a:ln/>
        </p:spPr>
        <p:txBody>
          <a:bodyPr wrap="square" lIns="0" tIns="0" rIns="0" bIns="0" rtlCol="0" anchor="ctr"/>
          <a:lstStyle/>
          <a:p>
            <a:pPr algn="l" indent="0" marL="0">
              <a:buNone/>
            </a:pPr>
            <a:r>
              <a:rPr lang="en-US" sz="1800" b="1" dirty="0">
                <a:solidFill>
                  <a:srgbClr val="712B13"/>
                </a:solidFill>
                <a:latin typeface="Calibri" pitchFamily="34" charset="0"/>
                <a:ea typeface="Calibri" pitchFamily="34" charset="-122"/>
                <a:cs typeface="Calibri" pitchFamily="34" charset="-120"/>
              </a:rPr>
              <a:t>One step at a time</a:t>
            </a:r>
            <a:endParaRPr lang="en-US" sz="1800" dirty="0"/>
          </a:p>
        </p:txBody>
      </p:sp>
      <p:sp>
        <p:nvSpPr>
          <p:cNvPr id="39" name="Text 31"/>
          <p:cNvSpPr txBox="1"/>
          <p:nvPr/>
        </p:nvSpPr>
        <p:spPr>
          <a:xfrm>
            <a:off x="8339328" y="4709160"/>
            <a:ext cx="3209544" cy="658368"/>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It works through every step in sequence; if one step hangs, everything stops.</a:t>
            </a:r>
            <a:endParaRPr lang="en-US" sz="1300" dirty="0"/>
          </a:p>
        </p:txBody>
      </p:sp>
      <p:sp>
        <p:nvSpPr>
          <p:cNvPr id="40" name="Text 32"/>
          <p:cNvSpPr/>
          <p:nvPr/>
        </p:nvSpPr>
        <p:spPr>
          <a:xfrm>
            <a:off x="8339328" y="5376672"/>
            <a:ext cx="3209544" cy="457200"/>
          </a:xfrm>
          <a:prstGeom prst="roundRect">
            <a:avLst>
              <a:gd name="adj" fmla="val 12000"/>
            </a:avLst>
          </a:prstGeom>
          <a:solidFill>
            <a:srgbClr val="F1EFE8"/>
          </a:solidFill>
          <a:ln w="6350">
            <a:solidFill>
              <a:srgbClr val="888780"/>
            </a:solidFill>
            <a:prstDash val="solid"/>
          </a:ln>
        </p:spPr>
        <p:txBody>
          <a:bodyPr wrap="square" lIns="88900" tIns="88900" rIns="88900" bIns="88900" rtlCol="0" anchor="ctr"/>
          <a:lstStyle/>
          <a:p>
            <a:pPr algn="l" indent="0" marL="0">
              <a:buNone/>
            </a:pPr>
            <a:r>
              <a:rPr lang="en-US" sz="1200" b="1" dirty="0">
                <a:solidFill>
                  <a:srgbClr val="2C2C2A"/>
                </a:solidFill>
                <a:latin typeface="Calibri" pitchFamily="34" charset="0"/>
                <a:ea typeface="Calibri" pitchFamily="34" charset="-122"/>
                <a:cs typeface="Calibri" pitchFamily="34" charset="-120"/>
              </a:rPr>
              <a:t>What it looks like  </a:t>
            </a:r>
            <a:pPr algn="l" indent="0" marL="0">
              <a:buNone/>
            </a:pPr>
            <a:r>
              <a:rPr lang="en-US" sz="1200" i="1" dirty="0">
                <a:solidFill>
                  <a:srgbClr val="2C2C2A"/>
                </a:solidFill>
                <a:latin typeface="Calibri" pitchFamily="34" charset="0"/>
                <a:ea typeface="Calibri" pitchFamily="34" charset="-122"/>
                <a:cs typeface="Calibri" pitchFamily="34" charset="-120"/>
              </a:rPr>
              <a:t>One slow website holds up the whole report.</a:t>
            </a: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Every agent has three jobs: thinking, acting and checking. Here is one everyday task, with a single agent doing all three in one loop, and where its decisions go wrong.</a:t>
            </a:r>
            <a:endParaRPr lang="en-US" sz="1400" dirty="0"/>
          </a:p>
        </p:txBody>
      </p:sp>
      <p:sp>
        <p:nvSpPr>
          <p:cNvPr id="5" name="Text 3"/>
          <p:cNvSpPr/>
          <p:nvPr/>
        </p:nvSpPr>
        <p:spPr>
          <a:xfrm>
            <a:off x="411480" y="1481328"/>
            <a:ext cx="11365992" cy="420624"/>
          </a:xfrm>
          <a:prstGeom prst="roundRect">
            <a:avLst>
              <a:gd name="adj" fmla="val 17391"/>
            </a:avLst>
          </a:prstGeom>
          <a:solidFill>
            <a:srgbClr val="F1EFE8"/>
          </a:solidFill>
          <a:ln w="12700">
            <a:solidFill>
              <a:srgbClr val="888780"/>
            </a:solidFill>
            <a:prstDash val="solid"/>
          </a:ln>
        </p:spPr>
        <p:txBody>
          <a:bodyPr wrap="square" lIns="152400" tIns="152400" rIns="152400" bIns="15240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Task  </a:t>
            </a:r>
            <a:pPr algn="l" indent="0" marL="0">
              <a:buNone/>
            </a:pPr>
            <a:r>
              <a:rPr lang="en-US" sz="1400" dirty="0">
                <a:solidFill>
                  <a:srgbClr val="2C2C2A"/>
                </a:solidFill>
                <a:latin typeface="Calibri" pitchFamily="34" charset="0"/>
                <a:ea typeface="Calibri" pitchFamily="34" charset="-122"/>
                <a:cs typeface="Calibri" pitchFamily="34" charset="-120"/>
              </a:rPr>
              <a:t>“Send the October sales report to the finance team.”</a:t>
            </a:r>
            <a:endParaRPr lang="en-US" sz="1400" dirty="0"/>
          </a:p>
        </p:txBody>
      </p:sp>
      <p:sp>
        <p:nvSpPr>
          <p:cNvPr id="6" name="Text 4"/>
          <p:cNvSpPr txBox="1"/>
          <p:nvPr/>
        </p:nvSpPr>
        <p:spPr>
          <a:xfrm>
            <a:off x="411480" y="2011680"/>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2011680"/>
            <a:ext cx="1234440" cy="420624"/>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8" name="Text 6"/>
          <p:cNvSpPr/>
          <p:nvPr/>
        </p:nvSpPr>
        <p:spPr>
          <a:xfrm>
            <a:off x="2103120" y="2011680"/>
            <a:ext cx="6537960" cy="420624"/>
          </a:xfrm>
          <a:prstGeom prst="roundRect">
            <a:avLst>
              <a:gd name="adj" fmla="val 13043"/>
            </a:avLst>
          </a:prstGeom>
          <a:solidFill>
            <a:srgbClr val="FFFFFF"/>
          </a:solidFill>
          <a:ln w="9525">
            <a:solidFill>
              <a:srgbClr val="D3D1C7"/>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I need October sales, so I'll query the sales database.</a:t>
            </a:r>
            <a:endParaRPr lang="en-US" sz="1350" dirty="0"/>
          </a:p>
        </p:txBody>
      </p:sp>
      <p:sp>
        <p:nvSpPr>
          <p:cNvPr id="9" name="Text 7"/>
          <p:cNvSpPr txBox="1"/>
          <p:nvPr/>
        </p:nvSpPr>
        <p:spPr>
          <a:xfrm>
            <a:off x="411480" y="2500884"/>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777240" y="2500884"/>
            <a:ext cx="1234440" cy="420624"/>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11" name="Text 9"/>
          <p:cNvSpPr/>
          <p:nvPr/>
        </p:nvSpPr>
        <p:spPr>
          <a:xfrm>
            <a:off x="2103120" y="2500884"/>
            <a:ext cx="6537960" cy="420624"/>
          </a:xfrm>
          <a:prstGeom prst="roundRect">
            <a:avLst>
              <a:gd name="adj" fmla="val 13043"/>
            </a:avLst>
          </a:prstGeom>
          <a:solidFill>
            <a:srgbClr val="FFFFFF"/>
          </a:solidFill>
          <a:ln w="12700">
            <a:solidFill>
              <a:srgbClr val="993C1D"/>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Query returns 48,000 rows. Buried inside: “warning: 3 regions missing”.</a:t>
            </a:r>
            <a:endParaRPr lang="en-US" sz="1350" dirty="0"/>
          </a:p>
        </p:txBody>
      </p:sp>
      <p:sp>
        <p:nvSpPr>
          <p:cNvPr id="12" name="Shape 10"/>
          <p:cNvSpPr/>
          <p:nvPr/>
        </p:nvSpPr>
        <p:spPr>
          <a:xfrm>
            <a:off x="8641080" y="2711196"/>
            <a:ext cx="246888" cy="914"/>
          </a:xfrm>
          <a:prstGeom prst="line">
            <a:avLst/>
          </a:prstGeom>
          <a:noFill/>
          <a:ln w="15875">
            <a:solidFill>
              <a:srgbClr val="993C1D"/>
            </a:solidFill>
            <a:prstDash val="solid"/>
            <a:tailEnd type="triangle"/>
          </a:ln>
        </p:spPr>
      </p:sp>
      <p:sp>
        <p:nvSpPr>
          <p:cNvPr id="13" name="Text 11"/>
          <p:cNvSpPr/>
          <p:nvPr/>
        </p:nvSpPr>
        <p:spPr>
          <a:xfrm>
            <a:off x="8924544" y="2546604"/>
            <a:ext cx="2852928" cy="329184"/>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1250" b="1" dirty="0">
                <a:solidFill>
                  <a:srgbClr val="712B13"/>
                </a:solidFill>
                <a:latin typeface="Calibri" pitchFamily="34" charset="0"/>
                <a:ea typeface="Calibri" pitchFamily="34" charset="-122"/>
                <a:cs typeface="Calibri" pitchFamily="34" charset="-120"/>
              </a:rPr>
              <a:t>Warning lost in raw data</a:t>
            </a:r>
            <a:endParaRPr lang="en-US" sz="1250" dirty="0"/>
          </a:p>
        </p:txBody>
      </p:sp>
      <p:sp>
        <p:nvSpPr>
          <p:cNvPr id="14" name="Text 12"/>
          <p:cNvSpPr txBox="1"/>
          <p:nvPr/>
        </p:nvSpPr>
        <p:spPr>
          <a:xfrm>
            <a:off x="411480" y="2990088"/>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777240" y="2990088"/>
            <a:ext cx="1234440" cy="420624"/>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16" name="Text 14"/>
          <p:cNvSpPr/>
          <p:nvPr/>
        </p:nvSpPr>
        <p:spPr>
          <a:xfrm>
            <a:off x="2103120" y="2990088"/>
            <a:ext cx="6537960" cy="420624"/>
          </a:xfrm>
          <a:prstGeom prst="roundRect">
            <a:avLst>
              <a:gd name="adj" fmla="val 13043"/>
            </a:avLst>
          </a:prstGeom>
          <a:solidFill>
            <a:srgbClr val="FFFFFF"/>
          </a:solidFill>
          <a:ln w="12700">
            <a:solidFill>
              <a:srgbClr val="993C1D"/>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Totals look low… maybe I should fix the date format first.</a:t>
            </a:r>
            <a:endParaRPr lang="en-US" sz="1350" dirty="0"/>
          </a:p>
        </p:txBody>
      </p:sp>
      <p:sp>
        <p:nvSpPr>
          <p:cNvPr id="17" name="Shape 15"/>
          <p:cNvSpPr/>
          <p:nvPr/>
        </p:nvSpPr>
        <p:spPr>
          <a:xfrm>
            <a:off x="8641080" y="3200400"/>
            <a:ext cx="246888" cy="914"/>
          </a:xfrm>
          <a:prstGeom prst="line">
            <a:avLst/>
          </a:prstGeom>
          <a:noFill/>
          <a:ln w="15875">
            <a:solidFill>
              <a:srgbClr val="993C1D"/>
            </a:solidFill>
            <a:prstDash val="solid"/>
            <a:tailEnd type="triangle"/>
          </a:ln>
        </p:spPr>
      </p:sp>
      <p:sp>
        <p:nvSpPr>
          <p:cNvPr id="18" name="Text 16"/>
          <p:cNvSpPr/>
          <p:nvPr/>
        </p:nvSpPr>
        <p:spPr>
          <a:xfrm>
            <a:off x="8924544" y="3035808"/>
            <a:ext cx="2852928" cy="329184"/>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1250" b="1" dirty="0">
                <a:solidFill>
                  <a:srgbClr val="712B13"/>
                </a:solidFill>
                <a:latin typeface="Calibri" pitchFamily="34" charset="0"/>
                <a:ea typeface="Calibri" pitchFamily="34" charset="-122"/>
                <a:cs typeface="Calibri" pitchFamily="34" charset="-120"/>
              </a:rPr>
              <a:t>Drifts from the goal</a:t>
            </a:r>
            <a:endParaRPr lang="en-US" sz="1250" dirty="0"/>
          </a:p>
        </p:txBody>
      </p:sp>
      <p:sp>
        <p:nvSpPr>
          <p:cNvPr id="19" name="Text 17"/>
          <p:cNvSpPr txBox="1"/>
          <p:nvPr/>
        </p:nvSpPr>
        <p:spPr>
          <a:xfrm>
            <a:off x="411480" y="3479292"/>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777240" y="3479292"/>
            <a:ext cx="1234440" cy="420624"/>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21" name="Text 19"/>
          <p:cNvSpPr/>
          <p:nvPr/>
        </p:nvSpPr>
        <p:spPr>
          <a:xfrm>
            <a:off x="2103120" y="3479292"/>
            <a:ext cx="6537960" cy="420624"/>
          </a:xfrm>
          <a:prstGeom prst="roundRect">
            <a:avLst>
              <a:gd name="adj" fmla="val 13043"/>
            </a:avLst>
          </a:prstGeom>
          <a:solidFill>
            <a:srgbClr val="FFFFFF"/>
          </a:solidFill>
          <a:ln w="12700">
            <a:solidFill>
              <a:srgbClr val="993C1D"/>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Rewrites the query → error. Retries the same query → same error.</a:t>
            </a:r>
            <a:endParaRPr lang="en-US" sz="1350" dirty="0"/>
          </a:p>
        </p:txBody>
      </p:sp>
      <p:sp>
        <p:nvSpPr>
          <p:cNvPr id="22" name="Shape 20"/>
          <p:cNvSpPr/>
          <p:nvPr/>
        </p:nvSpPr>
        <p:spPr>
          <a:xfrm>
            <a:off x="8641080" y="3689604"/>
            <a:ext cx="246888" cy="914"/>
          </a:xfrm>
          <a:prstGeom prst="line">
            <a:avLst/>
          </a:prstGeom>
          <a:noFill/>
          <a:ln w="15875">
            <a:solidFill>
              <a:srgbClr val="993C1D"/>
            </a:solidFill>
            <a:prstDash val="solid"/>
            <a:tailEnd type="triangle"/>
          </a:ln>
        </p:spPr>
      </p:sp>
      <p:sp>
        <p:nvSpPr>
          <p:cNvPr id="23" name="Text 21"/>
          <p:cNvSpPr/>
          <p:nvPr/>
        </p:nvSpPr>
        <p:spPr>
          <a:xfrm>
            <a:off x="8924544" y="3525012"/>
            <a:ext cx="2852928" cy="329184"/>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1250" b="1" dirty="0">
                <a:solidFill>
                  <a:srgbClr val="712B13"/>
                </a:solidFill>
                <a:latin typeface="Calibri" pitchFamily="34" charset="0"/>
                <a:ea typeface="Calibri" pitchFamily="34" charset="-122"/>
                <a:cs typeface="Calibri" pitchFamily="34" charset="-120"/>
              </a:rPr>
              <a:t>Stuck in a loop</a:t>
            </a:r>
            <a:endParaRPr lang="en-US" sz="1250" dirty="0"/>
          </a:p>
        </p:txBody>
      </p:sp>
      <p:sp>
        <p:nvSpPr>
          <p:cNvPr id="24" name="Text 22"/>
          <p:cNvSpPr txBox="1"/>
          <p:nvPr/>
        </p:nvSpPr>
        <p:spPr>
          <a:xfrm>
            <a:off x="411480" y="3968496"/>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5</a:t>
            </a:r>
            <a:endParaRPr lang="en-US" sz="1300" dirty="0"/>
          </a:p>
        </p:txBody>
      </p:sp>
      <p:sp>
        <p:nvSpPr>
          <p:cNvPr id="25" name="Text 23"/>
          <p:cNvSpPr/>
          <p:nvPr/>
        </p:nvSpPr>
        <p:spPr>
          <a:xfrm>
            <a:off x="777240" y="3968496"/>
            <a:ext cx="1234440" cy="420624"/>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26" name="Text 24"/>
          <p:cNvSpPr/>
          <p:nvPr/>
        </p:nvSpPr>
        <p:spPr>
          <a:xfrm>
            <a:off x="2103120" y="3968496"/>
            <a:ext cx="6537960" cy="420624"/>
          </a:xfrm>
          <a:prstGeom prst="roundRect">
            <a:avLst>
              <a:gd name="adj" fmla="val 13043"/>
            </a:avLst>
          </a:prstGeom>
          <a:solidFill>
            <a:srgbClr val="FAECE7"/>
          </a:solidFill>
          <a:ln w="25400">
            <a:solidFill>
              <a:srgbClr val="993C1D"/>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I'll use September's data instead, so the report can go out.</a:t>
            </a:r>
            <a:endParaRPr lang="en-US" sz="1350" dirty="0"/>
          </a:p>
        </p:txBody>
      </p:sp>
      <p:sp>
        <p:nvSpPr>
          <p:cNvPr id="27" name="Shape 25"/>
          <p:cNvSpPr/>
          <p:nvPr/>
        </p:nvSpPr>
        <p:spPr>
          <a:xfrm>
            <a:off x="8641080" y="4178808"/>
            <a:ext cx="246888" cy="914"/>
          </a:xfrm>
          <a:prstGeom prst="line">
            <a:avLst/>
          </a:prstGeom>
          <a:noFill/>
          <a:ln w="15875">
            <a:solidFill>
              <a:srgbClr val="993C1D"/>
            </a:solidFill>
            <a:prstDash val="solid"/>
            <a:tailEnd type="triangle"/>
          </a:ln>
        </p:spPr>
      </p:sp>
      <p:sp>
        <p:nvSpPr>
          <p:cNvPr id="28" name="Text 26"/>
          <p:cNvSpPr/>
          <p:nvPr/>
        </p:nvSpPr>
        <p:spPr>
          <a:xfrm>
            <a:off x="8924544" y="4014216"/>
            <a:ext cx="2852928" cy="329184"/>
          </a:xfrm>
          <a:prstGeom prst="roundRect">
            <a:avLst>
              <a:gd name="adj" fmla="val 50000"/>
            </a:avLst>
          </a:prstGeom>
          <a:solidFill>
            <a:srgbClr val="993C1D"/>
          </a:solidFill>
          <a:ln w="12700">
            <a:solidFill>
              <a:srgbClr val="993C1D"/>
            </a:solidFill>
            <a:prstDash val="solid"/>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Wrong decision</a:t>
            </a:r>
            <a:endParaRPr lang="en-US" sz="1250" dirty="0"/>
          </a:p>
        </p:txBody>
      </p:sp>
      <p:sp>
        <p:nvSpPr>
          <p:cNvPr id="29" name="Text 27"/>
          <p:cNvSpPr txBox="1"/>
          <p:nvPr/>
        </p:nvSpPr>
        <p:spPr>
          <a:xfrm>
            <a:off x="411480" y="4457700"/>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6</a:t>
            </a:r>
            <a:endParaRPr lang="en-US" sz="1300" dirty="0"/>
          </a:p>
        </p:txBody>
      </p:sp>
      <p:sp>
        <p:nvSpPr>
          <p:cNvPr id="30" name="Text 28"/>
          <p:cNvSpPr/>
          <p:nvPr/>
        </p:nvSpPr>
        <p:spPr>
          <a:xfrm>
            <a:off x="777240" y="4457700"/>
            <a:ext cx="1234440" cy="420624"/>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31" name="Text 29"/>
          <p:cNvSpPr/>
          <p:nvPr/>
        </p:nvSpPr>
        <p:spPr>
          <a:xfrm>
            <a:off x="2103120" y="4457700"/>
            <a:ext cx="6537960" cy="420624"/>
          </a:xfrm>
          <a:prstGeom prst="roundRect">
            <a:avLst>
              <a:gd name="adj" fmla="val 13043"/>
            </a:avLst>
          </a:prstGeom>
          <a:solidFill>
            <a:srgbClr val="FFFFFF"/>
          </a:solidFill>
          <a:ln w="12700">
            <a:solidFill>
              <a:srgbClr val="993C1D"/>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Does the report match my plan? Yes ✓</a:t>
            </a:r>
            <a:endParaRPr lang="en-US" sz="1350" dirty="0"/>
          </a:p>
        </p:txBody>
      </p:sp>
      <p:sp>
        <p:nvSpPr>
          <p:cNvPr id="32" name="Shape 30"/>
          <p:cNvSpPr/>
          <p:nvPr/>
        </p:nvSpPr>
        <p:spPr>
          <a:xfrm>
            <a:off x="8641080" y="4668012"/>
            <a:ext cx="246888" cy="914"/>
          </a:xfrm>
          <a:prstGeom prst="line">
            <a:avLst/>
          </a:prstGeom>
          <a:noFill/>
          <a:ln w="15875">
            <a:solidFill>
              <a:srgbClr val="993C1D"/>
            </a:solidFill>
            <a:prstDash val="solid"/>
            <a:tailEnd type="triangle"/>
          </a:ln>
        </p:spPr>
      </p:sp>
      <p:sp>
        <p:nvSpPr>
          <p:cNvPr id="33" name="Text 31"/>
          <p:cNvSpPr/>
          <p:nvPr/>
        </p:nvSpPr>
        <p:spPr>
          <a:xfrm>
            <a:off x="8924544" y="4503420"/>
            <a:ext cx="2852928" cy="329184"/>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1250" b="1" dirty="0">
                <a:solidFill>
                  <a:srgbClr val="712B13"/>
                </a:solidFill>
                <a:latin typeface="Calibri" pitchFamily="34" charset="0"/>
                <a:ea typeface="Calibri" pitchFamily="34" charset="-122"/>
                <a:cs typeface="Calibri" pitchFamily="34" charset="-120"/>
              </a:rPr>
              <a:t>Checks its own work</a:t>
            </a:r>
            <a:endParaRPr lang="en-US" sz="1250" dirty="0"/>
          </a:p>
        </p:txBody>
      </p:sp>
      <p:sp>
        <p:nvSpPr>
          <p:cNvPr id="34" name="Text 32"/>
          <p:cNvSpPr txBox="1"/>
          <p:nvPr/>
        </p:nvSpPr>
        <p:spPr>
          <a:xfrm>
            <a:off x="411480" y="4946904"/>
            <a:ext cx="274320" cy="420624"/>
          </a:xfrm>
          <a:prstGeom prst="rect">
            <a:avLst/>
          </a:prstGeom>
          <a:noFill/>
          <a:ln/>
        </p:spPr>
        <p:txBody>
          <a:bodyPr wrap="square" lIns="0" tIns="0" rIns="0" bIns="0" rtlCol="0" anchor="ctr"/>
          <a:lstStyle/>
          <a:p>
            <a:pPr algn="ctr" indent="0" marL="0">
              <a:buNone/>
            </a:pPr>
            <a:r>
              <a:rPr lang="en-US" sz="1300" b="1" dirty="0">
                <a:solidFill>
                  <a:srgbClr val="5F5E5A"/>
                </a:solidFill>
                <a:latin typeface="Calibri" pitchFamily="34" charset="0"/>
                <a:ea typeface="Calibri" pitchFamily="34" charset="-122"/>
                <a:cs typeface="Calibri" pitchFamily="34" charset="-120"/>
              </a:rPr>
              <a:t>7</a:t>
            </a:r>
            <a:endParaRPr lang="en-US" sz="1300" dirty="0"/>
          </a:p>
        </p:txBody>
      </p:sp>
      <p:sp>
        <p:nvSpPr>
          <p:cNvPr id="35" name="Text 33"/>
          <p:cNvSpPr/>
          <p:nvPr/>
        </p:nvSpPr>
        <p:spPr>
          <a:xfrm>
            <a:off x="777240" y="4946904"/>
            <a:ext cx="1234440" cy="420624"/>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36" name="Text 34"/>
          <p:cNvSpPr/>
          <p:nvPr/>
        </p:nvSpPr>
        <p:spPr>
          <a:xfrm>
            <a:off x="2103120" y="4946904"/>
            <a:ext cx="6537960" cy="420624"/>
          </a:xfrm>
          <a:prstGeom prst="roundRect">
            <a:avLst>
              <a:gd name="adj" fmla="val 13043"/>
            </a:avLst>
          </a:prstGeom>
          <a:solidFill>
            <a:srgbClr val="FFFFFF"/>
          </a:solidFill>
          <a:ln w="9525">
            <a:solidFill>
              <a:srgbClr val="D3D1C7"/>
            </a:solidFill>
            <a:prstDash val="solid"/>
          </a:ln>
        </p:spPr>
        <p:txBody>
          <a:bodyPr wrap="square" lIns="127000" tIns="127000" rIns="127000" bIns="127000" rtlCol="0" anchor="ctr"/>
          <a:lstStyle/>
          <a:p>
            <a:pPr algn="l" indent="0" marL="0">
              <a:buNone/>
            </a:pPr>
            <a:r>
              <a:rPr lang="en-US" sz="1350" dirty="0">
                <a:solidFill>
                  <a:srgbClr val="2C2C2A"/>
                </a:solidFill>
                <a:latin typeface="Calibri" pitchFamily="34" charset="0"/>
                <a:ea typeface="Calibri" pitchFamily="34" charset="-122"/>
                <a:cs typeface="Calibri" pitchFamily="34" charset="-120"/>
              </a:rPr>
              <a:t>Emails the report to finance.</a:t>
            </a:r>
            <a:endParaRPr lang="en-US" sz="1350" dirty="0"/>
          </a:p>
        </p:txBody>
      </p:sp>
      <p:sp>
        <p:nvSpPr>
          <p:cNvPr id="37" name="Text 35"/>
          <p:cNvSpPr/>
          <p:nvPr/>
        </p:nvSpPr>
        <p:spPr>
          <a:xfrm>
            <a:off x="411480" y="5504688"/>
            <a:ext cx="11365992" cy="457200"/>
          </a:xfrm>
          <a:prstGeom prst="roundRect">
            <a:avLst>
              <a:gd name="adj" fmla="val 16000"/>
            </a:avLst>
          </a:prstGeom>
          <a:solidFill>
            <a:srgbClr val="993C1D"/>
          </a:solidFill>
          <a:ln w="12700">
            <a:solidFill>
              <a:srgbClr val="993C1D"/>
            </a:solidFill>
            <a:prstDash val="solid"/>
          </a:ln>
        </p:spPr>
        <p:txBody>
          <a:bodyPr wrap="square" lIns="152400" tIns="152400" rIns="152400" bIns="15240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Result  </a:t>
            </a:r>
            <a:pPr algn="l" indent="0" marL="0">
              <a:buNone/>
            </a:pPr>
            <a:r>
              <a:rPr lang="en-US" sz="1450" dirty="0">
                <a:solidFill>
                  <a:srgbClr val="FFFFFF"/>
                </a:solidFill>
                <a:latin typeface="Calibri" pitchFamily="34" charset="0"/>
                <a:ea typeface="Calibri" pitchFamily="34" charset="-122"/>
                <a:cs typeface="Calibri" pitchFamily="34" charset="-120"/>
              </a:rPr>
              <a:t>Finance receives September's numbers labelled as October's, and the agent marks the task done.</a:t>
            </a:r>
            <a:endParaRPr lang="en-US" sz="14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pic>
        <p:nvPicPr>
          <p:cNvPr id="5" name="Image 0" descr="/tmp/deck-icons/TbBrain_534AB7.png">    </p:cNvPr>
          <p:cNvPicPr>
            <a:picLocks noChangeAspect="1"/>
          </p:cNvPicPr>
          <p:nvPr/>
        </p:nvPicPr>
        <p:blipFill>
          <a:blip r:embed="rId1"/>
          <a:stretch>
            <a:fillRect/>
          </a:stretch>
        </p:blipFill>
        <p:spPr>
          <a:xfrm>
            <a:off x="411480" y="1463040"/>
            <a:ext cx="292608" cy="292608"/>
          </a:xfrm>
          <a:prstGeom prst="rect">
            <a:avLst/>
          </a:prstGeom>
        </p:spPr>
      </p:pic>
      <p:sp>
        <p:nvSpPr>
          <p:cNvPr id="6" name="Text 3"/>
          <p:cNvSpPr txBox="1"/>
          <p:nvPr/>
        </p:nvSpPr>
        <p:spPr>
          <a:xfrm>
            <a:off x="795528" y="1463040"/>
            <a:ext cx="3282696"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7" name="Text 4"/>
          <p:cNvSpPr/>
          <p:nvPr/>
        </p:nvSpPr>
        <p:spPr>
          <a:xfrm>
            <a:off x="411480" y="1920240"/>
            <a:ext cx="3666744" cy="1664208"/>
          </a:xfrm>
          <a:prstGeom prst="roundRect">
            <a:avLst>
              <a:gd name="adj" fmla="val 769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8" name="Image 1" descr="/tmp/deck-icons/TbRouteOff_534AB7.png">    </p:cNvPr>
          <p:cNvPicPr>
            <a:picLocks noChangeAspect="1"/>
          </p:cNvPicPr>
          <p:nvPr/>
        </p:nvPicPr>
        <p:blipFill>
          <a:blip r:embed="rId2"/>
          <a:stretch>
            <a:fillRect/>
          </a:stretch>
        </p:blipFill>
        <p:spPr>
          <a:xfrm>
            <a:off x="594360" y="2103120"/>
            <a:ext cx="274320" cy="274320"/>
          </a:xfrm>
          <a:prstGeom prst="rect">
            <a:avLst/>
          </a:prstGeom>
        </p:spPr>
      </p:pic>
      <p:sp>
        <p:nvSpPr>
          <p:cNvPr id="9" name="Text 5"/>
          <p:cNvSpPr txBox="1"/>
          <p:nvPr/>
        </p:nvSpPr>
        <p:spPr>
          <a:xfrm>
            <a:off x="960120" y="2084832"/>
            <a:ext cx="2935224"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0" name="Text 6"/>
          <p:cNvSpPr txBox="1"/>
          <p:nvPr/>
        </p:nvSpPr>
        <p:spPr>
          <a:xfrm>
            <a:off x="594360" y="25146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3C3489"/>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wanders off the original ask</a:t>
            </a:r>
            <a:endParaRPr lang="en-US" sz="1550" dirty="0"/>
          </a:p>
          <a:p>
            <a:pPr algn="l" indent="0" marL="0">
              <a:spcAft>
                <a:spcPts val="600"/>
              </a:spcAft>
              <a:buNone/>
            </a:pPr>
            <a:r>
              <a:rPr lang="en-US" sz="1550" b="1" dirty="0">
                <a:solidFill>
                  <a:srgbClr val="3C3489"/>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asked to summarise a report, starts rewriting it</a:t>
            </a:r>
            <a:endParaRPr lang="en-US" sz="1550" dirty="0"/>
          </a:p>
        </p:txBody>
      </p:sp>
      <p:sp>
        <p:nvSpPr>
          <p:cNvPr id="11" name="Text 7"/>
          <p:cNvSpPr/>
          <p:nvPr/>
        </p:nvSpPr>
        <p:spPr>
          <a:xfrm>
            <a:off x="411480" y="3749040"/>
            <a:ext cx="3666744" cy="1664208"/>
          </a:xfrm>
          <a:prstGeom prst="roundRect">
            <a:avLst>
              <a:gd name="adj" fmla="val 769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2" name="Image 2" descr="/tmp/deck-icons/TbTool_534AB7.png">    </p:cNvPr>
          <p:cNvPicPr>
            <a:picLocks noChangeAspect="1"/>
          </p:cNvPicPr>
          <p:nvPr/>
        </p:nvPicPr>
        <p:blipFill>
          <a:blip r:embed="rId3"/>
          <a:stretch>
            <a:fillRect/>
          </a:stretch>
        </p:blipFill>
        <p:spPr>
          <a:xfrm>
            <a:off x="594360" y="3931920"/>
            <a:ext cx="274320" cy="274320"/>
          </a:xfrm>
          <a:prstGeom prst="rect">
            <a:avLst/>
          </a:prstGeom>
        </p:spPr>
      </p:pic>
      <p:sp>
        <p:nvSpPr>
          <p:cNvPr id="13" name="Text 8"/>
          <p:cNvSpPr txBox="1"/>
          <p:nvPr/>
        </p:nvSpPr>
        <p:spPr>
          <a:xfrm>
            <a:off x="960120" y="3913632"/>
            <a:ext cx="2935224"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4" name="Text 9"/>
          <p:cNvSpPr txBox="1"/>
          <p:nvPr/>
        </p:nvSpPr>
        <p:spPr>
          <a:xfrm>
            <a:off x="594360" y="43434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3C3489"/>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right intent, wrong action</a:t>
            </a:r>
            <a:endParaRPr lang="en-US" sz="1550" dirty="0"/>
          </a:p>
          <a:p>
            <a:pPr algn="l" indent="0" marL="0">
              <a:spcAft>
                <a:spcPts val="600"/>
              </a:spcAft>
              <a:buNone/>
            </a:pPr>
            <a:r>
              <a:rPr lang="en-US" sz="1550" b="1" dirty="0">
                <a:solidFill>
                  <a:srgbClr val="3C3489"/>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books the meeting instead of checking the calendar</a:t>
            </a:r>
            <a:endParaRPr lang="en-US" sz="1550" dirty="0"/>
          </a:p>
        </p:txBody>
      </p:sp>
      <p:pic>
        <p:nvPicPr>
          <p:cNvPr id="15" name="Image 3" descr="/tmp/deck-icons/TbPlayerPlay_0F6E56.png">    </p:cNvPr>
          <p:cNvPicPr>
            <a:picLocks noChangeAspect="1"/>
          </p:cNvPicPr>
          <p:nvPr/>
        </p:nvPicPr>
        <p:blipFill>
          <a:blip r:embed="rId4"/>
          <a:stretch>
            <a:fillRect/>
          </a:stretch>
        </p:blipFill>
        <p:spPr>
          <a:xfrm>
            <a:off x="4261104" y="1463040"/>
            <a:ext cx="292608" cy="292608"/>
          </a:xfrm>
          <a:prstGeom prst="rect">
            <a:avLst/>
          </a:prstGeom>
        </p:spPr>
      </p:pic>
      <p:sp>
        <p:nvSpPr>
          <p:cNvPr id="16" name="Text 10"/>
          <p:cNvSpPr txBox="1"/>
          <p:nvPr/>
        </p:nvSpPr>
        <p:spPr>
          <a:xfrm>
            <a:off x="4645152" y="1463040"/>
            <a:ext cx="3282696"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7" name="Text 11"/>
          <p:cNvSpPr/>
          <p:nvPr/>
        </p:nvSpPr>
        <p:spPr>
          <a:xfrm>
            <a:off x="4261104" y="1920240"/>
            <a:ext cx="3666744" cy="1664208"/>
          </a:xfrm>
          <a:prstGeom prst="roundRect">
            <a:avLst>
              <a:gd name="adj" fmla="val 769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8" name="Image 4" descr="/tmp/deck-icons/TbRepeat_0F6E56.png">    </p:cNvPr>
          <p:cNvPicPr>
            <a:picLocks noChangeAspect="1"/>
          </p:cNvPicPr>
          <p:nvPr/>
        </p:nvPicPr>
        <p:blipFill>
          <a:blip r:embed="rId5"/>
          <a:stretch>
            <a:fillRect/>
          </a:stretch>
        </p:blipFill>
        <p:spPr>
          <a:xfrm>
            <a:off x="4443984" y="2103120"/>
            <a:ext cx="274320" cy="274320"/>
          </a:xfrm>
          <a:prstGeom prst="rect">
            <a:avLst/>
          </a:prstGeom>
        </p:spPr>
      </p:pic>
      <p:sp>
        <p:nvSpPr>
          <p:cNvPr id="19" name="Text 12"/>
          <p:cNvSpPr txBox="1"/>
          <p:nvPr/>
        </p:nvSpPr>
        <p:spPr>
          <a:xfrm>
            <a:off x="4809744" y="2084832"/>
            <a:ext cx="2935224"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0" name="Text 13"/>
          <p:cNvSpPr txBox="1"/>
          <p:nvPr/>
        </p:nvSpPr>
        <p:spPr>
          <a:xfrm>
            <a:off x="4443984" y="25146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085041"/>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same step again and again</a:t>
            </a:r>
            <a:endParaRPr lang="en-US" sz="1550" dirty="0"/>
          </a:p>
          <a:p>
            <a:pPr algn="l" indent="0" marL="0">
              <a:spcAft>
                <a:spcPts val="600"/>
              </a:spcAft>
              <a:buNone/>
            </a:pPr>
            <a:r>
              <a:rPr lang="en-US" sz="1550" b="1" dirty="0">
                <a:solidFill>
                  <a:srgbClr val="085041"/>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keeps re-searching the same flight</a:t>
            </a:r>
            <a:endParaRPr lang="en-US" sz="1550" dirty="0"/>
          </a:p>
        </p:txBody>
      </p:sp>
      <p:sp>
        <p:nvSpPr>
          <p:cNvPr id="21" name="Text 14"/>
          <p:cNvSpPr/>
          <p:nvPr/>
        </p:nvSpPr>
        <p:spPr>
          <a:xfrm>
            <a:off x="4261104" y="3749040"/>
            <a:ext cx="3666744" cy="1664208"/>
          </a:xfrm>
          <a:prstGeom prst="roundRect">
            <a:avLst>
              <a:gd name="adj" fmla="val 769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Image 5" descr="/tmp/deck-icons/TbStack2_0F6E56.png">    </p:cNvPr>
          <p:cNvPicPr>
            <a:picLocks noChangeAspect="1"/>
          </p:cNvPicPr>
          <p:nvPr/>
        </p:nvPicPr>
        <p:blipFill>
          <a:blip r:embed="rId6"/>
          <a:stretch>
            <a:fillRect/>
          </a:stretch>
        </p:blipFill>
        <p:spPr>
          <a:xfrm>
            <a:off x="4443984" y="3931920"/>
            <a:ext cx="274320" cy="274320"/>
          </a:xfrm>
          <a:prstGeom prst="rect">
            <a:avLst/>
          </a:prstGeom>
        </p:spPr>
      </p:pic>
      <p:sp>
        <p:nvSpPr>
          <p:cNvPr id="23" name="Text 15"/>
          <p:cNvSpPr txBox="1"/>
          <p:nvPr/>
        </p:nvSpPr>
        <p:spPr>
          <a:xfrm>
            <a:off x="4809744" y="3913632"/>
            <a:ext cx="2935224"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4" name="Text 16"/>
          <p:cNvSpPr txBox="1"/>
          <p:nvPr/>
        </p:nvSpPr>
        <p:spPr>
          <a:xfrm>
            <a:off x="4443984" y="43434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085041"/>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one bad step spoils the rest</a:t>
            </a:r>
            <a:endParaRPr lang="en-US" sz="1550" dirty="0"/>
          </a:p>
          <a:p>
            <a:pPr algn="l" indent="0" marL="0">
              <a:spcAft>
                <a:spcPts val="600"/>
              </a:spcAft>
              <a:buNone/>
            </a:pPr>
            <a:r>
              <a:rPr lang="en-US" sz="1550" b="1" dirty="0">
                <a:solidFill>
                  <a:srgbClr val="085041"/>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wrong customer ID used in every later step</a:t>
            </a:r>
            <a:endParaRPr lang="en-US" sz="1550" dirty="0"/>
          </a:p>
        </p:txBody>
      </p:sp>
      <p:pic>
        <p:nvPicPr>
          <p:cNvPr id="25" name="Image 6" descr="/tmp/deck-icons/TbChecklist_993C1D.png">    </p:cNvPr>
          <p:cNvPicPr>
            <a:picLocks noChangeAspect="1"/>
          </p:cNvPicPr>
          <p:nvPr/>
        </p:nvPicPr>
        <p:blipFill>
          <a:blip r:embed="rId7"/>
          <a:stretch>
            <a:fillRect/>
          </a:stretch>
        </p:blipFill>
        <p:spPr>
          <a:xfrm>
            <a:off x="8110728" y="1463040"/>
            <a:ext cx="292608" cy="292608"/>
          </a:xfrm>
          <a:prstGeom prst="rect">
            <a:avLst/>
          </a:prstGeom>
        </p:spPr>
      </p:pic>
      <p:sp>
        <p:nvSpPr>
          <p:cNvPr id="26" name="Text 17"/>
          <p:cNvSpPr txBox="1"/>
          <p:nvPr/>
        </p:nvSpPr>
        <p:spPr>
          <a:xfrm>
            <a:off x="8494776" y="1463040"/>
            <a:ext cx="3282696"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7" name="Text 18"/>
          <p:cNvSpPr/>
          <p:nvPr/>
        </p:nvSpPr>
        <p:spPr>
          <a:xfrm>
            <a:off x="8110728" y="1920240"/>
            <a:ext cx="3666744" cy="1664208"/>
          </a:xfrm>
          <a:prstGeom prst="roundRect">
            <a:avLst>
              <a:gd name="adj" fmla="val 769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8" name="Image 7" descr="/tmp/deck-icons/TbMoodCheck_993C1D.png">    </p:cNvPr>
          <p:cNvPicPr>
            <a:picLocks noChangeAspect="1"/>
          </p:cNvPicPr>
          <p:nvPr/>
        </p:nvPicPr>
        <p:blipFill>
          <a:blip r:embed="rId8"/>
          <a:stretch>
            <a:fillRect/>
          </a:stretch>
        </p:blipFill>
        <p:spPr>
          <a:xfrm>
            <a:off x="8293608" y="2103120"/>
            <a:ext cx="274320" cy="274320"/>
          </a:xfrm>
          <a:prstGeom prst="rect">
            <a:avLst/>
          </a:prstGeom>
        </p:spPr>
      </p:pic>
      <p:sp>
        <p:nvSpPr>
          <p:cNvPr id="29" name="Text 19"/>
          <p:cNvSpPr txBox="1"/>
          <p:nvPr/>
        </p:nvSpPr>
        <p:spPr>
          <a:xfrm>
            <a:off x="8659368" y="2084832"/>
            <a:ext cx="2935224"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30" name="Text 20"/>
          <p:cNvSpPr txBox="1"/>
          <p:nvPr/>
        </p:nvSpPr>
        <p:spPr>
          <a:xfrm>
            <a:off x="8293608" y="25146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712B13"/>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says “done” when it isn't</a:t>
            </a:r>
            <a:endParaRPr lang="en-US" sz="1550" dirty="0"/>
          </a:p>
          <a:p>
            <a:pPr algn="l" indent="0" marL="0">
              <a:spcAft>
                <a:spcPts val="600"/>
              </a:spcAft>
              <a:buNone/>
            </a:pPr>
            <a:r>
              <a:rPr lang="en-US" sz="1550" b="1" dirty="0">
                <a:solidFill>
                  <a:srgbClr val="712B13"/>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“report sent” but the attachment is empty</a:t>
            </a:r>
            <a:endParaRPr lang="en-US" sz="1550" dirty="0"/>
          </a:p>
        </p:txBody>
      </p:sp>
      <p:sp>
        <p:nvSpPr>
          <p:cNvPr id="31" name="Text 21"/>
          <p:cNvSpPr/>
          <p:nvPr/>
        </p:nvSpPr>
        <p:spPr>
          <a:xfrm>
            <a:off x="8110728" y="3749040"/>
            <a:ext cx="3666744" cy="1664208"/>
          </a:xfrm>
          <a:prstGeom prst="roundRect">
            <a:avLst>
              <a:gd name="adj" fmla="val 769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Image 8" descr="/tmp/deck-icons/TbPlayerStop_993C1D.png">    </p:cNvPr>
          <p:cNvPicPr>
            <a:picLocks noChangeAspect="1"/>
          </p:cNvPicPr>
          <p:nvPr/>
        </p:nvPicPr>
        <p:blipFill>
          <a:blip r:embed="rId9"/>
          <a:stretch>
            <a:fillRect/>
          </a:stretch>
        </p:blipFill>
        <p:spPr>
          <a:xfrm>
            <a:off x="8293608" y="3931920"/>
            <a:ext cx="274320" cy="274320"/>
          </a:xfrm>
          <a:prstGeom prst="rect">
            <a:avLst/>
          </a:prstGeom>
        </p:spPr>
      </p:pic>
      <p:sp>
        <p:nvSpPr>
          <p:cNvPr id="33" name="Text 22"/>
          <p:cNvSpPr txBox="1"/>
          <p:nvPr/>
        </p:nvSpPr>
        <p:spPr>
          <a:xfrm>
            <a:off x="8659368" y="3913632"/>
            <a:ext cx="2935224"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4" name="Text 23"/>
          <p:cNvSpPr txBox="1"/>
          <p:nvPr/>
        </p:nvSpPr>
        <p:spPr>
          <a:xfrm>
            <a:off x="8293608" y="4343400"/>
            <a:ext cx="3300984" cy="1005840"/>
          </a:xfrm>
          <a:prstGeom prst="rect">
            <a:avLst/>
          </a:prstGeom>
          <a:noFill/>
          <a:ln/>
        </p:spPr>
        <p:txBody>
          <a:bodyPr wrap="square" lIns="0" tIns="0" rIns="0" bIns="0" rtlCol="0" anchor="t"/>
          <a:lstStyle/>
          <a:p>
            <a:pPr algn="l" indent="0" marL="0">
              <a:spcAft>
                <a:spcPts val="600"/>
              </a:spcAft>
              <a:buNone/>
            </a:pPr>
            <a:r>
              <a:rPr lang="en-US" sz="1550" b="1" dirty="0">
                <a:solidFill>
                  <a:srgbClr val="712B13"/>
                </a:solidFill>
                <a:latin typeface="Calibri" pitchFamily="34" charset="0"/>
                <a:ea typeface="Calibri" pitchFamily="34" charset="-122"/>
                <a:cs typeface="Calibri" pitchFamily="34" charset="-120"/>
              </a:rPr>
              <a:t>See: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quits halfway, sounds confident</a:t>
            </a:r>
            <a:endParaRPr lang="en-US" sz="1550" dirty="0"/>
          </a:p>
          <a:p>
            <a:pPr algn="l" indent="0" marL="0">
              <a:spcAft>
                <a:spcPts val="600"/>
              </a:spcAft>
              <a:buNone/>
            </a:pPr>
            <a:r>
              <a:rPr lang="en-US" sz="1550" b="1" dirty="0">
                <a:solidFill>
                  <a:srgbClr val="712B13"/>
                </a:solidFill>
                <a:latin typeface="Calibri" pitchFamily="34" charset="0"/>
                <a:ea typeface="Calibri" pitchFamily="34" charset="-122"/>
                <a:cs typeface="Calibri" pitchFamily="34" charset="-120"/>
              </a:rPr>
              <a:t>Example: </a:t>
            </a:r>
            <a:pPr algn="l" indent="0" marL="0">
              <a:spcAft>
                <a:spcPts val="600"/>
              </a:spcAft>
              <a:buNone/>
            </a:pPr>
            <a:r>
              <a:rPr lang="en-US" sz="1550" dirty="0">
                <a:solidFill>
                  <a:srgbClr val="2C2C2A"/>
                </a:solidFill>
                <a:latin typeface="Calibri" pitchFamily="34" charset="0"/>
                <a:ea typeface="Calibri" pitchFamily="34" charset="-122"/>
                <a:cs typeface="Calibri" pitchFamily="34" charset="-120"/>
              </a:rPr>
              <a:t>answers 2 of 5 questions</a:t>
            </a:r>
            <a:endParaRPr lang="en-US" sz="1550" dirty="0"/>
          </a:p>
        </p:txBody>
      </p:sp>
      <p:sp>
        <p:nvSpPr>
          <p:cNvPr id="35" name="Text 24"/>
          <p:cNvSpPr txBox="1"/>
          <p:nvPr/>
        </p:nvSpPr>
        <p:spPr>
          <a:xfrm>
            <a:off x="411480" y="5669280"/>
            <a:ext cx="11365992"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thinking, acting or checking.</a:t>
            </a:r>
            <a:endParaRPr lang="en-US" sz="17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Without structure, quality degrades. A smarter model doesn't fix it; a better design does.</a:t>
            </a:r>
            <a:endParaRPr lang="en-US" sz="1400" dirty="0"/>
          </a:p>
        </p:txBody>
      </p:sp>
      <p:sp>
        <p:nvSpPr>
          <p:cNvPr id="5" name="Text 3"/>
          <p:cNvSpPr/>
          <p:nvPr/>
        </p:nvSpPr>
        <p:spPr>
          <a:xfrm>
            <a:off x="411480" y="1554480"/>
            <a:ext cx="3636264" cy="3703320"/>
          </a:xfrm>
          <a:prstGeom prst="roundRect">
            <a:avLst>
              <a:gd name="adj" fmla="val 2012"/>
            </a:avLst>
          </a:prstGeom>
          <a:solidFill>
            <a:srgbClr val="FFFFFF"/>
          </a:solidFill>
          <a:ln w="15875">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6" name="Text 4"/>
          <p:cNvSpPr/>
          <p:nvPr/>
        </p:nvSpPr>
        <p:spPr>
          <a:xfrm>
            <a:off x="411480" y="1554480"/>
            <a:ext cx="3636264" cy="566928"/>
          </a:xfrm>
          <a:prstGeom prst="roundRect">
            <a:avLst>
              <a:gd name="adj" fmla="val 12903"/>
            </a:avLst>
          </a:prstGeom>
          <a:solidFill>
            <a:srgbClr val="EEEDFE"/>
          </a:solidFill>
          <a:ln w="15875">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7" name="Text 5"/>
          <p:cNvSpPr/>
          <p:nvPr/>
        </p:nvSpPr>
        <p:spPr>
          <a:xfrm>
            <a:off x="422453" y="1965960"/>
            <a:ext cx="3614318" cy="182880"/>
          </a:xfrm>
          <a:prstGeom prst="roundRect">
            <a:avLst/>
          </a:prstGeom>
          <a:solidFill>
            <a:srgbClr val="EEEDFE"/>
          </a:solidFill>
          <a:ln w="12700">
            <a:solidFill>
              <a:srgbClr val="EEEDFE"/>
            </a:solidFill>
            <a:prstDash val="solid"/>
          </a:ln>
        </p:spPr>
        <p:txBody>
          <a:bodyPr wrap="square" lIns="50800" tIns="50800" rIns="50800" bIns="50800" rtlCol="0" anchor="ctr"/>
          <a:lstStyle/>
          <a:p>
            <a:pPr algn="ctr" indent="0" marL="0">
              <a:buNone/>
            </a:pPr>
            <a:endParaRPr lang="en-US" sz="1200" dirty="0"/>
          </a:p>
        </p:txBody>
      </p:sp>
      <p:pic>
        <p:nvPicPr>
          <p:cNvPr id="8" name="Image 0" descr="/tmp/deck-icons/TbBooks_534AB7.png">    </p:cNvPr>
          <p:cNvPicPr>
            <a:picLocks noChangeAspect="1"/>
          </p:cNvPicPr>
          <p:nvPr/>
        </p:nvPicPr>
        <p:blipFill>
          <a:blip r:embed="rId1"/>
          <a:stretch>
            <a:fillRect/>
          </a:stretch>
        </p:blipFill>
        <p:spPr>
          <a:xfrm>
            <a:off x="640080" y="1691640"/>
            <a:ext cx="292608" cy="292608"/>
          </a:xfrm>
          <a:prstGeom prst="rect">
            <a:avLst/>
          </a:prstGeom>
        </p:spPr>
      </p:pic>
      <p:sp>
        <p:nvSpPr>
          <p:cNvPr id="9" name="Text 6"/>
          <p:cNvSpPr txBox="1"/>
          <p:nvPr/>
        </p:nvSpPr>
        <p:spPr>
          <a:xfrm>
            <a:off x="1051560" y="1627632"/>
            <a:ext cx="2859024" cy="438912"/>
          </a:xfrm>
          <a:prstGeom prst="rect">
            <a:avLst/>
          </a:prstGeom>
          <a:noFill/>
          <a:ln/>
        </p:spPr>
        <p:txBody>
          <a:bodyPr wrap="square" lIns="0" tIns="0" rIns="0" bIns="0" rtlCol="0" anchor="ctr"/>
          <a:lstStyle/>
          <a:p>
            <a:pPr algn="l" indent="0" marL="0">
              <a:buNone/>
            </a:pPr>
            <a:r>
              <a:rPr lang="en-US" sz="1550" b="1" dirty="0">
                <a:solidFill>
                  <a:srgbClr val="3C3489"/>
                </a:solidFill>
                <a:latin typeface="Calibri" pitchFamily="34" charset="0"/>
                <a:ea typeface="Calibri" pitchFamily="34" charset="-122"/>
                <a:cs typeface="Calibri" pitchFamily="34" charset="-120"/>
              </a:rPr>
              <a:t>More memory, worse thinking</a:t>
            </a:r>
            <a:endParaRPr lang="en-US" sz="1550" dirty="0"/>
          </a:p>
        </p:txBody>
      </p:sp>
      <p:sp>
        <p:nvSpPr>
          <p:cNvPr id="10" name="Text 7"/>
          <p:cNvSpPr txBox="1"/>
          <p:nvPr/>
        </p:nvSpPr>
        <p:spPr>
          <a:xfrm>
            <a:off x="640080" y="2331720"/>
            <a:ext cx="3179064" cy="685800"/>
          </a:xfrm>
          <a:prstGeom prst="rect">
            <a:avLst/>
          </a:prstGeom>
          <a:noFill/>
          <a:ln/>
        </p:spPr>
        <p:txBody>
          <a:bodyPr wrap="square" lIns="0" tIns="0" rIns="0" bIns="0" rtlCol="0" anchor="ctr"/>
          <a:lstStyle/>
          <a:p>
            <a:pPr algn="l" indent="0" marL="0">
              <a:buNone/>
            </a:pPr>
            <a:r>
              <a:rPr lang="en-US" sz="3000" b="1" dirty="0">
                <a:solidFill>
                  <a:srgbClr val="534AB7"/>
                </a:solidFill>
                <a:latin typeface="Calibri" pitchFamily="34" charset="0"/>
                <a:ea typeface="Calibri" pitchFamily="34" charset="-122"/>
                <a:cs typeface="Calibri" pitchFamily="34" charset="-120"/>
              </a:rPr>
              <a:t>1 page vs a book</a:t>
            </a:r>
            <a:endParaRPr lang="en-US" sz="3000" dirty="0"/>
          </a:p>
        </p:txBody>
      </p:sp>
      <p:sp>
        <p:nvSpPr>
          <p:cNvPr id="11" name="Text 8"/>
          <p:cNvSpPr txBox="1"/>
          <p:nvPr/>
        </p:nvSpPr>
        <p:spPr>
          <a:xfrm>
            <a:off x="640080" y="3127248"/>
            <a:ext cx="3179064" cy="109728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Same question, same model: far more reliable with one focused page than with a whole history to read through.</a:t>
            </a:r>
            <a:endParaRPr lang="en-US" sz="1400" dirty="0"/>
          </a:p>
        </p:txBody>
      </p:sp>
      <p:sp>
        <p:nvSpPr>
          <p:cNvPr id="12" name="Shape 9"/>
          <p:cNvSpPr/>
          <p:nvPr/>
        </p:nvSpPr>
        <p:spPr>
          <a:xfrm>
            <a:off x="640080" y="4297680"/>
            <a:ext cx="3179064" cy="0"/>
          </a:xfrm>
          <a:prstGeom prst="line">
            <a:avLst/>
          </a:prstGeom>
          <a:noFill/>
          <a:ln w="9525">
            <a:solidFill>
              <a:srgbClr val="D3D1C7"/>
            </a:solidFill>
            <a:prstDash val="solid"/>
          </a:ln>
        </p:spPr>
      </p:sp>
      <p:sp>
        <p:nvSpPr>
          <p:cNvPr id="13" name="Text 10"/>
          <p:cNvSpPr txBox="1"/>
          <p:nvPr/>
        </p:nvSpPr>
        <p:spPr>
          <a:xfrm>
            <a:off x="640080" y="4407408"/>
            <a:ext cx="3179064" cy="731520"/>
          </a:xfrm>
          <a:prstGeom prst="rect">
            <a:avLst/>
          </a:prstGeom>
          <a:noFill/>
          <a:ln/>
        </p:spPr>
        <p:txBody>
          <a:bodyPr wrap="square" lIns="0" tIns="0" rIns="0" bIns="0" rtlCol="0" anchor="t"/>
          <a:lstStyle/>
          <a:p>
            <a:pPr algn="l" indent="0" marL="0">
              <a:buNone/>
            </a:pPr>
            <a:r>
              <a:rPr lang="en-US" sz="1400" b="1" i="1" dirty="0">
                <a:solidFill>
                  <a:srgbClr val="3C3489"/>
                </a:solidFill>
                <a:latin typeface="Calibri" pitchFamily="34" charset="0"/>
                <a:ea typeface="Calibri" pitchFamily="34" charset="-122"/>
                <a:cs typeface="Calibri" pitchFamily="34" charset="-120"/>
              </a:rPr>
              <a:t>An agent that carries everything forgets what matters.</a:t>
            </a:r>
            <a:endParaRPr lang="en-US" sz="1400" dirty="0"/>
          </a:p>
        </p:txBody>
      </p:sp>
      <p:sp>
        <p:nvSpPr>
          <p:cNvPr id="14" name="Text 11"/>
          <p:cNvSpPr/>
          <p:nvPr/>
        </p:nvSpPr>
        <p:spPr>
          <a:xfrm>
            <a:off x="4276344" y="1554480"/>
            <a:ext cx="3636264" cy="3703320"/>
          </a:xfrm>
          <a:prstGeom prst="roundRect">
            <a:avLst>
              <a:gd name="adj" fmla="val 2012"/>
            </a:avLst>
          </a:prstGeom>
          <a:solidFill>
            <a:srgbClr val="FFFFFF"/>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15" name="Text 12"/>
          <p:cNvSpPr/>
          <p:nvPr/>
        </p:nvSpPr>
        <p:spPr>
          <a:xfrm>
            <a:off x="4276344" y="1554480"/>
            <a:ext cx="3636264" cy="566928"/>
          </a:xfrm>
          <a:prstGeom prst="roundRect">
            <a:avLst>
              <a:gd name="adj" fmla="val 12903"/>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16" name="Text 13"/>
          <p:cNvSpPr/>
          <p:nvPr/>
        </p:nvSpPr>
        <p:spPr>
          <a:xfrm>
            <a:off x="4287317" y="1965960"/>
            <a:ext cx="3614318" cy="182880"/>
          </a:xfrm>
          <a:prstGeom prst="roundRect">
            <a:avLst/>
          </a:prstGeom>
          <a:solidFill>
            <a:srgbClr val="E1F5EE"/>
          </a:solidFill>
          <a:ln w="12700">
            <a:solidFill>
              <a:srgbClr val="E1F5EE"/>
            </a:solidFill>
            <a:prstDash val="solid"/>
          </a:ln>
        </p:spPr>
        <p:txBody>
          <a:bodyPr wrap="square" lIns="50800" tIns="50800" rIns="50800" bIns="50800" rtlCol="0" anchor="ctr"/>
          <a:lstStyle/>
          <a:p>
            <a:pPr algn="ctr" indent="0" marL="0">
              <a:buNone/>
            </a:pPr>
            <a:endParaRPr lang="en-US" sz="1200" dirty="0"/>
          </a:p>
        </p:txBody>
      </p:sp>
      <p:pic>
        <p:nvPicPr>
          <p:cNvPr id="17" name="Image 1" descr="/tmp/deck-icons/TbSitemap_0F6E56.png">    </p:cNvPr>
          <p:cNvPicPr>
            <a:picLocks noChangeAspect="1"/>
          </p:cNvPicPr>
          <p:nvPr/>
        </p:nvPicPr>
        <p:blipFill>
          <a:blip r:embed="rId2"/>
          <a:stretch>
            <a:fillRect/>
          </a:stretch>
        </p:blipFill>
        <p:spPr>
          <a:xfrm>
            <a:off x="4504944" y="1691640"/>
            <a:ext cx="292608" cy="292608"/>
          </a:xfrm>
          <a:prstGeom prst="rect">
            <a:avLst/>
          </a:prstGeom>
        </p:spPr>
      </p:pic>
      <p:sp>
        <p:nvSpPr>
          <p:cNvPr id="18" name="Text 14"/>
          <p:cNvSpPr txBox="1"/>
          <p:nvPr/>
        </p:nvSpPr>
        <p:spPr>
          <a:xfrm>
            <a:off x="4916424" y="1627632"/>
            <a:ext cx="2859024" cy="438912"/>
          </a:xfrm>
          <a:prstGeom prst="rect">
            <a:avLst/>
          </a:prstGeom>
          <a:noFill/>
          <a:ln/>
        </p:spPr>
        <p:txBody>
          <a:bodyPr wrap="square" lIns="0" tIns="0" rIns="0" bIns="0" rtlCol="0" anchor="ctr"/>
          <a:lstStyle/>
          <a:p>
            <a:pPr algn="l" indent="0" marL="0">
              <a:buNone/>
            </a:pPr>
            <a:r>
              <a:rPr lang="en-US" sz="1550" b="1" dirty="0">
                <a:solidFill>
                  <a:srgbClr val="085041"/>
                </a:solidFill>
                <a:latin typeface="Calibri" pitchFamily="34" charset="0"/>
                <a:ea typeface="Calibri" pitchFamily="34" charset="-122"/>
                <a:cs typeface="Calibri" pitchFamily="34" charset="-120"/>
              </a:rPr>
              <a:t>Structure beats size</a:t>
            </a:r>
            <a:endParaRPr lang="en-US" sz="1550" dirty="0"/>
          </a:p>
        </p:txBody>
      </p:sp>
      <p:sp>
        <p:nvSpPr>
          <p:cNvPr id="19" name="Text 15"/>
          <p:cNvSpPr txBox="1"/>
          <p:nvPr/>
        </p:nvSpPr>
        <p:spPr>
          <a:xfrm>
            <a:off x="4504944" y="2331720"/>
            <a:ext cx="3179064" cy="685800"/>
          </a:xfrm>
          <a:prstGeom prst="rect">
            <a:avLst/>
          </a:prstGeom>
          <a:noFill/>
          <a:ln/>
        </p:spPr>
        <p:txBody>
          <a:bodyPr wrap="square" lIns="0" tIns="0" rIns="0" bIns="0" rtlCol="0" anchor="ctr"/>
          <a:lstStyle/>
          <a:p>
            <a:pPr algn="l" indent="0" marL="0">
              <a:buNone/>
            </a:pPr>
            <a:r>
              <a:rPr lang="en-US" sz="3000" b="1" dirty="0">
                <a:solidFill>
                  <a:srgbClr val="0F6E56"/>
                </a:solidFill>
                <a:latin typeface="Calibri" pitchFamily="34" charset="0"/>
                <a:ea typeface="Calibri" pitchFamily="34" charset="-122"/>
                <a:cs typeface="Calibri" pitchFamily="34" charset="-120"/>
              </a:rPr>
              <a:t>~90% better</a:t>
            </a:r>
            <a:endParaRPr lang="en-US" sz="3000" dirty="0"/>
          </a:p>
        </p:txBody>
      </p:sp>
      <p:sp>
        <p:nvSpPr>
          <p:cNvPr id="20" name="Text 16"/>
          <p:cNvSpPr txBox="1"/>
          <p:nvPr/>
        </p:nvSpPr>
        <p:spPr>
          <a:xfrm>
            <a:off x="4504944" y="3127248"/>
            <a:ext cx="3179064" cy="109728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The same model did about 90% better when a lead agent split the work between specialists.</a:t>
            </a:r>
            <a:endParaRPr lang="en-US" sz="1400" dirty="0"/>
          </a:p>
        </p:txBody>
      </p:sp>
      <p:sp>
        <p:nvSpPr>
          <p:cNvPr id="21" name="Shape 17"/>
          <p:cNvSpPr/>
          <p:nvPr/>
        </p:nvSpPr>
        <p:spPr>
          <a:xfrm>
            <a:off x="4504944" y="4297680"/>
            <a:ext cx="3179064" cy="0"/>
          </a:xfrm>
          <a:prstGeom prst="line">
            <a:avLst/>
          </a:prstGeom>
          <a:noFill/>
          <a:ln w="9525">
            <a:solidFill>
              <a:srgbClr val="D3D1C7"/>
            </a:solidFill>
            <a:prstDash val="solid"/>
          </a:ln>
        </p:spPr>
      </p:sp>
      <p:sp>
        <p:nvSpPr>
          <p:cNvPr id="22" name="Text 18"/>
          <p:cNvSpPr txBox="1"/>
          <p:nvPr/>
        </p:nvSpPr>
        <p:spPr>
          <a:xfrm>
            <a:off x="4504944" y="4407408"/>
            <a:ext cx="3179064" cy="731520"/>
          </a:xfrm>
          <a:prstGeom prst="rect">
            <a:avLst/>
          </a:prstGeom>
          <a:noFill/>
          <a:ln/>
        </p:spPr>
        <p:txBody>
          <a:bodyPr wrap="square" lIns="0" tIns="0" rIns="0" bIns="0" rtlCol="0" anchor="t"/>
          <a:lstStyle/>
          <a:p>
            <a:pPr algn="l" indent="0" marL="0">
              <a:buNone/>
            </a:pPr>
            <a:r>
              <a:rPr lang="en-US" sz="1400" b="1" i="1" dirty="0">
                <a:solidFill>
                  <a:srgbClr val="085041"/>
                </a:solidFill>
                <a:latin typeface="Calibri" pitchFamily="34" charset="0"/>
                <a:ea typeface="Calibri" pitchFamily="34" charset="-122"/>
                <a:cs typeface="Calibri" pitchFamily="34" charset="-120"/>
              </a:rPr>
              <a:t>How the work is organised matters more than how clever the model is.</a:t>
            </a:r>
            <a:endParaRPr lang="en-US" sz="1400" dirty="0"/>
          </a:p>
        </p:txBody>
      </p:sp>
      <p:sp>
        <p:nvSpPr>
          <p:cNvPr id="23" name="Text 19"/>
          <p:cNvSpPr/>
          <p:nvPr/>
        </p:nvSpPr>
        <p:spPr>
          <a:xfrm>
            <a:off x="8141208" y="1554480"/>
            <a:ext cx="3636264" cy="3703320"/>
          </a:xfrm>
          <a:prstGeom prst="roundRect">
            <a:avLst>
              <a:gd name="adj" fmla="val 2012"/>
            </a:avLst>
          </a:prstGeom>
          <a:solidFill>
            <a:srgbClr val="FFFFFF"/>
          </a:solidFill>
          <a:ln w="15875">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24" name="Text 20"/>
          <p:cNvSpPr/>
          <p:nvPr/>
        </p:nvSpPr>
        <p:spPr>
          <a:xfrm>
            <a:off x="8141208" y="1554480"/>
            <a:ext cx="3636264" cy="566928"/>
          </a:xfrm>
          <a:prstGeom prst="roundRect">
            <a:avLst>
              <a:gd name="adj" fmla="val 12903"/>
            </a:avLst>
          </a:prstGeom>
          <a:solidFill>
            <a:srgbClr val="FAECE7"/>
          </a:solidFill>
          <a:ln w="15875">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25" name="Text 21"/>
          <p:cNvSpPr/>
          <p:nvPr/>
        </p:nvSpPr>
        <p:spPr>
          <a:xfrm>
            <a:off x="8152181" y="1965960"/>
            <a:ext cx="3614318" cy="182880"/>
          </a:xfrm>
          <a:prstGeom prst="roundRect">
            <a:avLst/>
          </a:prstGeom>
          <a:solidFill>
            <a:srgbClr val="FAECE7"/>
          </a:solidFill>
          <a:ln w="12700">
            <a:solidFill>
              <a:srgbClr val="FAECE7"/>
            </a:solidFill>
            <a:prstDash val="solid"/>
          </a:ln>
        </p:spPr>
        <p:txBody>
          <a:bodyPr wrap="square" lIns="50800" tIns="50800" rIns="50800" bIns="50800" rtlCol="0" anchor="ctr"/>
          <a:lstStyle/>
          <a:p>
            <a:pPr algn="ctr" indent="0" marL="0">
              <a:buNone/>
            </a:pPr>
            <a:endParaRPr lang="en-US" sz="1200" dirty="0"/>
          </a:p>
        </p:txBody>
      </p:sp>
      <p:pic>
        <p:nvPicPr>
          <p:cNvPr id="26" name="Image 2" descr="/tmp/deck-icons/TbSettingsCog_993C1D.png">    </p:cNvPr>
          <p:cNvPicPr>
            <a:picLocks noChangeAspect="1"/>
          </p:cNvPicPr>
          <p:nvPr/>
        </p:nvPicPr>
        <p:blipFill>
          <a:blip r:embed="rId3"/>
          <a:stretch>
            <a:fillRect/>
          </a:stretch>
        </p:blipFill>
        <p:spPr>
          <a:xfrm>
            <a:off x="8369808" y="1691640"/>
            <a:ext cx="292608" cy="292608"/>
          </a:xfrm>
          <a:prstGeom prst="rect">
            <a:avLst/>
          </a:prstGeom>
        </p:spPr>
      </p:pic>
      <p:sp>
        <p:nvSpPr>
          <p:cNvPr id="27" name="Text 22"/>
          <p:cNvSpPr txBox="1"/>
          <p:nvPr/>
        </p:nvSpPr>
        <p:spPr>
          <a:xfrm>
            <a:off x="8781288" y="1627632"/>
            <a:ext cx="2859024" cy="438912"/>
          </a:xfrm>
          <a:prstGeom prst="rect">
            <a:avLst/>
          </a:prstGeom>
          <a:noFill/>
          <a:ln/>
        </p:spPr>
        <p:txBody>
          <a:bodyPr wrap="square" lIns="0" tIns="0" rIns="0" bIns="0" rtlCol="0" anchor="ctr"/>
          <a:lstStyle/>
          <a:p>
            <a:pPr algn="l" indent="0" marL="0">
              <a:buNone/>
            </a:pPr>
            <a:r>
              <a:rPr lang="en-US" sz="1550" b="1" dirty="0">
                <a:solidFill>
                  <a:srgbClr val="712B13"/>
                </a:solidFill>
                <a:latin typeface="Calibri" pitchFamily="34" charset="0"/>
                <a:ea typeface="Calibri" pitchFamily="34" charset="-122"/>
                <a:cs typeface="Calibri" pitchFamily="34" charset="-120"/>
              </a:rPr>
              <a:t>Better models won't fix bad design</a:t>
            </a:r>
            <a:endParaRPr lang="en-US" sz="1550" dirty="0"/>
          </a:p>
        </p:txBody>
      </p:sp>
      <p:sp>
        <p:nvSpPr>
          <p:cNvPr id="28" name="Text 23"/>
          <p:cNvSpPr txBox="1"/>
          <p:nvPr/>
        </p:nvSpPr>
        <p:spPr>
          <a:xfrm>
            <a:off x="8369808" y="2331720"/>
            <a:ext cx="3179064" cy="685800"/>
          </a:xfrm>
          <a:prstGeom prst="rect">
            <a:avLst/>
          </a:prstGeom>
          <a:noFill/>
          <a:ln/>
        </p:spPr>
        <p:txBody>
          <a:bodyPr wrap="square" lIns="0" tIns="0" rIns="0" bIns="0" rtlCol="0" anchor="ctr"/>
          <a:lstStyle/>
          <a:p>
            <a:pPr algn="l" indent="0" marL="0">
              <a:buNone/>
            </a:pPr>
            <a:r>
              <a:rPr lang="en-US" sz="3000" b="1" dirty="0">
                <a:solidFill>
                  <a:srgbClr val="993C1D"/>
                </a:solidFill>
                <a:latin typeface="Calibri" pitchFamily="34" charset="0"/>
                <a:ea typeface="Calibri" pitchFamily="34" charset="-122"/>
                <a:cs typeface="Calibri" pitchFamily="34" charset="-120"/>
              </a:rPr>
              <a:t>4 in 5 failures</a:t>
            </a:r>
            <a:endParaRPr lang="en-US" sz="3000" dirty="0"/>
          </a:p>
        </p:txBody>
      </p:sp>
      <p:sp>
        <p:nvSpPr>
          <p:cNvPr id="29" name="Text 24"/>
          <p:cNvSpPr txBox="1"/>
          <p:nvPr/>
        </p:nvSpPr>
        <p:spPr>
          <a:xfrm>
            <a:off x="8369808" y="3127248"/>
            <a:ext cx="3179064" cy="109728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Most failures come from unclear roles and poor hand-offs, not from the model itself.</a:t>
            </a:r>
            <a:endParaRPr lang="en-US" sz="1400" dirty="0"/>
          </a:p>
        </p:txBody>
      </p:sp>
      <p:sp>
        <p:nvSpPr>
          <p:cNvPr id="30" name="Shape 25"/>
          <p:cNvSpPr/>
          <p:nvPr/>
        </p:nvSpPr>
        <p:spPr>
          <a:xfrm>
            <a:off x="8369808" y="4297680"/>
            <a:ext cx="3179064" cy="0"/>
          </a:xfrm>
          <a:prstGeom prst="line">
            <a:avLst/>
          </a:prstGeom>
          <a:noFill/>
          <a:ln w="9525">
            <a:solidFill>
              <a:srgbClr val="D3D1C7"/>
            </a:solidFill>
            <a:prstDash val="solid"/>
          </a:ln>
        </p:spPr>
      </p:sp>
      <p:sp>
        <p:nvSpPr>
          <p:cNvPr id="31" name="Text 26"/>
          <p:cNvSpPr txBox="1"/>
          <p:nvPr/>
        </p:nvSpPr>
        <p:spPr>
          <a:xfrm>
            <a:off x="8369808" y="4407408"/>
            <a:ext cx="3179064" cy="731520"/>
          </a:xfrm>
          <a:prstGeom prst="rect">
            <a:avLst/>
          </a:prstGeom>
          <a:noFill/>
          <a:ln/>
        </p:spPr>
        <p:txBody>
          <a:bodyPr wrap="square" lIns="0" tIns="0" rIns="0" bIns="0" rtlCol="0" anchor="t"/>
          <a:lstStyle/>
          <a:p>
            <a:pPr algn="l" indent="0" marL="0">
              <a:buNone/>
            </a:pPr>
            <a:r>
              <a:rPr lang="en-US" sz="1400" b="1" i="1" dirty="0">
                <a:solidFill>
                  <a:srgbClr val="712B13"/>
                </a:solidFill>
                <a:latin typeface="Calibri" pitchFamily="34" charset="0"/>
                <a:ea typeface="Calibri" pitchFamily="34" charset="-122"/>
                <a:cs typeface="Calibri" pitchFamily="34" charset="-120"/>
              </a:rPr>
              <a:t>Upgrading the model won't fix a broken design.</a:t>
            </a:r>
            <a:endParaRPr lang="en-US" sz="1400" dirty="0"/>
          </a:p>
        </p:txBody>
      </p:sp>
      <p:sp>
        <p:nvSpPr>
          <p:cNvPr id="32" name="Text 27"/>
          <p:cNvSpPr/>
          <p:nvPr/>
        </p:nvSpPr>
        <p:spPr>
          <a:xfrm>
            <a:off x="411480" y="5486400"/>
            <a:ext cx="11365992" cy="502920"/>
          </a:xfrm>
          <a:prstGeom prst="roundRect">
            <a:avLst>
              <a:gd name="adj" fmla="val 14545"/>
            </a:avLst>
          </a:prstGeom>
          <a:solidFill>
            <a:srgbClr val="534AB7"/>
          </a:solidFill>
          <a:ln w="12700">
            <a:solidFill>
              <a:srgbClr val="534AB7"/>
            </a:solidFill>
            <a:prstDash val="solid"/>
          </a:ln>
        </p:spPr>
        <p:txBody>
          <a:bodyPr wrap="square" lIns="177800" tIns="177800" rIns="177800" bIns="17780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It's not the brain, it's the org chart.  </a:t>
            </a:r>
            <a:pPr algn="l" indent="0" marL="0">
              <a:buNone/>
            </a:pPr>
            <a:r>
              <a:rPr lang="en-US" sz="1600" dirty="0">
                <a:solidFill>
                  <a:srgbClr val="FFFFFF"/>
                </a:solidFill>
                <a:latin typeface="Calibri" pitchFamily="34" charset="0"/>
                <a:ea typeface="Calibri" pitchFamily="34" charset="-122"/>
                <a:cs typeface="Calibri" pitchFamily="34" charset="-120"/>
              </a:rPr>
              <a:t>Next: what good structure looks like →</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Split the work between small agents, each with one job, its own clean memory and only the tools it needs. Simple code decides who goes next.</a:t>
            </a:r>
            <a:endParaRPr lang="en-US" sz="1400" dirty="0"/>
          </a:p>
        </p:txBody>
      </p:sp>
      <p:sp>
        <p:nvSpPr>
          <p:cNvPr id="5" name="Text 3"/>
          <p:cNvSpPr/>
          <p:nvPr/>
        </p:nvSpPr>
        <p:spPr>
          <a:xfrm>
            <a:off x="1737360" y="1572768"/>
            <a:ext cx="4480560" cy="548640"/>
          </a:xfrm>
          <a:prstGeom prst="roundRect">
            <a:avLst>
              <a:gd name="adj" fmla="val 16667"/>
            </a:avLst>
          </a:prstGeom>
          <a:solidFill>
            <a:srgbClr val="EEEDFE"/>
          </a:solidFill>
          <a:ln w="15875">
            <a:solidFill>
              <a:srgbClr val="534AB7"/>
            </a:solidFill>
            <a:prstDash val="solid"/>
          </a:ln>
        </p:spPr>
        <p:txBody>
          <a:bodyPr wrap="square" lIns="50800" tIns="50800" rIns="50800" bIns="50800" rtlCol="0" anchor="ctr"/>
          <a:lstStyle/>
          <a:p>
            <a:pPr algn="ctr" indent="0" marL="0">
              <a:buNone/>
            </a:pPr>
            <a:r>
              <a:rPr lang="en-US" sz="1500" b="1" dirty="0">
                <a:solidFill>
                  <a:srgbClr val="3C3489"/>
                </a:solidFill>
                <a:latin typeface="Calibri" pitchFamily="34" charset="0"/>
                <a:ea typeface="Calibri" pitchFamily="34" charset="-122"/>
                <a:cs typeface="Calibri" pitchFamily="34" charset="-120"/>
              </a:rPr>
              <a:t>Manager  </a:t>
            </a:r>
            <a:pPr algn="ctr" indent="0" marL="0">
              <a:buNone/>
            </a:pPr>
            <a:r>
              <a:rPr lang="en-US" sz="1250" dirty="0">
                <a:solidFill>
                  <a:srgbClr val="3C3489"/>
                </a:solidFill>
                <a:latin typeface="Calibri" pitchFamily="34" charset="0"/>
                <a:ea typeface="Calibri" pitchFamily="34" charset="-122"/>
                <a:cs typeface="Calibri" pitchFamily="34" charset="-120"/>
              </a:rPr>
              <a:t>holds the goal: “Send the October sales report”</a:t>
            </a:r>
            <a:endParaRPr lang="en-US" sz="1200" dirty="0"/>
          </a:p>
        </p:txBody>
      </p:sp>
      <p:sp>
        <p:nvSpPr>
          <p:cNvPr id="6" name="Text 4"/>
          <p:cNvSpPr/>
          <p:nvPr/>
        </p:nvSpPr>
        <p:spPr>
          <a:xfrm>
            <a:off x="411480" y="2788920"/>
            <a:ext cx="2194560" cy="1143000"/>
          </a:xfrm>
          <a:prstGeom prst="roundRect">
            <a:avLst>
              <a:gd name="adj" fmla="val 8000"/>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7" name="Text 5"/>
          <p:cNvSpPr txBox="1"/>
          <p:nvPr/>
        </p:nvSpPr>
        <p:spPr>
          <a:xfrm>
            <a:off x="576072" y="2880360"/>
            <a:ext cx="1865376" cy="329184"/>
          </a:xfrm>
          <a:prstGeom prst="rect">
            <a:avLst/>
          </a:prstGeom>
          <a:noFill/>
          <a:ln/>
        </p:spPr>
        <p:txBody>
          <a:bodyPr wrap="square" lIns="0" tIns="0" rIns="0" bIns="0" rtlCol="0" anchor="t"/>
          <a:lstStyle/>
          <a:p>
            <a:pPr algn="l" indent="0" marL="0">
              <a:buNone/>
            </a:pPr>
            <a:r>
              <a:rPr lang="en-US" sz="1500" b="1" dirty="0">
                <a:solidFill>
                  <a:srgbClr val="085041"/>
                </a:solidFill>
                <a:latin typeface="Calibri" pitchFamily="34" charset="0"/>
                <a:ea typeface="Calibri" pitchFamily="34" charset="-122"/>
                <a:cs typeface="Calibri" pitchFamily="34" charset="-120"/>
              </a:rPr>
              <a:t>Data agent</a:t>
            </a:r>
            <a:endParaRPr lang="en-US" sz="1500" dirty="0"/>
          </a:p>
        </p:txBody>
      </p:sp>
      <p:sp>
        <p:nvSpPr>
          <p:cNvPr id="8" name="Text 6"/>
          <p:cNvSpPr txBox="1"/>
          <p:nvPr/>
        </p:nvSpPr>
        <p:spPr>
          <a:xfrm>
            <a:off x="576072" y="3200400"/>
            <a:ext cx="1865376" cy="365760"/>
          </a:xfrm>
          <a:prstGeom prst="rect">
            <a:avLst/>
          </a:prstGeom>
          <a:noFill/>
          <a:ln/>
        </p:spPr>
        <p:txBody>
          <a:bodyPr wrap="square" lIns="0" tIns="0" rIns="0" bIns="0" rtlCol="0" anchor="t"/>
          <a:lstStyle/>
          <a:p>
            <a:pPr algn="l" indent="0" marL="0">
              <a:buNone/>
            </a:pPr>
            <a:r>
              <a:rPr lang="en-US" sz="1150" dirty="0">
                <a:solidFill>
                  <a:srgbClr val="2C2C2A"/>
                </a:solidFill>
                <a:latin typeface="Calibri" pitchFamily="34" charset="0"/>
                <a:ea typeface="Calibri" pitchFamily="34" charset="-122"/>
                <a:cs typeface="Calibri" pitchFamily="34" charset="-120"/>
              </a:rPr>
              <a:t>Gets the October numbers</a:t>
            </a:r>
            <a:endParaRPr lang="en-US" sz="1150" dirty="0"/>
          </a:p>
        </p:txBody>
      </p:sp>
      <p:sp>
        <p:nvSpPr>
          <p:cNvPr id="9" name="Text 7"/>
          <p:cNvSpPr txBox="1"/>
          <p:nvPr/>
        </p:nvSpPr>
        <p:spPr>
          <a:xfrm>
            <a:off x="576072" y="3593592"/>
            <a:ext cx="1865376" cy="256032"/>
          </a:xfrm>
          <a:prstGeom prst="rect">
            <a:avLst/>
          </a:prstGeom>
          <a:noFill/>
          <a:ln/>
        </p:spPr>
        <p:txBody>
          <a:bodyPr wrap="square" lIns="0" tIns="0" rIns="0" bIns="0" rtlCol="0" anchor="t"/>
          <a:lstStyle/>
          <a:p>
            <a:pPr algn="l" indent="0" marL="0">
              <a:buNone/>
            </a:pPr>
            <a:r>
              <a:rPr lang="en-US" sz="1100" i="1" dirty="0">
                <a:solidFill>
                  <a:srgbClr val="5F5E5A"/>
                </a:solidFill>
                <a:latin typeface="Calibri" pitchFamily="34" charset="0"/>
                <a:ea typeface="Calibri" pitchFamily="34" charset="-122"/>
                <a:cs typeface="Calibri" pitchFamily="34" charset="-120"/>
              </a:rPr>
              <a:t>Tool: sales database</a:t>
            </a:r>
            <a:endParaRPr lang="en-US" sz="1100" dirty="0"/>
          </a:p>
        </p:txBody>
      </p:sp>
      <p:sp>
        <p:nvSpPr>
          <p:cNvPr id="10" name="Shape 8"/>
          <p:cNvSpPr/>
          <p:nvPr/>
        </p:nvSpPr>
        <p:spPr>
          <a:xfrm flipH="1">
            <a:off x="1508760" y="2121408"/>
            <a:ext cx="1035101" cy="640080"/>
          </a:xfrm>
          <a:prstGeom prst="line">
            <a:avLst/>
          </a:prstGeom>
          <a:noFill/>
          <a:ln w="12700">
            <a:solidFill>
              <a:srgbClr val="534AB7"/>
            </a:solidFill>
            <a:prstDash val="dash"/>
            <a:tailEnd type="triangle"/>
          </a:ln>
        </p:spPr>
      </p:sp>
      <p:sp>
        <p:nvSpPr>
          <p:cNvPr id="11" name="Text 9"/>
          <p:cNvSpPr/>
          <p:nvPr/>
        </p:nvSpPr>
        <p:spPr>
          <a:xfrm>
            <a:off x="2971800" y="2788920"/>
            <a:ext cx="2194560" cy="1143000"/>
          </a:xfrm>
          <a:prstGeom prst="roundRect">
            <a:avLst>
              <a:gd name="adj" fmla="val 8000"/>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12" name="Text 10"/>
          <p:cNvSpPr txBox="1"/>
          <p:nvPr/>
        </p:nvSpPr>
        <p:spPr>
          <a:xfrm>
            <a:off x="3136392" y="2880360"/>
            <a:ext cx="1865376" cy="329184"/>
          </a:xfrm>
          <a:prstGeom prst="rect">
            <a:avLst/>
          </a:prstGeom>
          <a:noFill/>
          <a:ln/>
        </p:spPr>
        <p:txBody>
          <a:bodyPr wrap="square" lIns="0" tIns="0" rIns="0" bIns="0" rtlCol="0" anchor="t"/>
          <a:lstStyle/>
          <a:p>
            <a:pPr algn="l" indent="0" marL="0">
              <a:buNone/>
            </a:pPr>
            <a:r>
              <a:rPr lang="en-US" sz="1500" b="1" dirty="0">
                <a:solidFill>
                  <a:srgbClr val="085041"/>
                </a:solidFill>
                <a:latin typeface="Calibri" pitchFamily="34" charset="0"/>
                <a:ea typeface="Calibri" pitchFamily="34" charset="-122"/>
                <a:cs typeface="Calibri" pitchFamily="34" charset="-120"/>
              </a:rPr>
              <a:t>Writer agent</a:t>
            </a:r>
            <a:endParaRPr lang="en-US" sz="1500" dirty="0"/>
          </a:p>
        </p:txBody>
      </p:sp>
      <p:sp>
        <p:nvSpPr>
          <p:cNvPr id="13" name="Text 11"/>
          <p:cNvSpPr txBox="1"/>
          <p:nvPr/>
        </p:nvSpPr>
        <p:spPr>
          <a:xfrm>
            <a:off x="3136392" y="3200400"/>
            <a:ext cx="1865376" cy="365760"/>
          </a:xfrm>
          <a:prstGeom prst="rect">
            <a:avLst/>
          </a:prstGeom>
          <a:noFill/>
          <a:ln/>
        </p:spPr>
        <p:txBody>
          <a:bodyPr wrap="square" lIns="0" tIns="0" rIns="0" bIns="0" rtlCol="0" anchor="t"/>
          <a:lstStyle/>
          <a:p>
            <a:pPr algn="l" indent="0" marL="0">
              <a:buNone/>
            </a:pPr>
            <a:r>
              <a:rPr lang="en-US" sz="1150" dirty="0">
                <a:solidFill>
                  <a:srgbClr val="2C2C2A"/>
                </a:solidFill>
                <a:latin typeface="Calibri" pitchFamily="34" charset="0"/>
                <a:ea typeface="Calibri" pitchFamily="34" charset="-122"/>
                <a:cs typeface="Calibri" pitchFamily="34" charset="-120"/>
              </a:rPr>
              <a:t>Turns the summary into a report</a:t>
            </a:r>
            <a:endParaRPr lang="en-US" sz="1150" dirty="0"/>
          </a:p>
        </p:txBody>
      </p:sp>
      <p:sp>
        <p:nvSpPr>
          <p:cNvPr id="14" name="Text 12"/>
          <p:cNvSpPr txBox="1"/>
          <p:nvPr/>
        </p:nvSpPr>
        <p:spPr>
          <a:xfrm>
            <a:off x="3136392" y="3593592"/>
            <a:ext cx="1865376" cy="256032"/>
          </a:xfrm>
          <a:prstGeom prst="rect">
            <a:avLst/>
          </a:prstGeom>
          <a:noFill/>
          <a:ln/>
        </p:spPr>
        <p:txBody>
          <a:bodyPr wrap="square" lIns="0" tIns="0" rIns="0" bIns="0" rtlCol="0" anchor="t"/>
          <a:lstStyle/>
          <a:p>
            <a:pPr algn="l" indent="0" marL="0">
              <a:buNone/>
            </a:pPr>
            <a:r>
              <a:rPr lang="en-US" sz="1100" i="1" dirty="0">
                <a:solidFill>
                  <a:srgbClr val="5F5E5A"/>
                </a:solidFill>
                <a:latin typeface="Calibri" pitchFamily="34" charset="0"/>
                <a:ea typeface="Calibri" pitchFamily="34" charset="-122"/>
                <a:cs typeface="Calibri" pitchFamily="34" charset="-120"/>
              </a:rPr>
              <a:t>Tool: report template</a:t>
            </a:r>
            <a:endParaRPr lang="en-US" sz="1100" dirty="0"/>
          </a:p>
        </p:txBody>
      </p:sp>
      <p:sp>
        <p:nvSpPr>
          <p:cNvPr id="15" name="Shape 13"/>
          <p:cNvSpPr/>
          <p:nvPr/>
        </p:nvSpPr>
        <p:spPr>
          <a:xfrm>
            <a:off x="3977640" y="2121408"/>
            <a:ext cx="91440" cy="640080"/>
          </a:xfrm>
          <a:prstGeom prst="line">
            <a:avLst/>
          </a:prstGeom>
          <a:noFill/>
          <a:ln w="12700">
            <a:solidFill>
              <a:srgbClr val="534AB7"/>
            </a:solidFill>
            <a:prstDash val="dash"/>
            <a:tailEnd type="triangle"/>
          </a:ln>
        </p:spPr>
      </p:sp>
      <p:sp>
        <p:nvSpPr>
          <p:cNvPr id="16" name="Text 14"/>
          <p:cNvSpPr/>
          <p:nvPr/>
        </p:nvSpPr>
        <p:spPr>
          <a:xfrm>
            <a:off x="5532120" y="2788920"/>
            <a:ext cx="2194560" cy="1143000"/>
          </a:xfrm>
          <a:prstGeom prst="roundRect">
            <a:avLst>
              <a:gd name="adj" fmla="val 8000"/>
            </a:avLst>
          </a:prstGeom>
          <a:solidFill>
            <a:srgbClr val="FAECE7"/>
          </a:solidFill>
          <a:ln w="15875">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17" name="Text 15"/>
          <p:cNvSpPr txBox="1"/>
          <p:nvPr/>
        </p:nvSpPr>
        <p:spPr>
          <a:xfrm>
            <a:off x="5696712" y="2880360"/>
            <a:ext cx="1865376" cy="329184"/>
          </a:xfrm>
          <a:prstGeom prst="rect">
            <a:avLst/>
          </a:prstGeom>
          <a:noFill/>
          <a:ln/>
        </p:spPr>
        <p:txBody>
          <a:bodyPr wrap="square" lIns="0" tIns="0" rIns="0" bIns="0" rtlCol="0" anchor="t"/>
          <a:lstStyle/>
          <a:p>
            <a:pPr algn="l" indent="0" marL="0">
              <a:buNone/>
            </a:pPr>
            <a:r>
              <a:rPr lang="en-US" sz="1500" b="1" dirty="0">
                <a:solidFill>
                  <a:srgbClr val="712B13"/>
                </a:solidFill>
                <a:latin typeface="Calibri" pitchFamily="34" charset="0"/>
                <a:ea typeface="Calibri" pitchFamily="34" charset="-122"/>
                <a:cs typeface="Calibri" pitchFamily="34" charset="-120"/>
              </a:rPr>
              <a:t>Reviewer agent</a:t>
            </a:r>
            <a:endParaRPr lang="en-US" sz="1500" dirty="0"/>
          </a:p>
        </p:txBody>
      </p:sp>
      <p:sp>
        <p:nvSpPr>
          <p:cNvPr id="18" name="Text 16"/>
          <p:cNvSpPr txBox="1"/>
          <p:nvPr/>
        </p:nvSpPr>
        <p:spPr>
          <a:xfrm>
            <a:off x="5696712" y="3200400"/>
            <a:ext cx="1865376" cy="365760"/>
          </a:xfrm>
          <a:prstGeom prst="rect">
            <a:avLst/>
          </a:prstGeom>
          <a:noFill/>
          <a:ln/>
        </p:spPr>
        <p:txBody>
          <a:bodyPr wrap="square" lIns="0" tIns="0" rIns="0" bIns="0" rtlCol="0" anchor="t"/>
          <a:lstStyle/>
          <a:p>
            <a:pPr algn="l" indent="0" marL="0">
              <a:buNone/>
            </a:pPr>
            <a:r>
              <a:rPr lang="en-US" sz="1150" dirty="0">
                <a:solidFill>
                  <a:srgbClr val="2C2C2A"/>
                </a:solidFill>
                <a:latin typeface="Calibri" pitchFamily="34" charset="0"/>
                <a:ea typeface="Calibri" pitchFamily="34" charset="-122"/>
                <a:cs typeface="Calibri" pitchFamily="34" charset="-120"/>
              </a:rPr>
              <a:t>Compares the report with the request</a:t>
            </a:r>
            <a:endParaRPr lang="en-US" sz="1150" dirty="0"/>
          </a:p>
        </p:txBody>
      </p:sp>
      <p:sp>
        <p:nvSpPr>
          <p:cNvPr id="19" name="Text 17"/>
          <p:cNvSpPr txBox="1"/>
          <p:nvPr/>
        </p:nvSpPr>
        <p:spPr>
          <a:xfrm>
            <a:off x="5696712" y="3593592"/>
            <a:ext cx="1865376" cy="256032"/>
          </a:xfrm>
          <a:prstGeom prst="rect">
            <a:avLst/>
          </a:prstGeom>
          <a:noFill/>
          <a:ln/>
        </p:spPr>
        <p:txBody>
          <a:bodyPr wrap="square" lIns="0" tIns="0" rIns="0" bIns="0" rtlCol="0" anchor="t"/>
          <a:lstStyle/>
          <a:p>
            <a:pPr algn="l" indent="0" marL="0">
              <a:buNone/>
            </a:pPr>
            <a:r>
              <a:rPr lang="en-US" sz="1100" i="1" dirty="0">
                <a:solidFill>
                  <a:srgbClr val="5F5E5A"/>
                </a:solidFill>
                <a:latin typeface="Calibri" pitchFamily="34" charset="0"/>
                <a:ea typeface="Calibri" pitchFamily="34" charset="-122"/>
                <a:cs typeface="Calibri" pitchFamily="34" charset="-120"/>
              </a:rPr>
              <a:t>No tools: reads and checks</a:t>
            </a:r>
            <a:endParaRPr lang="en-US" sz="1100" dirty="0"/>
          </a:p>
        </p:txBody>
      </p:sp>
      <p:sp>
        <p:nvSpPr>
          <p:cNvPr id="20" name="Shape 18"/>
          <p:cNvSpPr/>
          <p:nvPr/>
        </p:nvSpPr>
        <p:spPr>
          <a:xfrm>
            <a:off x="5411419" y="2121408"/>
            <a:ext cx="1217981" cy="640080"/>
          </a:xfrm>
          <a:prstGeom prst="line">
            <a:avLst/>
          </a:prstGeom>
          <a:noFill/>
          <a:ln w="12700">
            <a:solidFill>
              <a:srgbClr val="534AB7"/>
            </a:solidFill>
            <a:prstDash val="dash"/>
            <a:tailEnd type="triangle"/>
          </a:ln>
        </p:spPr>
      </p:sp>
      <p:sp>
        <p:nvSpPr>
          <p:cNvPr id="21" name="Text 19"/>
          <p:cNvSpPr txBox="1"/>
          <p:nvPr/>
        </p:nvSpPr>
        <p:spPr>
          <a:xfrm>
            <a:off x="6309360" y="2240280"/>
            <a:ext cx="1645920" cy="274320"/>
          </a:xfrm>
          <a:prstGeom prst="rect">
            <a:avLst/>
          </a:prstGeom>
          <a:noFill/>
          <a:ln/>
        </p:spPr>
        <p:txBody>
          <a:bodyPr wrap="square" lIns="0" tIns="0" rIns="0" bIns="0" rtlCol="0" anchor="t"/>
          <a:lstStyle/>
          <a:p>
            <a:pPr algn="l" indent="0" marL="0">
              <a:buNone/>
            </a:pPr>
            <a:r>
              <a:rPr lang="en-US" sz="1050" i="1" dirty="0">
                <a:solidFill>
                  <a:srgbClr val="3C3489"/>
                </a:solidFill>
                <a:latin typeface="Calibri" pitchFamily="34" charset="0"/>
                <a:ea typeface="Calibri" pitchFamily="34" charset="-122"/>
                <a:cs typeface="Calibri" pitchFamily="34" charset="-120"/>
              </a:rPr>
              <a:t>assigns each job</a:t>
            </a:r>
            <a:endParaRPr lang="en-US" sz="1050" dirty="0"/>
          </a:p>
        </p:txBody>
      </p:sp>
      <p:sp>
        <p:nvSpPr>
          <p:cNvPr id="22" name="Shape 20"/>
          <p:cNvSpPr/>
          <p:nvPr/>
        </p:nvSpPr>
        <p:spPr>
          <a:xfrm>
            <a:off x="2624328" y="3355848"/>
            <a:ext cx="329184" cy="914"/>
          </a:xfrm>
          <a:prstGeom prst="line">
            <a:avLst/>
          </a:prstGeom>
          <a:noFill/>
          <a:ln w="19050">
            <a:solidFill>
              <a:srgbClr val="5F5E5A"/>
            </a:solidFill>
            <a:prstDash val="solid"/>
            <a:tailEnd type="triangle"/>
          </a:ln>
        </p:spPr>
      </p:sp>
      <p:sp>
        <p:nvSpPr>
          <p:cNvPr id="23" name="Shape 21"/>
          <p:cNvSpPr/>
          <p:nvPr/>
        </p:nvSpPr>
        <p:spPr>
          <a:xfrm>
            <a:off x="5184648" y="3355848"/>
            <a:ext cx="329184" cy="914"/>
          </a:xfrm>
          <a:prstGeom prst="line">
            <a:avLst/>
          </a:prstGeom>
          <a:noFill/>
          <a:ln w="19050">
            <a:solidFill>
              <a:srgbClr val="5F5E5A"/>
            </a:solidFill>
            <a:prstDash val="solid"/>
            <a:tailEnd type="triangle"/>
          </a:ln>
        </p:spPr>
      </p:sp>
      <p:sp>
        <p:nvSpPr>
          <p:cNvPr id="24" name="Shape 22"/>
          <p:cNvSpPr/>
          <p:nvPr/>
        </p:nvSpPr>
        <p:spPr>
          <a:xfrm>
            <a:off x="2788920" y="3355848"/>
            <a:ext cx="0" cy="868680"/>
          </a:xfrm>
          <a:prstGeom prst="line">
            <a:avLst/>
          </a:prstGeom>
          <a:noFill/>
          <a:ln w="12700">
            <a:solidFill>
              <a:srgbClr val="854F0B"/>
            </a:solidFill>
            <a:prstDash val="dash"/>
          </a:ln>
        </p:spPr>
      </p:sp>
      <p:sp>
        <p:nvSpPr>
          <p:cNvPr id="25" name="Text 23"/>
          <p:cNvSpPr/>
          <p:nvPr/>
        </p:nvSpPr>
        <p:spPr>
          <a:xfrm>
            <a:off x="548640" y="4224528"/>
            <a:ext cx="4480560" cy="384048"/>
          </a:xfrm>
          <a:prstGeom prst="roundRect">
            <a:avLst>
              <a:gd name="adj" fmla="val 50000"/>
            </a:avLst>
          </a:prstGeom>
          <a:solidFill>
            <a:srgbClr val="FAEEDA"/>
          </a:solidFill>
          <a:ln w="12700">
            <a:solidFill>
              <a:srgbClr val="854F0B"/>
            </a:solidFill>
            <a:prstDash val="solid"/>
          </a:ln>
        </p:spPr>
        <p:txBody>
          <a:bodyPr wrap="square" lIns="76200" tIns="76200" rIns="76200" bIns="76200" rtlCol="0" anchor="ctr"/>
          <a:lstStyle/>
          <a:p>
            <a:pPr algn="ctr" indent="0" marL="0">
              <a:buNone/>
            </a:pPr>
            <a:r>
              <a:rPr lang="en-US" sz="1150" b="1" dirty="0">
                <a:solidFill>
                  <a:srgbClr val="633806"/>
                </a:solidFill>
                <a:latin typeface="Calibri" pitchFamily="34" charset="0"/>
                <a:ea typeface="Calibri" pitchFamily="34" charset="-122"/>
                <a:cs typeface="Calibri" pitchFamily="34" charset="-120"/>
              </a:rPr>
              <a:t>Hands over a short summary: </a:t>
            </a:r>
            <a:pPr algn="ctr" indent="0" marL="0">
              <a:buNone/>
            </a:pPr>
            <a:r>
              <a:rPr lang="en-US" sz="1150" dirty="0">
                <a:solidFill>
                  <a:srgbClr val="633806"/>
                </a:solidFill>
                <a:latin typeface="Calibri" pitchFamily="34" charset="0"/>
                <a:ea typeface="Calibri" pitchFamily="34" charset="-122"/>
                <a:cs typeface="Calibri" pitchFamily="34" charset="-120"/>
              </a:rPr>
              <a:t>totals + “⚠ 3 regions missing”</a:t>
            </a:r>
            <a:endParaRPr lang="en-US" sz="1150" dirty="0"/>
          </a:p>
        </p:txBody>
      </p:sp>
      <p:sp>
        <p:nvSpPr>
          <p:cNvPr id="26" name="Shape 24"/>
          <p:cNvSpPr/>
          <p:nvPr/>
        </p:nvSpPr>
        <p:spPr>
          <a:xfrm>
            <a:off x="6629400" y="3950208"/>
            <a:ext cx="914" cy="274320"/>
          </a:xfrm>
          <a:prstGeom prst="line">
            <a:avLst/>
          </a:prstGeom>
          <a:noFill/>
          <a:ln w="19050">
            <a:solidFill>
              <a:srgbClr val="993C1D"/>
            </a:solidFill>
            <a:prstDash val="solid"/>
            <a:tailEnd type="triangle"/>
          </a:ln>
        </p:spPr>
      </p:sp>
      <p:sp>
        <p:nvSpPr>
          <p:cNvPr id="27" name="Text 25"/>
          <p:cNvSpPr/>
          <p:nvPr/>
        </p:nvSpPr>
        <p:spPr>
          <a:xfrm>
            <a:off x="5166360" y="4261104"/>
            <a:ext cx="2926080" cy="384048"/>
          </a:xfrm>
          <a:prstGeom prst="roundRect">
            <a:avLst>
              <a:gd name="adj" fmla="val 50000"/>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50" b="1" dirty="0">
                <a:solidFill>
                  <a:srgbClr val="712B13"/>
                </a:solidFill>
                <a:latin typeface="Calibri" pitchFamily="34" charset="0"/>
                <a:ea typeface="Calibri" pitchFamily="34" charset="-122"/>
                <a:cs typeface="Calibri" pitchFamily="34" charset="-120"/>
              </a:rPr>
              <a:t>✗ Regions missing  </a:t>
            </a:r>
            <a:pPr algn="ctr" indent="0" marL="0">
              <a:buNone/>
            </a:pPr>
            <a:r>
              <a:rPr lang="en-US" sz="1150" dirty="0">
                <a:solidFill>
                  <a:srgbClr val="712B13"/>
                </a:solidFill>
                <a:latin typeface="Calibri" pitchFamily="34" charset="0"/>
                <a:ea typeface="Calibri" pitchFamily="34" charset="-122"/>
                <a:cs typeface="Calibri" pitchFamily="34" charset="-120"/>
              </a:rPr>
              <a:t>→ back to data agent</a:t>
            </a:r>
            <a:endParaRPr lang="en-US" sz="1150" dirty="0"/>
          </a:p>
        </p:txBody>
      </p:sp>
      <p:sp>
        <p:nvSpPr>
          <p:cNvPr id="28" name="Text 26"/>
          <p:cNvSpPr/>
          <p:nvPr/>
        </p:nvSpPr>
        <p:spPr>
          <a:xfrm>
            <a:off x="5166360" y="4736592"/>
            <a:ext cx="2926080" cy="384048"/>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50" b="1" dirty="0">
                <a:solidFill>
                  <a:srgbClr val="085041"/>
                </a:solidFill>
                <a:latin typeface="Calibri" pitchFamily="34" charset="0"/>
                <a:ea typeface="Calibri" pitchFamily="34" charset="-122"/>
                <a:cs typeface="Calibri" pitchFamily="34" charset="-120"/>
              </a:rPr>
              <a:t>✓ All regions in  </a:t>
            </a:r>
            <a:pPr algn="ctr" indent="0" marL="0">
              <a:buNone/>
            </a:pPr>
            <a:r>
              <a:rPr lang="en-US" sz="1150" dirty="0">
                <a:solidFill>
                  <a:srgbClr val="085041"/>
                </a:solidFill>
                <a:latin typeface="Calibri" pitchFamily="34" charset="0"/>
                <a:ea typeface="Calibri" pitchFamily="34" charset="-122"/>
                <a:cs typeface="Calibri" pitchFamily="34" charset="-120"/>
              </a:rPr>
              <a:t>→ sent to finance</a:t>
            </a:r>
            <a:endParaRPr lang="en-US" sz="1150" dirty="0"/>
          </a:p>
        </p:txBody>
      </p:sp>
      <p:sp>
        <p:nvSpPr>
          <p:cNvPr id="29" name="Text 27"/>
          <p:cNvSpPr txBox="1"/>
          <p:nvPr/>
        </p:nvSpPr>
        <p:spPr>
          <a:xfrm>
            <a:off x="411480" y="5349240"/>
            <a:ext cx="7315200" cy="365760"/>
          </a:xfrm>
          <a:prstGeom prst="rect">
            <a:avLst/>
          </a:prstGeom>
          <a:noFill/>
          <a:ln/>
        </p:spPr>
        <p:txBody>
          <a:bodyPr wrap="square" lIns="0" tIns="0" rIns="0" bIns="0" rtlCol="0" anchor="t"/>
          <a:lstStyle/>
          <a:p>
            <a:pPr algn="l" indent="0" marL="0">
              <a:buNone/>
            </a:pPr>
            <a:r>
              <a:rPr lang="en-US" sz="1400" b="1" i="1" dirty="0">
                <a:solidFill>
                  <a:srgbClr val="2C2C2A"/>
                </a:solidFill>
                <a:latin typeface="Calibri" pitchFamily="34" charset="0"/>
                <a:ea typeface="Calibri" pitchFamily="34" charset="-122"/>
                <a:cs typeface="Calibri" pitchFamily="34" charset="-120"/>
              </a:rPr>
              <a:t>The mistake from our example is caught before it leaves the team.</a:t>
            </a:r>
            <a:endParaRPr lang="en-US" sz="1400" dirty="0"/>
          </a:p>
        </p:txBody>
      </p:sp>
      <p:sp>
        <p:nvSpPr>
          <p:cNvPr id="30" name="Text 28"/>
          <p:cNvSpPr/>
          <p:nvPr/>
        </p:nvSpPr>
        <p:spPr>
          <a:xfrm>
            <a:off x="8183880" y="1572768"/>
            <a:ext cx="3593592" cy="4069080"/>
          </a:xfrm>
          <a:prstGeom prst="roundRect">
            <a:avLst>
              <a:gd name="adj" fmla="val 2036"/>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1" name="Text 29"/>
          <p:cNvSpPr txBox="1"/>
          <p:nvPr/>
        </p:nvSpPr>
        <p:spPr>
          <a:xfrm>
            <a:off x="8412480" y="1691640"/>
            <a:ext cx="3136392" cy="365760"/>
          </a:xfrm>
          <a:prstGeom prst="rect">
            <a:avLst/>
          </a:prstGeom>
          <a:noFill/>
          <a:ln/>
        </p:spPr>
        <p:txBody>
          <a:bodyPr wrap="square" lIns="0" tIns="0" rIns="0" bIns="0" rtlCol="0" anchor="t"/>
          <a:lstStyle/>
          <a:p>
            <a:pPr algn="l" indent="0" marL="0">
              <a:buNone/>
            </a:pPr>
            <a:r>
              <a:rPr lang="en-US" sz="1600" b="1" dirty="0">
                <a:solidFill>
                  <a:srgbClr val="2C2C2A"/>
                </a:solidFill>
                <a:latin typeface="Calibri" pitchFamily="34" charset="0"/>
                <a:ea typeface="Calibri" pitchFamily="34" charset="-122"/>
                <a:cs typeface="Calibri" pitchFamily="34" charset="-120"/>
              </a:rPr>
              <a:t>What changes</a:t>
            </a:r>
            <a:endParaRPr lang="en-US" sz="1600" dirty="0"/>
          </a:p>
        </p:txBody>
      </p:sp>
      <p:sp>
        <p:nvSpPr>
          <p:cNvPr id="32" name="Text 30"/>
          <p:cNvSpPr/>
          <p:nvPr/>
        </p:nvSpPr>
        <p:spPr>
          <a:xfrm>
            <a:off x="8412480" y="2258568"/>
            <a:ext cx="457200" cy="457200"/>
          </a:xfrm>
          <a:prstGeom prst="ellipse">
            <a:avLst/>
          </a:prstGeom>
          <a:solidFill>
            <a:srgbClr val="EEEDFE"/>
          </a:solidFill>
          <a:ln w="9525">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33" name="Image 0" descr="/tmp/deck-icons/TbFilter_534AB7.png">    </p:cNvPr>
          <p:cNvPicPr>
            <a:picLocks noChangeAspect="1"/>
          </p:cNvPicPr>
          <p:nvPr/>
        </p:nvPicPr>
        <p:blipFill>
          <a:blip r:embed="rId1"/>
          <a:stretch>
            <a:fillRect/>
          </a:stretch>
        </p:blipFill>
        <p:spPr>
          <a:xfrm>
            <a:off x="8513064" y="2359152"/>
            <a:ext cx="256032" cy="256032"/>
          </a:xfrm>
          <a:prstGeom prst="rect">
            <a:avLst/>
          </a:prstGeom>
        </p:spPr>
      </p:pic>
      <p:sp>
        <p:nvSpPr>
          <p:cNvPr id="34" name="Text 31"/>
          <p:cNvSpPr txBox="1"/>
          <p:nvPr/>
        </p:nvSpPr>
        <p:spPr>
          <a:xfrm>
            <a:off x="9006840" y="2212848"/>
            <a:ext cx="2587752" cy="960120"/>
          </a:xfrm>
          <a:prstGeom prst="rect">
            <a:avLst/>
          </a:prstGeom>
          <a:noFill/>
          <a:ln/>
        </p:spPr>
        <p:txBody>
          <a:bodyPr wrap="square" lIns="0" tIns="0" rIns="0" bIns="0" rtlCol="0" anchor="t"/>
          <a:lstStyle/>
          <a:p>
            <a:pPr algn="l" indent="0" marL="0">
              <a:buNone/>
            </a:pPr>
            <a:r>
              <a:rPr lang="en-US" sz="1450" b="1" dirty="0">
                <a:solidFill>
                  <a:srgbClr val="3C3489"/>
                </a:solidFill>
                <a:latin typeface="Calibri" pitchFamily="34" charset="0"/>
                <a:ea typeface="Calibri" pitchFamily="34" charset="-122"/>
                <a:cs typeface="Calibri" pitchFamily="34" charset="-120"/>
              </a:rPr>
              <a:t>Clean memory</a:t>
            </a:r>
            <a:endParaRPr lang="en-US" sz="1400" dirty="0"/>
          </a:p>
          <a:p>
            <a:pPr algn="l" indent="0" marL="0">
              <a:buNone/>
            </a:pPr>
            <a:r>
              <a:rPr lang="en-US" sz="1250" dirty="0">
                <a:solidFill>
                  <a:srgbClr val="2C2C2A"/>
                </a:solidFill>
                <a:latin typeface="Calibri" pitchFamily="34" charset="0"/>
                <a:ea typeface="Calibri" pitchFamily="34" charset="-122"/>
                <a:cs typeface="Calibri" pitchFamily="34" charset="-120"/>
              </a:rPr>
              <a:t>Agents pass short summaries, not raw data.</a:t>
            </a:r>
            <a:endParaRPr lang="en-US" sz="1400" dirty="0"/>
          </a:p>
        </p:txBody>
      </p:sp>
      <p:sp>
        <p:nvSpPr>
          <p:cNvPr id="35" name="Text 32"/>
          <p:cNvSpPr/>
          <p:nvPr/>
        </p:nvSpPr>
        <p:spPr>
          <a:xfrm>
            <a:off x="8412480" y="3374136"/>
            <a:ext cx="457200" cy="457200"/>
          </a:xfrm>
          <a:prstGeom prst="ellipse">
            <a:avLst/>
          </a:prstGeom>
          <a:solidFill>
            <a:srgbClr val="E1F5EE"/>
          </a:solidFill>
          <a:ln w="9525">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36" name="Image 1" descr="/tmp/deck-icons/TbTool_0F6E56.png">    </p:cNvPr>
          <p:cNvPicPr>
            <a:picLocks noChangeAspect="1"/>
          </p:cNvPicPr>
          <p:nvPr/>
        </p:nvPicPr>
        <p:blipFill>
          <a:blip r:embed="rId2"/>
          <a:stretch>
            <a:fillRect/>
          </a:stretch>
        </p:blipFill>
        <p:spPr>
          <a:xfrm>
            <a:off x="8513064" y="3474720"/>
            <a:ext cx="256032" cy="256032"/>
          </a:xfrm>
          <a:prstGeom prst="rect">
            <a:avLst/>
          </a:prstGeom>
        </p:spPr>
      </p:pic>
      <p:sp>
        <p:nvSpPr>
          <p:cNvPr id="37" name="Text 33"/>
          <p:cNvSpPr txBox="1"/>
          <p:nvPr/>
        </p:nvSpPr>
        <p:spPr>
          <a:xfrm>
            <a:off x="9006840" y="3328416"/>
            <a:ext cx="2587752" cy="960120"/>
          </a:xfrm>
          <a:prstGeom prst="rect">
            <a:avLst/>
          </a:prstGeom>
          <a:noFill/>
          <a:ln/>
        </p:spPr>
        <p:txBody>
          <a:bodyPr wrap="square" lIns="0" tIns="0" rIns="0" bIns="0" rtlCol="0" anchor="t"/>
          <a:lstStyle/>
          <a:p>
            <a:pPr algn="l" indent="0" marL="0">
              <a:buNone/>
            </a:pPr>
            <a:r>
              <a:rPr lang="en-US" sz="1450" b="1" dirty="0">
                <a:solidFill>
                  <a:srgbClr val="085041"/>
                </a:solidFill>
                <a:latin typeface="Calibri" pitchFamily="34" charset="0"/>
                <a:ea typeface="Calibri" pitchFamily="34" charset="-122"/>
                <a:cs typeface="Calibri" pitchFamily="34" charset="-120"/>
              </a:rPr>
              <a:t>Fewer tools</a:t>
            </a:r>
            <a:endParaRPr lang="en-US" sz="1400" dirty="0"/>
          </a:p>
          <a:p>
            <a:pPr algn="l" indent="0" marL="0">
              <a:buNone/>
            </a:pPr>
            <a:r>
              <a:rPr lang="en-US" sz="1250" dirty="0">
                <a:solidFill>
                  <a:srgbClr val="2C2C2A"/>
                </a:solidFill>
                <a:latin typeface="Calibri" pitchFamily="34" charset="0"/>
                <a:ea typeface="Calibri" pitchFamily="34" charset="-122"/>
                <a:cs typeface="Calibri" pitchFamily="34" charset="-120"/>
              </a:rPr>
              <a:t>Each agent sees only the tools its job needs.</a:t>
            </a:r>
            <a:endParaRPr lang="en-US" sz="1400" dirty="0"/>
          </a:p>
        </p:txBody>
      </p:sp>
      <p:sp>
        <p:nvSpPr>
          <p:cNvPr id="38" name="Text 34"/>
          <p:cNvSpPr/>
          <p:nvPr/>
        </p:nvSpPr>
        <p:spPr>
          <a:xfrm>
            <a:off x="8412480" y="4489704"/>
            <a:ext cx="457200" cy="457200"/>
          </a:xfrm>
          <a:prstGeom prst="ellipse">
            <a:avLst/>
          </a:prstGeom>
          <a:solidFill>
            <a:srgbClr val="FAEEDA"/>
          </a:solidFill>
          <a:ln w="9525">
            <a:solidFill>
              <a:srgbClr val="854F0B"/>
            </a:solidFill>
            <a:prstDash val="solid"/>
          </a:ln>
        </p:spPr>
        <p:txBody>
          <a:bodyPr wrap="square" lIns="50800" tIns="50800" rIns="50800" bIns="50800" rtlCol="0" anchor="ctr"/>
          <a:lstStyle/>
          <a:p>
            <a:pPr algn="ctr" indent="0" marL="0">
              <a:buNone/>
            </a:pPr>
            <a:endParaRPr lang="en-US" sz="1200" dirty="0"/>
          </a:p>
        </p:txBody>
      </p:sp>
      <p:pic>
        <p:nvPicPr>
          <p:cNvPr id="39" name="Image 2" descr="/tmp/deck-icons/TbScale_854F0B.png">    </p:cNvPr>
          <p:cNvPicPr>
            <a:picLocks noChangeAspect="1"/>
          </p:cNvPicPr>
          <p:nvPr/>
        </p:nvPicPr>
        <p:blipFill>
          <a:blip r:embed="rId3"/>
          <a:stretch>
            <a:fillRect/>
          </a:stretch>
        </p:blipFill>
        <p:spPr>
          <a:xfrm>
            <a:off x="8513064" y="4590288"/>
            <a:ext cx="256032" cy="256032"/>
          </a:xfrm>
          <a:prstGeom prst="rect">
            <a:avLst/>
          </a:prstGeom>
        </p:spPr>
      </p:pic>
      <p:sp>
        <p:nvSpPr>
          <p:cNvPr id="40" name="Text 35"/>
          <p:cNvSpPr txBox="1"/>
          <p:nvPr/>
        </p:nvSpPr>
        <p:spPr>
          <a:xfrm>
            <a:off x="9006840" y="4443984"/>
            <a:ext cx="2587752" cy="960120"/>
          </a:xfrm>
          <a:prstGeom prst="rect">
            <a:avLst/>
          </a:prstGeom>
          <a:noFill/>
          <a:ln/>
        </p:spPr>
        <p:txBody>
          <a:bodyPr wrap="square" lIns="0" tIns="0" rIns="0" bIns="0" rtlCol="0" anchor="t"/>
          <a:lstStyle/>
          <a:p>
            <a:pPr algn="l" indent="0" marL="0">
              <a:buNone/>
            </a:pPr>
            <a:r>
              <a:rPr lang="en-US" sz="1450" b="1" dirty="0">
                <a:solidFill>
                  <a:srgbClr val="633806"/>
                </a:solidFill>
                <a:latin typeface="Calibri" pitchFamily="34" charset="0"/>
                <a:ea typeface="Calibri" pitchFamily="34" charset="-122"/>
                <a:cs typeface="Calibri" pitchFamily="34" charset="-120"/>
              </a:rPr>
              <a:t>Right-sized models</a:t>
            </a:r>
            <a:endParaRPr lang="en-US" sz="1400" dirty="0"/>
          </a:p>
          <a:p>
            <a:pPr algn="l" indent="0" marL="0">
              <a:buNone/>
            </a:pPr>
            <a:r>
              <a:rPr lang="en-US" sz="1250" dirty="0">
                <a:solidFill>
                  <a:srgbClr val="2C2C2A"/>
                </a:solidFill>
                <a:latin typeface="Calibri" pitchFamily="34" charset="0"/>
                <a:ea typeface="Calibri" pitchFamily="34" charset="-122"/>
                <a:cs typeface="Calibri" pitchFamily="34" charset="-120"/>
              </a:rPr>
              <a:t>A strong model to plan; a small, fast one for simple steps.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Common Mistakes in Multi-Agent Design</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Most multi-agent failures are design mistakes, not model mistakes. Each card shows the symptom you will see and the fix that prevents it.</a:t>
            </a:r>
            <a:endParaRPr lang="en-US" sz="1400" dirty="0"/>
          </a:p>
        </p:txBody>
      </p:sp>
      <p:sp>
        <p:nvSpPr>
          <p:cNvPr id="5" name="!!card1"/>
          <p:cNvSpPr/>
          <p:nvPr/>
        </p:nvSpPr>
        <p:spPr>
          <a:xfrm>
            <a:off x="502920"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6" name="!!dot1"/>
          <p:cNvSpPr/>
          <p:nvPr/>
        </p:nvSpPr>
        <p:spPr>
          <a:xfrm>
            <a:off x="704088"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7" name="!!ic1" descr="/tmp/deck-icons/TbTarget_993C1D.png">    </p:cNvPr>
          <p:cNvPicPr>
            <a:picLocks noChangeAspect="1"/>
          </p:cNvPicPr>
          <p:nvPr/>
        </p:nvPicPr>
        <p:blipFill>
          <a:blip r:embed="rId1"/>
          <a:stretch>
            <a:fillRect/>
          </a:stretch>
        </p:blipFill>
        <p:spPr>
          <a:xfrm>
            <a:off x="795528" y="1664208"/>
            <a:ext cx="274320" cy="274320"/>
          </a:xfrm>
          <a:prstGeom prst="rect">
            <a:avLst/>
          </a:prstGeom>
        </p:spPr>
      </p:pic>
      <p:sp>
        <p:nvSpPr>
          <p:cNvPr id="8" name="!!mt1"/>
          <p:cNvSpPr txBox="1"/>
          <p:nvPr/>
        </p:nvSpPr>
        <p:spPr>
          <a:xfrm>
            <a:off x="1289304"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clear goal or “done”</a:t>
            </a:r>
            <a:endParaRPr lang="en-US" sz="1600" dirty="0"/>
          </a:p>
        </p:txBody>
      </p:sp>
      <p:sp>
        <p:nvSpPr>
          <p:cNvPr id="9" name="!!mw1"/>
          <p:cNvSpPr txBox="1"/>
          <p:nvPr/>
        </p:nvSpPr>
        <p:spPr>
          <a:xfrm>
            <a:off x="704088"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Agents loop or stop early; nobody knows when the task is finished.</a:t>
            </a:r>
            <a:endParaRPr lang="en-US" sz="1300" dirty="0"/>
          </a:p>
        </p:txBody>
      </p:sp>
      <p:sp>
        <p:nvSpPr>
          <p:cNvPr id="10" name="!!fix1"/>
          <p:cNvSpPr/>
          <p:nvPr/>
        </p:nvSpPr>
        <p:spPr>
          <a:xfrm>
            <a:off x="704088"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Write success criteria and an exit condition for every agent.</a:t>
            </a:r>
            <a:endParaRPr lang="en-US" sz="1250" dirty="0"/>
          </a:p>
        </p:txBody>
      </p:sp>
      <p:sp>
        <p:nvSpPr>
          <p:cNvPr id="11" name="!!card2"/>
          <p:cNvSpPr/>
          <p:nvPr/>
        </p:nvSpPr>
        <p:spPr>
          <a:xfrm>
            <a:off x="4279392"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2" name="!!dot2"/>
          <p:cNvSpPr/>
          <p:nvPr/>
        </p:nvSpPr>
        <p:spPr>
          <a:xfrm>
            <a:off x="4480560"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3" name="!!ic2" descr="/tmp/deck-icons/TbUsers_993C1D.png">    </p:cNvPr>
          <p:cNvPicPr>
            <a:picLocks noChangeAspect="1"/>
          </p:cNvPicPr>
          <p:nvPr/>
        </p:nvPicPr>
        <p:blipFill>
          <a:blip r:embed="rId2"/>
          <a:stretch>
            <a:fillRect/>
          </a:stretch>
        </p:blipFill>
        <p:spPr>
          <a:xfrm>
            <a:off x="4572000" y="1664208"/>
            <a:ext cx="274320" cy="274320"/>
          </a:xfrm>
          <a:prstGeom prst="rect">
            <a:avLst/>
          </a:prstGeom>
        </p:spPr>
      </p:pic>
      <p:sp>
        <p:nvSpPr>
          <p:cNvPr id="14" name="!!mt2"/>
          <p:cNvSpPr txBox="1"/>
          <p:nvPr/>
        </p:nvSpPr>
        <p:spPr>
          <a:xfrm>
            <a:off x="5065776"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Vague, overlapping roles</a:t>
            </a:r>
            <a:endParaRPr lang="en-US" sz="1600" dirty="0"/>
          </a:p>
        </p:txBody>
      </p:sp>
      <p:sp>
        <p:nvSpPr>
          <p:cNvPr id="15" name="!!mw2"/>
          <p:cNvSpPr txBox="1"/>
          <p:nvPr/>
        </p:nvSpPr>
        <p:spPr>
          <a:xfrm>
            <a:off x="4480560"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Two agents do the same work, or a step falls between them.</a:t>
            </a:r>
            <a:endParaRPr lang="en-US" sz="1300" dirty="0"/>
          </a:p>
        </p:txBody>
      </p:sp>
      <p:sp>
        <p:nvSpPr>
          <p:cNvPr id="16" name="!!fix2"/>
          <p:cNvSpPr/>
          <p:nvPr/>
        </p:nvSpPr>
        <p:spPr>
          <a:xfrm>
            <a:off x="4480560"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One job per agent, with written inputs and outputs.</a:t>
            </a:r>
            <a:endParaRPr lang="en-US" sz="1250" dirty="0"/>
          </a:p>
        </p:txBody>
      </p:sp>
      <p:sp>
        <p:nvSpPr>
          <p:cNvPr id="17" name="!!card3"/>
          <p:cNvSpPr/>
          <p:nvPr/>
        </p:nvSpPr>
        <p:spPr>
          <a:xfrm>
            <a:off x="8055864" y="1371600"/>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18" name="!!dot3"/>
          <p:cNvSpPr/>
          <p:nvPr/>
        </p:nvSpPr>
        <p:spPr>
          <a:xfrm>
            <a:off x="8257032" y="1572768"/>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9" name="!!ic3" descr="/tmp/deck-icons/TbInfinity_993C1D.png">    </p:cNvPr>
          <p:cNvPicPr>
            <a:picLocks noChangeAspect="1"/>
          </p:cNvPicPr>
          <p:nvPr/>
        </p:nvPicPr>
        <p:blipFill>
          <a:blip r:embed="rId3"/>
          <a:stretch>
            <a:fillRect/>
          </a:stretch>
        </p:blipFill>
        <p:spPr>
          <a:xfrm>
            <a:off x="8348472" y="1664208"/>
            <a:ext cx="274320" cy="274320"/>
          </a:xfrm>
          <a:prstGeom prst="rect">
            <a:avLst/>
          </a:prstGeom>
        </p:spPr>
      </p:pic>
      <p:sp>
        <p:nvSpPr>
          <p:cNvPr id="20" name="!!mt3"/>
          <p:cNvSpPr txBox="1"/>
          <p:nvPr/>
        </p:nvSpPr>
        <p:spPr>
          <a:xfrm>
            <a:off x="8842248" y="1554480"/>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rules or limits</a:t>
            </a:r>
            <a:endParaRPr lang="en-US" sz="1600" dirty="0"/>
          </a:p>
        </p:txBody>
      </p:sp>
      <p:sp>
        <p:nvSpPr>
          <p:cNvPr id="21" name="!!mw3"/>
          <p:cNvSpPr txBox="1"/>
          <p:nvPr/>
        </p:nvSpPr>
        <p:spPr>
          <a:xfrm>
            <a:off x="8257032" y="2176272"/>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Endless retries, runaway cost, any agent can call any tool.</a:t>
            </a:r>
            <a:endParaRPr lang="en-US" sz="1300" dirty="0"/>
          </a:p>
        </p:txBody>
      </p:sp>
      <p:sp>
        <p:nvSpPr>
          <p:cNvPr id="22" name="!!fix3"/>
          <p:cNvSpPr/>
          <p:nvPr/>
        </p:nvSpPr>
        <p:spPr>
          <a:xfrm>
            <a:off x="8257032" y="2816352"/>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Step limits, retry budgets and least-privilege tools.</a:t>
            </a:r>
            <a:endParaRPr lang="en-US" sz="1250" dirty="0"/>
          </a:p>
        </p:txBody>
      </p:sp>
      <p:sp>
        <p:nvSpPr>
          <p:cNvPr id="23" name="!!card4"/>
          <p:cNvSpPr/>
          <p:nvPr/>
        </p:nvSpPr>
        <p:spPr>
          <a:xfrm>
            <a:off x="502920"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24" name="!!dot4"/>
          <p:cNvSpPr/>
          <p:nvPr/>
        </p:nvSpPr>
        <p:spPr>
          <a:xfrm>
            <a:off x="704088"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5" name="!!ic4" descr="/tmp/deck-icons/TbHammer_993C1D.png">    </p:cNvPr>
          <p:cNvPicPr>
            <a:picLocks noChangeAspect="1"/>
          </p:cNvPicPr>
          <p:nvPr/>
        </p:nvPicPr>
        <p:blipFill>
          <a:blip r:embed="rId4"/>
          <a:stretch>
            <a:fillRect/>
          </a:stretch>
        </p:blipFill>
        <p:spPr>
          <a:xfrm>
            <a:off x="795528" y="4023360"/>
            <a:ext cx="274320" cy="274320"/>
          </a:xfrm>
          <a:prstGeom prst="rect">
            <a:avLst/>
          </a:prstGeom>
        </p:spPr>
      </p:pic>
      <p:sp>
        <p:nvSpPr>
          <p:cNvPr id="26" name="!!mt4"/>
          <p:cNvSpPr txBox="1"/>
          <p:nvPr/>
        </p:nvSpPr>
        <p:spPr>
          <a:xfrm>
            <a:off x="1289304"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Wrong use case</a:t>
            </a:r>
            <a:endParaRPr lang="en-US" sz="1600" dirty="0"/>
          </a:p>
        </p:txBody>
      </p:sp>
      <p:sp>
        <p:nvSpPr>
          <p:cNvPr id="27" name="!!mw4"/>
          <p:cNvSpPr txBox="1"/>
          <p:nvPr/>
        </p:nvSpPr>
        <p:spPr>
          <a:xfrm>
            <a:off x="704088"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Multi-agent for a simple task: more cost, latency and failure points.</a:t>
            </a:r>
            <a:endParaRPr lang="en-US" sz="1300" dirty="0"/>
          </a:p>
        </p:txBody>
      </p:sp>
      <p:sp>
        <p:nvSpPr>
          <p:cNvPr id="28" name="!!fix4"/>
          <p:cNvSpPr/>
          <p:nvPr/>
        </p:nvSpPr>
        <p:spPr>
          <a:xfrm>
            <a:off x="704088"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Start with one agent or a fixed workflow; split when it breaks.</a:t>
            </a:r>
            <a:endParaRPr lang="en-US" sz="1250" dirty="0"/>
          </a:p>
        </p:txBody>
      </p:sp>
      <p:sp>
        <p:nvSpPr>
          <p:cNvPr id="29" name="!!card5"/>
          <p:cNvSpPr/>
          <p:nvPr/>
        </p:nvSpPr>
        <p:spPr>
          <a:xfrm>
            <a:off x="4279392"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0" name="!!dot5"/>
          <p:cNvSpPr/>
          <p:nvPr/>
        </p:nvSpPr>
        <p:spPr>
          <a:xfrm>
            <a:off x="4480560"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1" name="!!ic5" descr="/tmp/deck-icons/TbMessages_993C1D.png">    </p:cNvPr>
          <p:cNvPicPr>
            <a:picLocks noChangeAspect="1"/>
          </p:cNvPicPr>
          <p:nvPr/>
        </p:nvPicPr>
        <p:blipFill>
          <a:blip r:embed="rId5"/>
          <a:stretch>
            <a:fillRect/>
          </a:stretch>
        </p:blipFill>
        <p:spPr>
          <a:xfrm>
            <a:off x="4572000" y="4023360"/>
            <a:ext cx="274320" cy="274320"/>
          </a:xfrm>
          <a:prstGeom prst="rect">
            <a:avLst/>
          </a:prstGeom>
        </p:spPr>
      </p:pic>
      <p:sp>
        <p:nvSpPr>
          <p:cNvPr id="32" name="!!mt5"/>
          <p:cNvSpPr txBox="1"/>
          <p:nvPr/>
        </p:nvSpPr>
        <p:spPr>
          <a:xfrm>
            <a:off x="5065776"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Agents chat instead of hand off</a:t>
            </a:r>
            <a:endParaRPr lang="en-US" sz="1600" dirty="0"/>
          </a:p>
        </p:txBody>
      </p:sp>
      <p:sp>
        <p:nvSpPr>
          <p:cNvPr id="33" name="!!mw5"/>
          <p:cNvSpPr txBox="1"/>
          <p:nvPr/>
        </p:nvSpPr>
        <p:spPr>
          <a:xfrm>
            <a:off x="4480560"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Full histories passed around; context bloats and decisions drift.</a:t>
            </a:r>
            <a:endParaRPr lang="en-US" sz="1300" dirty="0"/>
          </a:p>
        </p:txBody>
      </p:sp>
      <p:sp>
        <p:nvSpPr>
          <p:cNvPr id="34" name="!!fix5"/>
          <p:cNvSpPr/>
          <p:nvPr/>
        </p:nvSpPr>
        <p:spPr>
          <a:xfrm>
            <a:off x="4480560"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Pass structured results through a small shared state.</a:t>
            </a:r>
            <a:endParaRPr lang="en-US" sz="1250" dirty="0"/>
          </a:p>
        </p:txBody>
      </p:sp>
      <p:sp>
        <p:nvSpPr>
          <p:cNvPr id="35" name="!!card6"/>
          <p:cNvSpPr/>
          <p:nvPr/>
        </p:nvSpPr>
        <p:spPr>
          <a:xfrm>
            <a:off x="8055864" y="3730752"/>
            <a:ext cx="3611880" cy="2176272"/>
          </a:xfrm>
          <a:prstGeom prst="roundRect">
            <a:avLst>
              <a:gd name="adj" fmla="val 4202"/>
            </a:avLst>
          </a:prstGeom>
          <a:solidFill>
            <a:srgbClr val="FFFFFF"/>
          </a:solidFill>
          <a:ln w="12700">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36" name="!!dot6"/>
          <p:cNvSpPr/>
          <p:nvPr/>
        </p:nvSpPr>
        <p:spPr>
          <a:xfrm>
            <a:off x="8257032" y="3931920"/>
            <a:ext cx="457200" cy="457200"/>
          </a:xfrm>
          <a:prstGeom prst="ellipse">
            <a:avLst/>
          </a:prstGeom>
          <a:solidFill>
            <a:srgbClr val="FAECE7"/>
          </a:solidFill>
          <a:ln w="9525">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7" name="!!ic6" descr="/tmp/deck-icons/TbEyeOff_993C1D.png">    </p:cNvPr>
          <p:cNvPicPr>
            <a:picLocks noChangeAspect="1"/>
          </p:cNvPicPr>
          <p:nvPr/>
        </p:nvPicPr>
        <p:blipFill>
          <a:blip r:embed="rId6"/>
          <a:stretch>
            <a:fillRect/>
          </a:stretch>
        </p:blipFill>
        <p:spPr>
          <a:xfrm>
            <a:off x="8348472" y="4023360"/>
            <a:ext cx="274320" cy="274320"/>
          </a:xfrm>
          <a:prstGeom prst="rect">
            <a:avLst/>
          </a:prstGeom>
        </p:spPr>
      </p:pic>
      <p:sp>
        <p:nvSpPr>
          <p:cNvPr id="38" name="!!mt6"/>
          <p:cNvSpPr txBox="1"/>
          <p:nvPr/>
        </p:nvSpPr>
        <p:spPr>
          <a:xfrm>
            <a:off x="8842248" y="3913632"/>
            <a:ext cx="2697480" cy="502920"/>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No independent check or human gate</a:t>
            </a:r>
            <a:endParaRPr lang="en-US" sz="1600" dirty="0"/>
          </a:p>
        </p:txBody>
      </p:sp>
      <p:sp>
        <p:nvSpPr>
          <p:cNvPr id="39" name="!!mw6"/>
          <p:cNvSpPr txBox="1"/>
          <p:nvPr/>
        </p:nvSpPr>
        <p:spPr>
          <a:xfrm>
            <a:off x="8257032" y="4535424"/>
            <a:ext cx="3209544" cy="640080"/>
          </a:xfrm>
          <a:prstGeom prst="rect">
            <a:avLst/>
          </a:prstGeom>
          <a:noFill/>
          <a:ln/>
        </p:spPr>
        <p:txBody>
          <a:bodyPr wrap="square" lIns="0" tIns="0" rIns="0" bIns="0" rtlCol="0" anchor="t"/>
          <a:lstStyle/>
          <a:p>
            <a:pPr algn="l" indent="0" marL="0">
              <a:buNone/>
            </a:pPr>
            <a:r>
              <a:rPr lang="en-US" sz="1300" dirty="0">
                <a:solidFill>
                  <a:srgbClr val="2C2C2A"/>
                </a:solidFill>
                <a:latin typeface="Calibri" pitchFamily="34" charset="0"/>
                <a:ea typeface="Calibri" pitchFamily="34" charset="-122"/>
                <a:cs typeface="Calibri" pitchFamily="34" charset="-120"/>
              </a:rPr>
              <a:t>“Done” is reported when it isn't; risky actions go out unreviewed.</a:t>
            </a:r>
            <a:endParaRPr lang="en-US" sz="1300" dirty="0"/>
          </a:p>
        </p:txBody>
      </p:sp>
      <p:sp>
        <p:nvSpPr>
          <p:cNvPr id="40" name="!!fix6"/>
          <p:cNvSpPr/>
          <p:nvPr/>
        </p:nvSpPr>
        <p:spPr>
          <a:xfrm>
            <a:off x="8257032" y="5175504"/>
            <a:ext cx="3209544" cy="548640"/>
          </a:xfrm>
          <a:prstGeom prst="roundRect">
            <a:avLst>
              <a:gd name="adj" fmla="val 10000"/>
            </a:avLst>
          </a:prstGeom>
          <a:solidFill>
            <a:srgbClr val="E1F5EE"/>
          </a:solidFill>
          <a:ln w="6350">
            <a:solidFill>
              <a:srgbClr val="0F6E56"/>
            </a:solidFill>
            <a:prstDash val="solid"/>
          </a:ln>
        </p:spPr>
        <p:txBody>
          <a:bodyPr wrap="square" lIns="101600" tIns="101600" rIns="101600" bIns="101600" rtlCol="0" anchor="ctr"/>
          <a:lstStyle/>
          <a:p>
            <a:pPr algn="l" indent="0" marL="0">
              <a:buNone/>
            </a:pPr>
            <a:r>
              <a:rPr lang="en-US" sz="1250" b="1" dirty="0">
                <a:solidFill>
                  <a:srgbClr val="085041"/>
                </a:solidFill>
                <a:latin typeface="Calibri" pitchFamily="34" charset="0"/>
                <a:ea typeface="Calibri" pitchFamily="34" charset="-122"/>
                <a:cs typeface="Calibri" pitchFamily="34" charset="-120"/>
              </a:rPr>
              <a:t>Fix  </a:t>
            </a:r>
            <a:pPr algn="l" indent="0" marL="0">
              <a:buNone/>
            </a:pPr>
            <a:r>
              <a:rPr lang="en-US" sz="1250" dirty="0">
                <a:solidFill>
                  <a:srgbClr val="085041"/>
                </a:solidFill>
                <a:latin typeface="Calibri" pitchFamily="34" charset="0"/>
                <a:ea typeface="Calibri" pitchFamily="34" charset="-122"/>
                <a:cs typeface="Calibri" pitchFamily="34" charset="-120"/>
              </a:rPr>
              <a:t>A separate checker, plus human approval for irreversible steps.</a:t>
            </a:r>
            <a:endParaRPr lang="en-US" sz="1250" dirty="0"/>
          </a:p>
        </p:txBody>
      </p:sp>
      <p:sp>
        <p:nvSpPr>
          <p:cNvPr id="41" name="!!take"/>
          <p:cNvSpPr txBox="1"/>
          <p:nvPr/>
        </p:nvSpPr>
        <p:spPr>
          <a:xfrm>
            <a:off x="502920" y="5971032"/>
            <a:ext cx="11155680" cy="36576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Every mistake here is a missing decision: who does what, when is it done, and who checks.</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How to Choose the Right Pattern</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Start from the need, not the pattern. Find the row that sounds like your problem, then plan for its typical failure before you build.</a:t>
            </a:r>
            <a:endParaRPr lang="en-US" sz="14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914400"/>
        </p:xfrm>
        <a:graphic>
          <a:graphicData uri="http://schemas.openxmlformats.org/drawingml/2006/table">
            <a:tbl>
              <a:tblPr/>
              <a:tblGrid>
                <a:gridCol w="3063240"/>
                <a:gridCol w="2331720"/>
                <a:gridCol w="3246120"/>
                <a:gridCol w="2542032"/>
              </a:tblGrid>
              <a:tr h="384048">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If you need…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3C3489"/>
                          </a:solidFill>
                          <a:latin typeface="Calibri" pitchFamily="34" charset="0"/>
                          <a:ea typeface="Calibri" pitchFamily="34" charset="-122"/>
                          <a:cs typeface="Calibri" pitchFamily="34" charset="-120"/>
                        </a:rPr>
                        <a:t>Use this pattern</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712B13"/>
                          </a:solidFill>
                          <a:latin typeface="Calibri" pitchFamily="34" charset="0"/>
                          <a:ea typeface="Calibri" pitchFamily="34" charset="-122"/>
                          <a:cs typeface="Calibri" pitchFamily="34" charset="-120"/>
                        </a:rPr>
                        <a:t>Watch out for</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Route each request to the right specialist</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Supervisor–Worker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A service desk sends each query to billing, tech support or refunds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The supervisor becomes a bottleneck</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Reuse a self-contained capability inside bigger flows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Subgraph</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One identity check reused in account opening, payments and complaints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Keep its input and output state small and explicit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long task that needs a plan before doing</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Planner–Executor</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Plan a market-research report, then research and write each section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Re-plan when a step fails; don't push on</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known, fixed sequence of stages</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Specialist Pipeline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Invoices: read → extract → validate → post to accounts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Errors flow downstream; check between stages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Judgement calls where quality beats speed</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Peer + Debate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Two reviewers challenge a contract summary before it goes out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Cost and time; cap the number of rounds</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603504">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Many independent sub-tasks, then a sign-off</a:t>
                      </a:r>
                      <a:endParaRPr lang="en-US" sz="130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50" b="1" dirty="0">
                          <a:solidFill>
                            <a:srgbClr val="3C3489"/>
                          </a:solidFill>
                          <a:latin typeface="Calibri" pitchFamily="34" charset="0"/>
                          <a:ea typeface="Calibri" pitchFamily="34" charset="-122"/>
                          <a:cs typeface="Calibri" pitchFamily="34" charset="-120"/>
                        </a:rPr>
                        <a:t>Parallel Swarm + Human Gate</a:t>
                      </a:r>
                      <a:endParaRPr lang="en-US" sz="13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5F5E5A"/>
                          </a:solidFill>
                          <a:latin typeface="Calibri" pitchFamily="34" charset="0"/>
                          <a:ea typeface="Calibri" pitchFamily="34" charset="-122"/>
                          <a:cs typeface="Calibri" pitchFamily="34" charset="-120"/>
                        </a:rPr>
                        <a:t>Screen 50 supplier documents in parallel; a manager approves the shortlist</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250" dirty="0">
                          <a:solidFill>
                            <a:srgbClr val="712B13"/>
                          </a:solidFill>
                          <a:latin typeface="Calibri" pitchFamily="34" charset="0"/>
                          <a:ea typeface="Calibri" pitchFamily="34" charset="-122"/>
                          <a:cs typeface="Calibri" pitchFamily="34" charset="-120"/>
                        </a:rPr>
                        <a:t>Merging results, and approval fatigue</a:t>
                      </a:r>
                      <a:endParaRPr lang="en-US" sz="1250" dirty="0">
                        <a:latin typeface="Calibri" charset="0"/>
                        <a:ea typeface="Calibri" charset="0"/>
                        <a:cs typeface="Calibri" charset="0"/>
                      </a:endParaRPr>
                    </a:p>
                  </a:txBody>
                  <a:tcPr marL="101600" marR="101600" marT="50800" marB="508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6" name="!!rule"/>
          <p:cNvSpPr/>
          <p:nvPr/>
        </p:nvSpPr>
        <p:spPr>
          <a:xfrm>
            <a:off x="502920" y="5806440"/>
            <a:ext cx="11183112" cy="502920"/>
          </a:xfrm>
          <a:prstGeom prst="roundRect">
            <a:avLst>
              <a:gd name="adj" fmla="val 18182"/>
            </a:avLst>
          </a:prstGeom>
          <a:solidFill>
            <a:srgbClr val="E1F5EE"/>
          </a:solidFill>
          <a:ln w="12700">
            <a:solidFill>
              <a:srgbClr val="0F6E56"/>
            </a:solidFill>
            <a:prstDash val="solid"/>
          </a:ln>
        </p:spPr>
        <p:txBody>
          <a:bodyPr wrap="square" lIns="152400" tIns="152400" rIns="152400" bIns="152400" rtlCol="0" anchor="ctr"/>
          <a:lstStyle/>
          <a:p>
            <a:pPr algn="l" indent="0" marL="0">
              <a:buNone/>
            </a:pPr>
            <a:r>
              <a:rPr lang="en-US" sz="1400" b="1" dirty="0">
                <a:solidFill>
                  <a:srgbClr val="085041"/>
                </a:solidFill>
                <a:latin typeface="Calibri" pitchFamily="34" charset="0"/>
                <a:ea typeface="Calibri" pitchFamily="34" charset="-122"/>
                <a:cs typeface="Calibri" pitchFamily="34" charset="-120"/>
              </a:rPr>
              <a:t>Rule of thumb  </a:t>
            </a:r>
            <a:pPr algn="l" indent="0" marL="0">
              <a:buNone/>
            </a:pPr>
            <a:r>
              <a:rPr lang="en-US" sz="1400" dirty="0">
                <a:solidFill>
                  <a:srgbClr val="085041"/>
                </a:solidFill>
                <a:latin typeface="Calibri" pitchFamily="34" charset="0"/>
                <a:ea typeface="Calibri" pitchFamily="34" charset="-122"/>
                <a:cs typeface="Calibri" pitchFamily="34" charset="-120"/>
              </a:rPr>
              <a:t>Pick the simplest pattern that meets the need. Start with one agent; add structure only when it breaks.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Design Principles You Can Apply Tomorrow</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Eight habits that prevent the mistakes on slide 14. Capture them in a role card for every agent before any code is written.</a:t>
            </a:r>
            <a:endParaRPr lang="en-US" sz="1400" dirty="0"/>
          </a:p>
        </p:txBody>
      </p:sp>
      <p:sp>
        <p:nvSpPr>
          <p:cNvPr id="5" name="!!pn1"/>
          <p:cNvSpPr/>
          <p:nvPr/>
        </p:nvSpPr>
        <p:spPr>
          <a:xfrm>
            <a:off x="50292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pt1"/>
          <p:cNvSpPr txBox="1"/>
          <p:nvPr/>
        </p:nvSpPr>
        <p:spPr>
          <a:xfrm>
            <a:off x="103327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One job per agent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clear goal, its own tools, inputs and outputs.</a:t>
            </a:r>
            <a:endParaRPr lang="en-US" sz="1400" dirty="0"/>
          </a:p>
        </p:txBody>
      </p:sp>
      <p:sp>
        <p:nvSpPr>
          <p:cNvPr id="7" name="!!pn2"/>
          <p:cNvSpPr/>
          <p:nvPr/>
        </p:nvSpPr>
        <p:spPr>
          <a:xfrm>
            <a:off x="3977640" y="1463040"/>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pt2"/>
          <p:cNvSpPr txBox="1"/>
          <p:nvPr/>
        </p:nvSpPr>
        <p:spPr>
          <a:xfrm>
            <a:off x="4507992" y="1417320"/>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Define “done”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Return a structured status, not free text.</a:t>
            </a:r>
            <a:endParaRPr lang="en-US" sz="1400" dirty="0"/>
          </a:p>
        </p:txBody>
      </p:sp>
      <p:sp>
        <p:nvSpPr>
          <p:cNvPr id="9" name="!!pn3"/>
          <p:cNvSpPr/>
          <p:nvPr/>
        </p:nvSpPr>
        <p:spPr>
          <a:xfrm>
            <a:off x="50292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pt3"/>
          <p:cNvSpPr txBox="1"/>
          <p:nvPr/>
        </p:nvSpPr>
        <p:spPr>
          <a:xfrm>
            <a:off x="103327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Few tools, least privilege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handful of tools per agent, read-only where possible.</a:t>
            </a:r>
            <a:endParaRPr lang="en-US" sz="1400" dirty="0"/>
          </a:p>
        </p:txBody>
      </p:sp>
      <p:sp>
        <p:nvSpPr>
          <p:cNvPr id="11" name="!!pn4"/>
          <p:cNvSpPr/>
          <p:nvPr/>
        </p:nvSpPr>
        <p:spPr>
          <a:xfrm>
            <a:off x="3977640" y="2578608"/>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2" name="!!pt4"/>
          <p:cNvSpPr txBox="1"/>
          <p:nvPr/>
        </p:nvSpPr>
        <p:spPr>
          <a:xfrm>
            <a:off x="4507992" y="2532888"/>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Pass state, not chat</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 small typed state; each agent writes only its keys.</a:t>
            </a:r>
            <a:endParaRPr lang="en-US" sz="1400" dirty="0"/>
          </a:p>
        </p:txBody>
      </p:sp>
      <p:sp>
        <p:nvSpPr>
          <p:cNvPr id="13" name="!!pn5"/>
          <p:cNvSpPr/>
          <p:nvPr/>
        </p:nvSpPr>
        <p:spPr>
          <a:xfrm>
            <a:off x="50292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pt5"/>
          <p:cNvSpPr txBox="1"/>
          <p:nvPr/>
        </p:nvSpPr>
        <p:spPr>
          <a:xfrm>
            <a:off x="103327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Bound everything</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Max steps, retries, timeouts and tokens.</a:t>
            </a:r>
            <a:endParaRPr lang="en-US" sz="1400" dirty="0"/>
          </a:p>
        </p:txBody>
      </p:sp>
      <p:sp>
        <p:nvSpPr>
          <p:cNvPr id="15" name="!!pn6"/>
          <p:cNvSpPr/>
          <p:nvPr/>
        </p:nvSpPr>
        <p:spPr>
          <a:xfrm>
            <a:off x="3977640" y="3694176"/>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6" name="!!pt6"/>
          <p:cNvSpPr txBox="1"/>
          <p:nvPr/>
        </p:nvSpPr>
        <p:spPr>
          <a:xfrm>
            <a:off x="4507992" y="3648456"/>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Separate maker and checker</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The agent that does the work never grades it.</a:t>
            </a:r>
            <a:endParaRPr lang="en-US" sz="1400" dirty="0"/>
          </a:p>
        </p:txBody>
      </p:sp>
      <p:sp>
        <p:nvSpPr>
          <p:cNvPr id="17" name="!!pn7"/>
          <p:cNvSpPr/>
          <p:nvPr/>
        </p:nvSpPr>
        <p:spPr>
          <a:xfrm>
            <a:off x="50292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8" name="!!pt7"/>
          <p:cNvSpPr txBox="1"/>
          <p:nvPr/>
        </p:nvSpPr>
        <p:spPr>
          <a:xfrm>
            <a:off x="103327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Human gate for the irreversible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Approve before send, deploy, delete or close.</a:t>
            </a:r>
            <a:endParaRPr lang="en-US" sz="1400" dirty="0"/>
          </a:p>
        </p:txBody>
      </p:sp>
      <p:sp>
        <p:nvSpPr>
          <p:cNvPr id="19" name="!!pn8"/>
          <p:cNvSpPr/>
          <p:nvPr/>
        </p:nvSpPr>
        <p:spPr>
          <a:xfrm>
            <a:off x="3977640" y="4809744"/>
            <a:ext cx="384048" cy="384048"/>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0" name="!!pt8"/>
          <p:cNvSpPr txBox="1"/>
          <p:nvPr/>
        </p:nvSpPr>
        <p:spPr>
          <a:xfrm>
            <a:off x="4507992" y="4764024"/>
            <a:ext cx="2743200" cy="868680"/>
          </a:xfrm>
          <a:prstGeom prst="rect">
            <a:avLst/>
          </a:prstGeom>
          <a:noFill/>
          <a:ln/>
        </p:spPr>
        <p:txBody>
          <a:bodyPr wrap="square" lIns="0" tIns="0" rIns="0" bIns="0" rtlCol="0" anchor="t"/>
          <a:lstStyle/>
          <a:p>
            <a:pPr algn="l" indent="0" marL="0">
              <a:buNone/>
            </a:pPr>
            <a:r>
              <a:rPr lang="en-US" sz="1550" b="1" dirty="0">
                <a:solidFill>
                  <a:srgbClr val="3C3489"/>
                </a:solidFill>
                <a:latin typeface="Calibri" pitchFamily="34" charset="0"/>
                <a:ea typeface="Calibri" pitchFamily="34" charset="-122"/>
                <a:cs typeface="Calibri" pitchFamily="34" charset="-120"/>
              </a:rPr>
              <a:t>Make it observable</a:t>
            </a:r>
            <a:endParaRPr lang="en-US" sz="1400" dirty="0"/>
          </a:p>
          <a:p>
            <a:pPr algn="l" indent="0" marL="0">
              <a:buNone/>
            </a:pPr>
            <a:r>
              <a:rPr lang="en-US" sz="1300" dirty="0">
                <a:solidFill>
                  <a:srgbClr val="5F5E5A"/>
                </a:solidFill>
                <a:latin typeface="Calibri" pitchFamily="34" charset="0"/>
                <a:ea typeface="Calibri" pitchFamily="34" charset="-122"/>
                <a:cs typeface="Calibri" pitchFamily="34" charset="-120"/>
              </a:rPr>
              <a:t>Trace every hand-off: status, tokens, latency.</a:t>
            </a:r>
            <a:endParaRPr lang="en-US" sz="1400" dirty="0"/>
          </a:p>
        </p:txBody>
      </p:sp>
      <p:sp>
        <p:nvSpPr>
          <p:cNvPr id="21" name="!!card"/>
          <p:cNvSpPr/>
          <p:nvPr/>
        </p:nvSpPr>
        <p:spPr>
          <a:xfrm>
            <a:off x="7543800" y="1371600"/>
            <a:ext cx="4142232" cy="4343400"/>
          </a:xfrm>
          <a:prstGeom prst="roundRect">
            <a:avLst>
              <a:gd name="adj" fmla="val 2649"/>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2" name="!!cardic" descr="/tmp/deck-icons/TbId_0F6E56.png">    </p:cNvPr>
          <p:cNvPicPr>
            <a:picLocks noChangeAspect="1"/>
          </p:cNvPicPr>
          <p:nvPr/>
        </p:nvPicPr>
        <p:blipFill>
          <a:blip r:embed="rId1"/>
          <a:stretch>
            <a:fillRect/>
          </a:stretch>
        </p:blipFill>
        <p:spPr>
          <a:xfrm>
            <a:off x="7772400" y="1572768"/>
            <a:ext cx="347472" cy="347472"/>
          </a:xfrm>
          <a:prstGeom prst="rect">
            <a:avLst/>
          </a:prstGeom>
        </p:spPr>
      </p:pic>
      <p:sp>
        <p:nvSpPr>
          <p:cNvPr id="23" name="!!cardh"/>
          <p:cNvSpPr txBox="1"/>
          <p:nvPr/>
        </p:nvSpPr>
        <p:spPr>
          <a:xfrm>
            <a:off x="8229600" y="1527048"/>
            <a:ext cx="3319272" cy="548640"/>
          </a:xfrm>
          <a:prstGeom prst="rect">
            <a:avLst/>
          </a:prstGeom>
          <a:noFill/>
          <a:ln/>
        </p:spPr>
        <p:txBody>
          <a:bodyPr wrap="square" lIns="0" tIns="0" rIns="0" bIns="0" rtlCol="0" anchor="t"/>
          <a:lstStyle/>
          <a:p>
            <a:pPr algn="l" indent="0" marL="0">
              <a:buNone/>
            </a:pPr>
            <a:r>
              <a:rPr lang="en-US" sz="1600" b="1" dirty="0">
                <a:solidFill>
                  <a:srgbClr val="085041"/>
                </a:solidFill>
                <a:latin typeface="Calibri" pitchFamily="34" charset="0"/>
                <a:ea typeface="Calibri" pitchFamily="34" charset="-122"/>
                <a:cs typeface="Calibri" pitchFamily="34" charset="-120"/>
              </a:rPr>
              <a:t>Role card · Research agent</a:t>
            </a:r>
            <a:endParaRPr lang="en-US" sz="1400" dirty="0"/>
          </a:p>
          <a:p>
            <a:pPr algn="l" indent="0" marL="0">
              <a:buNone/>
            </a:pPr>
            <a:r>
              <a:rPr lang="en-US" sz="1200" dirty="0">
                <a:solidFill>
                  <a:srgbClr val="0F6E56"/>
                </a:solidFill>
                <a:latin typeface="Calibri" pitchFamily="34" charset="0"/>
                <a:ea typeface="Calibri" pitchFamily="34" charset="-122"/>
                <a:cs typeface="Calibri" pitchFamily="34" charset="-120"/>
              </a:rPr>
              <a:t>Market brief</a:t>
            </a:r>
            <a:endParaRPr lang="en-US" sz="1400" dirty="0"/>
          </a:p>
        </p:txBody>
      </p:sp>
      <p:sp>
        <p:nvSpPr>
          <p:cNvPr id="24" name="!!ck0"/>
          <p:cNvSpPr txBox="1"/>
          <p:nvPr/>
        </p:nvSpPr>
        <p:spPr>
          <a:xfrm>
            <a:off x="7772400" y="224028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Goal</a:t>
            </a:r>
            <a:endParaRPr lang="en-US" sz="1200" dirty="0"/>
          </a:p>
        </p:txBody>
      </p:sp>
      <p:sp>
        <p:nvSpPr>
          <p:cNvPr id="25" name="!!cv0"/>
          <p:cNvSpPr txBox="1"/>
          <p:nvPr/>
        </p:nvSpPr>
        <p:spPr>
          <a:xfrm>
            <a:off x="8915400" y="224028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Gather the latest facts for one market brief</a:t>
            </a:r>
            <a:endParaRPr lang="en-US" sz="1200" dirty="0"/>
          </a:p>
        </p:txBody>
      </p:sp>
      <p:sp>
        <p:nvSpPr>
          <p:cNvPr id="26" name="Shape 23"/>
          <p:cNvSpPr/>
          <p:nvPr/>
        </p:nvSpPr>
        <p:spPr>
          <a:xfrm>
            <a:off x="7772400" y="2670048"/>
            <a:ext cx="3685032" cy="914"/>
          </a:xfrm>
          <a:prstGeom prst="line">
            <a:avLst/>
          </a:prstGeom>
          <a:noFill/>
          <a:ln w="6350">
            <a:solidFill>
              <a:srgbClr val="9FE1CB"/>
            </a:solidFill>
            <a:prstDash val="solid"/>
          </a:ln>
        </p:spPr>
      </p:sp>
      <p:sp>
        <p:nvSpPr>
          <p:cNvPr id="27" name="!!ck1"/>
          <p:cNvSpPr txBox="1"/>
          <p:nvPr/>
        </p:nvSpPr>
        <p:spPr>
          <a:xfrm>
            <a:off x="7772400" y="271576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Tools</a:t>
            </a:r>
            <a:endParaRPr lang="en-US" sz="1200" dirty="0"/>
          </a:p>
        </p:txBody>
      </p:sp>
      <p:sp>
        <p:nvSpPr>
          <p:cNvPr id="28" name="!!cv1"/>
          <p:cNvSpPr txBox="1"/>
          <p:nvPr/>
        </p:nvSpPr>
        <p:spPr>
          <a:xfrm>
            <a:off x="8915400" y="271576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web_search, read_document (read-only)</a:t>
            </a:r>
            <a:endParaRPr lang="en-US" sz="1200" dirty="0"/>
          </a:p>
        </p:txBody>
      </p:sp>
      <p:sp>
        <p:nvSpPr>
          <p:cNvPr id="29" name="Shape 26"/>
          <p:cNvSpPr/>
          <p:nvPr/>
        </p:nvSpPr>
        <p:spPr>
          <a:xfrm>
            <a:off x="7772400" y="3145536"/>
            <a:ext cx="3685032" cy="914"/>
          </a:xfrm>
          <a:prstGeom prst="line">
            <a:avLst/>
          </a:prstGeom>
          <a:noFill/>
          <a:ln w="6350">
            <a:solidFill>
              <a:srgbClr val="9FE1CB"/>
            </a:solidFill>
            <a:prstDash val="solid"/>
          </a:ln>
        </p:spPr>
      </p:sp>
      <p:sp>
        <p:nvSpPr>
          <p:cNvPr id="30" name="!!ck2"/>
          <p:cNvSpPr txBox="1"/>
          <p:nvPr/>
        </p:nvSpPr>
        <p:spPr>
          <a:xfrm>
            <a:off x="7772400" y="3191256"/>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Reads</a:t>
            </a:r>
            <a:endParaRPr lang="en-US" sz="1200" dirty="0"/>
          </a:p>
        </p:txBody>
      </p:sp>
      <p:sp>
        <p:nvSpPr>
          <p:cNvPr id="31" name="!!cv2"/>
          <p:cNvSpPr txBox="1"/>
          <p:nvPr/>
        </p:nvSpPr>
        <p:spPr>
          <a:xfrm>
            <a:off x="8915400" y="3191256"/>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brief, plan</a:t>
            </a:r>
            <a:endParaRPr lang="en-US" sz="1200" dirty="0"/>
          </a:p>
        </p:txBody>
      </p:sp>
      <p:sp>
        <p:nvSpPr>
          <p:cNvPr id="32" name="Shape 29"/>
          <p:cNvSpPr/>
          <p:nvPr/>
        </p:nvSpPr>
        <p:spPr>
          <a:xfrm>
            <a:off x="7772400" y="3621024"/>
            <a:ext cx="3685032" cy="914"/>
          </a:xfrm>
          <a:prstGeom prst="line">
            <a:avLst/>
          </a:prstGeom>
          <a:noFill/>
          <a:ln w="6350">
            <a:solidFill>
              <a:srgbClr val="9FE1CB"/>
            </a:solidFill>
            <a:prstDash val="solid"/>
          </a:ln>
        </p:spPr>
      </p:sp>
      <p:sp>
        <p:nvSpPr>
          <p:cNvPr id="33" name="!!ck3"/>
          <p:cNvSpPr txBox="1"/>
          <p:nvPr/>
        </p:nvSpPr>
        <p:spPr>
          <a:xfrm>
            <a:off x="7772400" y="3666744"/>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Writes</a:t>
            </a:r>
            <a:endParaRPr lang="en-US" sz="1200" dirty="0"/>
          </a:p>
        </p:txBody>
      </p:sp>
      <p:sp>
        <p:nvSpPr>
          <p:cNvPr id="34" name="!!cv3"/>
          <p:cNvSpPr txBox="1"/>
          <p:nvPr/>
        </p:nvSpPr>
        <p:spPr>
          <a:xfrm>
            <a:off x="8915400" y="3666744"/>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findings, status</a:t>
            </a:r>
            <a:endParaRPr lang="en-US" sz="1200" dirty="0"/>
          </a:p>
        </p:txBody>
      </p:sp>
      <p:sp>
        <p:nvSpPr>
          <p:cNvPr id="35" name="Shape 32"/>
          <p:cNvSpPr/>
          <p:nvPr/>
        </p:nvSpPr>
        <p:spPr>
          <a:xfrm>
            <a:off x="7772400" y="4096512"/>
            <a:ext cx="3685032" cy="914"/>
          </a:xfrm>
          <a:prstGeom prst="line">
            <a:avLst/>
          </a:prstGeom>
          <a:noFill/>
          <a:ln w="6350">
            <a:solidFill>
              <a:srgbClr val="9FE1CB"/>
            </a:solidFill>
            <a:prstDash val="solid"/>
          </a:ln>
        </p:spPr>
      </p:sp>
      <p:sp>
        <p:nvSpPr>
          <p:cNvPr id="36" name="!!ck4"/>
          <p:cNvSpPr txBox="1"/>
          <p:nvPr/>
        </p:nvSpPr>
        <p:spPr>
          <a:xfrm>
            <a:off x="7772400" y="4142232"/>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Done when</a:t>
            </a:r>
            <a:endParaRPr lang="en-US" sz="1200" dirty="0"/>
          </a:p>
        </p:txBody>
      </p:sp>
      <p:sp>
        <p:nvSpPr>
          <p:cNvPr id="37" name="!!cv4"/>
          <p:cNvSpPr txBox="1"/>
          <p:nvPr/>
        </p:nvSpPr>
        <p:spPr>
          <a:xfrm>
            <a:off x="8915400" y="4142232"/>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every key point has a cited source</a:t>
            </a:r>
            <a:endParaRPr lang="en-US" sz="1200" dirty="0"/>
          </a:p>
        </p:txBody>
      </p:sp>
      <p:sp>
        <p:nvSpPr>
          <p:cNvPr id="38" name="Shape 35"/>
          <p:cNvSpPr/>
          <p:nvPr/>
        </p:nvSpPr>
        <p:spPr>
          <a:xfrm>
            <a:off x="7772400" y="4572000"/>
            <a:ext cx="3685032" cy="914"/>
          </a:xfrm>
          <a:prstGeom prst="line">
            <a:avLst/>
          </a:prstGeom>
          <a:noFill/>
          <a:ln w="6350">
            <a:solidFill>
              <a:srgbClr val="9FE1CB"/>
            </a:solidFill>
            <a:prstDash val="solid"/>
          </a:ln>
        </p:spPr>
      </p:sp>
      <p:sp>
        <p:nvSpPr>
          <p:cNvPr id="39" name="!!ck5"/>
          <p:cNvSpPr txBox="1"/>
          <p:nvPr/>
        </p:nvSpPr>
        <p:spPr>
          <a:xfrm>
            <a:off x="7772400" y="4617720"/>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Limits</a:t>
            </a:r>
            <a:endParaRPr lang="en-US" sz="1200" dirty="0"/>
          </a:p>
        </p:txBody>
      </p:sp>
      <p:sp>
        <p:nvSpPr>
          <p:cNvPr id="40" name="!!cv5"/>
          <p:cNvSpPr txBox="1"/>
          <p:nvPr/>
        </p:nvSpPr>
        <p:spPr>
          <a:xfrm>
            <a:off x="8915400" y="4617720"/>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6 steps · 2 retries · 20k tokens</a:t>
            </a:r>
            <a:endParaRPr lang="en-US" sz="1200" dirty="0"/>
          </a:p>
        </p:txBody>
      </p:sp>
      <p:sp>
        <p:nvSpPr>
          <p:cNvPr id="41" name="Shape 38"/>
          <p:cNvSpPr/>
          <p:nvPr/>
        </p:nvSpPr>
        <p:spPr>
          <a:xfrm>
            <a:off x="7772400" y="5047488"/>
            <a:ext cx="3685032" cy="914"/>
          </a:xfrm>
          <a:prstGeom prst="line">
            <a:avLst/>
          </a:prstGeom>
          <a:noFill/>
          <a:ln w="6350">
            <a:solidFill>
              <a:srgbClr val="9FE1CB"/>
            </a:solidFill>
            <a:prstDash val="solid"/>
          </a:ln>
        </p:spPr>
      </p:sp>
      <p:sp>
        <p:nvSpPr>
          <p:cNvPr id="42" name="!!ck6"/>
          <p:cNvSpPr txBox="1"/>
          <p:nvPr/>
        </p:nvSpPr>
        <p:spPr>
          <a:xfrm>
            <a:off x="7772400" y="5093208"/>
            <a:ext cx="1143000" cy="411480"/>
          </a:xfrm>
          <a:prstGeom prst="rect">
            <a:avLst/>
          </a:prstGeom>
          <a:noFill/>
          <a:ln/>
        </p:spPr>
        <p:txBody>
          <a:bodyPr wrap="square" lIns="0" tIns="0" rIns="0" bIns="0" rtlCol="0" anchor="ctr"/>
          <a:lstStyle/>
          <a:p>
            <a:pPr algn="l" indent="0" marL="0">
              <a:buNone/>
            </a:pPr>
            <a:r>
              <a:rPr lang="en-US" sz="1200" b="1" dirty="0">
                <a:solidFill>
                  <a:srgbClr val="085041"/>
                </a:solidFill>
                <a:latin typeface="Calibri" pitchFamily="34" charset="0"/>
                <a:ea typeface="Calibri" pitchFamily="34" charset="-122"/>
                <a:cs typeface="Calibri" pitchFamily="34" charset="-120"/>
              </a:rPr>
              <a:t>Hands off to</a:t>
            </a:r>
            <a:endParaRPr lang="en-US" sz="1200" dirty="0"/>
          </a:p>
        </p:txBody>
      </p:sp>
      <p:sp>
        <p:nvSpPr>
          <p:cNvPr id="43" name="!!cv6"/>
          <p:cNvSpPr txBox="1"/>
          <p:nvPr/>
        </p:nvSpPr>
        <p:spPr>
          <a:xfrm>
            <a:off x="8915400" y="5093208"/>
            <a:ext cx="2542032" cy="411480"/>
          </a:xfrm>
          <a:prstGeom prst="rect">
            <a:avLst/>
          </a:prstGeom>
          <a:noFill/>
          <a:ln/>
        </p:spPr>
        <p:txBody>
          <a:bodyPr wrap="square" lIns="0" tIns="0" rIns="0" bIns="0" rtlCol="0" anchor="ctr"/>
          <a:lstStyle/>
          <a:p>
            <a:pPr algn="l" indent="0" marL="0">
              <a:buNone/>
            </a:pPr>
            <a:r>
              <a:rPr lang="en-US" sz="1200" dirty="0">
                <a:solidFill>
                  <a:srgbClr val="2C2C2A"/>
                </a:solidFill>
                <a:latin typeface="Calibri" pitchFamily="34" charset="0"/>
                <a:ea typeface="Calibri" pitchFamily="34" charset="-122"/>
                <a:cs typeface="Calibri" pitchFamily="34" charset="-120"/>
              </a:rPr>
              <a:t>Checker</a:t>
            </a:r>
            <a:endParaRPr lang="en-US" sz="1200" dirty="0"/>
          </a:p>
        </p:txBody>
      </p:sp>
      <p:sp>
        <p:nvSpPr>
          <p:cNvPr id="44" name="!!cardcap"/>
          <p:cNvSpPr txBox="1"/>
          <p:nvPr/>
        </p:nvSpPr>
        <p:spPr>
          <a:xfrm>
            <a:off x="7543800" y="5852160"/>
            <a:ext cx="4142232" cy="548640"/>
          </a:xfrm>
          <a:prstGeom prst="rect">
            <a:avLst/>
          </a:prstGeom>
          <a:noFill/>
          <a:ln/>
        </p:spPr>
        <p:txBody>
          <a:bodyPr wrap="square" lIns="0" tIns="0" rIns="0" bIns="0" rtlCol="0" anchor="t"/>
          <a:lstStyle/>
          <a:p>
            <a:pPr algn="l" indent="0" marL="0">
              <a:buNone/>
            </a:pPr>
            <a:r>
              <a:rPr lang="en-US" sz="1250" i="1" dirty="0">
                <a:solidFill>
                  <a:srgbClr val="5F5E5A"/>
                </a:solidFill>
                <a:latin typeface="Calibri" pitchFamily="34" charset="0"/>
                <a:ea typeface="Calibri" pitchFamily="34" charset="-122"/>
                <a:cs typeface="Calibri" pitchFamily="34" charset="-120"/>
              </a:rPr>
              <a:t>Write the role card before the code. If you can't fill it in, the agent's job isn't clear yet.</a:t>
            </a:r>
            <a:endParaRPr lang="en-US" sz="125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LangChain and LangGraph</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Both connect AI steps into a workflow. The difference is the shape: LangChain runs steps in a fixed sequence; LangGraph connects them as a graph, so they can run in any order.</a:t>
            </a:r>
            <a:endParaRPr lang="en-US" sz="1400" dirty="0"/>
          </a:p>
        </p:txBody>
      </p:sp>
      <p:sp>
        <p:nvSpPr>
          <p:cNvPr id="5" name="Text 3"/>
          <p:cNvSpPr/>
          <p:nvPr/>
        </p:nvSpPr>
        <p:spPr>
          <a:xfrm>
            <a:off x="411480" y="1508760"/>
            <a:ext cx="5545836" cy="2395728"/>
          </a:xfrm>
          <a:prstGeom prst="roundRect">
            <a:avLst>
              <a:gd name="adj" fmla="val 3053"/>
            </a:avLst>
          </a:prstGeom>
          <a:solidFill>
            <a:srgbClr val="EEEDFE"/>
          </a:solidFill>
          <a:ln w="15875">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Image 0" descr="/tmp/deck-icons/TbPuzzle_534AB7.png">    </p:cNvPr>
          <p:cNvPicPr>
            <a:picLocks noChangeAspect="1"/>
          </p:cNvPicPr>
          <p:nvPr/>
        </p:nvPicPr>
        <p:blipFill>
          <a:blip r:embed="rId1"/>
          <a:stretch>
            <a:fillRect/>
          </a:stretch>
        </p:blipFill>
        <p:spPr>
          <a:xfrm>
            <a:off x="640080" y="1691640"/>
            <a:ext cx="310896" cy="310896"/>
          </a:xfrm>
          <a:prstGeom prst="rect">
            <a:avLst/>
          </a:prstGeom>
        </p:spPr>
      </p:pic>
      <p:sp>
        <p:nvSpPr>
          <p:cNvPr id="7" name="Text 4"/>
          <p:cNvSpPr txBox="1"/>
          <p:nvPr/>
        </p:nvSpPr>
        <p:spPr>
          <a:xfrm>
            <a:off x="1051560" y="1664208"/>
            <a:ext cx="4722876" cy="365760"/>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LangChain · sequential</a:t>
            </a:r>
            <a:endParaRPr lang="en-US" sz="1700" dirty="0"/>
          </a:p>
        </p:txBody>
      </p:sp>
      <p:sp>
        <p:nvSpPr>
          <p:cNvPr id="8" name="Text 5"/>
          <p:cNvSpPr/>
          <p:nvPr/>
        </p:nvSpPr>
        <p:spPr>
          <a:xfrm>
            <a:off x="742950" y="2221992"/>
            <a:ext cx="960120" cy="438912"/>
          </a:xfrm>
          <a:prstGeom prst="roundRect">
            <a:avLst>
              <a:gd name="adj" fmla="val 20833"/>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Question</a:t>
            </a:r>
            <a:endParaRPr lang="en-US" sz="1250" dirty="0"/>
          </a:p>
        </p:txBody>
      </p:sp>
      <p:sp>
        <p:nvSpPr>
          <p:cNvPr id="9" name="Shape 6"/>
          <p:cNvSpPr/>
          <p:nvPr/>
        </p:nvSpPr>
        <p:spPr>
          <a:xfrm>
            <a:off x="1730502" y="2441448"/>
            <a:ext cx="292608" cy="914"/>
          </a:xfrm>
          <a:prstGeom prst="line">
            <a:avLst/>
          </a:prstGeom>
          <a:noFill/>
          <a:ln w="19050">
            <a:solidFill>
              <a:srgbClr val="534AB7"/>
            </a:solidFill>
            <a:prstDash val="solid"/>
            <a:tailEnd type="triangle"/>
          </a:ln>
        </p:spPr>
      </p:sp>
      <p:sp>
        <p:nvSpPr>
          <p:cNvPr id="10" name="Text 7"/>
          <p:cNvSpPr/>
          <p:nvPr/>
        </p:nvSpPr>
        <p:spPr>
          <a:xfrm>
            <a:off x="2050542" y="2221992"/>
            <a:ext cx="960120" cy="438912"/>
          </a:xfrm>
          <a:prstGeom prst="roundRect">
            <a:avLst>
              <a:gd name="adj" fmla="val 20833"/>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AI model</a:t>
            </a:r>
            <a:endParaRPr lang="en-US" sz="1250" dirty="0"/>
          </a:p>
        </p:txBody>
      </p:sp>
      <p:sp>
        <p:nvSpPr>
          <p:cNvPr id="11" name="Shape 8"/>
          <p:cNvSpPr/>
          <p:nvPr/>
        </p:nvSpPr>
        <p:spPr>
          <a:xfrm>
            <a:off x="3038094" y="2441448"/>
            <a:ext cx="292608" cy="914"/>
          </a:xfrm>
          <a:prstGeom prst="line">
            <a:avLst/>
          </a:prstGeom>
          <a:noFill/>
          <a:ln w="19050">
            <a:solidFill>
              <a:srgbClr val="534AB7"/>
            </a:solidFill>
            <a:prstDash val="solid"/>
            <a:tailEnd type="triangle"/>
          </a:ln>
        </p:spPr>
      </p:sp>
      <p:sp>
        <p:nvSpPr>
          <p:cNvPr id="12" name="Text 9"/>
          <p:cNvSpPr/>
          <p:nvPr/>
        </p:nvSpPr>
        <p:spPr>
          <a:xfrm>
            <a:off x="3358134" y="2221992"/>
            <a:ext cx="960120" cy="438912"/>
          </a:xfrm>
          <a:prstGeom prst="roundRect">
            <a:avLst>
              <a:gd name="adj" fmla="val 20833"/>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Tool</a:t>
            </a:r>
            <a:endParaRPr lang="en-US" sz="1250" dirty="0"/>
          </a:p>
        </p:txBody>
      </p:sp>
      <p:sp>
        <p:nvSpPr>
          <p:cNvPr id="13" name="Shape 10"/>
          <p:cNvSpPr/>
          <p:nvPr/>
        </p:nvSpPr>
        <p:spPr>
          <a:xfrm>
            <a:off x="4345686" y="2441448"/>
            <a:ext cx="292608" cy="914"/>
          </a:xfrm>
          <a:prstGeom prst="line">
            <a:avLst/>
          </a:prstGeom>
          <a:noFill/>
          <a:ln w="19050">
            <a:solidFill>
              <a:srgbClr val="534AB7"/>
            </a:solidFill>
            <a:prstDash val="solid"/>
            <a:tailEnd type="triangle"/>
          </a:ln>
        </p:spPr>
      </p:sp>
      <p:sp>
        <p:nvSpPr>
          <p:cNvPr id="14" name="Text 11"/>
          <p:cNvSpPr/>
          <p:nvPr/>
        </p:nvSpPr>
        <p:spPr>
          <a:xfrm>
            <a:off x="4665726" y="2221992"/>
            <a:ext cx="960120" cy="438912"/>
          </a:xfrm>
          <a:prstGeom prst="roundRect">
            <a:avLst>
              <a:gd name="adj" fmla="val 20833"/>
            </a:avLst>
          </a:prstGeom>
          <a:solidFill>
            <a:srgbClr val="FFFFFF"/>
          </a:solidFill>
          <a:ln w="12700">
            <a:solidFill>
              <a:srgbClr val="534AB7"/>
            </a:solidFill>
            <a:prstDash val="solid"/>
          </a:ln>
        </p:spPr>
        <p:txBody>
          <a:bodyPr wrap="square" lIns="0" tIns="0" rIns="0" bIns="0" rtlCol="0" anchor="ctr"/>
          <a:lstStyle/>
          <a:p>
            <a:pPr algn="ctr" indent="0" marL="0">
              <a:buNone/>
            </a:pPr>
            <a:r>
              <a:rPr lang="en-US" sz="1250" b="1" dirty="0">
                <a:solidFill>
                  <a:srgbClr val="3C3489"/>
                </a:solidFill>
                <a:latin typeface="Calibri" pitchFamily="34" charset="0"/>
                <a:ea typeface="Calibri" pitchFamily="34" charset="-122"/>
                <a:cs typeface="Calibri" pitchFamily="34" charset="-120"/>
              </a:rPr>
              <a:t>Answer</a:t>
            </a:r>
            <a:endParaRPr lang="en-US" sz="1250" dirty="0"/>
          </a:p>
        </p:txBody>
      </p:sp>
      <p:sp>
        <p:nvSpPr>
          <p:cNvPr id="15" name="Text 12"/>
          <p:cNvSpPr txBox="1"/>
          <p:nvPr/>
        </p:nvSpPr>
        <p:spPr>
          <a:xfrm>
            <a:off x="640080" y="2990088"/>
            <a:ext cx="5088636" cy="274320"/>
          </a:xfrm>
          <a:prstGeom prst="rect">
            <a:avLst/>
          </a:prstGeom>
          <a:noFill/>
          <a:ln/>
        </p:spPr>
        <p:txBody>
          <a:bodyPr wrap="square" lIns="0" tIns="0" rIns="0" bIns="0" rtlCol="0" anchor="t"/>
          <a:lstStyle/>
          <a:p>
            <a:pPr algn="ctr" indent="0" marL="0">
              <a:buNone/>
            </a:pPr>
            <a:r>
              <a:rPr lang="en-US" sz="1200" i="1" dirty="0">
                <a:solidFill>
                  <a:srgbClr val="3C3489"/>
                </a:solidFill>
                <a:latin typeface="Calibri" pitchFamily="34" charset="0"/>
                <a:ea typeface="Calibri" pitchFamily="34" charset="-122"/>
                <a:cs typeface="Calibri" pitchFamily="34" charset="-120"/>
              </a:rPr>
              <a:t>Fixed order: each step runs once, one after another.</a:t>
            </a:r>
            <a:endParaRPr lang="en-US" sz="1200" dirty="0"/>
          </a:p>
        </p:txBody>
      </p:sp>
      <p:sp>
        <p:nvSpPr>
          <p:cNvPr id="16" name="Text 13"/>
          <p:cNvSpPr txBox="1"/>
          <p:nvPr/>
        </p:nvSpPr>
        <p:spPr>
          <a:xfrm>
            <a:off x="640080" y="3310128"/>
            <a:ext cx="5088636" cy="548640"/>
          </a:xfrm>
          <a:prstGeom prst="rect">
            <a:avLst/>
          </a:prstGeom>
          <a:noFill/>
          <a:ln/>
        </p:spPr>
        <p:txBody>
          <a:bodyPr wrap="square" lIns="0" tIns="0" rIns="0" bIns="0" rtlCol="0" anchor="t"/>
          <a:lstStyle/>
          <a:p>
            <a:pPr algn="l" indent="0" marL="0">
              <a:buNone/>
            </a:pPr>
            <a:r>
              <a:rPr lang="en-US" sz="1250" dirty="0">
                <a:solidFill>
                  <a:srgbClr val="2C2C2A"/>
                </a:solidFill>
                <a:latin typeface="Calibri" pitchFamily="34" charset="0"/>
                <a:ea typeface="Calibri" pitchFamily="34" charset="-122"/>
                <a:cs typeface="Calibri" pitchFamily="34" charset="-120"/>
              </a:rPr>
              <a:t>Best when the steps are known up front and never change order, like finding the right document and answering a question.</a:t>
            </a:r>
            <a:endParaRPr lang="en-US" sz="1250" dirty="0"/>
          </a:p>
        </p:txBody>
      </p:sp>
      <p:sp>
        <p:nvSpPr>
          <p:cNvPr id="17" name="Text 14"/>
          <p:cNvSpPr/>
          <p:nvPr/>
        </p:nvSpPr>
        <p:spPr>
          <a:xfrm>
            <a:off x="6231636" y="1508760"/>
            <a:ext cx="5545836" cy="2395728"/>
          </a:xfrm>
          <a:prstGeom prst="roundRect">
            <a:avLst>
              <a:gd name="adj" fmla="val 3053"/>
            </a:avLst>
          </a:prstGeom>
          <a:solidFill>
            <a:srgbClr val="E1F5EE"/>
          </a:solidFill>
          <a:ln w="15875">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8" name="Image 1" descr="/tmp/deck-icons/TbGitBranch_0F6E56.png">    </p:cNvPr>
          <p:cNvPicPr>
            <a:picLocks noChangeAspect="1"/>
          </p:cNvPicPr>
          <p:nvPr/>
        </p:nvPicPr>
        <p:blipFill>
          <a:blip r:embed="rId2"/>
          <a:stretch>
            <a:fillRect/>
          </a:stretch>
        </p:blipFill>
        <p:spPr>
          <a:xfrm>
            <a:off x="6460236" y="1691640"/>
            <a:ext cx="310896" cy="310896"/>
          </a:xfrm>
          <a:prstGeom prst="rect">
            <a:avLst/>
          </a:prstGeom>
        </p:spPr>
      </p:pic>
      <p:sp>
        <p:nvSpPr>
          <p:cNvPr id="19" name="Text 15"/>
          <p:cNvSpPr txBox="1"/>
          <p:nvPr/>
        </p:nvSpPr>
        <p:spPr>
          <a:xfrm>
            <a:off x="6871716" y="1664208"/>
            <a:ext cx="4722876" cy="365760"/>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LangGraph · non-sequential (a graph)</a:t>
            </a:r>
            <a:endParaRPr lang="en-US" sz="1700" dirty="0"/>
          </a:p>
        </p:txBody>
      </p:sp>
      <p:sp>
        <p:nvSpPr>
          <p:cNvPr id="20" name="Text 16"/>
          <p:cNvSpPr/>
          <p:nvPr/>
        </p:nvSpPr>
        <p:spPr>
          <a:xfrm>
            <a:off x="6643116" y="2221992"/>
            <a:ext cx="960120" cy="438912"/>
          </a:xfrm>
          <a:prstGeom prst="roundRect">
            <a:avLst>
              <a:gd name="adj" fmla="val 20833"/>
            </a:avLst>
          </a:prstGeom>
          <a:solidFill>
            <a:srgbClr val="FFFFFF"/>
          </a:solidFill>
          <a:ln w="12700">
            <a:solidFill>
              <a:srgbClr val="0F6E56"/>
            </a:solidFill>
            <a:prstDash val="solid"/>
          </a:ln>
        </p:spPr>
        <p:txBody>
          <a:bodyPr wrap="square" lIns="0" tIns="0" rIns="0" bIns="0" rtlCol="0" anchor="ctr"/>
          <a:lstStyle/>
          <a:p>
            <a:pPr algn="ctr" indent="0" marL="0">
              <a:buNone/>
            </a:pPr>
            <a:r>
              <a:rPr lang="en-US" sz="1250" b="1" dirty="0">
                <a:solidFill>
                  <a:srgbClr val="085041"/>
                </a:solidFill>
                <a:latin typeface="Calibri" pitchFamily="34" charset="0"/>
                <a:ea typeface="Calibri" pitchFamily="34" charset="-122"/>
                <a:cs typeface="Calibri" pitchFamily="34" charset="-120"/>
              </a:rPr>
              <a:t>Plan</a:t>
            </a:r>
            <a:endParaRPr lang="en-US" sz="1250" dirty="0"/>
          </a:p>
        </p:txBody>
      </p:sp>
      <p:sp>
        <p:nvSpPr>
          <p:cNvPr id="21" name="Shape 17"/>
          <p:cNvSpPr/>
          <p:nvPr/>
        </p:nvSpPr>
        <p:spPr>
          <a:xfrm>
            <a:off x="7630668" y="2441448"/>
            <a:ext cx="292608" cy="914"/>
          </a:xfrm>
          <a:prstGeom prst="line">
            <a:avLst/>
          </a:prstGeom>
          <a:noFill/>
          <a:ln w="19050">
            <a:solidFill>
              <a:srgbClr val="0F6E56"/>
            </a:solidFill>
            <a:prstDash val="solid"/>
            <a:tailEnd type="triangle"/>
          </a:ln>
        </p:spPr>
      </p:sp>
      <p:sp>
        <p:nvSpPr>
          <p:cNvPr id="22" name="Text 18"/>
          <p:cNvSpPr/>
          <p:nvPr/>
        </p:nvSpPr>
        <p:spPr>
          <a:xfrm>
            <a:off x="7950708" y="2221992"/>
            <a:ext cx="960120" cy="438912"/>
          </a:xfrm>
          <a:prstGeom prst="roundRect">
            <a:avLst>
              <a:gd name="adj" fmla="val 20833"/>
            </a:avLst>
          </a:prstGeom>
          <a:solidFill>
            <a:srgbClr val="FFFFFF"/>
          </a:solidFill>
          <a:ln w="12700">
            <a:solidFill>
              <a:srgbClr val="0F6E56"/>
            </a:solidFill>
            <a:prstDash val="solid"/>
          </a:ln>
        </p:spPr>
        <p:txBody>
          <a:bodyPr wrap="square" lIns="0" tIns="0" rIns="0" bIns="0" rtlCol="0" anchor="ctr"/>
          <a:lstStyle/>
          <a:p>
            <a:pPr algn="ctr" indent="0" marL="0">
              <a:buNone/>
            </a:pPr>
            <a:r>
              <a:rPr lang="en-US" sz="1250" b="1" dirty="0">
                <a:solidFill>
                  <a:srgbClr val="085041"/>
                </a:solidFill>
                <a:latin typeface="Calibri" pitchFamily="34" charset="0"/>
                <a:ea typeface="Calibri" pitchFamily="34" charset="-122"/>
                <a:cs typeface="Calibri" pitchFamily="34" charset="-120"/>
              </a:rPr>
              <a:t>Do</a:t>
            </a:r>
            <a:endParaRPr lang="en-US" sz="1250" dirty="0"/>
          </a:p>
        </p:txBody>
      </p:sp>
      <p:sp>
        <p:nvSpPr>
          <p:cNvPr id="23" name="Shape 19"/>
          <p:cNvSpPr/>
          <p:nvPr/>
        </p:nvSpPr>
        <p:spPr>
          <a:xfrm>
            <a:off x="8938260" y="2441448"/>
            <a:ext cx="292608" cy="914"/>
          </a:xfrm>
          <a:prstGeom prst="line">
            <a:avLst/>
          </a:prstGeom>
          <a:noFill/>
          <a:ln w="19050">
            <a:solidFill>
              <a:srgbClr val="0F6E56"/>
            </a:solidFill>
            <a:prstDash val="solid"/>
            <a:tailEnd type="triangle"/>
          </a:ln>
        </p:spPr>
      </p:sp>
      <p:sp>
        <p:nvSpPr>
          <p:cNvPr id="24" name="Text 20"/>
          <p:cNvSpPr/>
          <p:nvPr/>
        </p:nvSpPr>
        <p:spPr>
          <a:xfrm>
            <a:off x="9258300" y="2221992"/>
            <a:ext cx="960120" cy="438912"/>
          </a:xfrm>
          <a:prstGeom prst="roundRect">
            <a:avLst>
              <a:gd name="adj" fmla="val 20833"/>
            </a:avLst>
          </a:prstGeom>
          <a:solidFill>
            <a:srgbClr val="FFFFFF"/>
          </a:solidFill>
          <a:ln w="12700">
            <a:solidFill>
              <a:srgbClr val="0F6E56"/>
            </a:solidFill>
            <a:prstDash val="solid"/>
          </a:ln>
        </p:spPr>
        <p:txBody>
          <a:bodyPr wrap="square" lIns="0" tIns="0" rIns="0" bIns="0" rtlCol="0" anchor="ctr"/>
          <a:lstStyle/>
          <a:p>
            <a:pPr algn="ctr" indent="0" marL="0">
              <a:buNone/>
            </a:pPr>
            <a:r>
              <a:rPr lang="en-US" sz="1250" b="1" dirty="0">
                <a:solidFill>
                  <a:srgbClr val="085041"/>
                </a:solidFill>
                <a:latin typeface="Calibri" pitchFamily="34" charset="0"/>
                <a:ea typeface="Calibri" pitchFamily="34" charset="-122"/>
                <a:cs typeface="Calibri" pitchFamily="34" charset="-120"/>
              </a:rPr>
              <a:t>Check</a:t>
            </a:r>
            <a:endParaRPr lang="en-US" sz="1250" dirty="0"/>
          </a:p>
        </p:txBody>
      </p:sp>
      <p:sp>
        <p:nvSpPr>
          <p:cNvPr id="25" name="Shape 21"/>
          <p:cNvSpPr/>
          <p:nvPr/>
        </p:nvSpPr>
        <p:spPr>
          <a:xfrm>
            <a:off x="10245852" y="2441448"/>
            <a:ext cx="292608" cy="914"/>
          </a:xfrm>
          <a:prstGeom prst="line">
            <a:avLst/>
          </a:prstGeom>
          <a:noFill/>
          <a:ln w="19050">
            <a:solidFill>
              <a:srgbClr val="0F6E56"/>
            </a:solidFill>
            <a:prstDash val="solid"/>
            <a:tailEnd type="triangle"/>
          </a:ln>
        </p:spPr>
      </p:sp>
      <p:sp>
        <p:nvSpPr>
          <p:cNvPr id="26" name="Text 22"/>
          <p:cNvSpPr/>
          <p:nvPr/>
        </p:nvSpPr>
        <p:spPr>
          <a:xfrm>
            <a:off x="10565892" y="2258568"/>
            <a:ext cx="777240" cy="365760"/>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1150" b="1" dirty="0">
                <a:solidFill>
                  <a:srgbClr val="085041"/>
                </a:solidFill>
                <a:latin typeface="Calibri" pitchFamily="34" charset="0"/>
                <a:ea typeface="Calibri" pitchFamily="34" charset="-122"/>
                <a:cs typeface="Calibri" pitchFamily="34" charset="-120"/>
              </a:rPr>
              <a:t>✓ Done</a:t>
            </a:r>
            <a:endParaRPr lang="en-US" sz="1150" dirty="0"/>
          </a:p>
        </p:txBody>
      </p:sp>
      <p:sp>
        <p:nvSpPr>
          <p:cNvPr id="27" name="Shape 23"/>
          <p:cNvSpPr/>
          <p:nvPr/>
        </p:nvSpPr>
        <p:spPr>
          <a:xfrm>
            <a:off x="9738360" y="2679192"/>
            <a:ext cx="914" cy="164592"/>
          </a:xfrm>
          <a:prstGeom prst="line">
            <a:avLst/>
          </a:prstGeom>
          <a:noFill/>
          <a:ln w="15875">
            <a:solidFill>
              <a:srgbClr val="993C1D"/>
            </a:solidFill>
            <a:prstDash val="dash"/>
          </a:ln>
        </p:spPr>
      </p:sp>
      <p:sp>
        <p:nvSpPr>
          <p:cNvPr id="28" name="Shape 24"/>
          <p:cNvSpPr/>
          <p:nvPr/>
        </p:nvSpPr>
        <p:spPr>
          <a:xfrm flipH="1">
            <a:off x="8430768" y="2843784"/>
            <a:ext cx="1307592" cy="914"/>
          </a:xfrm>
          <a:prstGeom prst="line">
            <a:avLst/>
          </a:prstGeom>
          <a:noFill/>
          <a:ln w="15875">
            <a:solidFill>
              <a:srgbClr val="993C1D"/>
            </a:solidFill>
            <a:prstDash val="dash"/>
          </a:ln>
        </p:spPr>
      </p:sp>
      <p:sp>
        <p:nvSpPr>
          <p:cNvPr id="29" name="Shape 25"/>
          <p:cNvSpPr/>
          <p:nvPr/>
        </p:nvSpPr>
        <p:spPr>
          <a:xfrm flipV="1">
            <a:off x="8430768" y="2679192"/>
            <a:ext cx="914" cy="164592"/>
          </a:xfrm>
          <a:prstGeom prst="line">
            <a:avLst/>
          </a:prstGeom>
          <a:noFill/>
          <a:ln w="15875">
            <a:solidFill>
              <a:srgbClr val="993C1D"/>
            </a:solidFill>
            <a:prstDash val="dash"/>
            <a:tailEnd type="triangle"/>
          </a:ln>
        </p:spPr>
      </p:sp>
      <p:sp>
        <p:nvSpPr>
          <p:cNvPr id="30" name="Text 26"/>
          <p:cNvSpPr txBox="1"/>
          <p:nvPr/>
        </p:nvSpPr>
        <p:spPr>
          <a:xfrm>
            <a:off x="8627364" y="2852928"/>
            <a:ext cx="914400" cy="228600"/>
          </a:xfrm>
          <a:prstGeom prst="rect">
            <a:avLst/>
          </a:prstGeom>
          <a:noFill/>
          <a:ln/>
        </p:spPr>
        <p:txBody>
          <a:bodyPr wrap="square" lIns="0" tIns="0" rIns="0" bIns="0" rtlCol="0" anchor="t"/>
          <a:lstStyle/>
          <a:p>
            <a:pPr algn="ctr" indent="0" marL="0">
              <a:buNone/>
            </a:pPr>
            <a:r>
              <a:rPr lang="en-US" sz="1050" b="1" dirty="0">
                <a:solidFill>
                  <a:srgbClr val="712B13"/>
                </a:solidFill>
                <a:latin typeface="Calibri" pitchFamily="34" charset="0"/>
                <a:ea typeface="Calibri" pitchFamily="34" charset="-122"/>
                <a:cs typeface="Calibri" pitchFamily="34" charset="-120"/>
              </a:rPr>
              <a:t>✗ try again</a:t>
            </a:r>
            <a:endParaRPr lang="en-US" sz="1050" dirty="0"/>
          </a:p>
        </p:txBody>
      </p:sp>
      <p:sp>
        <p:nvSpPr>
          <p:cNvPr id="31" name="Text 27"/>
          <p:cNvSpPr txBox="1"/>
          <p:nvPr/>
        </p:nvSpPr>
        <p:spPr>
          <a:xfrm>
            <a:off x="6460236" y="2990088"/>
            <a:ext cx="5088636" cy="274320"/>
          </a:xfrm>
          <a:prstGeom prst="rect">
            <a:avLst/>
          </a:prstGeom>
          <a:noFill/>
          <a:ln/>
        </p:spPr>
        <p:txBody>
          <a:bodyPr wrap="square" lIns="0" tIns="0" rIns="0" bIns="0" rtlCol="0" anchor="t"/>
          <a:lstStyle/>
          <a:p>
            <a:pPr algn="ctr" indent="0" marL="0">
              <a:buNone/>
            </a:pPr>
            <a:r>
              <a:rPr lang="en-US" sz="1200" i="1" dirty="0">
                <a:solidFill>
                  <a:srgbClr val="085041"/>
                </a:solidFill>
                <a:latin typeface="Calibri" pitchFamily="34" charset="0"/>
                <a:ea typeface="Calibri" pitchFamily="34" charset="-122"/>
                <a:cs typeface="Calibri" pitchFamily="34" charset="-120"/>
              </a:rPr>
              <a:t>Any order: steps can loop back, branch, run in parallel or wait for a person.</a:t>
            </a:r>
            <a:endParaRPr lang="en-US" sz="1200" dirty="0"/>
          </a:p>
        </p:txBody>
      </p:sp>
      <p:sp>
        <p:nvSpPr>
          <p:cNvPr id="32" name="Text 28"/>
          <p:cNvSpPr txBox="1"/>
          <p:nvPr/>
        </p:nvSpPr>
        <p:spPr>
          <a:xfrm>
            <a:off x="6460236" y="3310128"/>
            <a:ext cx="5088636" cy="548640"/>
          </a:xfrm>
          <a:prstGeom prst="rect">
            <a:avLst/>
          </a:prstGeom>
          <a:noFill/>
          <a:ln/>
        </p:spPr>
        <p:txBody>
          <a:bodyPr wrap="square" lIns="0" tIns="0" rIns="0" bIns="0" rtlCol="0" anchor="t"/>
          <a:lstStyle/>
          <a:p>
            <a:pPr algn="l" indent="0" marL="0">
              <a:buNone/>
            </a:pPr>
            <a:r>
              <a:rPr lang="en-US" sz="1250" dirty="0">
                <a:solidFill>
                  <a:srgbClr val="2C2C2A"/>
                </a:solidFill>
                <a:latin typeface="Calibri" pitchFamily="34" charset="0"/>
                <a:ea typeface="Calibri" pitchFamily="34" charset="-122"/>
                <a:cs typeface="Calibri" pitchFamily="34" charset="-120"/>
              </a:rPr>
              <a:t>Best when the next step depends on the result: try again, pick a path, or hand over to another agent. Built for multi-agent teams.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4069080"/>
          <a:ext cx="11365992" cy="914400"/>
        </p:xfrm>
        <a:graphic>
          <a:graphicData uri="http://schemas.openxmlformats.org/drawingml/2006/table">
            <a:tbl>
              <a:tblPr/>
              <a:tblGrid>
                <a:gridCol w="2130552"/>
                <a:gridCol w="4617720"/>
                <a:gridCol w="4617720"/>
              </a:tblGrid>
              <a:tr h="310896">
                <a:tc>
                  <a:txBody>
                    <a:bodyPr/>
                    <a:lstStyle/>
                    <a:p>
                      <a:pPr indent="0" marL="0">
                        <a:buNone/>
                      </a:pP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300" b="1" dirty="0">
                          <a:solidFill>
                            <a:srgbClr val="3C3489"/>
                          </a:solidFill>
                          <a:latin typeface="Calibri" pitchFamily="34" charset="0"/>
                          <a:ea typeface="Calibri" pitchFamily="34" charset="-122"/>
                          <a:cs typeface="Calibri" pitchFamily="34" charset="-120"/>
                        </a:rPr>
                        <a:t>LangChain</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c>
                  <a:txBody>
                    <a:bodyPr/>
                    <a:lstStyle/>
                    <a:p>
                      <a:pPr indent="0" marL="0">
                        <a:buNone/>
                      </a:pPr>
                      <a:r>
                        <a:rPr lang="en-US" sz="1300" b="1" dirty="0">
                          <a:solidFill>
                            <a:srgbClr val="085041"/>
                          </a:solidFill>
                          <a:latin typeface="Calibri" pitchFamily="34" charset="0"/>
                          <a:ea typeface="Calibri" pitchFamily="34" charset="-122"/>
                          <a:cs typeface="Calibri" pitchFamily="34" charset="-120"/>
                        </a:rPr>
                        <a:t>LangGraph</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1F5EE"/>
                    </a:solidFill>
                  </a:tcPr>
                </a:tc>
              </a:tr>
              <a:tr h="310896">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How steps run</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fixed sequence: A → B → C</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A graph: loops, branches, parallel steps</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10896">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Passed along from step to step</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One shared state, saved after every step</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10896">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Human approval</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Hard to pause halfway</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Built in: pause, approve, then carry on</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10896">
                <a:tc>
                  <a:txBody>
                    <a:bodyPr/>
                    <a:lstStyle/>
                    <a:p>
                      <a:pPr indent="0" marL="0">
                        <a:buNone/>
                      </a:pPr>
                      <a:r>
                        <a:rPr lang="en-US" sz="1300" b="1" dirty="0">
                          <a:solidFill>
                            <a:srgbClr val="2C2C2A"/>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Simple pipelines and document Q&amp;A</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300" dirty="0">
                          <a:solidFill>
                            <a:srgbClr val="2C2C2A"/>
                          </a:solidFill>
                          <a:latin typeface="Calibri" pitchFamily="34" charset="0"/>
                          <a:ea typeface="Calibri" pitchFamily="34" charset="-122"/>
                          <a:cs typeface="Calibri" pitchFamily="34" charset="-120"/>
                        </a:rPr>
                        <a:t>Multi-agent teams and self-correcting loops</a:t>
                      </a:r>
                      <a:endParaRPr lang="en-US" sz="1300" dirty="0">
                        <a:latin typeface="Calibri" charset="0"/>
                        <a:ea typeface="Calibri" charset="0"/>
                        <a:cs typeface="Calibri" charset="0"/>
                      </a:endParaRPr>
                    </a:p>
                  </a:txBody>
                  <a:tcPr marL="101600" marR="101600" marT="38100" marB="381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34" name="Text 29"/>
          <p:cNvSpPr txBox="1"/>
          <p:nvPr/>
        </p:nvSpPr>
        <p:spPr>
          <a:xfrm>
            <a:off x="411480" y="5833872"/>
            <a:ext cx="11365992" cy="36576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Both connect the steps: LangChain in a straight line, LangGraph in any shape.</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LangChain and LangGraph – Reading the Graph</a:t>
            </a:r>
            <a:endParaRPr lang="en-US" sz="2600" dirty="0"/>
          </a:p>
        </p:txBody>
      </p:sp>
      <p:sp>
        <p:nvSpPr>
          <p:cNvPr id="3" name="Shape 1"/>
          <p:cNvSpPr/>
          <p:nvPr/>
        </p:nvSpPr>
        <p:spPr>
          <a:xfrm>
            <a:off x="411480" y="804672"/>
            <a:ext cx="11365992" cy="0"/>
          </a:xfrm>
          <a:prstGeom prst="line">
            <a:avLst/>
          </a:prstGeom>
          <a:noFill/>
          <a:ln w="9525">
            <a:solidFill>
              <a:srgbClr val="7F7F7F"/>
            </a:solidFill>
            <a:prstDash val="solid"/>
          </a:ln>
        </p:spPr>
      </p:sp>
      <p:sp>
        <p:nvSpPr>
          <p:cNvPr id="4" name="Text 2"/>
          <p:cNvSpPr txBox="1"/>
          <p:nvPr/>
        </p:nvSpPr>
        <p:spPr>
          <a:xfrm>
            <a:off x="411480" y="886968"/>
            <a:ext cx="11338560" cy="438912"/>
          </a:xfrm>
          <a:prstGeom prst="rect">
            <a:avLst/>
          </a:prstGeom>
          <a:noFill/>
          <a:ln/>
        </p:spPr>
        <p:txBody>
          <a:bodyPr wrap="square" lIns="0" tIns="0" rIns="0" bIns="0" rtlCol="0" anchor="t"/>
          <a:lstStyle/>
          <a:p>
            <a:pPr algn="l" indent="0" marL="0">
              <a:buNone/>
            </a:pPr>
            <a:r>
              <a:rPr lang="en-US" sz="1400" dirty="0">
                <a:solidFill>
                  <a:srgbClr val="404040"/>
                </a:solidFill>
                <a:latin typeface="Arial" pitchFamily="34" charset="0"/>
                <a:ea typeface="Arial" pitchFamily="34" charset="-122"/>
                <a:cs typeface="Arial" pitchFamily="34" charset="-120"/>
              </a:rPr>
              <a:t>A LangGraph flow is drawn as a graph. Each numbered part on the left is explained on the right.</a:t>
            </a:r>
            <a:endParaRPr lang="en-US" sz="1400" dirty="0"/>
          </a:p>
        </p:txBody>
      </p:sp>
      <p:sp>
        <p:nvSpPr>
          <p:cNvPr id="5" name="Text 3"/>
          <p:cNvSpPr/>
          <p:nvPr/>
        </p:nvSpPr>
        <p:spPr>
          <a:xfrm>
            <a:off x="2011680" y="1600200"/>
            <a:ext cx="1005840" cy="329184"/>
          </a:xfrm>
          <a:prstGeom prst="roundRect">
            <a:avLst>
              <a:gd name="adj" fmla="val 50000"/>
            </a:avLst>
          </a:prstGeom>
          <a:solidFill>
            <a:srgbClr val="F1EFE8"/>
          </a:solidFill>
          <a:ln w="12700">
            <a:solidFill>
              <a:srgbClr val="888780"/>
            </a:solidFill>
            <a:prstDash val="solid"/>
          </a:ln>
        </p:spPr>
        <p:txBody>
          <a:bodyPr wrap="square" lIns="0" tIns="0" rIns="0" bIns="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START</a:t>
            </a:r>
            <a:endParaRPr lang="en-US" sz="1100" dirty="0"/>
          </a:p>
        </p:txBody>
      </p:sp>
      <p:sp>
        <p:nvSpPr>
          <p:cNvPr id="6" name="Shape 4"/>
          <p:cNvSpPr/>
          <p:nvPr/>
        </p:nvSpPr>
        <p:spPr>
          <a:xfrm>
            <a:off x="2514600" y="1929384"/>
            <a:ext cx="914" cy="310896"/>
          </a:xfrm>
          <a:prstGeom prst="line">
            <a:avLst/>
          </a:prstGeom>
          <a:noFill/>
          <a:ln w="19050">
            <a:solidFill>
              <a:srgbClr val="5F5E5A"/>
            </a:solidFill>
            <a:prstDash val="solid"/>
            <a:tailEnd type="triangle"/>
          </a:ln>
        </p:spPr>
      </p:sp>
      <p:sp>
        <p:nvSpPr>
          <p:cNvPr id="7" name="Text 5"/>
          <p:cNvSpPr/>
          <p:nvPr/>
        </p:nvSpPr>
        <p:spPr>
          <a:xfrm>
            <a:off x="1554480" y="2240280"/>
            <a:ext cx="1920240" cy="685800"/>
          </a:xfrm>
          <a:prstGeom prst="roundRect">
            <a:avLst>
              <a:gd name="adj" fmla="val 13333"/>
            </a:avLst>
          </a:prstGeom>
          <a:solidFill>
            <a:srgbClr val="E1F5EE"/>
          </a:solidFill>
          <a:ln w="15875">
            <a:solidFill>
              <a:srgbClr val="0F6E56"/>
            </a:solidFill>
            <a:prstDash val="solid"/>
          </a:ln>
        </p:spPr>
        <p:txBody>
          <a:bodyPr wrap="square" lIns="50800" tIns="50800" rIns="50800" bIns="50800" rtlCol="0" anchor="ctr"/>
          <a:lstStyle/>
          <a:p>
            <a:pPr algn="ctr" indent="0" marL="0">
              <a:buNone/>
            </a:pPr>
            <a:r>
              <a:rPr lang="en-US" sz="1500" b="1" dirty="0">
                <a:solidFill>
                  <a:srgbClr val="085041"/>
                </a:solidFill>
                <a:latin typeface="Calibri" pitchFamily="34" charset="0"/>
                <a:ea typeface="Calibri" pitchFamily="34" charset="-122"/>
                <a:cs typeface="Calibri" pitchFamily="34" charset="-120"/>
              </a:rPr>
              <a:t>Worker</a:t>
            </a:r>
            <a:endParaRPr lang="en-US" sz="1200" dirty="0"/>
          </a:p>
          <a:p>
            <a:pPr algn="ctr" indent="0" marL="0">
              <a:buNone/>
            </a:pPr>
            <a:r>
              <a:rPr lang="en-US" sz="1100" dirty="0">
                <a:solidFill>
                  <a:srgbClr val="085041"/>
                </a:solidFill>
                <a:latin typeface="Calibri" pitchFamily="34" charset="0"/>
                <a:ea typeface="Calibri" pitchFamily="34" charset="-122"/>
                <a:cs typeface="Calibri" pitchFamily="34" charset="-120"/>
              </a:rPr>
              <a:t>does the job</a:t>
            </a:r>
            <a:endParaRPr lang="en-US" sz="1200" dirty="0"/>
          </a:p>
        </p:txBody>
      </p:sp>
      <p:sp>
        <p:nvSpPr>
          <p:cNvPr id="8" name="Shape 6"/>
          <p:cNvSpPr/>
          <p:nvPr/>
        </p:nvSpPr>
        <p:spPr>
          <a:xfrm>
            <a:off x="2514600" y="2926080"/>
            <a:ext cx="914" cy="502920"/>
          </a:xfrm>
          <a:prstGeom prst="line">
            <a:avLst/>
          </a:prstGeom>
          <a:noFill/>
          <a:ln w="19050">
            <a:solidFill>
              <a:srgbClr val="5F5E5A"/>
            </a:solidFill>
            <a:prstDash val="solid"/>
            <a:tailEnd type="triangle"/>
          </a:ln>
        </p:spPr>
      </p:sp>
      <p:sp>
        <p:nvSpPr>
          <p:cNvPr id="9" name="Text 7"/>
          <p:cNvSpPr/>
          <p:nvPr/>
        </p:nvSpPr>
        <p:spPr>
          <a:xfrm>
            <a:off x="1554480" y="3429000"/>
            <a:ext cx="1920240" cy="685800"/>
          </a:xfrm>
          <a:prstGeom prst="roundRect">
            <a:avLst>
              <a:gd name="adj" fmla="val 13333"/>
            </a:avLst>
          </a:prstGeom>
          <a:solidFill>
            <a:srgbClr val="FAECE7"/>
          </a:solidFill>
          <a:ln w="15875">
            <a:solidFill>
              <a:srgbClr val="993C1D"/>
            </a:solidFill>
            <a:prstDash val="solid"/>
          </a:ln>
        </p:spPr>
        <p:txBody>
          <a:bodyPr wrap="square" lIns="50800" tIns="50800" rIns="50800" bIns="50800" rtlCol="0" anchor="ctr"/>
          <a:lstStyle/>
          <a:p>
            <a:pPr algn="ctr" indent="0" marL="0">
              <a:buNone/>
            </a:pPr>
            <a:r>
              <a:rPr lang="en-US" sz="1500" b="1" dirty="0">
                <a:solidFill>
                  <a:srgbClr val="712B13"/>
                </a:solidFill>
                <a:latin typeface="Calibri" pitchFamily="34" charset="0"/>
                <a:ea typeface="Calibri" pitchFamily="34" charset="-122"/>
                <a:cs typeface="Calibri" pitchFamily="34" charset="-120"/>
              </a:rPr>
              <a:t>Checker</a:t>
            </a:r>
            <a:endParaRPr lang="en-US" sz="1200" dirty="0"/>
          </a:p>
          <a:p>
            <a:pPr algn="ctr" indent="0" marL="0">
              <a:buNone/>
            </a:pPr>
            <a:r>
              <a:rPr lang="en-US" sz="1100" dirty="0">
                <a:solidFill>
                  <a:srgbClr val="712B13"/>
                </a:solidFill>
                <a:latin typeface="Calibri" pitchFamily="34" charset="0"/>
                <a:ea typeface="Calibri" pitchFamily="34" charset="-122"/>
                <a:cs typeface="Calibri" pitchFamily="34" charset="-120"/>
              </a:rPr>
              <a:t>verifies the work</a:t>
            </a:r>
            <a:endParaRPr lang="en-US" sz="1200" dirty="0"/>
          </a:p>
        </p:txBody>
      </p:sp>
      <p:sp>
        <p:nvSpPr>
          <p:cNvPr id="10" name="Shape 8"/>
          <p:cNvSpPr/>
          <p:nvPr/>
        </p:nvSpPr>
        <p:spPr>
          <a:xfrm>
            <a:off x="2514600" y="4114800"/>
            <a:ext cx="914" cy="502920"/>
          </a:xfrm>
          <a:prstGeom prst="line">
            <a:avLst/>
          </a:prstGeom>
          <a:noFill/>
          <a:ln w="19050">
            <a:solidFill>
              <a:srgbClr val="5F5E5A"/>
            </a:solidFill>
            <a:prstDash val="solid"/>
            <a:tailEnd type="triangle"/>
          </a:ln>
        </p:spPr>
      </p:sp>
      <p:sp>
        <p:nvSpPr>
          <p:cNvPr id="11" name="Text 9"/>
          <p:cNvSpPr txBox="1"/>
          <p:nvPr/>
        </p:nvSpPr>
        <p:spPr>
          <a:xfrm>
            <a:off x="2606040" y="4187952"/>
            <a:ext cx="548640" cy="274320"/>
          </a:xfrm>
          <a:prstGeom prst="rect">
            <a:avLst/>
          </a:prstGeom>
          <a:noFill/>
          <a:ln/>
        </p:spPr>
        <p:txBody>
          <a:bodyPr wrap="square" lIns="0" tIns="0" rIns="0" bIns="0" rtlCol="0" anchor="t"/>
          <a:lstStyle/>
          <a:p>
            <a:pPr algn="l" indent="0" marL="0">
              <a:buNone/>
            </a:pPr>
            <a:r>
              <a:rPr lang="en-US" sz="1100" b="1" dirty="0">
                <a:solidFill>
                  <a:srgbClr val="085041"/>
                </a:solidFill>
                <a:latin typeface="Calibri" pitchFamily="34" charset="0"/>
                <a:ea typeface="Calibri" pitchFamily="34" charset="-122"/>
                <a:cs typeface="Calibri" pitchFamily="34" charset="-120"/>
              </a:rPr>
              <a:t>pass</a:t>
            </a:r>
            <a:endParaRPr lang="en-US" sz="1100" dirty="0"/>
          </a:p>
        </p:txBody>
      </p:sp>
      <p:sp>
        <p:nvSpPr>
          <p:cNvPr id="12" name="Text 10"/>
          <p:cNvSpPr/>
          <p:nvPr/>
        </p:nvSpPr>
        <p:spPr>
          <a:xfrm>
            <a:off x="2011680" y="4617720"/>
            <a:ext cx="1005840" cy="329184"/>
          </a:xfrm>
          <a:prstGeom prst="roundRect">
            <a:avLst>
              <a:gd name="adj" fmla="val 50000"/>
            </a:avLst>
          </a:prstGeom>
          <a:solidFill>
            <a:srgbClr val="F1EFE8"/>
          </a:solidFill>
          <a:ln w="12700">
            <a:solidFill>
              <a:srgbClr val="888780"/>
            </a:solidFill>
            <a:prstDash val="solid"/>
          </a:ln>
        </p:spPr>
        <p:txBody>
          <a:bodyPr wrap="square" lIns="0" tIns="0" rIns="0" bIns="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END</a:t>
            </a:r>
            <a:endParaRPr lang="en-US" sz="1100" dirty="0"/>
          </a:p>
        </p:txBody>
      </p:sp>
      <p:sp>
        <p:nvSpPr>
          <p:cNvPr id="13" name="Shape 11"/>
          <p:cNvSpPr/>
          <p:nvPr/>
        </p:nvSpPr>
        <p:spPr>
          <a:xfrm flipH="1">
            <a:off x="1097280" y="3771900"/>
            <a:ext cx="457200" cy="914"/>
          </a:xfrm>
          <a:prstGeom prst="line">
            <a:avLst/>
          </a:prstGeom>
          <a:noFill/>
          <a:ln w="19050">
            <a:solidFill>
              <a:srgbClr val="993C1D"/>
            </a:solidFill>
            <a:prstDash val="dash"/>
          </a:ln>
        </p:spPr>
      </p:sp>
      <p:sp>
        <p:nvSpPr>
          <p:cNvPr id="14" name="Shape 12"/>
          <p:cNvSpPr/>
          <p:nvPr/>
        </p:nvSpPr>
        <p:spPr>
          <a:xfrm flipV="1">
            <a:off x="1097280" y="2583180"/>
            <a:ext cx="914" cy="1188720"/>
          </a:xfrm>
          <a:prstGeom prst="line">
            <a:avLst/>
          </a:prstGeom>
          <a:noFill/>
          <a:ln w="19050">
            <a:solidFill>
              <a:srgbClr val="993C1D"/>
            </a:solidFill>
            <a:prstDash val="dash"/>
          </a:ln>
        </p:spPr>
      </p:sp>
      <p:sp>
        <p:nvSpPr>
          <p:cNvPr id="15" name="Shape 13"/>
          <p:cNvSpPr/>
          <p:nvPr/>
        </p:nvSpPr>
        <p:spPr>
          <a:xfrm>
            <a:off x="1097280" y="2583180"/>
            <a:ext cx="438912" cy="914"/>
          </a:xfrm>
          <a:prstGeom prst="line">
            <a:avLst/>
          </a:prstGeom>
          <a:noFill/>
          <a:ln w="19050">
            <a:solidFill>
              <a:srgbClr val="993C1D"/>
            </a:solidFill>
            <a:prstDash val="dash"/>
            <a:tailEnd type="triangle"/>
          </a:ln>
        </p:spPr>
      </p:sp>
      <p:sp>
        <p:nvSpPr>
          <p:cNvPr id="16" name="Text 14"/>
          <p:cNvSpPr txBox="1"/>
          <p:nvPr/>
        </p:nvSpPr>
        <p:spPr>
          <a:xfrm>
            <a:off x="1170432" y="3790188"/>
            <a:ext cx="411480" cy="256032"/>
          </a:xfrm>
          <a:prstGeom prst="rect">
            <a:avLst/>
          </a:prstGeom>
          <a:noFill/>
          <a:ln/>
        </p:spPr>
        <p:txBody>
          <a:bodyPr wrap="square" lIns="0" tIns="0" rIns="0" bIns="0" rtlCol="0" anchor="t"/>
          <a:lstStyle/>
          <a:p>
            <a:pPr algn="l" indent="0" marL="0">
              <a:buNone/>
            </a:pPr>
            <a:r>
              <a:rPr lang="en-US" sz="1100" b="1" dirty="0">
                <a:solidFill>
                  <a:srgbClr val="712B13"/>
                </a:solidFill>
                <a:latin typeface="Calibri" pitchFamily="34" charset="0"/>
                <a:ea typeface="Calibri" pitchFamily="34" charset="-122"/>
                <a:cs typeface="Calibri" pitchFamily="34" charset="-120"/>
              </a:rPr>
              <a:t>fail</a:t>
            </a:r>
            <a:endParaRPr lang="en-US" sz="1100" dirty="0"/>
          </a:p>
        </p:txBody>
      </p:sp>
      <p:sp>
        <p:nvSpPr>
          <p:cNvPr id="17" name="Shape 15"/>
          <p:cNvSpPr/>
          <p:nvPr/>
        </p:nvSpPr>
        <p:spPr>
          <a:xfrm>
            <a:off x="3474720" y="2583180"/>
            <a:ext cx="685800" cy="914"/>
          </a:xfrm>
          <a:prstGeom prst="line">
            <a:avLst/>
          </a:prstGeom>
          <a:noFill/>
          <a:ln w="9525">
            <a:solidFill>
              <a:srgbClr val="534AB7"/>
            </a:solidFill>
            <a:prstDash val="dash"/>
          </a:ln>
        </p:spPr>
      </p:sp>
      <p:sp>
        <p:nvSpPr>
          <p:cNvPr id="18" name="Shape 16"/>
          <p:cNvSpPr/>
          <p:nvPr/>
        </p:nvSpPr>
        <p:spPr>
          <a:xfrm>
            <a:off x="3474720" y="3771900"/>
            <a:ext cx="685800" cy="914"/>
          </a:xfrm>
          <a:prstGeom prst="line">
            <a:avLst/>
          </a:prstGeom>
          <a:noFill/>
          <a:ln w="9525">
            <a:solidFill>
              <a:srgbClr val="534AB7"/>
            </a:solidFill>
            <a:prstDash val="dash"/>
          </a:ln>
        </p:spPr>
      </p:sp>
      <p:sp>
        <p:nvSpPr>
          <p:cNvPr id="19" name="Text 17"/>
          <p:cNvSpPr/>
          <p:nvPr/>
        </p:nvSpPr>
        <p:spPr>
          <a:xfrm>
            <a:off x="4160520" y="2240280"/>
            <a:ext cx="1783080" cy="1874520"/>
          </a:xfrm>
          <a:prstGeom prst="roundRect">
            <a:avLst>
              <a:gd name="adj" fmla="val 4103"/>
            </a:avLst>
          </a:prstGeom>
          <a:solidFill>
            <a:srgbClr val="EEEDFE"/>
          </a:solidFill>
          <a:ln w="15875">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0" name="Text 18"/>
          <p:cNvSpPr txBox="1"/>
          <p:nvPr/>
        </p:nvSpPr>
        <p:spPr>
          <a:xfrm>
            <a:off x="4297680" y="2331720"/>
            <a:ext cx="1508760" cy="274320"/>
          </a:xfrm>
          <a:prstGeom prst="rect">
            <a:avLst/>
          </a:prstGeom>
          <a:noFill/>
          <a:ln/>
        </p:spPr>
        <p:txBody>
          <a:bodyPr wrap="square" lIns="0" tIns="0" rIns="0" bIns="0" rtlCol="0" anchor="t"/>
          <a:lstStyle/>
          <a:p>
            <a:pPr algn="l" indent="0" marL="0">
              <a:buNone/>
            </a:pPr>
            <a:r>
              <a:rPr lang="en-US" sz="1300" b="1" dirty="0">
                <a:solidFill>
                  <a:srgbClr val="3C3489"/>
                </a:solidFill>
                <a:latin typeface="Calibri" pitchFamily="34" charset="0"/>
                <a:ea typeface="Calibri" pitchFamily="34" charset="-122"/>
                <a:cs typeface="Calibri" pitchFamily="34" charset="-120"/>
              </a:rPr>
              <a:t>State</a:t>
            </a:r>
            <a:endParaRPr lang="en-US" sz="1300" dirty="0"/>
          </a:p>
        </p:txBody>
      </p:sp>
      <p:sp>
        <p:nvSpPr>
          <p:cNvPr id="21" name="Text 19"/>
          <p:cNvSpPr txBox="1"/>
          <p:nvPr/>
        </p:nvSpPr>
        <p:spPr>
          <a:xfrm>
            <a:off x="4297680" y="2651760"/>
            <a:ext cx="1508760" cy="411480"/>
          </a:xfrm>
          <a:prstGeom prst="rect">
            <a:avLst/>
          </a:prstGeom>
          <a:noFill/>
          <a:ln/>
        </p:spPr>
        <p:txBody>
          <a:bodyPr wrap="square" lIns="0" tIns="0" rIns="0" bIns="0" rtlCol="0" anchor="t"/>
          <a:lstStyle/>
          <a:p>
            <a:pPr algn="l" indent="0" marL="0">
              <a:buNone/>
            </a:pPr>
            <a:r>
              <a:rPr lang="en-US" sz="1200" b="1" dirty="0">
                <a:solidFill>
                  <a:srgbClr val="3C3489"/>
                </a:solidFill>
                <a:latin typeface="Calibri" pitchFamily="34" charset="0"/>
                <a:ea typeface="Calibri" pitchFamily="34" charset="-122"/>
                <a:cs typeface="Calibri" pitchFamily="34" charset="-120"/>
              </a:rPr>
              <a:t>request</a:t>
            </a:r>
            <a:endParaRPr lang="en-US" sz="1400" dirty="0"/>
          </a:p>
          <a:p>
            <a:pPr algn="l" indent="0" marL="0">
              <a:buNone/>
            </a:pPr>
            <a:r>
              <a:rPr lang="en-US" sz="1050" dirty="0">
                <a:solidFill>
                  <a:srgbClr val="5F5E5A"/>
                </a:solidFill>
                <a:latin typeface="Calibri" pitchFamily="34" charset="0"/>
                <a:ea typeface="Calibri" pitchFamily="34" charset="-122"/>
                <a:cs typeface="Calibri" pitchFamily="34" charset="-120"/>
              </a:rPr>
              <a:t>the input</a:t>
            </a:r>
            <a:endParaRPr lang="en-US" sz="1400" dirty="0"/>
          </a:p>
        </p:txBody>
      </p:sp>
      <p:sp>
        <p:nvSpPr>
          <p:cNvPr id="22" name="Text 20"/>
          <p:cNvSpPr txBox="1"/>
          <p:nvPr/>
        </p:nvSpPr>
        <p:spPr>
          <a:xfrm>
            <a:off x="4297680" y="3108960"/>
            <a:ext cx="1508760" cy="411480"/>
          </a:xfrm>
          <a:prstGeom prst="rect">
            <a:avLst/>
          </a:prstGeom>
          <a:noFill/>
          <a:ln/>
        </p:spPr>
        <p:txBody>
          <a:bodyPr wrap="square" lIns="0" tIns="0" rIns="0" bIns="0" rtlCol="0" anchor="t"/>
          <a:lstStyle/>
          <a:p>
            <a:pPr algn="l" indent="0" marL="0">
              <a:buNone/>
            </a:pPr>
            <a:r>
              <a:rPr lang="en-US" sz="1200" b="1" dirty="0">
                <a:solidFill>
                  <a:srgbClr val="3C3489"/>
                </a:solidFill>
                <a:latin typeface="Calibri" pitchFamily="34" charset="0"/>
                <a:ea typeface="Calibri" pitchFamily="34" charset="-122"/>
                <a:cs typeface="Calibri" pitchFamily="34" charset="-120"/>
              </a:rPr>
              <a:t>result</a:t>
            </a:r>
            <a:endParaRPr lang="en-US" sz="1400" dirty="0"/>
          </a:p>
          <a:p>
            <a:pPr algn="l" indent="0" marL="0">
              <a:buNone/>
            </a:pPr>
            <a:r>
              <a:rPr lang="en-US" sz="1050" dirty="0">
                <a:solidFill>
                  <a:srgbClr val="5F5E5A"/>
                </a:solidFill>
                <a:latin typeface="Calibri" pitchFamily="34" charset="0"/>
                <a:ea typeface="Calibri" pitchFamily="34" charset="-122"/>
                <a:cs typeface="Calibri" pitchFamily="34" charset="-120"/>
              </a:rPr>
              <a:t>from Worker</a:t>
            </a:r>
            <a:endParaRPr lang="en-US" sz="1400" dirty="0"/>
          </a:p>
        </p:txBody>
      </p:sp>
      <p:sp>
        <p:nvSpPr>
          <p:cNvPr id="23" name="Text 21"/>
          <p:cNvSpPr txBox="1"/>
          <p:nvPr/>
        </p:nvSpPr>
        <p:spPr>
          <a:xfrm>
            <a:off x="4297680" y="3566160"/>
            <a:ext cx="1508760" cy="411480"/>
          </a:xfrm>
          <a:prstGeom prst="rect">
            <a:avLst/>
          </a:prstGeom>
          <a:noFill/>
          <a:ln/>
        </p:spPr>
        <p:txBody>
          <a:bodyPr wrap="square" lIns="0" tIns="0" rIns="0" bIns="0" rtlCol="0" anchor="t"/>
          <a:lstStyle/>
          <a:p>
            <a:pPr algn="l" indent="0" marL="0">
              <a:buNone/>
            </a:pPr>
            <a:r>
              <a:rPr lang="en-US" sz="1200" b="1" dirty="0">
                <a:solidFill>
                  <a:srgbClr val="3C3489"/>
                </a:solidFill>
                <a:latin typeface="Calibri" pitchFamily="34" charset="0"/>
                <a:ea typeface="Calibri" pitchFamily="34" charset="-122"/>
                <a:cs typeface="Calibri" pitchFamily="34" charset="-120"/>
              </a:rPr>
              <a:t>status</a:t>
            </a:r>
            <a:endParaRPr lang="en-US" sz="1400" dirty="0"/>
          </a:p>
          <a:p>
            <a:pPr algn="l" indent="0" marL="0">
              <a:buNone/>
            </a:pPr>
            <a:r>
              <a:rPr lang="en-US" sz="1050" dirty="0">
                <a:solidFill>
                  <a:srgbClr val="5F5E5A"/>
                </a:solidFill>
                <a:latin typeface="Calibri" pitchFamily="34" charset="0"/>
                <a:ea typeface="Calibri" pitchFamily="34" charset="-122"/>
                <a:cs typeface="Calibri" pitchFamily="34" charset="-120"/>
              </a:rPr>
              <a:t>from Checker</a:t>
            </a:r>
            <a:endParaRPr lang="en-US" sz="1400" dirty="0"/>
          </a:p>
        </p:txBody>
      </p:sp>
      <p:sp>
        <p:nvSpPr>
          <p:cNvPr id="24" name="Text 22"/>
          <p:cNvSpPr/>
          <p:nvPr/>
        </p:nvSpPr>
        <p:spPr>
          <a:xfrm>
            <a:off x="3291840" y="2084832"/>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5" name="Text 23"/>
          <p:cNvSpPr/>
          <p:nvPr/>
        </p:nvSpPr>
        <p:spPr>
          <a:xfrm>
            <a:off x="2606040" y="3218688"/>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941832" y="3035808"/>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5760720" y="2084832"/>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3063240" y="1554480"/>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6400800" y="1572768"/>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8"/>
          <p:cNvSpPr txBox="1"/>
          <p:nvPr/>
        </p:nvSpPr>
        <p:spPr>
          <a:xfrm>
            <a:off x="6839712" y="1536192"/>
            <a:ext cx="4919472" cy="292608"/>
          </a:xfrm>
          <a:prstGeom prst="rect">
            <a:avLst/>
          </a:prstGeom>
          <a:noFill/>
          <a:ln/>
        </p:spPr>
        <p:txBody>
          <a:bodyPr wrap="square" lIns="0" tIns="0" rIns="0" bIns="0" rtlCol="0" anchor="ctr"/>
          <a:lstStyle/>
          <a:p>
            <a:pPr algn="l" indent="0" marL="0">
              <a:buNone/>
            </a:pPr>
            <a:r>
              <a:rPr lang="en-US" sz="1450" b="1" dirty="0">
                <a:solidFill>
                  <a:srgbClr val="3C3489"/>
                </a:solidFill>
                <a:latin typeface="Calibri" pitchFamily="34" charset="0"/>
                <a:ea typeface="Calibri" pitchFamily="34" charset="-122"/>
                <a:cs typeface="Calibri" pitchFamily="34" charset="-120"/>
              </a:rPr>
              <a:t>Node  </a:t>
            </a:r>
            <a:pPr algn="l" indent="0" marL="0">
              <a:buNone/>
            </a:pPr>
            <a:r>
              <a:rPr lang="en-US" sz="1150" i="1" dirty="0">
                <a:solidFill>
                  <a:srgbClr val="5F5E5A"/>
                </a:solidFill>
                <a:latin typeface="Calibri" pitchFamily="34" charset="0"/>
                <a:ea typeface="Calibri" pitchFamily="34" charset="-122"/>
                <a:cs typeface="Calibri" pitchFamily="34" charset="-120"/>
              </a:rPr>
              <a:t>The boxes</a:t>
            </a:r>
            <a:endParaRPr lang="en-US" sz="1400" dirty="0"/>
          </a:p>
        </p:txBody>
      </p:sp>
      <p:sp>
        <p:nvSpPr>
          <p:cNvPr id="31" name="Text 29"/>
          <p:cNvSpPr txBox="1"/>
          <p:nvPr/>
        </p:nvSpPr>
        <p:spPr>
          <a:xfrm>
            <a:off x="6839712" y="1828800"/>
            <a:ext cx="4919472" cy="438912"/>
          </a:xfrm>
          <a:prstGeom prst="rect">
            <a:avLst/>
          </a:prstGeom>
          <a:noFill/>
          <a:ln/>
        </p:spPr>
        <p:txBody>
          <a:bodyPr wrap="square" lIns="0" tIns="0" rIns="0" bIns="0" rtlCol="0" anchor="t"/>
          <a:lstStyle/>
          <a:p>
            <a:pPr algn="l" indent="0" marL="0">
              <a:buNone/>
            </a:pPr>
            <a:r>
              <a:rPr lang="en-US" sz="1200" dirty="0">
                <a:solidFill>
                  <a:srgbClr val="2C2C2A"/>
                </a:solidFill>
                <a:latin typeface="Calibri" pitchFamily="34" charset="0"/>
                <a:ea typeface="Calibri" pitchFamily="34" charset="-122"/>
                <a:cs typeface="Calibri" pitchFamily="34" charset="-120"/>
              </a:rPr>
              <a:t>One step of work: an agent, a tool or plain code. It reads the state, does its job and writes its result.</a:t>
            </a:r>
            <a:endParaRPr lang="en-US" sz="1200" dirty="0"/>
          </a:p>
        </p:txBody>
      </p:sp>
      <p:sp>
        <p:nvSpPr>
          <p:cNvPr id="32" name="Text 30"/>
          <p:cNvSpPr/>
          <p:nvPr/>
        </p:nvSpPr>
        <p:spPr>
          <a:xfrm>
            <a:off x="6400800" y="2340864"/>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Text 31"/>
          <p:cNvSpPr txBox="1"/>
          <p:nvPr/>
        </p:nvSpPr>
        <p:spPr>
          <a:xfrm>
            <a:off x="6839712" y="2304288"/>
            <a:ext cx="4919472" cy="292608"/>
          </a:xfrm>
          <a:prstGeom prst="rect">
            <a:avLst/>
          </a:prstGeom>
          <a:noFill/>
          <a:ln/>
        </p:spPr>
        <p:txBody>
          <a:bodyPr wrap="square" lIns="0" tIns="0" rIns="0" bIns="0" rtlCol="0" anchor="ctr"/>
          <a:lstStyle/>
          <a:p>
            <a:pPr algn="l" indent="0" marL="0">
              <a:buNone/>
            </a:pPr>
            <a:r>
              <a:rPr lang="en-US" sz="1450" b="1" dirty="0">
                <a:solidFill>
                  <a:srgbClr val="3C3489"/>
                </a:solidFill>
                <a:latin typeface="Calibri" pitchFamily="34" charset="0"/>
                <a:ea typeface="Calibri" pitchFamily="34" charset="-122"/>
                <a:cs typeface="Calibri" pitchFamily="34" charset="-120"/>
              </a:rPr>
              <a:t>Edge  </a:t>
            </a:r>
            <a:pPr algn="l" indent="0" marL="0">
              <a:buNone/>
            </a:pPr>
            <a:r>
              <a:rPr lang="en-US" sz="1150" i="1" dirty="0">
                <a:solidFill>
                  <a:srgbClr val="5F5E5A"/>
                </a:solidFill>
                <a:latin typeface="Calibri" pitchFamily="34" charset="0"/>
                <a:ea typeface="Calibri" pitchFamily="34" charset="-122"/>
                <a:cs typeface="Calibri" pitchFamily="34" charset="-120"/>
              </a:rPr>
              <a:t>The solid arrows</a:t>
            </a:r>
            <a:endParaRPr lang="en-US" sz="1400" dirty="0"/>
          </a:p>
        </p:txBody>
      </p:sp>
      <p:sp>
        <p:nvSpPr>
          <p:cNvPr id="34" name="Text 32"/>
          <p:cNvSpPr txBox="1"/>
          <p:nvPr/>
        </p:nvSpPr>
        <p:spPr>
          <a:xfrm>
            <a:off x="6839712" y="2596896"/>
            <a:ext cx="4919472" cy="438912"/>
          </a:xfrm>
          <a:prstGeom prst="rect">
            <a:avLst/>
          </a:prstGeom>
          <a:noFill/>
          <a:ln/>
        </p:spPr>
        <p:txBody>
          <a:bodyPr wrap="square" lIns="0" tIns="0" rIns="0" bIns="0" rtlCol="0" anchor="t"/>
          <a:lstStyle/>
          <a:p>
            <a:pPr algn="l" indent="0" marL="0">
              <a:buNone/>
            </a:pPr>
            <a:r>
              <a:rPr lang="en-US" sz="1200" dirty="0">
                <a:solidFill>
                  <a:srgbClr val="2C2C2A"/>
                </a:solidFill>
                <a:latin typeface="Calibri" pitchFamily="34" charset="0"/>
                <a:ea typeface="Calibri" pitchFamily="34" charset="-122"/>
                <a:cs typeface="Calibri" pitchFamily="34" charset="-120"/>
              </a:rPr>
              <a:t>A fixed hand-off: when one node finishes, the next one starts.</a:t>
            </a:r>
            <a:endParaRPr lang="en-US" sz="1200" dirty="0"/>
          </a:p>
        </p:txBody>
      </p:sp>
      <p:sp>
        <p:nvSpPr>
          <p:cNvPr id="35" name="Text 33"/>
          <p:cNvSpPr/>
          <p:nvPr/>
        </p:nvSpPr>
        <p:spPr>
          <a:xfrm>
            <a:off x="6400800" y="3108960"/>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Text 34"/>
          <p:cNvSpPr txBox="1"/>
          <p:nvPr/>
        </p:nvSpPr>
        <p:spPr>
          <a:xfrm>
            <a:off x="6839712" y="3072384"/>
            <a:ext cx="4919472" cy="292608"/>
          </a:xfrm>
          <a:prstGeom prst="rect">
            <a:avLst/>
          </a:prstGeom>
          <a:noFill/>
          <a:ln/>
        </p:spPr>
        <p:txBody>
          <a:bodyPr wrap="square" lIns="0" tIns="0" rIns="0" bIns="0" rtlCol="0" anchor="ctr"/>
          <a:lstStyle/>
          <a:p>
            <a:pPr algn="l" indent="0" marL="0">
              <a:buNone/>
            </a:pPr>
            <a:r>
              <a:rPr lang="en-US" sz="1450" b="1" dirty="0">
                <a:solidFill>
                  <a:srgbClr val="3C3489"/>
                </a:solidFill>
                <a:latin typeface="Calibri" pitchFamily="34" charset="0"/>
                <a:ea typeface="Calibri" pitchFamily="34" charset="-122"/>
                <a:cs typeface="Calibri" pitchFamily="34" charset="-120"/>
              </a:rPr>
              <a:t>Conditional edge  </a:t>
            </a:r>
            <a:pPr algn="l" indent="0" marL="0">
              <a:buNone/>
            </a:pPr>
            <a:r>
              <a:rPr lang="en-US" sz="1150" i="1" dirty="0">
                <a:solidFill>
                  <a:srgbClr val="5F5E5A"/>
                </a:solidFill>
                <a:latin typeface="Calibri" pitchFamily="34" charset="0"/>
                <a:ea typeface="Calibri" pitchFamily="34" charset="-122"/>
                <a:cs typeface="Calibri" pitchFamily="34" charset="-120"/>
              </a:rPr>
              <a:t>The dashed arrow</a:t>
            </a:r>
            <a:endParaRPr lang="en-US" sz="1400" dirty="0"/>
          </a:p>
        </p:txBody>
      </p:sp>
      <p:sp>
        <p:nvSpPr>
          <p:cNvPr id="37" name="Text 35"/>
          <p:cNvSpPr txBox="1"/>
          <p:nvPr/>
        </p:nvSpPr>
        <p:spPr>
          <a:xfrm>
            <a:off x="6839712" y="3364992"/>
            <a:ext cx="4919472" cy="438912"/>
          </a:xfrm>
          <a:prstGeom prst="rect">
            <a:avLst/>
          </a:prstGeom>
          <a:noFill/>
          <a:ln/>
        </p:spPr>
        <p:txBody>
          <a:bodyPr wrap="square" lIns="0" tIns="0" rIns="0" bIns="0" rtlCol="0" anchor="t"/>
          <a:lstStyle/>
          <a:p>
            <a:pPr algn="l" indent="0" marL="0">
              <a:buNone/>
            </a:pPr>
            <a:r>
              <a:rPr lang="en-US" sz="1200" dirty="0">
                <a:solidFill>
                  <a:srgbClr val="2C2C2A"/>
                </a:solidFill>
                <a:latin typeface="Calibri" pitchFamily="34" charset="0"/>
                <a:ea typeface="Calibri" pitchFamily="34" charset="-122"/>
                <a:cs typeface="Calibri" pitchFamily="34" charset="-120"/>
              </a:rPr>
              <a:t>A decision: it looks at the result and picks the next step. Pass → finish, fail → try again.</a:t>
            </a:r>
            <a:endParaRPr lang="en-US" sz="1200" dirty="0"/>
          </a:p>
        </p:txBody>
      </p:sp>
      <p:sp>
        <p:nvSpPr>
          <p:cNvPr id="38" name="Text 36"/>
          <p:cNvSpPr/>
          <p:nvPr/>
        </p:nvSpPr>
        <p:spPr>
          <a:xfrm>
            <a:off x="6400800" y="3877056"/>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7"/>
          <p:cNvSpPr txBox="1"/>
          <p:nvPr/>
        </p:nvSpPr>
        <p:spPr>
          <a:xfrm>
            <a:off x="6839712" y="3840480"/>
            <a:ext cx="4919472" cy="292608"/>
          </a:xfrm>
          <a:prstGeom prst="rect">
            <a:avLst/>
          </a:prstGeom>
          <a:noFill/>
          <a:ln/>
        </p:spPr>
        <p:txBody>
          <a:bodyPr wrap="square" lIns="0" tIns="0" rIns="0" bIns="0" rtlCol="0" anchor="ctr"/>
          <a:lstStyle/>
          <a:p>
            <a:pPr algn="l" indent="0" marL="0">
              <a:buNone/>
            </a:pPr>
            <a:r>
              <a:rPr lang="en-US" sz="1450" b="1" dirty="0">
                <a:solidFill>
                  <a:srgbClr val="3C3489"/>
                </a:solidFill>
                <a:latin typeface="Calibri" pitchFamily="34" charset="0"/>
                <a:ea typeface="Calibri" pitchFamily="34" charset="-122"/>
                <a:cs typeface="Calibri" pitchFamily="34" charset="-120"/>
              </a:rPr>
              <a:t>State  </a:t>
            </a:r>
            <a:pPr algn="l" indent="0" marL="0">
              <a:buNone/>
            </a:pPr>
            <a:r>
              <a:rPr lang="en-US" sz="1150" i="1" dirty="0">
                <a:solidFill>
                  <a:srgbClr val="5F5E5A"/>
                </a:solidFill>
                <a:latin typeface="Calibri" pitchFamily="34" charset="0"/>
                <a:ea typeface="Calibri" pitchFamily="34" charset="-122"/>
                <a:cs typeface="Calibri" pitchFamily="34" charset="-120"/>
              </a:rPr>
              <a:t>The purple panel</a:t>
            </a:r>
            <a:endParaRPr lang="en-US" sz="1400" dirty="0"/>
          </a:p>
        </p:txBody>
      </p:sp>
      <p:sp>
        <p:nvSpPr>
          <p:cNvPr id="40" name="Text 38"/>
          <p:cNvSpPr txBox="1"/>
          <p:nvPr/>
        </p:nvSpPr>
        <p:spPr>
          <a:xfrm>
            <a:off x="6839712" y="4133088"/>
            <a:ext cx="4919472" cy="438912"/>
          </a:xfrm>
          <a:prstGeom prst="rect">
            <a:avLst/>
          </a:prstGeom>
          <a:noFill/>
          <a:ln/>
        </p:spPr>
        <p:txBody>
          <a:bodyPr wrap="square" lIns="0" tIns="0" rIns="0" bIns="0" rtlCol="0" anchor="t"/>
          <a:lstStyle/>
          <a:p>
            <a:pPr algn="l" indent="0" marL="0">
              <a:buNone/>
            </a:pPr>
            <a:r>
              <a:rPr lang="en-US" sz="1200" dirty="0">
                <a:solidFill>
                  <a:srgbClr val="2C2C2A"/>
                </a:solidFill>
                <a:latin typeface="Calibri" pitchFamily="34" charset="0"/>
                <a:ea typeface="Calibri" pitchFamily="34" charset="-122"/>
                <a:cs typeface="Calibri" pitchFamily="34" charset="-120"/>
              </a:rPr>
              <a:t>The shared memory every node reads and writes. Nodes pass state, not long chat history.</a:t>
            </a:r>
            <a:endParaRPr lang="en-US" sz="1200" dirty="0"/>
          </a:p>
        </p:txBody>
      </p:sp>
      <p:sp>
        <p:nvSpPr>
          <p:cNvPr id="41" name="Text 39"/>
          <p:cNvSpPr/>
          <p:nvPr/>
        </p:nvSpPr>
        <p:spPr>
          <a:xfrm>
            <a:off x="6400800" y="4645152"/>
            <a:ext cx="310896" cy="310896"/>
          </a:xfrm>
          <a:prstGeom prst="ellipse">
            <a:avLst/>
          </a:prstGeom>
          <a:solidFill>
            <a:srgbClr val="534AB7"/>
          </a:solidFill>
          <a:ln w="12700">
            <a:solidFill>
              <a:srgbClr val="534AB7"/>
            </a:solidFill>
            <a:prstDash val="solid"/>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6839712" y="4608576"/>
            <a:ext cx="4919472" cy="292608"/>
          </a:xfrm>
          <a:prstGeom prst="rect">
            <a:avLst/>
          </a:prstGeom>
          <a:noFill/>
          <a:ln/>
        </p:spPr>
        <p:txBody>
          <a:bodyPr wrap="square" lIns="0" tIns="0" rIns="0" bIns="0" rtlCol="0" anchor="ctr"/>
          <a:lstStyle/>
          <a:p>
            <a:pPr algn="l" indent="0" marL="0">
              <a:buNone/>
            </a:pPr>
            <a:r>
              <a:rPr lang="en-US" sz="1450" b="1" dirty="0">
                <a:solidFill>
                  <a:srgbClr val="3C3489"/>
                </a:solidFill>
                <a:latin typeface="Calibri" pitchFamily="34" charset="0"/>
                <a:ea typeface="Calibri" pitchFamily="34" charset="-122"/>
                <a:cs typeface="Calibri" pitchFamily="34" charset="-120"/>
              </a:rPr>
              <a:t>START and END  </a:t>
            </a:r>
            <a:pPr algn="l" indent="0" marL="0">
              <a:buNone/>
            </a:pPr>
            <a:r>
              <a:rPr lang="en-US" sz="1150" i="1" dirty="0">
                <a:solidFill>
                  <a:srgbClr val="5F5E5A"/>
                </a:solidFill>
                <a:latin typeface="Calibri" pitchFamily="34" charset="0"/>
                <a:ea typeface="Calibri" pitchFamily="34" charset="-122"/>
                <a:cs typeface="Calibri" pitchFamily="34" charset="-120"/>
              </a:rPr>
              <a:t>The grey pills</a:t>
            </a:r>
            <a:endParaRPr lang="en-US" sz="1400" dirty="0"/>
          </a:p>
        </p:txBody>
      </p:sp>
      <p:sp>
        <p:nvSpPr>
          <p:cNvPr id="43" name="Text 41"/>
          <p:cNvSpPr txBox="1"/>
          <p:nvPr/>
        </p:nvSpPr>
        <p:spPr>
          <a:xfrm>
            <a:off x="6839712" y="4901184"/>
            <a:ext cx="4919472" cy="438912"/>
          </a:xfrm>
          <a:prstGeom prst="rect">
            <a:avLst/>
          </a:prstGeom>
          <a:noFill/>
          <a:ln/>
        </p:spPr>
        <p:txBody>
          <a:bodyPr wrap="square" lIns="0" tIns="0" rIns="0" bIns="0" rtlCol="0" anchor="t"/>
          <a:lstStyle/>
          <a:p>
            <a:pPr algn="l" indent="0" marL="0">
              <a:buNone/>
            </a:pPr>
            <a:r>
              <a:rPr lang="en-US" sz="1200" dirty="0">
                <a:solidFill>
                  <a:srgbClr val="2C2C2A"/>
                </a:solidFill>
                <a:latin typeface="Calibri" pitchFamily="34" charset="0"/>
                <a:ea typeface="Calibri" pitchFamily="34" charset="-122"/>
                <a:cs typeface="Calibri" pitchFamily="34" charset="-120"/>
              </a:rPr>
              <a:t>Where the work comes in, and where the result goes out.</a:t>
            </a:r>
            <a:endParaRPr lang="en-US" sz="1200" dirty="0"/>
          </a:p>
        </p:txBody>
      </p:sp>
      <p:sp>
        <p:nvSpPr>
          <p:cNvPr id="44" name="Text 42"/>
          <p:cNvSpPr/>
          <p:nvPr/>
        </p:nvSpPr>
        <p:spPr>
          <a:xfrm>
            <a:off x="411480" y="5440680"/>
            <a:ext cx="11365992" cy="457200"/>
          </a:xfrm>
          <a:prstGeom prst="roundRect">
            <a:avLst>
              <a:gd name="adj" fmla="val 16000"/>
            </a:avLst>
          </a:prstGeom>
          <a:solidFill>
            <a:srgbClr val="E1F5EE"/>
          </a:solidFill>
          <a:ln w="12700">
            <a:solidFill>
              <a:srgbClr val="0F6E56"/>
            </a:solidFill>
            <a:prstDash val="solid"/>
          </a:ln>
        </p:spPr>
        <p:txBody>
          <a:bodyPr wrap="square" lIns="152400" tIns="152400" rIns="152400" bIns="152400"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Also built in  </a:t>
            </a:r>
            <a:pPr algn="l" indent="0" marL="0">
              <a:buNone/>
            </a:pPr>
            <a:r>
              <a:rPr lang="en-US" sz="1300" dirty="0">
                <a:solidFill>
                  <a:srgbClr val="085041"/>
                </a:solidFill>
                <a:latin typeface="Calibri" pitchFamily="34" charset="0"/>
                <a:ea typeface="Calibri" pitchFamily="34" charset="-122"/>
                <a:cs typeface="Calibri" pitchFamily="34" charset="-120"/>
              </a:rPr>
              <a:t>Progress is saved after every step, so a run can resume after a failure or pause for a person to approve.</a:t>
            </a:r>
            <a:endParaRPr lang="en-US" sz="13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 Simple version</dc:title>
  <dc:subject>PptxGenJS Presentation</dc:subject>
  <dc:creator>Amitkumar</dc:creator>
  <cp:lastModifiedBy>Amitkumar</cp:lastModifiedBy>
  <cp:revision>1</cp:revision>
  <dcterms:created xsi:type="dcterms:W3CDTF">2026-10-30T04:19:38Z</dcterms:created>
  <dcterms:modified xsi:type="dcterms:W3CDTF">2026-10-30T04:19:38Z</dcterms:modified>
</cp:coreProperties>
</file>