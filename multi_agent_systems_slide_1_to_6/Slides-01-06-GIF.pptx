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9.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9.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99" r:id="rId50"/>
    <p:sldId id="300" r:id="rId51"/>
    <p:sldId id="284" r:id="rId30"/>
    <p:sldId id="285" r:id="rId31"/>
    <p:sldId id="288" r:id="rId34"/>
    <p:sldId id="289" r:id="rId35"/>
    <p:sldId id="294" r:id="rId40"/>
    <p:sldId id="301" r:id="rId52"/>
  </p:sldIdLst>
  <p:notesMasterIdLst>
    <p:notesMasterId r:id="rId4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Response Codes" id="{4EBB7695-56BF-40F7-B875-38637C028F16}">
          <p14:sldIdLst>
            <p14:sldId id="256"/>
          </p14:sldIdLst>
        </p14:section>
        <p14:section name="2 · Why Single Agents Fail" id="{4675FB4A-F305-4581-B576-5B30989241C3}">
          <p14:sldIdLst>
            <p14:sldId id="299"/>
            <p14:sldId id="300"/>
          </p14:sldIdLst>
        </p14:section>
        <p14:section name="3 · Why Single Agents Fail – Part 2" id="{82F1E7E5-AABC-4C02-B0EE-1496555E4478}">
          <p14:sldIdLst>
            <p14:sldId id="284"/>
            <p14:sldId id="285"/>
          </p14:sldIdLst>
        </p14:section>
        <p14:section name="4 · Failure Modes" id="{C4D28382-E2C2-4B96-929D-38B201E9CFE2}">
          <p14:sldIdLst>
            <p14:sldId id="288"/>
          </p14:sldIdLst>
        </p14:section>
        <p14:section name="5 · Root Cause" id="{0FC4997B-D564-4146-B600-45D4F937D91B}">
          <p14:sldIdLst>
            <p14:sldId id="289"/>
            <p14:sldId id="294"/>
          </p14:sldIdLst>
        </p14:section>
        <p14:section name="6 · Core Idea" id="{3F8BE447-128F-474D-A34C-05681F5AF728}">
          <p14:sldIdLst>
            <p14:sldId id="30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0" Type="http://schemas.openxmlformats.org/officeDocument/2006/relationships/slide" Target="slides/slide29.xml"/><Relationship Id="rId31" Type="http://schemas.openxmlformats.org/officeDocument/2006/relationships/slide" Target="slides/slide30.xml"/><Relationship Id="rId34" Type="http://schemas.openxmlformats.org/officeDocument/2006/relationships/slide" Target="slides/slide33.xml"/><Relationship Id="rId35" Type="http://schemas.openxmlformats.org/officeDocument/2006/relationships/slide" Target="slides/slide34.xml"/><Relationship Id="rId40" Type="http://schemas.openxmlformats.org/officeDocument/2006/relationships/slide" Target="slides/slide39.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we talk about multi-agent systems, look at what one agent actually gets back from the model. Every reply ends with a response code: the model's reason for stopping. Here it's finish_reason = "tool_calls". The content is empty, because the model isn't answering yet; it's asking us to run a tool.</a:t>
            </a:r>
          </a:p>
          <a:p/>
          <a:p>
            <a:r>
              <a:t>There are really four cases: the model finished its answer, it wants a tool, it was cut off by the token limit, or it was blocked. Every provider has them, but the names change. Groq and OpenAI call the field finish_reason and say stop, tool_calls, length. Anthropic calls it stop_reason and says end_turn, tool_use, max_tokens. Gemini says STOP even when it wants a tool, so you have to look inside the content.</a:t>
            </a:r>
          </a:p>
          <a:p/>
          <a:p>
            <a:r>
              <a:t>Close: A single agent's loop runs on this one field: tool_calls means go again, stop means we're done. That works for one task. The next slides show what happens when we give that same loop more work.</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Mixed: This is every message from the chaotic run, top to bottom, coloured by job. Purple is thinking, teal is acting, coral is checking. Look how they take turns in the same window. The 50k-row result sits right where the agent plans from, so the plan drifts. And look at the right-hand tags: every thinking block says "no signal". The loop only ever sees tool_use or end_turn. There's no signal for "plan ready" or "check passed".</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Sorted: Same messages, sorted by job. Three clean lanes. The checking lane is all fails, a false pass and a rejection — the same brain that wrote the fix graded it. These are three responsibilities that never needed to share a brain.</a:t>
            </a:r>
          </a:p>
          <a:p/>
          <a:p>
            <a:r>
              <a:t>Close: One loop, three jobs, one exit signal. In banking we'd never let the maker check their own work. Why do we let an agent?</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Step back from our example. Agent failures aren't random; they fall into the same three jobs. Thinking failures are when the agent loses the plot: it drifts from the goal, or picks the wrong tool.</a:t>
            </a:r>
          </a:p>
          <a:p/>
          <a:p>
            <a:r>
              <a:t>[click] Acting failures are when it can't stop doing: it loops on the same step, or one bad step poisons everything after it.</a:t>
            </a:r>
          </a:p>
          <a:p/>
          <a:p>
            <a:r>
              <a:t>[click] Checking failures are the most dangerous, because they look like success: it says "done" when it isn't, or stops halfway and sounds confident.</a:t>
            </a:r>
          </a:p>
          <a:p/>
          <a:p>
            <a:r>
              <a:t>Close: Notice the causes: crowded context, too many tools, no limits, no checkpoints, and grading its own work. None of these are model problems. Every failure is one of three jobs going wrong, and every cause is a design choice.</a:t>
            </a:r>
          </a:p>
          <a:p/>
          <a:p>
            <a:r>
              <a:t>Bridge: If every cause is a design choice, the fix is a design fix.</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Root cause: Here's the single agent again: three jobs squashed into one loop, one shared context, and finish_reason deciding everything. Let's fix it, one principle at a time.</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five principles applied: separation of concerns, isolated state, bounded execution, maker-checker, and explicit hand-offs. Look what we've built: a multi-agent system.</a:t>
            </a:r>
          </a:p>
          <a:p/>
          <a:p>
            <a:r>
              <a:t>None of this is new. We don't need a smarter model or a longer prompt. This isn't an AI problem; it's a system design problem we've already solved, just not for agents yet.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Here's a BAU defect-fix agent. One agent, five tools: run SQL, search code, run tests, human sign-off, close ticket. First, one ticket.</a:t>
            </a:r>
          </a:p>
          <a:p/>
          <a:p>
            <a:r>
              <a:t>Happy flow: It queries the right rows, finds the nulls come from one feed, spots the join on the wrong key, applies the fix, runs reconciliation and sends it for sign-off. Approved and closed in four LLM calls. Every step is driven by finish_reason: tool_use means "run a tool", end_turn means "I'm done talking".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Chaotic flow: Now give the same agent three tickets in one session.</a:t>
            </a:r>
          </a:p>
          <a:p/>
          <a:p>
            <a:r>
              <a:t>It pulls the whole table into its context. It switches tickets halfway. It tests one ticket's fix with another ticket's data. The test fails, so it retries the same fix. It fails again, so it edits the test until it passes. The human rejects it, there's nothing to resume from, and the context fills up.</a:t>
            </a:r>
          </a:p>
          <a:p/>
          <a:p>
            <a:r>
              <a:t>Close: Three tickets, zero fixed. The model didn't get worse. We just asked one loop to carry three jobs' worth of state. A single agent is a monolith: it works for one task and fails like a monolith when you scale the work.</a:t>
            </a:r>
          </a:p>
          <a:p/>
          <a:p>
            <a:r>
              <a:t>Bridge: It's not that the agent is dumb. It's doing thinking, acting and checking in one loop.</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Supervisor: This is what multi-agent systems look like. A supervisor hands work to specialist agents in parallel.</a:t>
            </a:r>
          </a:p>
          <a:p/>
          <a:p>
            <a:r>
              <a:t>Pipeline: Or the agents work in sequence, each passing its result to the next.</a:t>
            </a:r>
          </a:p>
          <a:p/>
          <a:p>
            <a:r>
              <a:t>Peer swarm: Or they work as peers, talking to each other and agreeing on an answer.</a:t>
            </a:r>
          </a:p>
          <a:p/>
          <a:p>
            <a:r>
              <a:t>Three very different shapes, but look at what stays the same. Every agent does one job, with its own tools and its own memory. Something decides who works next: a supervisor, the fixed order of a pipeline, or the peers themselves. Agents pass structured results, not their whole conversation. A small shared state holds the goal and the progress. And a human gate signs off before anything goes out.</a:t>
            </a:r>
          </a:p>
          <a:p/>
          <a:p>
            <a:r>
              <a:t>Why it's better: That's the core idea: replace one agent that does everything with a team of focused agents and clear hand-offs. It's better for the same reasons a team beats one overloaded person:</a:t>
            </a:r>
          </a:p>
          <a:p>
            <a:r>
              <a:t>- Focus — small context, few tools, one job per agent</a:t>
            </a:r>
          </a:p>
          <a:p>
            <a:r>
              <a:t>- Containment — a failure stays inside one agent, not the whole run</a:t>
            </a:r>
          </a:p>
          <a:p>
            <a:r>
              <a:t>- Independent checking — the checker isn't the maker</a:t>
            </a:r>
          </a:p>
          <a:p>
            <a:r>
              <a:t>- Modular — test, swap or upgrade one agent at a time, even with a different model per agent</a:t>
            </a:r>
          </a:p>
          <a:p/>
          <a:p>
            <a:r>
              <a:t>Close: A multi-agent system is a well-run team: one job each, clear hand-offs, a shared goal, and someone who signs off.</a:t>
            </a:r>
          </a:p>
          <a:p/>
          <a:p>
            <a:r>
              <a:t>Hand-over to the next presenter: Every pattern you'll see next is these same building blocks wired differently — who coordinates, who talks to whom, and where the human sits.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image" Target="../media/image-33-3.png"/><Relationship Id="rId4" Type="http://schemas.openxmlformats.org/officeDocument/2006/relationships/image" Target="../media/image-33-4.png"/><Relationship Id="rId5" Type="http://schemas.openxmlformats.org/officeDocument/2006/relationships/image" Target="../media/image-33-5.png"/><Relationship Id="rId6" Type="http://schemas.openxmlformats.org/officeDocument/2006/relationships/image" Target="../media/image-33-6.png"/><Relationship Id="rId7" Type="http://schemas.openxmlformats.org/officeDocument/2006/relationships/image" Target="../media/image-33-7.png"/><Relationship Id="rId8" Type="http://schemas.openxmlformats.org/officeDocument/2006/relationships/image" Target="../media/image-33-8.png"/><Relationship Id="rId9" Type="http://schemas.openxmlformats.org/officeDocument/2006/relationships/image" Target="../media/image-33-9.png"/><Relationship Id="rId10" Type="http://schemas.openxmlformats.org/officeDocument/2006/relationships/slideLayout" Target="../slideLayouts/slideLayout1.xml"/><Relationship Id="rId11"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image" Target="../media/image-34-3.png"/><Relationship Id="rId4" Type="http://schemas.openxmlformats.org/officeDocument/2006/relationships/image" Target="../media/image-34-4.png"/><Relationship Id="rId5" Type="http://schemas.openxmlformats.org/officeDocument/2006/relationships/image" Target="../media/image-34-5.png"/><Relationship Id="rId6" Type="http://schemas.openxmlformats.org/officeDocument/2006/relationships/image" Target="../media/image-34-5.png"/><Relationship Id="rId7" Type="http://schemas.openxmlformats.org/officeDocument/2006/relationships/image" Target="../media/image-34-5.png"/><Relationship Id="rId8" Type="http://schemas.openxmlformats.org/officeDocument/2006/relationships/image" Target="../media/image-34-5.png"/><Relationship Id="rId9" Type="http://schemas.openxmlformats.org/officeDocument/2006/relationships/image" Target="../media/image-34-5.png"/><Relationship Id="rId10" Type="http://schemas.openxmlformats.org/officeDocument/2006/relationships/slideLayout" Target="../slideLayouts/slideLayout1.xml"/><Relationship Id="rId11" Type="http://schemas.openxmlformats.org/officeDocument/2006/relationships/notesSlide" Target="../notesSlides/notesSlide34.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image" Target="../media/image-39-3.png"/><Relationship Id="rId4" Type="http://schemas.openxmlformats.org/officeDocument/2006/relationships/image" Target="../media/image-39-4.png"/><Relationship Id="rId5" Type="http://schemas.openxmlformats.org/officeDocument/2006/relationships/image" Target="../media/image-39-5.png"/><Relationship Id="rId6" Type="http://schemas.openxmlformats.org/officeDocument/2006/relationships/image" Target="../media/image-39-5.png"/><Relationship Id="rId7" Type="http://schemas.openxmlformats.org/officeDocument/2006/relationships/image" Target="../media/image-39-7.png"/><Relationship Id="rId8" Type="http://schemas.openxmlformats.org/officeDocument/2006/relationships/image" Target="../media/image-39-8.png"/><Relationship Id="rId9" Type="http://schemas.openxmlformats.org/officeDocument/2006/relationships/image" Target="../media/image-39-8.png"/><Relationship Id="rId10" Type="http://schemas.openxmlformats.org/officeDocument/2006/relationships/image" Target="../media/image-39-8.png"/><Relationship Id="rId11" Type="http://schemas.openxmlformats.org/officeDocument/2006/relationships/image" Target="../media/image-39-8.png"/><Relationship Id="rId12" Type="http://schemas.openxmlformats.org/officeDocument/2006/relationships/image" Target="../media/image-39-8.png"/><Relationship Id="rId13" Type="http://schemas.openxmlformats.org/officeDocument/2006/relationships/slideLayout" Target="../slideLayouts/slideLayout1.xml"/><Relationship Id="rId14" Type="http://schemas.openxmlformats.org/officeDocument/2006/relationships/notesSlide" Target="../notesSlides/notesSlide3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gif"/><Relationship Id="rId3" Type="http://schemas.openxmlformats.org/officeDocument/2006/relationships/hyperlink" Target="gifs/2-why-single-agents-fail-happy-path.gif" TargetMode="Externa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gif"/><Relationship Id="rId3" Type="http://schemas.openxmlformats.org/officeDocument/2006/relationships/hyperlink" Target="gifs/2-why-single-agents-fail-chaotic-path.gif" TargetMode="External"/><Relationship Id="rId4"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gif"/><Relationship Id="rId3" Type="http://schemas.openxmlformats.org/officeDocument/2006/relationships/hyperlink" Target="gifs/6-core-idea.gif" TargetMode="External"/><Relationship Id="rId4" Type="http://schemas.openxmlformats.org/officeDocument/2006/relationships/notesSlide" Target="../notesSlides/notesSlide4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Response Codes: How an Agent Knows What Just Happened</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Every LLM reply ends with a response code: the model's reason for stopping. A single agent reads it after every call to decide what to do next, and every provider names it differently.</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ext 4"/>
          <p:cNvSpPr txBox="1"/>
          <p:nvPr/>
        </p:nvSpPr>
        <p:spPr>
          <a:xfrm>
            <a:off x="411480" y="1444752"/>
            <a:ext cx="5212080"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One reply from a single agent (Groq · OpenAI format)</a:t>
            </a:r>
            <a:endParaRPr lang="en-US" sz="1300" dirty="0"/>
          </a:p>
        </p:txBody>
      </p:sp>
      <p:sp>
        <p:nvSpPr>
          <p:cNvPr id="7" name="!!jsonbox"/>
          <p:cNvSpPr/>
          <p:nvPr/>
        </p:nvSpPr>
        <p:spPr>
          <a:xfrm>
            <a:off x="411480" y="1783080"/>
            <a:ext cx="5257800" cy="3172968"/>
          </a:xfrm>
          <a:prstGeom prst="roundRect">
            <a:avLst>
              <a:gd name="adj" fmla="val 1441"/>
            </a:avLst>
          </a:prstGeom>
          <a:solidFill>
            <a:srgbClr val="F7F6F2"/>
          </a:solidFill>
          <a:ln w="9525">
            <a:solidFill>
              <a:srgbClr val="D3D1C7"/>
            </a:solidFill>
            <a:prstDash val="solid"/>
          </a:ln>
        </p:spPr>
        <p:txBody>
          <a:bodyPr wrap="square" lIns="50800" tIns="50800" rIns="50800" bIns="50800" rtlCol="0" anchor="ctr"/>
          <a:lstStyle/>
          <a:p>
            <a:pPr algn="ctr" indent="0" marL="0">
              <a:buNone/>
            </a:pPr>
            <a:endParaRPr lang="en-US" sz="1200" dirty="0"/>
          </a:p>
        </p:txBody>
      </p:sp>
      <p:sp>
        <p:nvSpPr>
          <p:cNvPr id="8" name="!!jsonhi"/>
          <p:cNvSpPr/>
          <p:nvPr/>
        </p:nvSpPr>
        <p:spPr>
          <a:xfrm>
            <a:off x="502920" y="4142232"/>
            <a:ext cx="2834640" cy="192024"/>
          </a:xfrm>
          <a:prstGeom prst="roundRect">
            <a:avLst>
              <a:gd name="adj" fmla="val 14286"/>
            </a:avLst>
          </a:prstGeom>
          <a:solidFill>
            <a:srgbClr val="FAEEDA"/>
          </a:solidFill>
          <a:ln w="9525">
            <a:solidFill>
              <a:srgbClr val="854F0B"/>
            </a:solidFill>
            <a:prstDash val="solid"/>
          </a:ln>
        </p:spPr>
        <p:txBody>
          <a:bodyPr wrap="square" lIns="50800" tIns="50800" rIns="50800" bIns="50800" rtlCol="0" anchor="ctr"/>
          <a:lstStyle/>
          <a:p>
            <a:pPr algn="ctr" indent="0" marL="0">
              <a:buNone/>
            </a:pPr>
            <a:endParaRPr lang="en-US" sz="1200" dirty="0"/>
          </a:p>
        </p:txBody>
      </p:sp>
      <p:sp>
        <p:nvSpPr>
          <p:cNvPr id="9" name="!!json0"/>
          <p:cNvSpPr txBox="1"/>
          <p:nvPr/>
        </p:nvSpPr>
        <p:spPr>
          <a:xfrm>
            <a:off x="594360" y="189280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a:t>
            </a:r>
            <a:endParaRPr lang="en-US" sz="1050" dirty="0"/>
          </a:p>
        </p:txBody>
      </p:sp>
      <p:sp>
        <p:nvSpPr>
          <p:cNvPr id="10" name="!!json1"/>
          <p:cNvSpPr txBox="1"/>
          <p:nvPr/>
        </p:nvSpPr>
        <p:spPr>
          <a:xfrm>
            <a:off x="594360" y="206654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"model": "openai/gpt-oss-120b",</a:t>
            </a:r>
            <a:endParaRPr lang="en-US" sz="1050" dirty="0"/>
          </a:p>
        </p:txBody>
      </p:sp>
      <p:sp>
        <p:nvSpPr>
          <p:cNvPr id="11" name="!!json2"/>
          <p:cNvSpPr txBox="1"/>
          <p:nvPr/>
        </p:nvSpPr>
        <p:spPr>
          <a:xfrm>
            <a:off x="594360" y="224028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"choices": [{</a:t>
            </a:r>
            <a:endParaRPr lang="en-US" sz="1050" dirty="0"/>
          </a:p>
        </p:txBody>
      </p:sp>
      <p:sp>
        <p:nvSpPr>
          <p:cNvPr id="12" name="!!json3"/>
          <p:cNvSpPr txBox="1"/>
          <p:nvPr/>
        </p:nvSpPr>
        <p:spPr>
          <a:xfrm>
            <a:off x="594360" y="2414016"/>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"message": {</a:t>
            </a:r>
            <a:endParaRPr lang="en-US" sz="1050" dirty="0"/>
          </a:p>
        </p:txBody>
      </p:sp>
      <p:sp>
        <p:nvSpPr>
          <p:cNvPr id="13" name="!!json4"/>
          <p:cNvSpPr txBox="1"/>
          <p:nvPr/>
        </p:nvSpPr>
        <p:spPr>
          <a:xfrm>
            <a:off x="594360" y="258775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"role": "assistant",</a:t>
            </a:r>
            <a:endParaRPr lang="en-US" sz="1050" dirty="0"/>
          </a:p>
        </p:txBody>
      </p:sp>
      <p:sp>
        <p:nvSpPr>
          <p:cNvPr id="14" name="!!json5"/>
          <p:cNvSpPr txBox="1"/>
          <p:nvPr/>
        </p:nvSpPr>
        <p:spPr>
          <a:xfrm>
            <a:off x="594360" y="276148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"content": null,</a:t>
            </a:r>
            <a:endParaRPr lang="en-US" sz="1050" dirty="0"/>
          </a:p>
        </p:txBody>
      </p:sp>
      <p:sp>
        <p:nvSpPr>
          <p:cNvPr id="15" name="!!json6"/>
          <p:cNvSpPr txBox="1"/>
          <p:nvPr/>
        </p:nvSpPr>
        <p:spPr>
          <a:xfrm>
            <a:off x="594360" y="293522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"tool_calls": [{</a:t>
            </a:r>
            <a:endParaRPr lang="en-US" sz="1050" dirty="0"/>
          </a:p>
        </p:txBody>
      </p:sp>
      <p:sp>
        <p:nvSpPr>
          <p:cNvPr id="16" name="!!json7"/>
          <p:cNvSpPr txBox="1"/>
          <p:nvPr/>
        </p:nvSpPr>
        <p:spPr>
          <a:xfrm>
            <a:off x="594360" y="310896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"function": {</a:t>
            </a:r>
            <a:endParaRPr lang="en-US" sz="1050" dirty="0"/>
          </a:p>
        </p:txBody>
      </p:sp>
      <p:sp>
        <p:nvSpPr>
          <p:cNvPr id="17" name="!!json8"/>
          <p:cNvSpPr txBox="1"/>
          <p:nvPr/>
        </p:nvSpPr>
        <p:spPr>
          <a:xfrm>
            <a:off x="594360" y="3282696"/>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"name": "run_sql",</a:t>
            </a:r>
            <a:endParaRPr lang="en-US" sz="1050" dirty="0"/>
          </a:p>
        </p:txBody>
      </p:sp>
      <p:sp>
        <p:nvSpPr>
          <p:cNvPr id="18" name="!!json9"/>
          <p:cNvSpPr txBox="1"/>
          <p:nvPr/>
        </p:nvSpPr>
        <p:spPr>
          <a:xfrm>
            <a:off x="594360" y="345643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"arguments": "{\"ticket\": \"4521\"}"</a:t>
            </a:r>
            <a:endParaRPr lang="en-US" sz="1050" dirty="0"/>
          </a:p>
        </p:txBody>
      </p:sp>
      <p:sp>
        <p:nvSpPr>
          <p:cNvPr id="19" name="!!json10"/>
          <p:cNvSpPr txBox="1"/>
          <p:nvPr/>
        </p:nvSpPr>
        <p:spPr>
          <a:xfrm>
            <a:off x="594360" y="363016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0" name="!!json11"/>
          <p:cNvSpPr txBox="1"/>
          <p:nvPr/>
        </p:nvSpPr>
        <p:spPr>
          <a:xfrm>
            <a:off x="594360" y="380390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1" name="!!json12"/>
          <p:cNvSpPr txBox="1"/>
          <p:nvPr/>
        </p:nvSpPr>
        <p:spPr>
          <a:xfrm>
            <a:off x="594360" y="3977640"/>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2" name="!!json13"/>
          <p:cNvSpPr txBox="1"/>
          <p:nvPr/>
        </p:nvSpPr>
        <p:spPr>
          <a:xfrm>
            <a:off x="594360" y="4151376"/>
            <a:ext cx="5029200" cy="173736"/>
          </a:xfrm>
          <a:prstGeom prst="rect">
            <a:avLst/>
          </a:prstGeom>
          <a:noFill/>
          <a:ln/>
        </p:spPr>
        <p:txBody>
          <a:bodyPr wrap="square" lIns="0" tIns="0" rIns="0" bIns="0" rtlCol="0" anchor="ctr"/>
          <a:lstStyle/>
          <a:p>
            <a:pPr algn="l" indent="0" marL="0">
              <a:buNone/>
            </a:pPr>
            <a:r>
              <a:rPr lang="en-US" sz="1050" b="1" dirty="0">
                <a:solidFill>
                  <a:srgbClr val="633806"/>
                </a:solidFill>
                <a:latin typeface="Consolas" pitchFamily="34" charset="0"/>
                <a:ea typeface="Consolas" pitchFamily="34" charset="-122"/>
                <a:cs typeface="Consolas" pitchFamily="34" charset="-120"/>
              </a:rPr>
              <a:t>    "finish_reason": "tool_calls"</a:t>
            </a:r>
            <a:endParaRPr lang="en-US" sz="1050" dirty="0"/>
          </a:p>
        </p:txBody>
      </p:sp>
      <p:sp>
        <p:nvSpPr>
          <p:cNvPr id="23" name="!!json14"/>
          <p:cNvSpPr txBox="1"/>
          <p:nvPr/>
        </p:nvSpPr>
        <p:spPr>
          <a:xfrm>
            <a:off x="594360" y="4325112"/>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a:t>
            </a:r>
            <a:endParaRPr lang="en-US" sz="1050" dirty="0"/>
          </a:p>
        </p:txBody>
      </p:sp>
      <p:sp>
        <p:nvSpPr>
          <p:cNvPr id="24" name="!!json15"/>
          <p:cNvSpPr txBox="1"/>
          <p:nvPr/>
        </p:nvSpPr>
        <p:spPr>
          <a:xfrm>
            <a:off x="594360" y="4498848"/>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  "usage": {"prompt_tokens": 812, "completion_tokens": 41}</a:t>
            </a:r>
            <a:endParaRPr lang="en-US" sz="1050" dirty="0"/>
          </a:p>
        </p:txBody>
      </p:sp>
      <p:sp>
        <p:nvSpPr>
          <p:cNvPr id="25" name="!!json16"/>
          <p:cNvSpPr txBox="1"/>
          <p:nvPr/>
        </p:nvSpPr>
        <p:spPr>
          <a:xfrm>
            <a:off x="594360" y="4672584"/>
            <a:ext cx="5029200" cy="173736"/>
          </a:xfrm>
          <a:prstGeom prst="rect">
            <a:avLst/>
          </a:prstGeom>
          <a:noFill/>
          <a:ln/>
        </p:spPr>
        <p:txBody>
          <a:bodyPr wrap="square" lIns="0" tIns="0" rIns="0" bIns="0" rtlCol="0" anchor="ctr"/>
          <a:lstStyle/>
          <a:p>
            <a:pPr algn="l" indent="0" marL="0">
              <a:buNone/>
            </a:pPr>
            <a:r>
              <a:rPr lang="en-US" sz="1050" dirty="0">
                <a:solidFill>
                  <a:srgbClr val="2C2C2A"/>
                </a:solidFill>
                <a:latin typeface="Consolas" pitchFamily="34" charset="0"/>
                <a:ea typeface="Consolas" pitchFamily="34" charset="-122"/>
                <a:cs typeface="Consolas" pitchFamily="34" charset="-120"/>
              </a:rPr>
              <a:t>}</a:t>
            </a:r>
            <a:endParaRPr lang="en-US" sz="1050" dirty="0"/>
          </a:p>
        </p:txBody>
      </p:sp>
      <p:sp>
        <p:nvSpPr>
          <p:cNvPr id="26" name="!!jsonlbl"/>
          <p:cNvSpPr/>
          <p:nvPr/>
        </p:nvSpPr>
        <p:spPr>
          <a:xfrm>
            <a:off x="3520440" y="4133088"/>
            <a:ext cx="1325880" cy="210312"/>
          </a:xfrm>
          <a:prstGeom prst="roundRect">
            <a:avLst>
              <a:gd name="adj" fmla="val 43478"/>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1000" b="1" dirty="0">
                <a:solidFill>
                  <a:srgbClr val="633806"/>
                </a:solidFill>
                <a:latin typeface="Calibri" pitchFamily="34" charset="0"/>
                <a:ea typeface="Calibri" pitchFamily="34" charset="-122"/>
                <a:cs typeface="Calibri" pitchFamily="34" charset="-120"/>
              </a:rPr>
              <a:t>← response code</a:t>
            </a:r>
            <a:endParaRPr lang="en-US" sz="1000" dirty="0"/>
          </a:p>
        </p:txBody>
      </p:sp>
      <p:sp>
        <p:nvSpPr>
          <p:cNvPr id="27" name="!!jsoncap"/>
          <p:cNvSpPr txBox="1"/>
          <p:nvPr/>
        </p:nvSpPr>
        <p:spPr>
          <a:xfrm>
            <a:off x="411480" y="5065776"/>
            <a:ext cx="5257800" cy="457200"/>
          </a:xfrm>
          <a:prstGeom prst="rect">
            <a:avLst/>
          </a:prstGeom>
          <a:noFill/>
          <a:ln/>
        </p:spPr>
        <p:txBody>
          <a:bodyPr wrap="square" lIns="0" tIns="0" rIns="0" bIns="0" rtlCol="0" anchor="t"/>
          <a:lstStyle/>
          <a:p>
            <a:pPr algn="l" indent="0" marL="0">
              <a:buNone/>
            </a:pPr>
            <a:r>
              <a:rPr lang="en-US" sz="1200" dirty="0">
                <a:solidFill>
                  <a:srgbClr val="5F5E5A"/>
                </a:solidFill>
                <a:latin typeface="Consolas" pitchFamily="34" charset="0"/>
                <a:ea typeface="Consolas" pitchFamily="34" charset="-122"/>
                <a:cs typeface="Consolas" pitchFamily="34" charset="-120"/>
              </a:rPr>
              <a:t>content</a:t>
            </a:r>
            <a:pPr algn="l" indent="0" marL="0">
              <a:buNone/>
            </a:pPr>
            <a:r>
              <a:rPr lang="en-US" sz="1200" dirty="0">
                <a:solidFill>
                  <a:srgbClr val="5F5E5A"/>
                </a:solidFill>
                <a:latin typeface="Calibri" pitchFamily="34" charset="0"/>
                <a:ea typeface="Calibri" pitchFamily="34" charset="-122"/>
                <a:cs typeface="Calibri" pitchFamily="34" charset="-120"/>
              </a:rPr>
              <a:t> is empty because the model wants a tool. The response code tells the loop what to do next.</a:t>
            </a:r>
            <a:endParaRPr lang="en-US" sz="1200" dirty="0"/>
          </a:p>
        </p:txBody>
      </p:sp>
      <p:sp>
        <p:nvSpPr>
          <p:cNvPr id="28" name="Text 26"/>
          <p:cNvSpPr txBox="1"/>
          <p:nvPr/>
        </p:nvSpPr>
        <p:spPr>
          <a:xfrm>
            <a:off x="5989320" y="1444752"/>
            <a:ext cx="5788152"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Same idea, different names</a:t>
            </a:r>
            <a:endParaRPr lang="en-US" sz="1300" dirty="0"/>
          </a:p>
        </p:txBody>
      </p:sp>
      <p:graphicFrame>
        <p:nvGraphicFramePr>
          <p:cNvPr id="2" name="!!codes"/>
          <p:cNvGraphicFramePr>
            <a:graphicFrameLocks noGrp="1"/>
          </p:cNvGraphicFramePr>
          <p:nvPr>
            <p:extLst>
              <p:ext uri="{D42A27DB-BD31-4B8C-83A1-F6EECF244321}">
                <p14:modId xmlns:p14="http://schemas.microsoft.com/office/powerpoint/2010/main" val="1579011935"/>
              </p:ext>
            </p:extLst>
          </p:nvPr>
        </p:nvGraphicFramePr>
        <p:xfrm>
          <a:off x="5989320" y="1783080"/>
          <a:ext cx="5788152" cy="914400"/>
        </p:xfrm>
        <a:graphic>
          <a:graphicData uri="http://schemas.openxmlformats.org/drawingml/2006/table">
            <a:tbl>
              <a:tblPr/>
              <a:tblGrid>
                <a:gridCol w="1783080"/>
                <a:gridCol w="1417320"/>
                <a:gridCol w="1307592"/>
                <a:gridCol w="1280160"/>
              </a:tblGrid>
              <a:tr h="347472">
                <a:tc>
                  <a:txBody>
                    <a:bodyPr/>
                    <a:lstStyle/>
                    <a:p>
                      <a:pPr indent="0" marL="0">
                        <a:buNone/>
                      </a:pPr>
                      <a:r>
                        <a:rPr lang="en-US" sz="1150" b="1" dirty="0">
                          <a:solidFill>
                            <a:srgbClr val="2C2C2A"/>
                          </a:solidFill>
                          <a:latin typeface="Calibri" pitchFamily="34" charset="0"/>
                          <a:ea typeface="Calibri" pitchFamily="34" charset="-122"/>
                          <a:cs typeface="Calibri" pitchFamily="34" charset="-120"/>
                        </a:rPr>
                        <a:t>What happened</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1EFE8"/>
                    </a:solidFill>
                  </a:tcPr>
                </a:tc>
                <a:tc>
                  <a:txBody>
                    <a:bodyPr/>
                    <a:lstStyle/>
                    <a:p>
                      <a:pPr indent="0" marL="0">
                        <a:buNone/>
                      </a:pPr>
                      <a:r>
                        <a:rPr lang="en-US" sz="1150" b="1" dirty="0">
                          <a:solidFill>
                            <a:srgbClr val="085041"/>
                          </a:solidFill>
                          <a:latin typeface="Calibri" pitchFamily="34" charset="0"/>
                          <a:ea typeface="Calibri" pitchFamily="34" charset="-122"/>
                          <a:cs typeface="Calibri" pitchFamily="34" charset="-120"/>
                        </a:rPr>
                        <a:t>Groq · OpenAI</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1F5EE"/>
                    </a:solidFill>
                  </a:tcPr>
                </a:tc>
                <a:tc>
                  <a:txBody>
                    <a:bodyPr/>
                    <a:lstStyle/>
                    <a:p>
                      <a:pPr indent="0" marL="0">
                        <a:buNone/>
                      </a:pPr>
                      <a:r>
                        <a:rPr lang="en-US" sz="1150" b="1" dirty="0">
                          <a:solidFill>
                            <a:srgbClr val="712B13"/>
                          </a:solidFill>
                          <a:latin typeface="Calibri" pitchFamily="34" charset="0"/>
                          <a:ea typeface="Calibri" pitchFamily="34" charset="-122"/>
                          <a:cs typeface="Calibri" pitchFamily="34" charset="-120"/>
                        </a:rPr>
                        <a:t>Anthropic</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FAECE7"/>
                    </a:solidFill>
                  </a:tcPr>
                </a:tc>
                <a:tc>
                  <a:txBody>
                    <a:bodyPr/>
                    <a:lstStyle/>
                    <a:p>
                      <a:pPr indent="0" marL="0">
                        <a:buNone/>
                      </a:pPr>
                      <a:r>
                        <a:rPr lang="en-US" sz="1150" b="1" dirty="0">
                          <a:solidFill>
                            <a:srgbClr val="3C3489"/>
                          </a:solidFill>
                          <a:latin typeface="Calibri" pitchFamily="34" charset="0"/>
                          <a:ea typeface="Calibri" pitchFamily="34" charset="-122"/>
                          <a:cs typeface="Calibri" pitchFamily="34" charset="-120"/>
                        </a:rPr>
                        <a:t>Gemini</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solidFill>
                      <a:srgbClr val="EEEDFE"/>
                    </a:solidFill>
                  </a:tcPr>
                </a:tc>
              </a:tr>
              <a:tr h="347472">
                <a:tc>
                  <a:txBody>
                    <a:bodyPr/>
                    <a:lstStyle/>
                    <a:p>
                      <a:pPr indent="0" marL="0">
                        <a:buNone/>
                      </a:pPr>
                      <a:r>
                        <a:rPr lang="en-US" sz="1150" b="1" dirty="0">
                          <a:solidFill>
                            <a:srgbClr val="2C2C2A"/>
                          </a:solidFill>
                          <a:latin typeface="Calibri" pitchFamily="34" charset="0"/>
                          <a:ea typeface="Calibri" pitchFamily="34" charset="-122"/>
                          <a:cs typeface="Calibri" pitchFamily="34" charset="-120"/>
                        </a:rPr>
                        <a:t>Field name</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085041"/>
                          </a:solidFill>
                          <a:latin typeface="Consolas" pitchFamily="34" charset="0"/>
                          <a:ea typeface="Consolas" pitchFamily="34" charset="-122"/>
                          <a:cs typeface="Consolas" pitchFamily="34" charset="-120"/>
                        </a:rPr>
                        <a:t>finish_reason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712B13"/>
                          </a:solidFill>
                          <a:latin typeface="Consolas" pitchFamily="34" charset="0"/>
                          <a:ea typeface="Consolas" pitchFamily="34" charset="-122"/>
                          <a:cs typeface="Consolas" pitchFamily="34" charset="-120"/>
                        </a:rPr>
                        <a:t>stop_reason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3C3489"/>
                          </a:solidFill>
                          <a:latin typeface="Consolas" pitchFamily="34" charset="0"/>
                          <a:ea typeface="Consolas" pitchFamily="34" charset="-122"/>
                          <a:cs typeface="Consolas" pitchFamily="34" charset="-120"/>
                        </a:rPr>
                        <a:t>finishReason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Finished the answer</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end_turn</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Wants a tool</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tool_calls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tool_use</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STOP *</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Cut off (token limit)</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length</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max_tokens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MAX_TOKENS</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r h="347472">
                <a:tc>
                  <a:txBody>
                    <a:bodyPr/>
                    <a:lstStyle/>
                    <a:p>
                      <a:pPr indent="0" marL="0">
                        <a:buNone/>
                      </a:pPr>
                      <a:r>
                        <a:rPr lang="en-US" sz="1150" dirty="0">
                          <a:solidFill>
                            <a:srgbClr val="2C2C2A"/>
                          </a:solidFill>
                          <a:latin typeface="Calibri" pitchFamily="34" charset="0"/>
                          <a:ea typeface="Calibri" pitchFamily="34" charset="-122"/>
                          <a:cs typeface="Calibri" pitchFamily="34" charset="-120"/>
                        </a:rPr>
                        <a:t>Blocked or refused</a:t>
                      </a:r>
                      <a:endParaRPr lang="en-US" sz="1150" dirty="0">
                        <a:latin typeface="Calibri" charset="0"/>
                        <a:ea typeface="Calibri" charset="0"/>
                        <a:cs typeface="Calibri"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content_filter</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refusal</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c>
                  <a:txBody>
                    <a:bodyPr/>
                    <a:lstStyle/>
                    <a:p>
                      <a:pPr indent="0" marL="0">
                        <a:buNone/>
                      </a:pPr>
                      <a:r>
                        <a:rPr lang="en-US" sz="1100" dirty="0">
                          <a:solidFill>
                            <a:srgbClr val="2C2C2A"/>
                          </a:solidFill>
                          <a:latin typeface="Consolas" pitchFamily="34" charset="0"/>
                          <a:ea typeface="Consolas" pitchFamily="34" charset="-122"/>
                          <a:cs typeface="Consolas" pitchFamily="34" charset="-120"/>
                        </a:rPr>
                        <a:t>SAFETY</a:t>
                      </a:r>
                      <a:endParaRPr lang="en-US" sz="1100" dirty="0">
                        <a:latin typeface="Consolas" charset="0"/>
                        <a:ea typeface="Consolas" charset="0"/>
                        <a:cs typeface="Consolas" charset="0"/>
                      </a:endParaRPr>
                    </a:p>
                  </a:txBody>
                  <a:tcPr marL="76200" marR="76200" marT="25400" marB="25400" anchor="ctr">
                    <a:lnL w="9525" cap="flat" cmpd="sng" algn="ctr">
                      <a:solidFill>
                        <a:srgbClr val="D3D1C7"/>
                      </a:solidFill>
                      <a:prstDash val="solid"/>
                      <a:round/>
                      <a:headEnd type="none" w="med" len="med"/>
                      <a:tailEnd type="none" w="med" len="med"/>
                    </a:lnL>
                    <a:lnR w="9525" cap="flat" cmpd="sng" algn="ctr">
                      <a:solidFill>
                        <a:srgbClr val="D3D1C7"/>
                      </a:solidFill>
                      <a:prstDash val="solid"/>
                      <a:round/>
                      <a:headEnd type="none" w="med" len="med"/>
                      <a:tailEnd type="none" w="med" len="med"/>
                    </a:lnR>
                    <a:lnT w="9525" cap="flat" cmpd="sng" algn="ctr">
                      <a:solidFill>
                        <a:srgbClr val="D3D1C7"/>
                      </a:solidFill>
                      <a:prstDash val="solid"/>
                      <a:round/>
                      <a:headEnd type="none" w="med" len="med"/>
                      <a:tailEnd type="none" w="med" len="med"/>
                    </a:lnT>
                    <a:lnB w="9525" cap="flat" cmpd="sng" algn="ctr">
                      <a:solidFill>
                        <a:srgbClr val="D3D1C7"/>
                      </a:solidFill>
                      <a:prstDash val="solid"/>
                      <a:round/>
                      <a:headEnd type="none" w="med" len="med"/>
                      <a:tailEnd type="none" w="med" len="med"/>
                    </a:lnB>
                  </a:tcPr>
                </a:tc>
              </a:tr>
            </a:tbl>
          </a:graphicData>
        </a:graphic>
      </p:graphicFrame>
      <p:sp>
        <p:nvSpPr>
          <p:cNvPr id="30" name="!!gemnote"/>
          <p:cNvSpPr txBox="1"/>
          <p:nvPr/>
        </p:nvSpPr>
        <p:spPr>
          <a:xfrm>
            <a:off x="5989320" y="3931920"/>
            <a:ext cx="5788152" cy="228600"/>
          </a:xfrm>
          <a:prstGeom prst="rect">
            <a:avLst/>
          </a:prstGeom>
          <a:noFill/>
          <a:ln/>
        </p:spPr>
        <p:txBody>
          <a:bodyPr wrap="square" lIns="0" tIns="0" rIns="0" bIns="0" rtlCol="0" anchor="t"/>
          <a:lstStyle/>
          <a:p>
            <a:pPr algn="l" indent="0" marL="0">
              <a:buNone/>
            </a:pPr>
            <a:r>
              <a:rPr lang="en-US" sz="1000" i="1" dirty="0">
                <a:solidFill>
                  <a:srgbClr val="5F5E5A"/>
                </a:solidFill>
                <a:latin typeface="Calibri" pitchFamily="34" charset="0"/>
                <a:ea typeface="Calibri" pitchFamily="34" charset="-122"/>
                <a:cs typeface="Calibri" pitchFamily="34" charset="-120"/>
              </a:rPr>
              <a:t>* Gemini says STOP even when it wants a tool; the function call sits in the reply's content.</a:t>
            </a:r>
            <a:endParaRPr lang="en-US" sz="1000" dirty="0"/>
          </a:p>
        </p:txBody>
      </p:sp>
      <p:sp>
        <p:nvSpPr>
          <p:cNvPr id="31" name="Text 28"/>
          <p:cNvSpPr txBox="1"/>
          <p:nvPr/>
        </p:nvSpPr>
        <p:spPr>
          <a:xfrm>
            <a:off x="5989320" y="4261104"/>
            <a:ext cx="5788152" cy="274320"/>
          </a:xfrm>
          <a:prstGeom prst="rect">
            <a:avLst/>
          </a:prstGeom>
          <a:noFill/>
          <a:ln/>
        </p:spPr>
        <p:txBody>
          <a:bodyPr wrap="square" lIns="0" tIns="0" rIns="0" bIns="0" rtlCol="0" anchor="t"/>
          <a:lstStyle/>
          <a:p>
            <a:pPr algn="l" indent="0" marL="0">
              <a:buNone/>
            </a:pPr>
            <a:r>
              <a:rPr lang="en-US" sz="1300" b="1" dirty="0">
                <a:solidFill>
                  <a:srgbClr val="2C2C2A"/>
                </a:solidFill>
                <a:latin typeface="Calibri" pitchFamily="34" charset="0"/>
                <a:ea typeface="Calibri" pitchFamily="34" charset="-122"/>
                <a:cs typeface="Calibri" pitchFamily="34" charset="-120"/>
              </a:rPr>
              <a:t>What the loop does next</a:t>
            </a:r>
            <a:endParaRPr lang="en-US" sz="1300" dirty="0"/>
          </a:p>
        </p:txBody>
      </p:sp>
      <p:sp>
        <p:nvSpPr>
          <p:cNvPr id="32" name="!!act0"/>
          <p:cNvSpPr/>
          <p:nvPr/>
        </p:nvSpPr>
        <p:spPr>
          <a:xfrm>
            <a:off x="5989320" y="4590288"/>
            <a:ext cx="2848356" cy="384048"/>
          </a:xfrm>
          <a:prstGeom prst="roundRect">
            <a:avLst>
              <a:gd name="adj" fmla="val 14286"/>
            </a:avLst>
          </a:prstGeom>
          <a:solidFill>
            <a:srgbClr val="E1F5EE"/>
          </a:solidFill>
          <a:ln w="9525">
            <a:solidFill>
              <a:srgbClr val="0F6E56"/>
            </a:solidFill>
            <a:prstDash val="solid"/>
          </a:ln>
        </p:spPr>
        <p:txBody>
          <a:bodyPr wrap="square" lIns="76200" tIns="76200" rIns="76200" bIns="76200" rtlCol="0" anchor="ctr"/>
          <a:lstStyle/>
          <a:p>
            <a:pPr algn="l" indent="0" marL="0">
              <a:buNone/>
            </a:pPr>
            <a:r>
              <a:rPr lang="en-US" sz="1050" b="1" dirty="0">
                <a:solidFill>
                  <a:srgbClr val="085041"/>
                </a:solidFill>
                <a:latin typeface="Consolas" pitchFamily="34" charset="0"/>
                <a:ea typeface="Consolas" pitchFamily="34" charset="-122"/>
                <a:cs typeface="Consolas" pitchFamily="34" charset="-120"/>
              </a:rPr>
              <a:t>tool_calls  →  </a:t>
            </a:r>
            <a:pPr algn="l" indent="0" marL="0">
              <a:buNone/>
            </a:pPr>
            <a:r>
              <a:rPr lang="en-US" sz="1100" dirty="0">
                <a:solidFill>
                  <a:srgbClr val="085041"/>
                </a:solidFill>
                <a:latin typeface="Calibri" pitchFamily="34" charset="0"/>
                <a:ea typeface="Calibri" pitchFamily="34" charset="-122"/>
                <a:cs typeface="Calibri" pitchFamily="34" charset="-120"/>
              </a:rPr>
              <a:t>run the tool, call again ↻</a:t>
            </a:r>
            <a:endParaRPr lang="en-US" sz="1200" dirty="0"/>
          </a:p>
        </p:txBody>
      </p:sp>
      <p:sp>
        <p:nvSpPr>
          <p:cNvPr id="33" name="!!act1"/>
          <p:cNvSpPr/>
          <p:nvPr/>
        </p:nvSpPr>
        <p:spPr>
          <a:xfrm>
            <a:off x="8929116" y="4590288"/>
            <a:ext cx="2848356" cy="384048"/>
          </a:xfrm>
          <a:prstGeom prst="roundRect">
            <a:avLst>
              <a:gd name="adj" fmla="val 14286"/>
            </a:avLst>
          </a:prstGeom>
          <a:solidFill>
            <a:srgbClr val="F1EFE8"/>
          </a:solidFill>
          <a:ln w="9525">
            <a:solidFill>
              <a:srgbClr val="888780"/>
            </a:solidFill>
            <a:prstDash val="solid"/>
          </a:ln>
        </p:spPr>
        <p:txBody>
          <a:bodyPr wrap="square" lIns="76200" tIns="76200" rIns="76200" bIns="76200" rtlCol="0" anchor="ctr"/>
          <a:lstStyle/>
          <a:p>
            <a:pPr algn="l" indent="0" marL="0">
              <a:buNone/>
            </a:pPr>
            <a:r>
              <a:rPr lang="en-US" sz="1050" b="1" dirty="0">
                <a:solidFill>
                  <a:srgbClr val="2C2C2A"/>
                </a:solidFill>
                <a:latin typeface="Consolas" pitchFamily="34" charset="0"/>
                <a:ea typeface="Consolas" pitchFamily="34" charset="-122"/>
                <a:cs typeface="Consolas" pitchFamily="34" charset="-120"/>
              </a:rPr>
              <a:t>stop  →  </a:t>
            </a:r>
            <a:pPr algn="l" indent="0" marL="0">
              <a:buNone/>
            </a:pPr>
            <a:r>
              <a:rPr lang="en-US" sz="1100" dirty="0">
                <a:solidFill>
                  <a:srgbClr val="2C2C2A"/>
                </a:solidFill>
                <a:latin typeface="Calibri" pitchFamily="34" charset="0"/>
                <a:ea typeface="Calibri" pitchFamily="34" charset="-122"/>
                <a:cs typeface="Calibri" pitchFamily="34" charset="-120"/>
              </a:rPr>
              <a:t>return the answer, done</a:t>
            </a:r>
            <a:endParaRPr lang="en-US" sz="1200" dirty="0"/>
          </a:p>
        </p:txBody>
      </p:sp>
      <p:sp>
        <p:nvSpPr>
          <p:cNvPr id="34" name="!!act2"/>
          <p:cNvSpPr/>
          <p:nvPr/>
        </p:nvSpPr>
        <p:spPr>
          <a:xfrm>
            <a:off x="5989320" y="5047488"/>
            <a:ext cx="2848356" cy="384048"/>
          </a:xfrm>
          <a:prstGeom prst="roundRect">
            <a:avLst>
              <a:gd name="adj" fmla="val 14286"/>
            </a:avLst>
          </a:prstGeom>
          <a:solidFill>
            <a:srgbClr val="FAEEDA"/>
          </a:solidFill>
          <a:ln w="9525">
            <a:solidFill>
              <a:srgbClr val="854F0B"/>
            </a:solidFill>
            <a:prstDash val="solid"/>
          </a:ln>
        </p:spPr>
        <p:txBody>
          <a:bodyPr wrap="square" lIns="76200" tIns="76200" rIns="76200" bIns="76200" rtlCol="0" anchor="ctr"/>
          <a:lstStyle/>
          <a:p>
            <a:pPr algn="l" indent="0" marL="0">
              <a:buNone/>
            </a:pPr>
            <a:r>
              <a:rPr lang="en-US" sz="1050" b="1" dirty="0">
                <a:solidFill>
                  <a:srgbClr val="633806"/>
                </a:solidFill>
                <a:latin typeface="Consolas" pitchFamily="34" charset="0"/>
                <a:ea typeface="Consolas" pitchFamily="34" charset="-122"/>
                <a:cs typeface="Consolas" pitchFamily="34" charset="-120"/>
              </a:rPr>
              <a:t>length  →  </a:t>
            </a:r>
            <a:pPr algn="l" indent="0" marL="0">
              <a:buNone/>
            </a:pPr>
            <a:r>
              <a:rPr lang="en-US" sz="1100" dirty="0">
                <a:solidFill>
                  <a:srgbClr val="633806"/>
                </a:solidFill>
                <a:latin typeface="Calibri" pitchFamily="34" charset="0"/>
                <a:ea typeface="Calibri" pitchFamily="34" charset="-122"/>
                <a:cs typeface="Calibri" pitchFamily="34" charset="-120"/>
              </a:rPr>
              <a:t>raise the limit or continue</a:t>
            </a:r>
            <a:endParaRPr lang="en-US" sz="1200" dirty="0"/>
          </a:p>
        </p:txBody>
      </p:sp>
      <p:sp>
        <p:nvSpPr>
          <p:cNvPr id="35" name="!!act3"/>
          <p:cNvSpPr/>
          <p:nvPr/>
        </p:nvSpPr>
        <p:spPr>
          <a:xfrm>
            <a:off x="8929116" y="5047488"/>
            <a:ext cx="2848356" cy="384048"/>
          </a:xfrm>
          <a:prstGeom prst="roundRect">
            <a:avLst>
              <a:gd name="adj" fmla="val 14286"/>
            </a:avLst>
          </a:prstGeom>
          <a:solidFill>
            <a:srgbClr val="FAECE7"/>
          </a:solidFill>
          <a:ln w="9525">
            <a:solidFill>
              <a:srgbClr val="993C1D"/>
            </a:solidFill>
            <a:prstDash val="solid"/>
          </a:ln>
        </p:spPr>
        <p:txBody>
          <a:bodyPr wrap="square" lIns="76200" tIns="76200" rIns="76200" bIns="76200" rtlCol="0" anchor="ctr"/>
          <a:lstStyle/>
          <a:p>
            <a:pPr algn="l" indent="0" marL="0">
              <a:buNone/>
            </a:pPr>
            <a:r>
              <a:rPr lang="en-US" sz="1050" b="1" dirty="0">
                <a:solidFill>
                  <a:srgbClr val="712B13"/>
                </a:solidFill>
                <a:latin typeface="Consolas" pitchFamily="34" charset="0"/>
                <a:ea typeface="Consolas" pitchFamily="34" charset="-122"/>
                <a:cs typeface="Consolas" pitchFamily="34" charset="-120"/>
              </a:rPr>
              <a:t>content_filter  →  </a:t>
            </a:r>
            <a:pPr algn="l" indent="0" marL="0">
              <a:buNone/>
            </a:pPr>
            <a:r>
              <a:rPr lang="en-US" sz="1100" dirty="0">
                <a:solidFill>
                  <a:srgbClr val="712B13"/>
                </a:solidFill>
                <a:latin typeface="Calibri" pitchFamily="34" charset="0"/>
                <a:ea typeface="Calibri" pitchFamily="34" charset="-122"/>
                <a:cs typeface="Calibri" pitchFamily="34" charset="-120"/>
              </a:rPr>
              <a:t>stop and escalate</a:t>
            </a:r>
            <a:endParaRPr lang="en-US" sz="1200" dirty="0"/>
          </a:p>
        </p:txBody>
      </p:sp>
      <p:sp>
        <p:nvSpPr>
          <p:cNvPr id="36" name="!!bridge1"/>
          <p:cNvSpPr/>
          <p:nvPr/>
        </p:nvSpPr>
        <p:spPr>
          <a:xfrm>
            <a:off x="411480" y="5623560"/>
            <a:ext cx="11365992" cy="502920"/>
          </a:xfrm>
          <a:prstGeom prst="roundRect">
            <a:avLst>
              <a:gd name="adj" fmla="val 18182"/>
            </a:avLst>
          </a:prstGeom>
          <a:solidFill>
            <a:srgbClr val="EEEDFE"/>
          </a:solidFill>
          <a:ln w="12700">
            <a:solidFill>
              <a:srgbClr val="534AB7"/>
            </a:solidFill>
            <a:prstDash val="solid"/>
          </a:ln>
        </p:spPr>
        <p:txBody>
          <a:bodyPr wrap="square" lIns="152400" tIns="152400" rIns="152400" bIns="152400" rtlCol="0" anchor="ctr"/>
          <a:lstStyle/>
          <a:p>
            <a:pPr algn="l" indent="0" marL="0">
              <a:buNone/>
            </a:pPr>
            <a:r>
              <a:rPr lang="en-US" sz="1400" b="1" dirty="0">
                <a:solidFill>
                  <a:srgbClr val="3C3489"/>
                </a:solidFill>
                <a:latin typeface="Calibri" pitchFamily="34" charset="0"/>
                <a:ea typeface="Calibri" pitchFamily="34" charset="-122"/>
                <a:cs typeface="Calibri" pitchFamily="34" charset="-120"/>
              </a:rPr>
              <a:t>One field steers the whole loop. </a:t>
            </a:r>
            <a:pPr algn="l" indent="0" marL="0">
              <a:buNone/>
            </a:pPr>
            <a:r>
              <a:rPr lang="en-US" sz="1400" dirty="0">
                <a:solidFill>
                  <a:srgbClr val="3C3489"/>
                </a:solidFill>
                <a:latin typeface="Calibri" pitchFamily="34" charset="0"/>
                <a:ea typeface="Calibri" pitchFamily="34" charset="-122"/>
                <a:cs typeface="Calibri" pitchFamily="34" charset="-120"/>
              </a:rPr>
              <a:t>Fine for one task, fragile at scale: and that's exactly where single agents start to fail →</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1</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Thinking, acting and checking are mixed together in one loop. Sort the same messages by job and three separate responsibilities appear.</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hdm"/>
          <p:cNvSpPr txBox="1"/>
          <p:nvPr/>
        </p:nvSpPr>
        <p:spPr>
          <a:xfrm>
            <a:off x="548640" y="1344168"/>
            <a:ext cx="694944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One agent, one context window  ·  time flows down ↓</a:t>
            </a:r>
            <a:endParaRPr lang="en-US" sz="1200" dirty="0"/>
          </a:p>
        </p:txBody>
      </p:sp>
      <p:sp>
        <p:nvSpPr>
          <p:cNvPr id="7" name="!!blk01"/>
          <p:cNvSpPr/>
          <p:nvPr/>
        </p:nvSpPr>
        <p:spPr>
          <a:xfrm>
            <a:off x="548640" y="164592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8" name="!!tag01"/>
          <p:cNvSpPr txBox="1"/>
          <p:nvPr/>
        </p:nvSpPr>
        <p:spPr>
          <a:xfrm>
            <a:off x="6035040" y="164592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9" name="!!blk02"/>
          <p:cNvSpPr/>
          <p:nvPr/>
        </p:nvSpPr>
        <p:spPr>
          <a:xfrm>
            <a:off x="548640" y="191566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10" name="!!tag02"/>
          <p:cNvSpPr txBox="1"/>
          <p:nvPr/>
        </p:nvSpPr>
        <p:spPr>
          <a:xfrm>
            <a:off x="6035040" y="191566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1" name="!!blk03"/>
          <p:cNvSpPr/>
          <p:nvPr/>
        </p:nvSpPr>
        <p:spPr>
          <a:xfrm>
            <a:off x="548640" y="2185416"/>
            <a:ext cx="6949440" cy="457200"/>
          </a:xfrm>
          <a:prstGeom prst="roundRect">
            <a:avLst>
              <a:gd name="adj" fmla="val 1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12" name="!!tag03"/>
          <p:cNvSpPr txBox="1"/>
          <p:nvPr/>
        </p:nvSpPr>
        <p:spPr>
          <a:xfrm>
            <a:off x="6035040" y="2185416"/>
            <a:ext cx="1371600" cy="4572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13" name="!!blk04"/>
          <p:cNvSpPr/>
          <p:nvPr/>
        </p:nvSpPr>
        <p:spPr>
          <a:xfrm>
            <a:off x="548640" y="2683764"/>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4" name="!!tag04"/>
          <p:cNvSpPr txBox="1"/>
          <p:nvPr/>
        </p:nvSpPr>
        <p:spPr>
          <a:xfrm>
            <a:off x="6035040" y="268376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5" name="!!blk05"/>
          <p:cNvSpPr/>
          <p:nvPr/>
        </p:nvSpPr>
        <p:spPr>
          <a:xfrm>
            <a:off x="548640" y="2953512"/>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6" name="!!tag05"/>
          <p:cNvSpPr txBox="1"/>
          <p:nvPr/>
        </p:nvSpPr>
        <p:spPr>
          <a:xfrm>
            <a:off x="6035040" y="295351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17" name="!!blk06"/>
          <p:cNvSpPr/>
          <p:nvPr/>
        </p:nvSpPr>
        <p:spPr>
          <a:xfrm>
            <a:off x="548640" y="322326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8" name="!!tag06"/>
          <p:cNvSpPr txBox="1"/>
          <p:nvPr/>
        </p:nvSpPr>
        <p:spPr>
          <a:xfrm>
            <a:off x="6035040" y="322326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no signal</a:t>
            </a:r>
            <a:endParaRPr lang="en-US" sz="1000" dirty="0"/>
          </a:p>
        </p:txBody>
      </p:sp>
      <p:sp>
        <p:nvSpPr>
          <p:cNvPr id="19" name="!!blk07"/>
          <p:cNvSpPr/>
          <p:nvPr/>
        </p:nvSpPr>
        <p:spPr>
          <a:xfrm>
            <a:off x="548640" y="349300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20" name="!!tag07"/>
          <p:cNvSpPr txBox="1"/>
          <p:nvPr/>
        </p:nvSpPr>
        <p:spPr>
          <a:xfrm>
            <a:off x="6035040" y="349300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1" name="!!blk08"/>
          <p:cNvSpPr/>
          <p:nvPr/>
        </p:nvSpPr>
        <p:spPr>
          <a:xfrm>
            <a:off x="548640" y="3762756"/>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22" name="!!tag08"/>
          <p:cNvSpPr txBox="1"/>
          <p:nvPr/>
        </p:nvSpPr>
        <p:spPr>
          <a:xfrm>
            <a:off x="6035040" y="3762756"/>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3" name="!!blk09"/>
          <p:cNvSpPr/>
          <p:nvPr/>
        </p:nvSpPr>
        <p:spPr>
          <a:xfrm>
            <a:off x="548640" y="4032504"/>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24" name="!!tag09"/>
          <p:cNvSpPr txBox="1"/>
          <p:nvPr/>
        </p:nvSpPr>
        <p:spPr>
          <a:xfrm>
            <a:off x="6035040" y="403250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5" name="!!blk10"/>
          <p:cNvSpPr/>
          <p:nvPr/>
        </p:nvSpPr>
        <p:spPr>
          <a:xfrm>
            <a:off x="548640" y="4302252"/>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26" name="!!tag10"/>
          <p:cNvSpPr txBox="1"/>
          <p:nvPr/>
        </p:nvSpPr>
        <p:spPr>
          <a:xfrm>
            <a:off x="6035040" y="430225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27" name="!!blk11"/>
          <p:cNvSpPr/>
          <p:nvPr/>
        </p:nvSpPr>
        <p:spPr>
          <a:xfrm>
            <a:off x="548640" y="4572000"/>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8" name="!!tag11"/>
          <p:cNvSpPr txBox="1"/>
          <p:nvPr/>
        </p:nvSpPr>
        <p:spPr>
          <a:xfrm>
            <a:off x="6035040" y="457200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29" name="!!blk12"/>
          <p:cNvSpPr/>
          <p:nvPr/>
        </p:nvSpPr>
        <p:spPr>
          <a:xfrm>
            <a:off x="548640" y="4841748"/>
            <a:ext cx="6949440"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30" name="!!tag12"/>
          <p:cNvSpPr txBox="1"/>
          <p:nvPr/>
        </p:nvSpPr>
        <p:spPr>
          <a:xfrm>
            <a:off x="6035040" y="4841748"/>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tool_use</a:t>
            </a:r>
            <a:endParaRPr lang="en-US" sz="1000" dirty="0"/>
          </a:p>
        </p:txBody>
      </p:sp>
      <p:sp>
        <p:nvSpPr>
          <p:cNvPr id="31" name="!!blk13"/>
          <p:cNvSpPr/>
          <p:nvPr/>
        </p:nvSpPr>
        <p:spPr>
          <a:xfrm>
            <a:off x="548640" y="5111496"/>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32" name="!!tag13"/>
          <p:cNvSpPr txBox="1"/>
          <p:nvPr/>
        </p:nvSpPr>
        <p:spPr>
          <a:xfrm>
            <a:off x="6035040" y="5111496"/>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tool</a:t>
            </a:r>
            <a:endParaRPr lang="en-US" sz="1000" dirty="0"/>
          </a:p>
        </p:txBody>
      </p:sp>
      <p:sp>
        <p:nvSpPr>
          <p:cNvPr id="33" name="!!blk14"/>
          <p:cNvSpPr/>
          <p:nvPr/>
        </p:nvSpPr>
        <p:spPr>
          <a:xfrm>
            <a:off x="548640" y="5381244"/>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34" name="!!tag14"/>
          <p:cNvSpPr txBox="1"/>
          <p:nvPr/>
        </p:nvSpPr>
        <p:spPr>
          <a:xfrm>
            <a:off x="6035040" y="5381244"/>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end_turn</a:t>
            </a:r>
            <a:endParaRPr lang="en-US" sz="1000" dirty="0"/>
          </a:p>
        </p:txBody>
      </p:sp>
      <p:sp>
        <p:nvSpPr>
          <p:cNvPr id="35" name="!!blk15"/>
          <p:cNvSpPr/>
          <p:nvPr/>
        </p:nvSpPr>
        <p:spPr>
          <a:xfrm>
            <a:off x="548640" y="5650992"/>
            <a:ext cx="6949440"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36" name="!!tag15"/>
          <p:cNvSpPr txBox="1"/>
          <p:nvPr/>
        </p:nvSpPr>
        <p:spPr>
          <a:xfrm>
            <a:off x="6035040" y="5650992"/>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user</a:t>
            </a:r>
            <a:endParaRPr lang="en-US" sz="1000" dirty="0"/>
          </a:p>
        </p:txBody>
      </p:sp>
      <p:sp>
        <p:nvSpPr>
          <p:cNvPr id="37" name="!!blk16"/>
          <p:cNvSpPr/>
          <p:nvPr/>
        </p:nvSpPr>
        <p:spPr>
          <a:xfrm>
            <a:off x="548640" y="5920740"/>
            <a:ext cx="6949440"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38" name="!!tag16"/>
          <p:cNvSpPr txBox="1"/>
          <p:nvPr/>
        </p:nvSpPr>
        <p:spPr>
          <a:xfrm>
            <a:off x="6035040" y="5920740"/>
            <a:ext cx="1371600" cy="228600"/>
          </a:xfrm>
          <a:prstGeom prst="rect">
            <a:avLst/>
          </a:prstGeom>
          <a:noFill/>
          <a:ln/>
        </p:spPr>
        <p:txBody>
          <a:bodyPr wrap="square" lIns="0" tIns="0" rIns="0" bIns="0" rtlCol="0" anchor="ctr"/>
          <a:lstStyle/>
          <a:p>
            <a:pPr algn="r" indent="0" marL="0">
              <a:buNone/>
            </a:pPr>
            <a:r>
              <a:rPr lang="en-US" sz="1000" dirty="0">
                <a:solidFill>
                  <a:srgbClr val="5F5E5A"/>
                </a:solidFill>
                <a:latin typeface="Consolas" pitchFamily="34" charset="0"/>
                <a:ea typeface="Consolas" pitchFamily="34" charset="-122"/>
                <a:cs typeface="Consolas" pitchFamily="34" charset="-120"/>
              </a:rPr>
              <a:t>max_tokens</a:t>
            </a:r>
            <a:endParaRPr lang="en-US" sz="1000" dirty="0"/>
          </a:p>
        </p:txBody>
      </p:sp>
      <p:sp>
        <p:nvSpPr>
          <p:cNvPr id="39" name="Text 37"/>
          <p:cNvSpPr txBox="1"/>
          <p:nvPr/>
        </p:nvSpPr>
        <p:spPr>
          <a:xfrm>
            <a:off x="7955280" y="164592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40" name="Text 38"/>
          <p:cNvSpPr/>
          <p:nvPr/>
        </p:nvSpPr>
        <p:spPr>
          <a:xfrm>
            <a:off x="7955280" y="217627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41" name="Text 39"/>
          <p:cNvSpPr txBox="1"/>
          <p:nvPr/>
        </p:nvSpPr>
        <p:spPr>
          <a:xfrm>
            <a:off x="8275320" y="212140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42" name="Text 40"/>
          <p:cNvSpPr/>
          <p:nvPr/>
        </p:nvSpPr>
        <p:spPr>
          <a:xfrm>
            <a:off x="7955280" y="274320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43" name="Text 41"/>
          <p:cNvSpPr txBox="1"/>
          <p:nvPr/>
        </p:nvSpPr>
        <p:spPr>
          <a:xfrm>
            <a:off x="8275320" y="268833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44" name="Text 42"/>
          <p:cNvSpPr/>
          <p:nvPr/>
        </p:nvSpPr>
        <p:spPr>
          <a:xfrm>
            <a:off x="7955280" y="331012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45" name="Text 43"/>
          <p:cNvSpPr txBox="1"/>
          <p:nvPr/>
        </p:nvSpPr>
        <p:spPr>
          <a:xfrm>
            <a:off x="8275320" y="325526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46" name="Text 44"/>
          <p:cNvSpPr txBox="1"/>
          <p:nvPr/>
        </p:nvSpPr>
        <p:spPr>
          <a:xfrm>
            <a:off x="7955280" y="393192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29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Why Single Agents Fail – Part 2</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Thinking, acting and checking are mixed together in one loop. Sort the same messages by job and three separate responsibilities appear.</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lh0"/>
          <p:cNvSpPr txBox="1"/>
          <p:nvPr/>
        </p:nvSpPr>
        <p:spPr>
          <a:xfrm>
            <a:off x="548640" y="1344168"/>
            <a:ext cx="2258568" cy="274320"/>
          </a:xfrm>
          <a:prstGeom prst="rect">
            <a:avLst/>
          </a:prstGeom>
          <a:noFill/>
          <a:ln/>
        </p:spPr>
        <p:txBody>
          <a:bodyPr wrap="square" lIns="0" tIns="0" rIns="0" bIns="0" rtlCol="0" anchor="t"/>
          <a:lstStyle/>
          <a:p>
            <a:pPr algn="ctr" indent="0" marL="0">
              <a:buNone/>
            </a:pPr>
            <a:r>
              <a:rPr lang="en-US" sz="1300" b="1" dirty="0">
                <a:solidFill>
                  <a:srgbClr val="3C3489"/>
                </a:solidFill>
                <a:latin typeface="Calibri" pitchFamily="34" charset="0"/>
                <a:ea typeface="Calibri" pitchFamily="34" charset="-122"/>
                <a:cs typeface="Calibri" pitchFamily="34" charset="-120"/>
              </a:rPr>
              <a:t>Thinking</a:t>
            </a:r>
            <a:endParaRPr lang="en-US" sz="1300" dirty="0"/>
          </a:p>
        </p:txBody>
      </p:sp>
      <p:sp>
        <p:nvSpPr>
          <p:cNvPr id="7" name="!!lh1"/>
          <p:cNvSpPr txBox="1"/>
          <p:nvPr/>
        </p:nvSpPr>
        <p:spPr>
          <a:xfrm>
            <a:off x="2898648" y="1344168"/>
            <a:ext cx="2258568" cy="274320"/>
          </a:xfrm>
          <a:prstGeom prst="rect">
            <a:avLst/>
          </a:prstGeom>
          <a:noFill/>
          <a:ln/>
        </p:spPr>
        <p:txBody>
          <a:bodyPr wrap="square" lIns="0" tIns="0" rIns="0" bIns="0" rtlCol="0" anchor="t"/>
          <a:lstStyle/>
          <a:p>
            <a:pPr algn="ctr" indent="0" marL="0">
              <a:buNone/>
            </a:pPr>
            <a:r>
              <a:rPr lang="en-US" sz="1300" b="1" dirty="0">
                <a:solidFill>
                  <a:srgbClr val="085041"/>
                </a:solidFill>
                <a:latin typeface="Calibri" pitchFamily="34" charset="0"/>
                <a:ea typeface="Calibri" pitchFamily="34" charset="-122"/>
                <a:cs typeface="Calibri" pitchFamily="34" charset="-120"/>
              </a:rPr>
              <a:t>Acting</a:t>
            </a:r>
            <a:endParaRPr lang="en-US" sz="1300" dirty="0"/>
          </a:p>
        </p:txBody>
      </p:sp>
      <p:sp>
        <p:nvSpPr>
          <p:cNvPr id="8" name="!!lh2"/>
          <p:cNvSpPr txBox="1"/>
          <p:nvPr/>
        </p:nvSpPr>
        <p:spPr>
          <a:xfrm>
            <a:off x="5248656" y="1344168"/>
            <a:ext cx="2258568" cy="274320"/>
          </a:xfrm>
          <a:prstGeom prst="rect">
            <a:avLst/>
          </a:prstGeom>
          <a:noFill/>
          <a:ln/>
        </p:spPr>
        <p:txBody>
          <a:bodyPr wrap="square" lIns="0" tIns="0" rIns="0" bIns="0" rtlCol="0" anchor="t"/>
          <a:lstStyle/>
          <a:p>
            <a:pPr algn="ctr" indent="0" marL="0">
              <a:buNone/>
            </a:pPr>
            <a:r>
              <a:rPr lang="en-US" sz="1300" b="1" dirty="0">
                <a:solidFill>
                  <a:srgbClr val="712B13"/>
                </a:solidFill>
                <a:latin typeface="Calibri" pitchFamily="34" charset="0"/>
                <a:ea typeface="Calibri" pitchFamily="34" charset="-122"/>
                <a:cs typeface="Calibri" pitchFamily="34" charset="-120"/>
              </a:rPr>
              <a:t>Checking</a:t>
            </a:r>
            <a:endParaRPr lang="en-US" sz="1300" dirty="0"/>
          </a:p>
        </p:txBody>
      </p:sp>
      <p:sp>
        <p:nvSpPr>
          <p:cNvPr id="9" name="!!blk01"/>
          <p:cNvSpPr/>
          <p:nvPr/>
        </p:nvSpPr>
        <p:spPr>
          <a:xfrm>
            <a:off x="548640" y="164592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Read 3 tickets</a:t>
            </a:r>
            <a:endParaRPr lang="en-US" sz="1100" dirty="0"/>
          </a:p>
        </p:txBody>
      </p:sp>
      <p:sp>
        <p:nvSpPr>
          <p:cNvPr id="10" name="!!blk02"/>
          <p:cNvSpPr/>
          <p:nvPr/>
        </p:nvSpPr>
        <p:spPr>
          <a:xfrm>
            <a:off x="2898648" y="191566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SELECT *</a:t>
            </a:r>
            <a:endParaRPr lang="en-US" sz="1100" dirty="0"/>
          </a:p>
        </p:txBody>
      </p:sp>
      <p:sp>
        <p:nvSpPr>
          <p:cNvPr id="11" name="!!blk03"/>
          <p:cNvSpPr/>
          <p:nvPr/>
        </p:nvSpPr>
        <p:spPr>
          <a:xfrm>
            <a:off x="2898648" y="2185416"/>
            <a:ext cx="2258568" cy="457200"/>
          </a:xfrm>
          <a:prstGeom prst="roundRect">
            <a:avLst>
              <a:gd name="adj" fmla="val 1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50k rows</a:t>
            </a:r>
            <a:endParaRPr lang="en-US" sz="1100" dirty="0"/>
          </a:p>
        </p:txBody>
      </p:sp>
      <p:sp>
        <p:nvSpPr>
          <p:cNvPr id="12" name="!!blk04"/>
          <p:cNvSpPr/>
          <p:nvPr/>
        </p:nvSpPr>
        <p:spPr>
          <a:xfrm>
            <a:off x="548640" y="2683764"/>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Suspect join</a:t>
            </a:r>
            <a:endParaRPr lang="en-US" sz="1100" dirty="0"/>
          </a:p>
        </p:txBody>
      </p:sp>
      <p:sp>
        <p:nvSpPr>
          <p:cNvPr id="13" name="!!blk05"/>
          <p:cNvSpPr/>
          <p:nvPr/>
        </p:nvSpPr>
        <p:spPr>
          <a:xfrm>
            <a:off x="2898648" y="2953512"/>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Search code</a:t>
            </a:r>
            <a:endParaRPr lang="en-US" sz="1100" dirty="0"/>
          </a:p>
        </p:txBody>
      </p:sp>
      <p:sp>
        <p:nvSpPr>
          <p:cNvPr id="14" name="!!blk06"/>
          <p:cNvSpPr/>
          <p:nvPr/>
        </p:nvSpPr>
        <p:spPr>
          <a:xfrm>
            <a:off x="548640" y="322326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Switch to 4522</a:t>
            </a:r>
            <a:endParaRPr lang="en-US" sz="1100" dirty="0"/>
          </a:p>
        </p:txBody>
      </p:sp>
      <p:sp>
        <p:nvSpPr>
          <p:cNvPr id="15" name="!!blk07"/>
          <p:cNvSpPr/>
          <p:nvPr/>
        </p:nvSpPr>
        <p:spPr>
          <a:xfrm>
            <a:off x="2898648" y="349300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SQL: 4522</a:t>
            </a:r>
            <a:endParaRPr lang="en-US" sz="1100" dirty="0"/>
          </a:p>
        </p:txBody>
      </p:sp>
      <p:sp>
        <p:nvSpPr>
          <p:cNvPr id="16" name="!!blk08"/>
          <p:cNvSpPr/>
          <p:nvPr/>
        </p:nvSpPr>
        <p:spPr>
          <a:xfrm>
            <a:off x="2898648" y="3762756"/>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Test 4521 + 4522 data</a:t>
            </a:r>
            <a:endParaRPr lang="en-US" sz="1100" dirty="0"/>
          </a:p>
        </p:txBody>
      </p:sp>
      <p:sp>
        <p:nvSpPr>
          <p:cNvPr id="17" name="!!blk09"/>
          <p:cNvSpPr/>
          <p:nvPr/>
        </p:nvSpPr>
        <p:spPr>
          <a:xfrm>
            <a:off x="5248656" y="4032504"/>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a:t>
            </a:r>
            <a:endParaRPr lang="en-US" sz="1100" dirty="0"/>
          </a:p>
        </p:txBody>
      </p:sp>
      <p:sp>
        <p:nvSpPr>
          <p:cNvPr id="18" name="!!blk10"/>
          <p:cNvSpPr/>
          <p:nvPr/>
        </p:nvSpPr>
        <p:spPr>
          <a:xfrm>
            <a:off x="2898648" y="4302252"/>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Retry same fix</a:t>
            </a:r>
            <a:endParaRPr lang="en-US" sz="1100" dirty="0"/>
          </a:p>
        </p:txBody>
      </p:sp>
      <p:sp>
        <p:nvSpPr>
          <p:cNvPr id="19" name="!!blk11"/>
          <p:cNvSpPr/>
          <p:nvPr/>
        </p:nvSpPr>
        <p:spPr>
          <a:xfrm>
            <a:off x="5248656" y="4572000"/>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Fail again</a:t>
            </a:r>
            <a:endParaRPr lang="en-US" sz="1100" dirty="0"/>
          </a:p>
        </p:txBody>
      </p:sp>
      <p:sp>
        <p:nvSpPr>
          <p:cNvPr id="20" name="!!blk12"/>
          <p:cNvSpPr/>
          <p:nvPr/>
        </p:nvSpPr>
        <p:spPr>
          <a:xfrm>
            <a:off x="2898648" y="4841748"/>
            <a:ext cx="2258568" cy="228600"/>
          </a:xfrm>
          <a:prstGeom prst="roundRect">
            <a:avLst>
              <a:gd name="adj" fmla="val 20000"/>
            </a:avLst>
          </a:prstGeom>
          <a:solidFill>
            <a:srgbClr val="E1F5EE"/>
          </a:solidFill>
          <a:ln w="9525">
            <a:solidFill>
              <a:srgbClr val="0F6E56"/>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Edit the test</a:t>
            </a:r>
            <a:endParaRPr lang="en-US" sz="1100" dirty="0"/>
          </a:p>
        </p:txBody>
      </p:sp>
      <p:sp>
        <p:nvSpPr>
          <p:cNvPr id="21" name="!!blk13"/>
          <p:cNvSpPr/>
          <p:nvPr/>
        </p:nvSpPr>
        <p:spPr>
          <a:xfrm>
            <a:off x="5248656" y="5111496"/>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False pass</a:t>
            </a:r>
            <a:endParaRPr lang="en-US" sz="1100" dirty="0"/>
          </a:p>
        </p:txBody>
      </p:sp>
      <p:sp>
        <p:nvSpPr>
          <p:cNvPr id="22" name="!!blk14"/>
          <p:cNvSpPr/>
          <p:nvPr/>
        </p:nvSpPr>
        <p:spPr>
          <a:xfrm>
            <a:off x="548640" y="5381244"/>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Ask sign-off</a:t>
            </a:r>
            <a:endParaRPr lang="en-US" sz="1100" dirty="0"/>
          </a:p>
        </p:txBody>
      </p:sp>
      <p:sp>
        <p:nvSpPr>
          <p:cNvPr id="23" name="!!blk15"/>
          <p:cNvSpPr/>
          <p:nvPr/>
        </p:nvSpPr>
        <p:spPr>
          <a:xfrm>
            <a:off x="5248656" y="5650992"/>
            <a:ext cx="2258568" cy="228600"/>
          </a:xfrm>
          <a:prstGeom prst="roundRect">
            <a:avLst>
              <a:gd name="adj" fmla="val 20000"/>
            </a:avLst>
          </a:prstGeom>
          <a:solidFill>
            <a:srgbClr val="FAECE7"/>
          </a:solidFill>
          <a:ln w="9525">
            <a:solidFill>
              <a:srgbClr val="993C1D"/>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Human rejects</a:t>
            </a:r>
            <a:endParaRPr lang="en-US" sz="1100" dirty="0"/>
          </a:p>
        </p:txBody>
      </p:sp>
      <p:sp>
        <p:nvSpPr>
          <p:cNvPr id="24" name="!!blk16"/>
          <p:cNvSpPr/>
          <p:nvPr/>
        </p:nvSpPr>
        <p:spPr>
          <a:xfrm>
            <a:off x="548640" y="5920740"/>
            <a:ext cx="2258568" cy="228600"/>
          </a:xfrm>
          <a:prstGeom prst="roundRect">
            <a:avLst>
              <a:gd name="adj" fmla="val 20000"/>
            </a:avLst>
          </a:prstGeom>
          <a:solidFill>
            <a:srgbClr val="EEEDFE"/>
          </a:solidFill>
          <a:ln w="9525">
            <a:solidFill>
              <a:srgbClr val="534AB7"/>
            </a:solidFill>
            <a:prstDash val="solid"/>
          </a:ln>
        </p:spPr>
        <p:txBody>
          <a:bodyPr wrap="square" lIns="101600" tIns="101600" rIns="101600" bIns="101600" rtlCol="0" anchor="ctr"/>
          <a:lstStyle/>
          <a:p>
            <a:pPr algn="l" indent="0" marL="0">
              <a:buNone/>
            </a:pPr>
            <a:r>
              <a:rPr lang="en-US" sz="1100" dirty="0">
                <a:solidFill>
                  <a:srgbClr val="2C2C2A"/>
                </a:solidFill>
                <a:latin typeface="Calibri" pitchFamily="34" charset="0"/>
                <a:ea typeface="Calibri" pitchFamily="34" charset="-122"/>
                <a:cs typeface="Calibri" pitchFamily="34" charset="-120"/>
              </a:rPr>
              <a:t>Context full</a:t>
            </a:r>
            <a:endParaRPr lang="en-US" sz="1100" dirty="0"/>
          </a:p>
        </p:txBody>
      </p:sp>
      <p:sp>
        <p:nvSpPr>
          <p:cNvPr id="25" name="Text 23"/>
          <p:cNvSpPr txBox="1"/>
          <p:nvPr/>
        </p:nvSpPr>
        <p:spPr>
          <a:xfrm>
            <a:off x="7955280" y="1645920"/>
            <a:ext cx="3749040" cy="365760"/>
          </a:xfrm>
          <a:prstGeom prst="rect">
            <a:avLst/>
          </a:prstGeom>
          <a:noFill/>
          <a:ln/>
        </p:spPr>
        <p:txBody>
          <a:bodyPr wrap="square" lIns="0" tIns="0" rIns="0" bIns="0" rtlCol="0" anchor="t"/>
          <a:lstStyle/>
          <a:p>
            <a:pPr algn="l" indent="0" marL="0">
              <a:buNone/>
            </a:pPr>
            <a:r>
              <a:rPr lang="en-US" sz="1800" b="1" dirty="0">
                <a:solidFill>
                  <a:srgbClr val="2C2C2A"/>
                </a:solidFill>
                <a:latin typeface="Calibri" pitchFamily="34" charset="0"/>
                <a:ea typeface="Calibri" pitchFamily="34" charset="-122"/>
                <a:cs typeface="Calibri" pitchFamily="34" charset="-120"/>
              </a:rPr>
              <a:t>Three jobs in one loop</a:t>
            </a:r>
            <a:endParaRPr lang="en-US" sz="1800" dirty="0"/>
          </a:p>
        </p:txBody>
      </p:sp>
      <p:sp>
        <p:nvSpPr>
          <p:cNvPr id="26" name="Text 24"/>
          <p:cNvSpPr/>
          <p:nvPr/>
        </p:nvSpPr>
        <p:spPr>
          <a:xfrm>
            <a:off x="7955280" y="2176272"/>
            <a:ext cx="201168" cy="201168"/>
          </a:xfrm>
          <a:prstGeom prst="roundRect">
            <a:avLst>
              <a:gd name="adj" fmla="val 1818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sp>
        <p:nvSpPr>
          <p:cNvPr id="27" name="Text 25"/>
          <p:cNvSpPr txBox="1"/>
          <p:nvPr/>
        </p:nvSpPr>
        <p:spPr>
          <a:xfrm>
            <a:off x="8275320" y="2121408"/>
            <a:ext cx="3429000" cy="457200"/>
          </a:xfrm>
          <a:prstGeom prst="rect">
            <a:avLst/>
          </a:prstGeom>
          <a:noFill/>
          <a:ln/>
        </p:spPr>
        <p:txBody>
          <a:bodyPr wrap="square" lIns="0" tIns="0" rIns="0" bIns="0" rtlCol="0" anchor="t"/>
          <a:lstStyle/>
          <a:p>
            <a:pPr algn="l" indent="0" marL="0">
              <a:buNone/>
            </a:pPr>
            <a:r>
              <a:rPr lang="en-US" sz="1400" b="1" dirty="0">
                <a:solidFill>
                  <a:srgbClr val="3C3489"/>
                </a:solidFill>
                <a:latin typeface="Calibri" pitchFamily="34" charset="0"/>
                <a:ea typeface="Calibri" pitchFamily="34" charset="-122"/>
                <a:cs typeface="Calibri" pitchFamily="34" charset="-120"/>
              </a:rPr>
              <a:t>Thinking: </a:t>
            </a:r>
            <a:pPr algn="l" indent="0" marL="0">
              <a:buNone/>
            </a:pPr>
            <a:r>
              <a:rPr lang="en-US" sz="1400" dirty="0">
                <a:solidFill>
                  <a:srgbClr val="2C2C2A"/>
                </a:solidFill>
                <a:latin typeface="Calibri" pitchFamily="34" charset="0"/>
                <a:ea typeface="Calibri" pitchFamily="34" charset="-122"/>
                <a:cs typeface="Calibri" pitchFamily="34" charset="-120"/>
              </a:rPr>
              <a:t>which ticket, what cause, which tool next</a:t>
            </a:r>
            <a:endParaRPr lang="en-US" sz="1400" dirty="0"/>
          </a:p>
        </p:txBody>
      </p:sp>
      <p:sp>
        <p:nvSpPr>
          <p:cNvPr id="28" name="Text 26"/>
          <p:cNvSpPr/>
          <p:nvPr/>
        </p:nvSpPr>
        <p:spPr>
          <a:xfrm>
            <a:off x="7955280" y="2743200"/>
            <a:ext cx="201168" cy="201168"/>
          </a:xfrm>
          <a:prstGeom prst="roundRect">
            <a:avLst>
              <a:gd name="adj" fmla="val 1818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sp>
        <p:nvSpPr>
          <p:cNvPr id="29" name="Text 27"/>
          <p:cNvSpPr txBox="1"/>
          <p:nvPr/>
        </p:nvSpPr>
        <p:spPr>
          <a:xfrm>
            <a:off x="8275320" y="2688336"/>
            <a:ext cx="3429000" cy="457200"/>
          </a:xfrm>
          <a:prstGeom prst="rect">
            <a:avLst/>
          </a:prstGeom>
          <a:noFill/>
          <a:ln/>
        </p:spPr>
        <p:txBody>
          <a:bodyPr wrap="square" lIns="0" tIns="0" rIns="0" bIns="0" rtlCol="0" anchor="t"/>
          <a:lstStyle/>
          <a:p>
            <a:pPr algn="l" indent="0" marL="0">
              <a:buNone/>
            </a:pPr>
            <a:r>
              <a:rPr lang="en-US" sz="1400" b="1" dirty="0">
                <a:solidFill>
                  <a:srgbClr val="085041"/>
                </a:solidFill>
                <a:latin typeface="Calibri" pitchFamily="34" charset="0"/>
                <a:ea typeface="Calibri" pitchFamily="34" charset="-122"/>
                <a:cs typeface="Calibri" pitchFamily="34" charset="-120"/>
              </a:rPr>
              <a:t>Acting: </a:t>
            </a:r>
            <a:pPr algn="l" indent="0" marL="0">
              <a:buNone/>
            </a:pPr>
            <a:r>
              <a:rPr lang="en-US" sz="1400" dirty="0">
                <a:solidFill>
                  <a:srgbClr val="2C2C2A"/>
                </a:solidFill>
                <a:latin typeface="Calibri" pitchFamily="34" charset="0"/>
                <a:ea typeface="Calibri" pitchFamily="34" charset="-122"/>
                <a:cs typeface="Calibri" pitchFamily="34" charset="-120"/>
              </a:rPr>
              <a:t>SQL, code search, tests</a:t>
            </a:r>
            <a:endParaRPr lang="en-US" sz="1400" dirty="0"/>
          </a:p>
        </p:txBody>
      </p:sp>
      <p:sp>
        <p:nvSpPr>
          <p:cNvPr id="30" name="Text 28"/>
          <p:cNvSpPr/>
          <p:nvPr/>
        </p:nvSpPr>
        <p:spPr>
          <a:xfrm>
            <a:off x="7955280" y="3310128"/>
            <a:ext cx="201168" cy="201168"/>
          </a:xfrm>
          <a:prstGeom prst="roundRect">
            <a:avLst>
              <a:gd name="adj" fmla="val 1818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sp>
        <p:nvSpPr>
          <p:cNvPr id="31" name="Text 29"/>
          <p:cNvSpPr txBox="1"/>
          <p:nvPr/>
        </p:nvSpPr>
        <p:spPr>
          <a:xfrm>
            <a:off x="8275320" y="3255264"/>
            <a:ext cx="3429000" cy="457200"/>
          </a:xfrm>
          <a:prstGeom prst="rect">
            <a:avLst/>
          </a:prstGeom>
          <a:noFill/>
          <a:ln/>
        </p:spPr>
        <p:txBody>
          <a:bodyPr wrap="square" lIns="0" tIns="0" rIns="0" bIns="0" rtlCol="0" anchor="t"/>
          <a:lstStyle/>
          <a:p>
            <a:pPr algn="l" indent="0" marL="0">
              <a:buNone/>
            </a:pPr>
            <a:r>
              <a:rPr lang="en-US" sz="1400" b="1" dirty="0">
                <a:solidFill>
                  <a:srgbClr val="712B13"/>
                </a:solidFill>
                <a:latin typeface="Calibri" pitchFamily="34" charset="0"/>
                <a:ea typeface="Calibri" pitchFamily="34" charset="-122"/>
                <a:cs typeface="Calibri" pitchFamily="34" charset="-120"/>
              </a:rPr>
              <a:t>Checking: </a:t>
            </a:r>
            <a:pPr algn="l" indent="0" marL="0">
              <a:buNone/>
            </a:pPr>
            <a:r>
              <a:rPr lang="en-US" sz="1400" dirty="0">
                <a:solidFill>
                  <a:srgbClr val="2C2C2A"/>
                </a:solidFill>
                <a:latin typeface="Calibri" pitchFamily="34" charset="0"/>
                <a:ea typeface="Calibri" pitchFamily="34" charset="-122"/>
                <a:cs typeface="Calibri" pitchFamily="34" charset="-120"/>
              </a:rPr>
              <a:t>did the fix work, does the evidence match</a:t>
            </a:r>
            <a:endParaRPr lang="en-US" sz="1400" dirty="0"/>
          </a:p>
        </p:txBody>
      </p:sp>
      <p:sp>
        <p:nvSpPr>
          <p:cNvPr id="32" name="Text 30"/>
          <p:cNvSpPr txBox="1"/>
          <p:nvPr/>
        </p:nvSpPr>
        <p:spPr>
          <a:xfrm>
            <a:off x="7955280" y="3931920"/>
            <a:ext cx="3749040" cy="822960"/>
          </a:xfrm>
          <a:prstGeom prst="rect">
            <a:avLst/>
          </a:prstGeom>
          <a:noFill/>
          <a:ln/>
        </p:spPr>
        <p:txBody>
          <a:bodyPr wrap="square" lIns="0" tIns="0" rIns="0" bIns="0" rtlCol="0" anchor="t"/>
          <a:lstStyle/>
          <a:p>
            <a:pPr algn="l" indent="0" marL="0">
              <a:buNone/>
            </a:pPr>
            <a:r>
              <a:rPr lang="en-US" sz="1400" b="1" dirty="0">
                <a:solidFill>
                  <a:srgbClr val="2C2C2A"/>
                </a:solidFill>
                <a:latin typeface="Consolas" pitchFamily="34" charset="0"/>
                <a:ea typeface="Consolas" pitchFamily="34" charset="-122"/>
                <a:cs typeface="Consolas" pitchFamily="34" charset="-120"/>
              </a:rPr>
              <a:t>finish_reason</a:t>
            </a:r>
            <a:pPr algn="l" indent="0" marL="0">
              <a:buNone/>
            </a:pPr>
            <a:r>
              <a:rPr lang="en-US" sz="1400" dirty="0">
                <a:solidFill>
                  <a:srgbClr val="2C2C2A"/>
                </a:solidFill>
                <a:latin typeface="Calibri" pitchFamily="34" charset="0"/>
                <a:ea typeface="Calibri" pitchFamily="34" charset="-122"/>
                <a:cs typeface="Calibri" pitchFamily="34" charset="-120"/>
              </a:rPr>
              <a:t> only signals acting (tool_use) or stopping (end_turn). There is no "plan ready" and no "check passed".</a:t>
            </a:r>
            <a:endParaRPr lang="en-US" sz="1400" dirty="0"/>
          </a:p>
        </p:txBody>
      </p:sp>
      <p:sp>
        <p:nvSpPr>
          <p:cNvPr id="33" name="!!take3"/>
          <p:cNvSpPr/>
          <p:nvPr/>
        </p:nvSpPr>
        <p:spPr>
          <a:xfrm>
            <a:off x="7955280" y="4983480"/>
            <a:ext cx="3749040" cy="1005840"/>
          </a:xfrm>
          <a:prstGeom prst="roundRect">
            <a:avLst>
              <a:gd name="adj" fmla="val 10909"/>
            </a:avLst>
          </a:prstGeom>
          <a:solidFill>
            <a:srgbClr val="FAECE7"/>
          </a:solidFill>
          <a:ln w="12700">
            <a:solidFill>
              <a:srgbClr val="993C1D"/>
            </a:solidFill>
            <a:prstDash val="solid"/>
          </a:ln>
        </p:spPr>
        <p:txBody>
          <a:bodyPr wrap="square" lIns="152400" tIns="152400" rIns="152400" bIns="152400" rtlCol="0" anchor="ctr"/>
          <a:lstStyle/>
          <a:p>
            <a:pPr algn="l" indent="0" marL="0">
              <a:buNone/>
            </a:pPr>
            <a:r>
              <a:rPr lang="en-US" sz="1400" b="1" dirty="0">
                <a:solidFill>
                  <a:srgbClr val="712B13"/>
                </a:solidFill>
                <a:latin typeface="Calibri" pitchFamily="34" charset="0"/>
                <a:ea typeface="Calibri" pitchFamily="34" charset="-122"/>
                <a:cs typeface="Calibri" pitchFamily="34" charset="-120"/>
              </a:rPr>
              <a:t>One loop, three jobs, one exit signal. We'd never let the maker check their own work. Why let an agent?</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30</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Failure Modes: What You Observe</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Too much work in one loop shows up as recognisable errors, like picking the wrong tool. They fall into three families: thinking, acting and checking.</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pic>
        <p:nvPicPr>
          <p:cNvPr id="6" name="!!fi0" descr="/tmp/deck-icons/TbBrain_534AB7.png">    </p:cNvPr>
          <p:cNvPicPr>
            <a:picLocks noChangeAspect="1"/>
          </p:cNvPicPr>
          <p:nvPr/>
        </p:nvPicPr>
        <p:blipFill>
          <a:blip r:embed="rId1"/>
          <a:stretch>
            <a:fillRect/>
          </a:stretch>
        </p:blipFill>
        <p:spPr>
          <a:xfrm>
            <a:off x="548640" y="1371600"/>
            <a:ext cx="292608" cy="292608"/>
          </a:xfrm>
          <a:prstGeom prst="rect">
            <a:avLst/>
          </a:prstGeom>
        </p:spPr>
      </p:pic>
      <p:sp>
        <p:nvSpPr>
          <p:cNvPr id="7" name="!!fh0"/>
          <p:cNvSpPr txBox="1"/>
          <p:nvPr/>
        </p:nvSpPr>
        <p:spPr>
          <a:xfrm>
            <a:off x="932688" y="1371600"/>
            <a:ext cx="3182112" cy="310896"/>
          </a:xfrm>
          <a:prstGeom prst="rect">
            <a:avLst/>
          </a:prstGeom>
          <a:noFill/>
          <a:ln/>
        </p:spPr>
        <p:txBody>
          <a:bodyPr wrap="square" lIns="0" tIns="0" rIns="0" bIns="0" rtlCol="0" anchor="ctr"/>
          <a:lstStyle/>
          <a:p>
            <a:pPr algn="l" indent="0" marL="0">
              <a:buNone/>
            </a:pPr>
            <a:r>
              <a:rPr lang="en-US" sz="1700" b="1" dirty="0">
                <a:solidFill>
                  <a:srgbClr val="3C3489"/>
                </a:solidFill>
                <a:latin typeface="Calibri" pitchFamily="34" charset="0"/>
                <a:ea typeface="Calibri" pitchFamily="34" charset="-122"/>
                <a:cs typeface="Calibri" pitchFamily="34" charset="-120"/>
              </a:rPr>
              <a:t>Thinking failures</a:t>
            </a:r>
            <a:endParaRPr lang="en-US" sz="1700" dirty="0"/>
          </a:p>
        </p:txBody>
      </p:sp>
      <p:sp>
        <p:nvSpPr>
          <p:cNvPr id="8" name="!!card00"/>
          <p:cNvSpPr/>
          <p:nvPr/>
        </p:nvSpPr>
        <p:spPr>
          <a:xfrm>
            <a:off x="548640" y="182880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9" name="!!ci00" descr="/tmp/deck-icons/TbRouteOff_534AB7.png">    </p:cNvPr>
          <p:cNvPicPr>
            <a:picLocks noChangeAspect="1"/>
          </p:cNvPicPr>
          <p:nvPr/>
        </p:nvPicPr>
        <p:blipFill>
          <a:blip r:embed="rId2"/>
          <a:stretch>
            <a:fillRect/>
          </a:stretch>
        </p:blipFill>
        <p:spPr>
          <a:xfrm>
            <a:off x="731520" y="2011680"/>
            <a:ext cx="274320" cy="274320"/>
          </a:xfrm>
          <a:prstGeom prst="rect">
            <a:avLst/>
          </a:prstGeom>
        </p:spPr>
      </p:pic>
      <p:sp>
        <p:nvSpPr>
          <p:cNvPr id="10" name="!!cn00"/>
          <p:cNvSpPr txBox="1"/>
          <p:nvPr/>
        </p:nvSpPr>
        <p:spPr>
          <a:xfrm>
            <a:off x="1097280" y="199339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Goal drift</a:t>
            </a:r>
            <a:endParaRPr lang="en-US" sz="1600" dirty="0"/>
          </a:p>
        </p:txBody>
      </p:sp>
      <p:sp>
        <p:nvSpPr>
          <p:cNvPr id="11" name="!!cb00"/>
          <p:cNvSpPr txBox="1"/>
          <p:nvPr/>
        </p:nvSpPr>
        <p:spPr>
          <a:xfrm>
            <a:off x="73152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wanders off the original ask</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long, crowded context</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asked to summarise a report, starts rewriting it</a:t>
            </a:r>
            <a:endParaRPr lang="en-US" sz="1400" dirty="0"/>
          </a:p>
        </p:txBody>
      </p:sp>
      <p:sp>
        <p:nvSpPr>
          <p:cNvPr id="12" name="!!card01"/>
          <p:cNvSpPr/>
          <p:nvPr/>
        </p:nvSpPr>
        <p:spPr>
          <a:xfrm>
            <a:off x="548640" y="3840480"/>
            <a:ext cx="3566160" cy="1874520"/>
          </a:xfrm>
          <a:prstGeom prst="roundRect">
            <a:avLst>
              <a:gd name="adj" fmla="val 6829"/>
            </a:avLst>
          </a:prstGeom>
          <a:solidFill>
            <a:srgbClr val="EEEDFE"/>
          </a:solidFill>
          <a:ln w="1270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3" name="!!ci01" descr="/tmp/deck-icons/TbTool_534AB7.png">    </p:cNvPr>
          <p:cNvPicPr>
            <a:picLocks noChangeAspect="1"/>
          </p:cNvPicPr>
          <p:nvPr/>
        </p:nvPicPr>
        <p:blipFill>
          <a:blip r:embed="rId3"/>
          <a:stretch>
            <a:fillRect/>
          </a:stretch>
        </p:blipFill>
        <p:spPr>
          <a:xfrm>
            <a:off x="731520" y="4023360"/>
            <a:ext cx="274320" cy="274320"/>
          </a:xfrm>
          <a:prstGeom prst="rect">
            <a:avLst/>
          </a:prstGeom>
        </p:spPr>
      </p:pic>
      <p:sp>
        <p:nvSpPr>
          <p:cNvPr id="14" name="!!cn01"/>
          <p:cNvSpPr txBox="1"/>
          <p:nvPr/>
        </p:nvSpPr>
        <p:spPr>
          <a:xfrm>
            <a:off x="1097280" y="4005072"/>
            <a:ext cx="2834640" cy="329184"/>
          </a:xfrm>
          <a:prstGeom prst="rect">
            <a:avLst/>
          </a:prstGeom>
          <a:noFill/>
          <a:ln/>
        </p:spPr>
        <p:txBody>
          <a:bodyPr wrap="square" lIns="0" tIns="0" rIns="0" bIns="0" rtlCol="0" anchor="ctr"/>
          <a:lstStyle/>
          <a:p>
            <a:pPr algn="l" indent="0" marL="0">
              <a:buNone/>
            </a:pPr>
            <a:r>
              <a:rPr lang="en-US" sz="1600" b="1" dirty="0">
                <a:solidFill>
                  <a:srgbClr val="3C3489"/>
                </a:solidFill>
                <a:latin typeface="Calibri" pitchFamily="34" charset="0"/>
                <a:ea typeface="Calibri" pitchFamily="34" charset="-122"/>
                <a:cs typeface="Calibri" pitchFamily="34" charset="-120"/>
              </a:rPr>
              <a:t>Wrong tool</a:t>
            </a:r>
            <a:endParaRPr lang="en-US" sz="1600" dirty="0"/>
          </a:p>
        </p:txBody>
      </p:sp>
      <p:sp>
        <p:nvSpPr>
          <p:cNvPr id="15" name="!!cb01"/>
          <p:cNvSpPr txBox="1"/>
          <p:nvPr/>
        </p:nvSpPr>
        <p:spPr>
          <a:xfrm>
            <a:off x="73152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right intent, wrong action</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too many similar tools</a:t>
            </a:r>
            <a:endParaRPr lang="en-US" sz="1400" dirty="0"/>
          </a:p>
          <a:p>
            <a:pPr algn="l" indent="0" marL="0">
              <a:spcAft>
                <a:spcPts val="400"/>
              </a:spcAft>
              <a:buNone/>
            </a:pPr>
            <a:r>
              <a:rPr lang="en-US" sz="1400" b="1" dirty="0">
                <a:solidFill>
                  <a:srgbClr val="3C3489"/>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sends the email instead of drafting it</a:t>
            </a:r>
            <a:endParaRPr lang="en-US" sz="1400" dirty="0"/>
          </a:p>
        </p:txBody>
      </p:sp>
      <p:pic>
        <p:nvPicPr>
          <p:cNvPr id="16" name="!!fi1" descr="/tmp/deck-icons/TbPlayerPlay_0F6E56.png">    </p:cNvPr>
          <p:cNvPicPr>
            <a:picLocks noChangeAspect="1"/>
          </p:cNvPicPr>
          <p:nvPr/>
        </p:nvPicPr>
        <p:blipFill>
          <a:blip r:embed="rId4"/>
          <a:stretch>
            <a:fillRect/>
          </a:stretch>
        </p:blipFill>
        <p:spPr>
          <a:xfrm>
            <a:off x="4297680" y="1371600"/>
            <a:ext cx="292608" cy="292608"/>
          </a:xfrm>
          <a:prstGeom prst="rect">
            <a:avLst/>
          </a:prstGeom>
        </p:spPr>
      </p:pic>
      <p:sp>
        <p:nvSpPr>
          <p:cNvPr id="17" name="!!fh1"/>
          <p:cNvSpPr txBox="1"/>
          <p:nvPr/>
        </p:nvSpPr>
        <p:spPr>
          <a:xfrm>
            <a:off x="4681728" y="1371600"/>
            <a:ext cx="3182112" cy="310896"/>
          </a:xfrm>
          <a:prstGeom prst="rect">
            <a:avLst/>
          </a:prstGeom>
          <a:noFill/>
          <a:ln/>
        </p:spPr>
        <p:txBody>
          <a:bodyPr wrap="square" lIns="0" tIns="0" rIns="0" bIns="0" rtlCol="0" anchor="ctr"/>
          <a:lstStyle/>
          <a:p>
            <a:pPr algn="l" indent="0" marL="0">
              <a:buNone/>
            </a:pPr>
            <a:r>
              <a:rPr lang="en-US" sz="1700" b="1" dirty="0">
                <a:solidFill>
                  <a:srgbClr val="085041"/>
                </a:solidFill>
                <a:latin typeface="Calibri" pitchFamily="34" charset="0"/>
                <a:ea typeface="Calibri" pitchFamily="34" charset="-122"/>
                <a:cs typeface="Calibri" pitchFamily="34" charset="-120"/>
              </a:rPr>
              <a:t>Acting failures</a:t>
            </a:r>
            <a:endParaRPr lang="en-US" sz="1700" dirty="0"/>
          </a:p>
        </p:txBody>
      </p:sp>
      <p:sp>
        <p:nvSpPr>
          <p:cNvPr id="18" name="!!card10"/>
          <p:cNvSpPr/>
          <p:nvPr/>
        </p:nvSpPr>
        <p:spPr>
          <a:xfrm>
            <a:off x="4297680" y="182880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9" name="!!ci10" descr="/tmp/deck-icons/TbRepeat_0F6E56.png">    </p:cNvPr>
          <p:cNvPicPr>
            <a:picLocks noChangeAspect="1"/>
          </p:cNvPicPr>
          <p:nvPr/>
        </p:nvPicPr>
        <p:blipFill>
          <a:blip r:embed="rId5"/>
          <a:stretch>
            <a:fillRect/>
          </a:stretch>
        </p:blipFill>
        <p:spPr>
          <a:xfrm>
            <a:off x="4480560" y="2011680"/>
            <a:ext cx="274320" cy="274320"/>
          </a:xfrm>
          <a:prstGeom prst="rect">
            <a:avLst/>
          </a:prstGeom>
        </p:spPr>
      </p:pic>
      <p:sp>
        <p:nvSpPr>
          <p:cNvPr id="20" name="!!cn10"/>
          <p:cNvSpPr txBox="1"/>
          <p:nvPr/>
        </p:nvSpPr>
        <p:spPr>
          <a:xfrm>
            <a:off x="4846320" y="199339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Infinite loop</a:t>
            </a:r>
            <a:endParaRPr lang="en-US" sz="1600" dirty="0"/>
          </a:p>
        </p:txBody>
      </p:sp>
      <p:sp>
        <p:nvSpPr>
          <p:cNvPr id="21" name="!!cb10"/>
          <p:cNvSpPr txBox="1"/>
          <p:nvPr/>
        </p:nvSpPr>
        <p:spPr>
          <a:xfrm>
            <a:off x="448056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same step again and again</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step limit, no memory of failures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keeps re-searching the same flight</a:t>
            </a:r>
            <a:endParaRPr lang="en-US" sz="1400" dirty="0"/>
          </a:p>
        </p:txBody>
      </p:sp>
      <p:sp>
        <p:nvSpPr>
          <p:cNvPr id="22" name="!!card11"/>
          <p:cNvSpPr/>
          <p:nvPr/>
        </p:nvSpPr>
        <p:spPr>
          <a:xfrm>
            <a:off x="4297680" y="3840480"/>
            <a:ext cx="3566160" cy="1874520"/>
          </a:xfrm>
          <a:prstGeom prst="roundRect">
            <a:avLst>
              <a:gd name="adj" fmla="val 6829"/>
            </a:avLst>
          </a:prstGeom>
          <a:solidFill>
            <a:srgbClr val="E1F5EE"/>
          </a:solidFill>
          <a:ln w="1270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3" name="!!ci11" descr="/tmp/deck-icons/TbStack2_0F6E56.png">    </p:cNvPr>
          <p:cNvPicPr>
            <a:picLocks noChangeAspect="1"/>
          </p:cNvPicPr>
          <p:nvPr/>
        </p:nvPicPr>
        <p:blipFill>
          <a:blip r:embed="rId6"/>
          <a:stretch>
            <a:fillRect/>
          </a:stretch>
        </p:blipFill>
        <p:spPr>
          <a:xfrm>
            <a:off x="4480560" y="4023360"/>
            <a:ext cx="274320" cy="274320"/>
          </a:xfrm>
          <a:prstGeom prst="rect">
            <a:avLst/>
          </a:prstGeom>
        </p:spPr>
      </p:pic>
      <p:sp>
        <p:nvSpPr>
          <p:cNvPr id="24" name="!!cn11"/>
          <p:cNvSpPr txBox="1"/>
          <p:nvPr/>
        </p:nvSpPr>
        <p:spPr>
          <a:xfrm>
            <a:off x="4846320" y="4005072"/>
            <a:ext cx="2834640" cy="329184"/>
          </a:xfrm>
          <a:prstGeom prst="rect">
            <a:avLst/>
          </a:prstGeom>
          <a:noFill/>
          <a:ln/>
        </p:spPr>
        <p:txBody>
          <a:bodyPr wrap="square" lIns="0" tIns="0" rIns="0" bIns="0" rtlCol="0" anchor="ctr"/>
          <a:lstStyle/>
          <a:p>
            <a:pPr algn="l" indent="0" marL="0">
              <a:buNone/>
            </a:pPr>
            <a:r>
              <a:rPr lang="en-US" sz="1600" b="1" dirty="0">
                <a:solidFill>
                  <a:srgbClr val="085041"/>
                </a:solidFill>
                <a:latin typeface="Calibri" pitchFamily="34" charset="0"/>
                <a:ea typeface="Calibri" pitchFamily="34" charset="-122"/>
                <a:cs typeface="Calibri" pitchFamily="34" charset="-120"/>
              </a:rPr>
              <a:t>Error cascade</a:t>
            </a:r>
            <a:endParaRPr lang="en-US" sz="1600" dirty="0"/>
          </a:p>
        </p:txBody>
      </p:sp>
      <p:sp>
        <p:nvSpPr>
          <p:cNvPr id="25" name="!!cb11"/>
          <p:cNvSpPr txBox="1"/>
          <p:nvPr/>
        </p:nvSpPr>
        <p:spPr>
          <a:xfrm>
            <a:off x="448056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one bad step spoils the rest</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no isolation or checkpoints</a:t>
            </a:r>
            <a:endParaRPr lang="en-US" sz="1400" dirty="0"/>
          </a:p>
          <a:p>
            <a:pPr algn="l" indent="0" marL="0">
              <a:spcAft>
                <a:spcPts val="400"/>
              </a:spcAft>
              <a:buNone/>
            </a:pPr>
            <a:r>
              <a:rPr lang="en-US" sz="1400" b="1" dirty="0">
                <a:solidFill>
                  <a:srgbClr val="085041"/>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wrong customer ID used in every later step</a:t>
            </a:r>
            <a:endParaRPr lang="en-US" sz="1400" dirty="0"/>
          </a:p>
        </p:txBody>
      </p:sp>
      <p:pic>
        <p:nvPicPr>
          <p:cNvPr id="26" name="!!fi2" descr="/tmp/deck-icons/TbChecklist_993C1D.png">    </p:cNvPr>
          <p:cNvPicPr>
            <a:picLocks noChangeAspect="1"/>
          </p:cNvPicPr>
          <p:nvPr/>
        </p:nvPicPr>
        <p:blipFill>
          <a:blip r:embed="rId7"/>
          <a:stretch>
            <a:fillRect/>
          </a:stretch>
        </p:blipFill>
        <p:spPr>
          <a:xfrm>
            <a:off x="8046720" y="1371600"/>
            <a:ext cx="292608" cy="292608"/>
          </a:xfrm>
          <a:prstGeom prst="rect">
            <a:avLst/>
          </a:prstGeom>
        </p:spPr>
      </p:pic>
      <p:sp>
        <p:nvSpPr>
          <p:cNvPr id="27" name="!!fh2"/>
          <p:cNvSpPr txBox="1"/>
          <p:nvPr/>
        </p:nvSpPr>
        <p:spPr>
          <a:xfrm>
            <a:off x="8430768" y="1371600"/>
            <a:ext cx="3182112" cy="310896"/>
          </a:xfrm>
          <a:prstGeom prst="rect">
            <a:avLst/>
          </a:prstGeom>
          <a:noFill/>
          <a:ln/>
        </p:spPr>
        <p:txBody>
          <a:bodyPr wrap="square" lIns="0" tIns="0" rIns="0" bIns="0" rtlCol="0" anchor="ctr"/>
          <a:lstStyle/>
          <a:p>
            <a:pPr algn="l" indent="0" marL="0">
              <a:buNone/>
            </a:pPr>
            <a:r>
              <a:rPr lang="en-US" sz="1700" b="1" dirty="0">
                <a:solidFill>
                  <a:srgbClr val="712B13"/>
                </a:solidFill>
                <a:latin typeface="Calibri" pitchFamily="34" charset="0"/>
                <a:ea typeface="Calibri" pitchFamily="34" charset="-122"/>
                <a:cs typeface="Calibri" pitchFamily="34" charset="-120"/>
              </a:rPr>
              <a:t>Checking failures</a:t>
            </a:r>
            <a:endParaRPr lang="en-US" sz="1700" dirty="0"/>
          </a:p>
        </p:txBody>
      </p:sp>
      <p:sp>
        <p:nvSpPr>
          <p:cNvPr id="28" name="!!card20"/>
          <p:cNvSpPr/>
          <p:nvPr/>
        </p:nvSpPr>
        <p:spPr>
          <a:xfrm>
            <a:off x="8046720" y="1828800"/>
            <a:ext cx="3566160" cy="1874520"/>
          </a:xfrm>
          <a:prstGeom prst="roundRect">
            <a:avLst>
              <a:gd name="adj" fmla="val 68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9" name="!!ci20" descr="/tmp/deck-icons/TbMoodCheck_993C1D.png">    </p:cNvPr>
          <p:cNvPicPr>
            <a:picLocks noChangeAspect="1"/>
          </p:cNvPicPr>
          <p:nvPr/>
        </p:nvPicPr>
        <p:blipFill>
          <a:blip r:embed="rId8"/>
          <a:stretch>
            <a:fillRect/>
          </a:stretch>
        </p:blipFill>
        <p:spPr>
          <a:xfrm>
            <a:off x="8229600" y="2011680"/>
            <a:ext cx="274320" cy="274320"/>
          </a:xfrm>
          <a:prstGeom prst="rect">
            <a:avLst/>
          </a:prstGeom>
        </p:spPr>
      </p:pic>
      <p:sp>
        <p:nvSpPr>
          <p:cNvPr id="30" name="!!cn20"/>
          <p:cNvSpPr txBox="1"/>
          <p:nvPr/>
        </p:nvSpPr>
        <p:spPr>
          <a:xfrm>
            <a:off x="8595360" y="199339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False success</a:t>
            </a:r>
            <a:endParaRPr lang="en-US" sz="1600" dirty="0"/>
          </a:p>
        </p:txBody>
      </p:sp>
      <p:sp>
        <p:nvSpPr>
          <p:cNvPr id="31" name="!!cb20"/>
          <p:cNvSpPr txBox="1"/>
          <p:nvPr/>
        </p:nvSpPr>
        <p:spPr>
          <a:xfrm>
            <a:off x="8229600" y="239572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says "done" when it isn't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grades its own work</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"report sent" but the attachment is empty</a:t>
            </a:r>
            <a:endParaRPr lang="en-US" sz="1400" dirty="0"/>
          </a:p>
        </p:txBody>
      </p:sp>
      <p:sp>
        <p:nvSpPr>
          <p:cNvPr id="32" name="!!card21"/>
          <p:cNvSpPr/>
          <p:nvPr/>
        </p:nvSpPr>
        <p:spPr>
          <a:xfrm>
            <a:off x="8046720" y="3840480"/>
            <a:ext cx="3566160" cy="1874520"/>
          </a:xfrm>
          <a:prstGeom prst="roundRect">
            <a:avLst>
              <a:gd name="adj" fmla="val 6829"/>
            </a:avLst>
          </a:prstGeom>
          <a:solidFill>
            <a:srgbClr val="FAECE7"/>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3" name="!!ci21" descr="/tmp/deck-icons/TbPlayerStop_993C1D.png">    </p:cNvPr>
          <p:cNvPicPr>
            <a:picLocks noChangeAspect="1"/>
          </p:cNvPicPr>
          <p:nvPr/>
        </p:nvPicPr>
        <p:blipFill>
          <a:blip r:embed="rId9"/>
          <a:stretch>
            <a:fillRect/>
          </a:stretch>
        </p:blipFill>
        <p:spPr>
          <a:xfrm>
            <a:off x="8229600" y="4023360"/>
            <a:ext cx="274320" cy="274320"/>
          </a:xfrm>
          <a:prstGeom prst="rect">
            <a:avLst/>
          </a:prstGeom>
        </p:spPr>
      </p:pic>
      <p:sp>
        <p:nvSpPr>
          <p:cNvPr id="34" name="!!cn21"/>
          <p:cNvSpPr txBox="1"/>
          <p:nvPr/>
        </p:nvSpPr>
        <p:spPr>
          <a:xfrm>
            <a:off x="8595360" y="4005072"/>
            <a:ext cx="2834640" cy="329184"/>
          </a:xfrm>
          <a:prstGeom prst="rect">
            <a:avLst/>
          </a:prstGeom>
          <a:noFill/>
          <a:ln/>
        </p:spPr>
        <p:txBody>
          <a:bodyPr wrap="square" lIns="0" tIns="0" rIns="0" bIns="0" rtlCol="0" anchor="ctr"/>
          <a:lstStyle/>
          <a:p>
            <a:pPr algn="l" indent="0" marL="0">
              <a:buNone/>
            </a:pPr>
            <a:r>
              <a:rPr lang="en-US" sz="1600" b="1" dirty="0">
                <a:solidFill>
                  <a:srgbClr val="712B13"/>
                </a:solidFill>
                <a:latin typeface="Calibri" pitchFamily="34" charset="0"/>
                <a:ea typeface="Calibri" pitchFamily="34" charset="-122"/>
                <a:cs typeface="Calibri" pitchFamily="34" charset="-120"/>
              </a:rPr>
              <a:t>Premature stop</a:t>
            </a:r>
            <a:endParaRPr lang="en-US" sz="1600" dirty="0"/>
          </a:p>
        </p:txBody>
      </p:sp>
      <p:sp>
        <p:nvSpPr>
          <p:cNvPr id="35" name="!!cb21"/>
          <p:cNvSpPr txBox="1"/>
          <p:nvPr/>
        </p:nvSpPr>
        <p:spPr>
          <a:xfrm>
            <a:off x="8229600" y="4407408"/>
            <a:ext cx="3200400" cy="1280160"/>
          </a:xfrm>
          <a:prstGeom prst="rect">
            <a:avLst/>
          </a:prstGeom>
          <a:noFill/>
          <a:ln/>
        </p:spPr>
        <p:txBody>
          <a:bodyPr wrap="square" lIns="0" tIns="0" rIns="0" bIns="0" rtlCol="0" anchor="t"/>
          <a:lstStyle/>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See: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quits halfway, sounds confident</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Cause: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"stopped talking" read as "finished"</a:t>
            </a:r>
            <a:endParaRPr lang="en-US" sz="1400" dirty="0"/>
          </a:p>
          <a:p>
            <a:pPr algn="l" indent="0" marL="0">
              <a:spcAft>
                <a:spcPts val="400"/>
              </a:spcAft>
              <a:buNone/>
            </a:pPr>
            <a:r>
              <a:rPr lang="en-US" sz="1400" b="1" dirty="0">
                <a:solidFill>
                  <a:srgbClr val="712B13"/>
                </a:solidFill>
                <a:latin typeface="Calibri" pitchFamily="34" charset="0"/>
                <a:ea typeface="Calibri" pitchFamily="34" charset="-122"/>
                <a:cs typeface="Calibri" pitchFamily="34" charset="-120"/>
              </a:rPr>
              <a:t>Example: </a:t>
            </a:r>
            <a:pPr algn="l" indent="0" marL="0">
              <a:spcAft>
                <a:spcPts val="400"/>
              </a:spcAft>
              <a:buNone/>
            </a:pPr>
            <a:r>
              <a:rPr lang="en-US" sz="1400" dirty="0">
                <a:solidFill>
                  <a:srgbClr val="2C2C2A"/>
                </a:solidFill>
                <a:latin typeface="Calibri" pitchFamily="34" charset="0"/>
                <a:ea typeface="Calibri" pitchFamily="34" charset="-122"/>
                <a:cs typeface="Calibri" pitchFamily="34" charset="-120"/>
              </a:rPr>
              <a:t>answers 2 of 5 questions</a:t>
            </a:r>
            <a:endParaRPr lang="en-US" sz="1400" dirty="0"/>
          </a:p>
        </p:txBody>
      </p:sp>
      <p:sp>
        <p:nvSpPr>
          <p:cNvPr id="36" name="!!take4"/>
          <p:cNvSpPr txBox="1"/>
          <p:nvPr/>
        </p:nvSpPr>
        <p:spPr>
          <a:xfrm>
            <a:off x="548640" y="5852160"/>
            <a:ext cx="11064240" cy="411480"/>
          </a:xfrm>
          <a:prstGeom prst="rect">
            <a:avLst/>
          </a:prstGeom>
          <a:noFill/>
          <a:ln/>
        </p:spPr>
        <p:txBody>
          <a:bodyPr wrap="square" lIns="0" tIns="0" rIns="0" bIns="0" rtlCol="0" anchor="t"/>
          <a:lstStyle/>
          <a:p>
            <a:pPr algn="ctr" indent="0" marL="0">
              <a:buNone/>
            </a:pPr>
            <a:r>
              <a:rPr lang="en-US" sz="1700" b="1" i="1" dirty="0">
                <a:solidFill>
                  <a:srgbClr val="2C2C2A"/>
                </a:solidFill>
                <a:latin typeface="Calibri" pitchFamily="34" charset="0"/>
                <a:ea typeface="Calibri" pitchFamily="34" charset="-122"/>
                <a:cs typeface="Calibri" pitchFamily="34" charset="-120"/>
              </a:rPr>
              <a:t>Every failure is one of three jobs going wrong, and every cause is a design choice.</a:t>
            </a:r>
            <a:endParaRPr lang="en-US" sz="17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fade">
                                      <p:cBhvr>
                                        <p:cTn id="7" dur="500"/>
                                        <p:tgtEl>
                                          <p:spTgt spid="1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animEffect transition="in" filter="fade">
                                      <p:cBhvr>
                                        <p:cTn id="13" dur="500"/>
                                        <p:tgtEl>
                                          <p:spTgt spid="1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9"/>
                                        </p:tgtEl>
                                        <p:attrNameLst>
                                          <p:attrName>style.visibility</p:attrName>
                                        </p:attrNameLst>
                                      </p:cBhvr>
                                      <p:to>
                                        <p:strVal val="visible"/>
                                      </p:to>
                                    </p:set>
                                    <p:animEffect transition="in" filter="fade">
                                      <p:cBhvr>
                                        <p:cTn id="16" dur="500"/>
                                        <p:tgtEl>
                                          <p:spTgt spid="1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500"/>
                                        <p:tgtEl>
                                          <p:spTgt spid="20"/>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fade">
                                      <p:cBhvr>
                                        <p:cTn id="22" dur="500"/>
                                        <p:tgtEl>
                                          <p:spTgt spid="21"/>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fade">
                                      <p:cBhvr>
                                        <p:cTn id="25" dur="500"/>
                                        <p:tgtEl>
                                          <p:spTgt spid="22"/>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500"/>
                                        <p:tgtEl>
                                          <p:spTgt spid="23"/>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00"/>
                                        <p:tgtEl>
                                          <p:spTgt spid="24"/>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5"/>
                                        </p:tgtEl>
                                        <p:attrNameLst>
                                          <p:attrName>style.visibility</p:attrName>
                                        </p:attrNameLst>
                                      </p:cBhvr>
                                      <p:to>
                                        <p:strVal val="visible"/>
                                      </p:to>
                                    </p:set>
                                    <p:animEffect transition="in" filter="fade">
                                      <p:cBhvr>
                                        <p:cTn id="34" dur="500"/>
                                        <p:tgtEl>
                                          <p:spTgt spid="25"/>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fade">
                                      <p:cBhvr>
                                        <p:cTn id="39" dur="500"/>
                                        <p:tgtEl>
                                          <p:spTgt spid="26"/>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7"/>
                                        </p:tgtEl>
                                        <p:attrNameLst>
                                          <p:attrName>style.visibility</p:attrName>
                                        </p:attrNameLst>
                                      </p:cBhvr>
                                      <p:to>
                                        <p:strVal val="visible"/>
                                      </p:to>
                                    </p:set>
                                    <p:animEffect transition="in" filter="fade">
                                      <p:cBhvr>
                                        <p:cTn id="42" dur="500"/>
                                        <p:tgtEl>
                                          <p:spTgt spid="27"/>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fade">
                                      <p:cBhvr>
                                        <p:cTn id="45" dur="500"/>
                                        <p:tgtEl>
                                          <p:spTgt spid="2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9"/>
                                        </p:tgtEl>
                                        <p:attrNameLst>
                                          <p:attrName>style.visibility</p:attrName>
                                        </p:attrNameLst>
                                      </p:cBhvr>
                                      <p:to>
                                        <p:strVal val="visible"/>
                                      </p:to>
                                    </p:set>
                                    <p:animEffect transition="in" filter="fade">
                                      <p:cBhvr>
                                        <p:cTn id="48" dur="500"/>
                                        <p:tgtEl>
                                          <p:spTgt spid="29"/>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0"/>
                                        </p:tgtEl>
                                        <p:attrNameLst>
                                          <p:attrName>style.visibility</p:attrName>
                                        </p:attrNameLst>
                                      </p:cBhvr>
                                      <p:to>
                                        <p:strVal val="visible"/>
                                      </p:to>
                                    </p:set>
                                    <p:animEffect transition="in" filter="fade">
                                      <p:cBhvr>
                                        <p:cTn id="51" dur="500"/>
                                        <p:tgtEl>
                                          <p:spTgt spid="30"/>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31"/>
                                        </p:tgtEl>
                                        <p:attrNameLst>
                                          <p:attrName>style.visibility</p:attrName>
                                        </p:attrNameLst>
                                      </p:cBhvr>
                                      <p:to>
                                        <p:strVal val="visible"/>
                                      </p:to>
                                    </p:set>
                                    <p:animEffect transition="in" filter="fade">
                                      <p:cBhvr>
                                        <p:cTn id="54" dur="500"/>
                                        <p:tgtEl>
                                          <p:spTgt spid="31"/>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Effect transition="in" filter="fade">
                                      <p:cBhvr>
                                        <p:cTn id="57" dur="500"/>
                                        <p:tgtEl>
                                          <p:spTgt spid="32"/>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33"/>
                                        </p:tgtEl>
                                        <p:attrNameLst>
                                          <p:attrName>style.visibility</p:attrName>
                                        </p:attrNameLst>
                                      </p:cBhvr>
                                      <p:to>
                                        <p:strVal val="visible"/>
                                      </p:to>
                                    </p:set>
                                    <p:animEffect transition="in" filter="fade">
                                      <p:cBhvr>
                                        <p:cTn id="60" dur="500"/>
                                        <p:tgtEl>
                                          <p:spTgt spid="33"/>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4"/>
                                        </p:tgtEl>
                                        <p:attrNameLst>
                                          <p:attrName>style.visibility</p:attrName>
                                        </p:attrNameLst>
                                      </p:cBhvr>
                                      <p:to>
                                        <p:strVal val="visible"/>
                                      </p:to>
                                    </p:set>
                                    <p:animEffect transition="in" filter="fade">
                                      <p:cBhvr>
                                        <p:cTn id="63" dur="500"/>
                                        <p:tgtEl>
                                          <p:spTgt spid="3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5"/>
                                        </p:tgtEl>
                                        <p:attrNameLst>
                                          <p:attrName>style.visibility</p:attrName>
                                        </p:attrNameLst>
                                      </p:cBhvr>
                                      <p:to>
                                        <p:strVal val="visible"/>
                                      </p:to>
                                    </p:set>
                                    <p:animEffect transition="in" filter="fade">
                                      <p:cBhvr>
                                        <p:cTn id="66" dur="500"/>
                                        <p:tgtEl>
                                          <p:spTgt spid="3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6"/>
                                        </p:tgtEl>
                                        <p:attrNameLst>
                                          <p:attrName>style.visibility</p:attrName>
                                        </p:attrNameLst>
                                      </p:cBhvr>
                                      <p:to>
                                        <p:strVal val="visible"/>
                                      </p:to>
                                    </p:set>
                                    <p:animEffect transition="in" filter="fade">
                                      <p:cBhvr>
                                        <p:cTn id="69"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0" grpId="0" animBg="1"/>
      <p:bldP spid="21" grpId="0" animBg="1"/>
      <p:bldP spid="22" grpId="0" animBg="1"/>
      <p:bldP spid="24" grpId="0" animBg="1"/>
      <p:bldP spid="25" grpId="0" animBg="1"/>
      <p:bldP spid="27" grpId="0" animBg="1"/>
      <p:bldP spid="28" grpId="0" animBg="1"/>
      <p:bldP spid="30" grpId="0" animBg="1"/>
      <p:bldP spid="31" grpId="0" animBg="1"/>
      <p:bldP spid="32" grpId="0" animBg="1"/>
      <p:bldP spid="34" grpId="0" animBg="1"/>
      <p:bldP spid="35" grpId="0" animBg="1"/>
      <p:bldP spid="36"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big"/>
          <p:cNvSpPr/>
          <p:nvPr/>
        </p:nvSpPr>
        <p:spPr>
          <a:xfrm>
            <a:off x="3324758" y="2558491"/>
            <a:ext cx="1510589" cy="1510589"/>
          </a:xfrm>
          <a:prstGeom prst="ellipse">
            <a:avLst/>
          </a:prstGeom>
          <a:solidFill>
            <a:srgbClr val="FFFFFF">
              <a:alpha val="0"/>
            </a:srgbClr>
          </a:solidFill>
          <a:ln w="25400">
            <a:solidFill>
              <a:srgbClr val="A32D2D"/>
            </a:solidFill>
            <a:prstDash val="solid"/>
          </a:ln>
        </p:spPr>
        <p:txBody>
          <a:bodyPr wrap="square" lIns="50800" tIns="50800" rIns="50800" bIns="50800" rtlCol="0" anchor="ctr"/>
          <a:lstStyle/>
          <a:p>
            <a:pPr algn="ctr" indent="0" marL="0">
              <a:buNone/>
            </a:pPr>
            <a:endParaRPr lang="en-US" sz="1200" dirty="0"/>
          </a:p>
        </p:txBody>
      </p:sp>
      <p:sp>
        <p:nvSpPr>
          <p:cNvPr id="10" name="!!bigl"/>
          <p:cNvSpPr txBox="1"/>
          <p:nvPr/>
        </p:nvSpPr>
        <p:spPr>
          <a:xfrm>
            <a:off x="4921667" y="2558491"/>
            <a:ext cx="1828800" cy="228600"/>
          </a:xfrm>
          <a:prstGeom prst="rect">
            <a:avLst/>
          </a:prstGeom>
          <a:noFill/>
          <a:ln/>
        </p:spPr>
        <p:txBody>
          <a:bodyPr wrap="square" lIns="0" tIns="0" rIns="0" bIns="0" rtlCol="0" anchor="t"/>
          <a:lstStyle/>
          <a:p>
            <a:pPr algn="l" indent="0" marL="0">
              <a:buNone/>
            </a:pPr>
            <a:r>
              <a:rPr lang="en-US" sz="1100" b="1" dirty="0">
                <a:solidFill>
                  <a:srgbClr val="A32D2D"/>
                </a:solidFill>
                <a:latin typeface="Calibri" pitchFamily="34" charset="0"/>
                <a:ea typeface="Calibri" pitchFamily="34" charset="-122"/>
                <a:cs typeface="Calibri" pitchFamily="34" charset="-120"/>
              </a:rPr>
              <a:t>↻ one loop, one agent</a:t>
            </a:r>
            <a:endParaRPr lang="en-US" sz="1100" dirty="0"/>
          </a:p>
        </p:txBody>
      </p:sp>
      <p:sp>
        <p:nvSpPr>
          <p:cNvPr id="11" name="!!lt0"/>
          <p:cNvSpPr/>
          <p:nvPr/>
        </p:nvSpPr>
        <p:spPr>
          <a:xfrm>
            <a:off x="4080053" y="2083735"/>
            <a:ext cx="914" cy="431597"/>
          </a:xfrm>
          <a:prstGeom prst="line">
            <a:avLst/>
          </a:prstGeom>
          <a:noFill/>
          <a:ln w="15875">
            <a:solidFill>
              <a:srgbClr val="5F5E5A"/>
            </a:solidFill>
            <a:prstDash val="solid"/>
            <a:tailEnd type="triangle"/>
          </a:ln>
        </p:spPr>
      </p:sp>
      <p:sp>
        <p:nvSpPr>
          <p:cNvPr id="12" name="!!fr"/>
          <p:cNvSpPr/>
          <p:nvPr/>
        </p:nvSpPr>
        <p:spPr>
          <a:xfrm>
            <a:off x="5067330" y="3810122"/>
            <a:ext cx="2125614"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finish_reason decides all</a:t>
            </a:r>
            <a:endParaRPr lang="en-US" sz="900" dirty="0"/>
          </a:p>
        </p:txBody>
      </p:sp>
      <p:sp>
        <p:nvSpPr>
          <p:cNvPr id="13" name="!!j0"/>
          <p:cNvSpPr/>
          <p:nvPr/>
        </p:nvSpPr>
        <p:spPr>
          <a:xfrm>
            <a:off x="3515524" y="2911106"/>
            <a:ext cx="481662" cy="481662"/>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4" name="!!ji0" descr="/tmp/deck-icons/TbBrain_534AB7.png">    </p:cNvPr>
          <p:cNvPicPr>
            <a:picLocks noChangeAspect="1"/>
          </p:cNvPicPr>
          <p:nvPr/>
        </p:nvPicPr>
        <p:blipFill>
          <a:blip r:embed="rId2"/>
          <a:stretch>
            <a:fillRect/>
          </a:stretch>
        </p:blipFill>
        <p:spPr>
          <a:xfrm>
            <a:off x="3611857" y="3007438"/>
            <a:ext cx="288997" cy="288997"/>
          </a:xfrm>
          <a:prstGeom prst="rect">
            <a:avLst/>
          </a:prstGeom>
        </p:spPr>
      </p:pic>
      <p:sp>
        <p:nvSpPr>
          <p:cNvPr id="15" name="!!j1"/>
          <p:cNvSpPr/>
          <p:nvPr/>
        </p:nvSpPr>
        <p:spPr>
          <a:xfrm>
            <a:off x="4162919" y="2911106"/>
            <a:ext cx="481662" cy="481662"/>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16" name="!!ji1" descr="/tmp/deck-icons/TbTool_0F6E56.png">    </p:cNvPr>
          <p:cNvPicPr>
            <a:picLocks noChangeAspect="1"/>
          </p:cNvPicPr>
          <p:nvPr/>
        </p:nvPicPr>
        <p:blipFill>
          <a:blip r:embed="rId3"/>
          <a:stretch>
            <a:fillRect/>
          </a:stretch>
        </p:blipFill>
        <p:spPr>
          <a:xfrm>
            <a:off x="4259252" y="3007438"/>
            <a:ext cx="288997" cy="288997"/>
          </a:xfrm>
          <a:prstGeom prst="rect">
            <a:avLst/>
          </a:prstGeom>
        </p:spPr>
      </p:pic>
      <p:sp>
        <p:nvSpPr>
          <p:cNvPr id="17" name="!!j2"/>
          <p:cNvSpPr/>
          <p:nvPr/>
        </p:nvSpPr>
        <p:spPr>
          <a:xfrm>
            <a:off x="3839222" y="3375072"/>
            <a:ext cx="481662" cy="481662"/>
          </a:xfrm>
          <a:prstGeom prst="ellipse">
            <a:avLst/>
          </a:prstGeom>
          <a:solidFill>
            <a:srgbClr val="FFFFFF"/>
          </a:solidFill>
          <a:ln w="190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18" name="!!ji2" descr="/tmp/deck-icons/TbChecklist_993C1D.png">    </p:cNvPr>
          <p:cNvPicPr>
            <a:picLocks noChangeAspect="1"/>
          </p:cNvPicPr>
          <p:nvPr/>
        </p:nvPicPr>
        <p:blipFill>
          <a:blip r:embed="rId4"/>
          <a:stretch>
            <a:fillRect/>
          </a:stretch>
        </p:blipFill>
        <p:spPr>
          <a:xfrm>
            <a:off x="3935554" y="3471405"/>
            <a:ext cx="288997" cy="288997"/>
          </a:xfrm>
          <a:prstGeom prst="rect">
            <a:avLst/>
          </a:prstGeom>
        </p:spPr>
      </p:pic>
      <p:sp>
        <p:nvSpPr>
          <p:cNvPr id="19" name="!!shm"/>
          <p:cNvSpPr/>
          <p:nvPr/>
        </p:nvSpPr>
        <p:spPr>
          <a:xfrm>
            <a:off x="2461565" y="4500677"/>
            <a:ext cx="3236976" cy="496336"/>
          </a:xfrm>
          <a:prstGeom prst="roundRect">
            <a:avLst>
              <a:gd name="adj" fmla="val 14738"/>
            </a:avLst>
          </a:prstGeom>
          <a:solidFill>
            <a:srgbClr val="FCEBEB"/>
          </a:solidFill>
          <a:ln w="12700">
            <a:solidFill>
              <a:srgbClr val="A32D2D"/>
            </a:solidFill>
            <a:prstDash val="solid"/>
          </a:ln>
        </p:spPr>
        <p:txBody>
          <a:bodyPr wrap="square" lIns="50800" tIns="50800" rIns="50800" bIns="50800" rtlCol="0" anchor="ctr"/>
          <a:lstStyle/>
          <a:p>
            <a:pPr algn="ctr" indent="0" marL="0">
              <a:buNone/>
            </a:pPr>
            <a:r>
              <a:rPr lang="en-US" sz="1100" dirty="0">
                <a:solidFill>
                  <a:srgbClr val="791F1F"/>
                </a:solidFill>
                <a:latin typeface="Calibri" pitchFamily="34" charset="0"/>
                <a:ea typeface="Calibri" pitchFamily="34" charset="-122"/>
                <a:cs typeface="Calibri" pitchFamily="34" charset="-120"/>
              </a:rPr>
              <a:t>Shared context: every task, every result</a:t>
            </a:r>
            <a:endParaRPr lang="en-US" sz="1100" dirty="0"/>
          </a:p>
        </p:txBody>
      </p:sp>
      <p:sp>
        <p:nvSpPr>
          <p:cNvPr id="20" name="!!sm0"/>
          <p:cNvSpPr/>
          <p:nvPr/>
        </p:nvSpPr>
        <p:spPr>
          <a:xfrm>
            <a:off x="4080053" y="4090660"/>
            <a:ext cx="914" cy="388437"/>
          </a:xfrm>
          <a:prstGeom prst="line">
            <a:avLst/>
          </a:prstGeom>
          <a:noFill/>
          <a:ln w="15875">
            <a:solidFill>
              <a:srgbClr val="5F5E5A"/>
            </a:solidFill>
            <a:prstDash val="solid"/>
            <a:tailEnd type="triangle"/>
          </a:ln>
        </p:spPr>
      </p:sp>
      <p:sp>
        <p:nvSpPr>
          <p:cNvPr id="21"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Before</a:t>
            </a:r>
            <a:endParaRPr lang="en-US" sz="1200" dirty="0"/>
          </a:p>
        </p:txBody>
      </p:sp>
      <p:sp>
        <p:nvSpPr>
          <p:cNvPr id="22"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A32D2D"/>
                </a:solidFill>
                <a:latin typeface="Calibri" pitchFamily="34" charset="0"/>
                <a:ea typeface="Calibri" pitchFamily="34" charset="-122"/>
                <a:cs typeface="Calibri" pitchFamily="34" charset="-120"/>
              </a:rPr>
              <a:t>Root cause</a:t>
            </a:r>
            <a:endParaRPr lang="en-US" sz="2200" dirty="0"/>
          </a:p>
        </p:txBody>
      </p:sp>
      <p:sp>
        <p:nvSpPr>
          <p:cNvPr id="23"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One agent does thinking, acting and checking, shares one context, and only stops when finish_reason says so.</a:t>
            </a:r>
            <a:endParaRPr lang="en-US" sz="1400" dirty="0"/>
          </a:p>
        </p:txBody>
      </p:sp>
      <p:pic>
        <p:nvPicPr>
          <p:cNvPr id="24" name="!!cki0" descr="/tmp/deck-icons/TbCircle_B4B2A9.png">    </p:cNvPr>
          <p:cNvPicPr>
            <a:picLocks noChangeAspect="1"/>
          </p:cNvPicPr>
          <p:nvPr/>
        </p:nvPicPr>
        <p:blipFill>
          <a:blip r:embed="rId5"/>
          <a:stretch>
            <a:fillRect/>
          </a:stretch>
        </p:blipFill>
        <p:spPr>
          <a:xfrm>
            <a:off x="8092440" y="3419856"/>
            <a:ext cx="256032" cy="256032"/>
          </a:xfrm>
          <a:prstGeom prst="rect">
            <a:avLst/>
          </a:prstGeom>
        </p:spPr>
      </p:pic>
      <p:sp>
        <p:nvSpPr>
          <p:cNvPr id="25"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Separation of concerns</a:t>
            </a:r>
            <a:endParaRPr lang="en-US" sz="1400" dirty="0"/>
          </a:p>
        </p:txBody>
      </p:sp>
      <p:pic>
        <p:nvPicPr>
          <p:cNvPr id="26" name="!!cki1" descr="/tmp/deck-icons/TbCircle_B4B2A9.png">    </p:cNvPr>
          <p:cNvPicPr>
            <a:picLocks noChangeAspect="1"/>
          </p:cNvPicPr>
          <p:nvPr/>
        </p:nvPicPr>
        <p:blipFill>
          <a:blip r:embed="rId6"/>
          <a:stretch>
            <a:fillRect/>
          </a:stretch>
        </p:blipFill>
        <p:spPr>
          <a:xfrm>
            <a:off x="8092440" y="3877056"/>
            <a:ext cx="256032" cy="256032"/>
          </a:xfrm>
          <a:prstGeom prst="rect">
            <a:avLst/>
          </a:prstGeom>
        </p:spPr>
      </p:pic>
      <p:sp>
        <p:nvSpPr>
          <p:cNvPr id="27"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Isolated state</a:t>
            </a:r>
            <a:endParaRPr lang="en-US" sz="1400" dirty="0"/>
          </a:p>
        </p:txBody>
      </p:sp>
      <p:pic>
        <p:nvPicPr>
          <p:cNvPr id="28" name="!!cki2" descr="/tmp/deck-icons/TbCircle_B4B2A9.png">    </p:cNvPr>
          <p:cNvPicPr>
            <a:picLocks noChangeAspect="1"/>
          </p:cNvPicPr>
          <p:nvPr/>
        </p:nvPicPr>
        <p:blipFill>
          <a:blip r:embed="rId7"/>
          <a:stretch>
            <a:fillRect/>
          </a:stretch>
        </p:blipFill>
        <p:spPr>
          <a:xfrm>
            <a:off x="8092440" y="4334256"/>
            <a:ext cx="256032" cy="256032"/>
          </a:xfrm>
          <a:prstGeom prst="rect">
            <a:avLst/>
          </a:prstGeom>
        </p:spPr>
      </p:pic>
      <p:sp>
        <p:nvSpPr>
          <p:cNvPr id="29"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Bounded execution</a:t>
            </a:r>
            <a:endParaRPr lang="en-US" sz="1400" dirty="0"/>
          </a:p>
        </p:txBody>
      </p:sp>
      <p:pic>
        <p:nvPicPr>
          <p:cNvPr id="30" name="!!cki3" descr="/tmp/deck-icons/TbCircle_B4B2A9.png">    </p:cNvPr>
          <p:cNvPicPr>
            <a:picLocks noChangeAspect="1"/>
          </p:cNvPicPr>
          <p:nvPr/>
        </p:nvPicPr>
        <p:blipFill>
          <a:blip r:embed="rId8"/>
          <a:stretch>
            <a:fillRect/>
          </a:stretch>
        </p:blipFill>
        <p:spPr>
          <a:xfrm>
            <a:off x="8092440" y="4791456"/>
            <a:ext cx="256032" cy="256032"/>
          </a:xfrm>
          <a:prstGeom prst="rect">
            <a:avLst/>
          </a:prstGeom>
        </p:spPr>
      </p:pic>
      <p:sp>
        <p:nvSpPr>
          <p:cNvPr id="31"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Maker-checker</a:t>
            </a:r>
            <a:endParaRPr lang="en-US" sz="1400" dirty="0"/>
          </a:p>
        </p:txBody>
      </p:sp>
      <p:pic>
        <p:nvPicPr>
          <p:cNvPr id="32" name="!!cki4" descr="/tmp/deck-icons/TbCircle_B4B2A9.png">    </p:cNvPr>
          <p:cNvPicPr>
            <a:picLocks noChangeAspect="1"/>
          </p:cNvPicPr>
          <p:nvPr/>
        </p:nvPicPr>
        <p:blipFill>
          <a:blip r:embed="rId9"/>
          <a:stretch>
            <a:fillRect/>
          </a:stretch>
        </p:blipFill>
        <p:spPr>
          <a:xfrm>
            <a:off x="8092440" y="5248656"/>
            <a:ext cx="256032" cy="256032"/>
          </a:xfrm>
          <a:prstGeom prst="rect">
            <a:avLst/>
          </a:prstGeom>
        </p:spPr>
      </p:pic>
      <p:sp>
        <p:nvSpPr>
          <p:cNvPr id="33"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dirty="0">
                <a:solidFill>
                  <a:srgbClr val="888780"/>
                </a:solidFill>
                <a:latin typeface="Calibri" pitchFamily="34" charset="0"/>
                <a:ea typeface="Calibri" pitchFamily="34" charset="-122"/>
                <a:cs typeface="Calibri" pitchFamily="34" charset="-120"/>
              </a:rPr>
              <a:t>Explicit hand-offs</a:t>
            </a:r>
            <a:endParaRPr lang="en-US" sz="14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34</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itle"/>
          <p:cNvSpPr txBox="1"/>
          <p:nvPr/>
        </p:nvSpPr>
        <p:spPr>
          <a:xfrm>
            <a:off x="411480" y="201168"/>
            <a:ext cx="11338560" cy="530352"/>
          </a:xfrm>
          <a:prstGeom prst="rect">
            <a:avLst/>
          </a:prstGeom>
          <a:noFill/>
          <a:ln/>
        </p:spPr>
        <p:txBody>
          <a:bodyPr wrap="square" lIns="0" tIns="0" rIns="0" bIns="0" rtlCol="0" anchor="b"/>
          <a:lstStyle/>
          <a:p>
            <a:pPr algn="l" indent="0" marL="0">
              <a:buNone/>
            </a:pPr>
            <a:r>
              <a:rPr lang="en-US" sz="2600" b="1" dirty="0">
                <a:solidFill>
                  <a:srgbClr val="1A1A1A"/>
                </a:solidFill>
                <a:latin typeface="Calibri" pitchFamily="34" charset="0"/>
                <a:ea typeface="Calibri" pitchFamily="34" charset="-122"/>
                <a:cs typeface="Calibri" pitchFamily="34" charset="-120"/>
              </a:rPr>
              <a:t>Root Cause: A System Design Problem</a:t>
            </a:r>
            <a:endParaRPr lang="en-US" sz="2600" dirty="0"/>
          </a:p>
        </p:txBody>
      </p:sp>
      <p:sp>
        <p:nvSpPr>
          <p:cNvPr id="3" name="!!rule"/>
          <p:cNvSpPr/>
          <p:nvPr/>
        </p:nvSpPr>
        <p:spPr>
          <a:xfrm>
            <a:off x="411480" y="804672"/>
            <a:ext cx="11365992" cy="914"/>
          </a:xfrm>
          <a:prstGeom prst="line">
            <a:avLst/>
          </a:prstGeom>
          <a:noFill/>
          <a:ln w="9525">
            <a:solidFill>
              <a:srgbClr val="7F7F7F"/>
            </a:solidFill>
            <a:prstDash val="solid"/>
          </a:ln>
        </p:spPr>
      </p:sp>
      <p:sp>
        <p:nvSpPr>
          <p:cNvPr id="4" name="!!lead"/>
          <p:cNvSpPr txBox="1"/>
          <p:nvPr/>
        </p:nvSpPr>
        <p:spPr>
          <a:xfrm>
            <a:off x="411480" y="886968"/>
            <a:ext cx="11338560" cy="438912"/>
          </a:xfrm>
          <a:prstGeom prst="rect">
            <a:avLst/>
          </a:prstGeom>
          <a:noFill/>
          <a:ln/>
        </p:spPr>
        <p:txBody>
          <a:bodyPr wrap="square" lIns="0" tIns="0" rIns="0" bIns="0" rtlCol="0" anchor="t"/>
          <a:lstStyle/>
          <a:p>
            <a:pPr indent="0" marL="0">
              <a:buNone/>
            </a:pPr>
            <a:r>
              <a:rPr lang="en-US" sz="1400" dirty="0">
                <a:solidFill>
                  <a:srgbClr val="404040"/>
                </a:solidFill>
                <a:latin typeface="Arial" pitchFamily="34" charset="0"/>
                <a:ea typeface="Arial" pitchFamily="34" charset="-122"/>
                <a:cs typeface="Arial" pitchFamily="34" charset="-120"/>
              </a:rPr>
              <a:t>Without structure, intelligence degrades. The fix is design, not a bigger model: apply five principles we already trust and the monolith becomes a multi-agent system.</a:t>
            </a:r>
            <a:endParaRPr lang="en-US" sz="1400" dirty="0"/>
          </a:p>
        </p:txBody>
      </p:sp>
      <p:sp>
        <p:nvSpPr>
          <p:cNvPr id="5" name="!!restricted"/>
          <p:cNvSpPr txBox="1"/>
          <p:nvPr/>
        </p:nvSpPr>
        <p:spPr>
          <a:xfrm>
            <a:off x="5184648" y="6556248"/>
            <a:ext cx="1828800" cy="201168"/>
          </a:xfrm>
          <a:prstGeom prst="rect">
            <a:avLst/>
          </a:prstGeom>
          <a:noFill/>
          <a:ln/>
        </p:spPr>
        <p:txBody>
          <a:bodyPr wrap="square" lIns="0" tIns="0" rIns="0" bIns="0" rtlCol="0" anchor="ctr"/>
          <a:lstStyle/>
          <a:p>
            <a:pPr algn="ctr" indent="0" marL="0">
              <a:buNone/>
            </a:pPr>
            <a:r>
              <a:rPr lang="en-US" sz="800" dirty="0">
                <a:solidFill>
                  <a:srgbClr val="7F7F7F"/>
                </a:solidFill>
                <a:latin typeface="Arial" pitchFamily="34" charset="0"/>
                <a:ea typeface="Arial" pitchFamily="34" charset="-122"/>
                <a:cs typeface="Arial" pitchFamily="34" charset="-120"/>
              </a:rPr>
              <a:t>RESTRICTED</a:t>
            </a:r>
            <a:endParaRPr lang="en-US" sz="800" dirty="0"/>
          </a:p>
        </p:txBody>
      </p:sp>
      <p:sp>
        <p:nvSpPr>
          <p:cNvPr id="6" name="!!task"/>
          <p:cNvSpPr/>
          <p:nvPr/>
        </p:nvSpPr>
        <p:spPr>
          <a:xfrm>
            <a:off x="3821095" y="1544239"/>
            <a:ext cx="517916" cy="517916"/>
          </a:xfrm>
          <a:prstGeom prst="ellipse">
            <a:avLst/>
          </a:prstGeom>
          <a:solidFill>
            <a:srgbClr val="FFFFFF"/>
          </a:solidFill>
          <a:ln w="12700">
            <a:solidFill>
              <a:srgbClr val="888780"/>
            </a:solidFill>
            <a:prstDash val="solid"/>
          </a:ln>
        </p:spPr>
        <p:txBody>
          <a:bodyPr wrap="square" lIns="50800" tIns="50800" rIns="50800" bIns="50800" rtlCol="0" anchor="ctr"/>
          <a:lstStyle/>
          <a:p>
            <a:pPr algn="ctr" indent="0" marL="0">
              <a:buNone/>
            </a:pPr>
            <a:endParaRPr lang="en-US" sz="1200" dirty="0"/>
          </a:p>
        </p:txBody>
      </p:sp>
      <p:pic>
        <p:nvPicPr>
          <p:cNvPr id="7" name="!!taski" descr="/tmp/deck-icons/TbTicket_2C2C2A.png">    </p:cNvPr>
          <p:cNvPicPr>
            <a:picLocks noChangeAspect="1"/>
          </p:cNvPicPr>
          <p:nvPr/>
        </p:nvPicPr>
        <p:blipFill>
          <a:blip r:embed="rId1"/>
          <a:stretch>
            <a:fillRect/>
          </a:stretch>
        </p:blipFill>
        <p:spPr>
          <a:xfrm>
            <a:off x="3939784" y="1662928"/>
            <a:ext cx="280538" cy="280538"/>
          </a:xfrm>
          <a:prstGeom prst="rect">
            <a:avLst/>
          </a:prstGeom>
        </p:spPr>
      </p:pic>
      <p:sp>
        <p:nvSpPr>
          <p:cNvPr id="8" name="!!taskl"/>
          <p:cNvSpPr txBox="1"/>
          <p:nvPr/>
        </p:nvSpPr>
        <p:spPr>
          <a:xfrm>
            <a:off x="4425330" y="1716877"/>
            <a:ext cx="731520" cy="201168"/>
          </a:xfrm>
          <a:prstGeom prst="rect">
            <a:avLst/>
          </a:prstGeom>
          <a:noFill/>
          <a:ln/>
        </p:spPr>
        <p:txBody>
          <a:bodyPr wrap="square" lIns="0" tIns="0" rIns="0" bIns="0" rtlCol="0" anchor="t"/>
          <a:lstStyle/>
          <a:p>
            <a:pPr algn="l" indent="0" marL="0">
              <a:buNone/>
            </a:pPr>
            <a:r>
              <a:rPr lang="en-US" sz="1100" dirty="0">
                <a:solidFill>
                  <a:srgbClr val="2C2C2A"/>
                </a:solidFill>
                <a:latin typeface="Calibri" pitchFamily="34" charset="0"/>
                <a:ea typeface="Calibri" pitchFamily="34" charset="-122"/>
                <a:cs typeface="Calibri" pitchFamily="34" charset="-120"/>
              </a:rPr>
              <a:t>Task</a:t>
            </a:r>
            <a:endParaRPr lang="en-US" sz="1100" dirty="0"/>
          </a:p>
        </p:txBody>
      </p:sp>
      <p:sp>
        <p:nvSpPr>
          <p:cNvPr id="9" name="!!lt1a"/>
          <p:cNvSpPr/>
          <p:nvPr/>
        </p:nvSpPr>
        <p:spPr>
          <a:xfrm flipH="1">
            <a:off x="1727850" y="1803197"/>
            <a:ext cx="2093244" cy="914"/>
          </a:xfrm>
          <a:prstGeom prst="line">
            <a:avLst/>
          </a:prstGeom>
          <a:noFill/>
          <a:ln w="15875">
            <a:solidFill>
              <a:srgbClr val="5F5E5A"/>
            </a:solidFill>
            <a:prstDash val="solid"/>
          </a:ln>
        </p:spPr>
      </p:sp>
      <p:sp>
        <p:nvSpPr>
          <p:cNvPr id="10" name="!!lt1b"/>
          <p:cNvSpPr/>
          <p:nvPr/>
        </p:nvSpPr>
        <p:spPr>
          <a:xfrm>
            <a:off x="1727850" y="1803197"/>
            <a:ext cx="914" cy="1143732"/>
          </a:xfrm>
          <a:prstGeom prst="line">
            <a:avLst/>
          </a:prstGeom>
          <a:noFill/>
          <a:ln w="15875">
            <a:solidFill>
              <a:srgbClr val="5F5E5A"/>
            </a:solidFill>
            <a:prstDash val="solid"/>
            <a:tailEnd type="triangle"/>
          </a:ln>
        </p:spPr>
      </p:sp>
      <p:sp>
        <p:nvSpPr>
          <p:cNvPr id="11" name="!!lpw"/>
          <p:cNvSpPr/>
          <p:nvPr/>
        </p:nvSpPr>
        <p:spPr>
          <a:xfrm>
            <a:off x="2332086" y="3313786"/>
            <a:ext cx="1316370" cy="914"/>
          </a:xfrm>
          <a:prstGeom prst="line">
            <a:avLst/>
          </a:prstGeom>
          <a:noFill/>
          <a:ln w="15875">
            <a:solidFill>
              <a:srgbClr val="5F5E5A"/>
            </a:solidFill>
            <a:prstDash val="solid"/>
            <a:tailEnd type="triangle"/>
          </a:ln>
        </p:spPr>
      </p:sp>
      <p:sp>
        <p:nvSpPr>
          <p:cNvPr id="12" name="!!lwc"/>
          <p:cNvSpPr/>
          <p:nvPr/>
        </p:nvSpPr>
        <p:spPr>
          <a:xfrm>
            <a:off x="4490070" y="3313786"/>
            <a:ext cx="1316370" cy="914"/>
          </a:xfrm>
          <a:prstGeom prst="line">
            <a:avLst/>
          </a:prstGeom>
          <a:noFill/>
          <a:ln w="15875">
            <a:solidFill>
              <a:srgbClr val="5F5E5A"/>
            </a:solidFill>
            <a:prstDash val="solid"/>
            <a:tailEnd type="triangle"/>
          </a:ln>
        </p:spPr>
      </p:sp>
      <p:sp>
        <p:nvSpPr>
          <p:cNvPr id="13" name="!!fb1"/>
          <p:cNvSpPr/>
          <p:nvPr/>
        </p:nvSpPr>
        <p:spPr>
          <a:xfrm flipV="1">
            <a:off x="6238037" y="2644811"/>
            <a:ext cx="914" cy="280538"/>
          </a:xfrm>
          <a:prstGeom prst="line">
            <a:avLst/>
          </a:prstGeom>
          <a:noFill/>
          <a:ln w="15875">
            <a:solidFill>
              <a:srgbClr val="5F5E5A"/>
            </a:solidFill>
            <a:prstDash val="dash"/>
          </a:ln>
        </p:spPr>
      </p:sp>
      <p:sp>
        <p:nvSpPr>
          <p:cNvPr id="14" name="!!fb2"/>
          <p:cNvSpPr/>
          <p:nvPr/>
        </p:nvSpPr>
        <p:spPr>
          <a:xfrm flipH="1">
            <a:off x="2137867" y="2644811"/>
            <a:ext cx="4100170" cy="914"/>
          </a:xfrm>
          <a:prstGeom prst="line">
            <a:avLst/>
          </a:prstGeom>
          <a:noFill/>
          <a:ln w="15875">
            <a:solidFill>
              <a:srgbClr val="5F5E5A"/>
            </a:solidFill>
            <a:prstDash val="dash"/>
          </a:ln>
        </p:spPr>
      </p:sp>
      <p:sp>
        <p:nvSpPr>
          <p:cNvPr id="15" name="!!fb3"/>
          <p:cNvSpPr/>
          <p:nvPr/>
        </p:nvSpPr>
        <p:spPr>
          <a:xfrm>
            <a:off x="2137867" y="2644811"/>
            <a:ext cx="914" cy="302118"/>
          </a:xfrm>
          <a:prstGeom prst="line">
            <a:avLst/>
          </a:prstGeom>
          <a:noFill/>
          <a:ln w="15875">
            <a:solidFill>
              <a:srgbClr val="5F5E5A"/>
            </a:solidFill>
            <a:prstDash val="dash"/>
            <a:tailEnd type="triangle"/>
          </a:ln>
        </p:spPr>
      </p:sp>
      <p:sp>
        <p:nvSpPr>
          <p:cNvPr id="16" name="!!j0"/>
          <p:cNvSpPr/>
          <p:nvPr/>
        </p:nvSpPr>
        <p:spPr>
          <a:xfrm>
            <a:off x="1533632" y="2925348"/>
            <a:ext cx="776874" cy="776874"/>
          </a:xfrm>
          <a:prstGeom prst="ellipse">
            <a:avLst/>
          </a:prstGeom>
          <a:solidFill>
            <a:srgbClr val="FFFFFF"/>
          </a:solidFill>
          <a:ln w="19050">
            <a:solidFill>
              <a:srgbClr val="534AB7"/>
            </a:solidFill>
            <a:prstDash val="solid"/>
          </a:ln>
        </p:spPr>
        <p:txBody>
          <a:bodyPr wrap="square" lIns="50800" tIns="50800" rIns="50800" bIns="50800" rtlCol="0" anchor="ctr"/>
          <a:lstStyle/>
          <a:p>
            <a:pPr algn="ctr" indent="0" marL="0">
              <a:buNone/>
            </a:pPr>
            <a:endParaRPr lang="en-US" sz="1200" dirty="0"/>
          </a:p>
        </p:txBody>
      </p:sp>
      <p:pic>
        <p:nvPicPr>
          <p:cNvPr id="17" name="!!ji0" descr="/tmp/deck-icons/TbBrain_534AB7.png">    </p:cNvPr>
          <p:cNvPicPr>
            <a:picLocks noChangeAspect="1"/>
          </p:cNvPicPr>
          <p:nvPr/>
        </p:nvPicPr>
        <p:blipFill>
          <a:blip r:embed="rId2"/>
          <a:stretch>
            <a:fillRect/>
          </a:stretch>
        </p:blipFill>
        <p:spPr>
          <a:xfrm>
            <a:off x="1689007" y="3080723"/>
            <a:ext cx="466125" cy="466125"/>
          </a:xfrm>
          <a:prstGeom prst="rect">
            <a:avLst/>
          </a:prstGeom>
        </p:spPr>
      </p:pic>
      <p:sp>
        <p:nvSpPr>
          <p:cNvPr id="18" name="!!jl0"/>
          <p:cNvSpPr txBox="1"/>
          <p:nvPr/>
        </p:nvSpPr>
        <p:spPr>
          <a:xfrm>
            <a:off x="1281989" y="3766962"/>
            <a:ext cx="1280160" cy="237744"/>
          </a:xfrm>
          <a:prstGeom prst="rect">
            <a:avLst/>
          </a:prstGeom>
          <a:noFill/>
          <a:ln/>
        </p:spPr>
        <p:txBody>
          <a:bodyPr wrap="square" lIns="0" tIns="0" rIns="0" bIns="0" rtlCol="0" anchor="t"/>
          <a:lstStyle/>
          <a:p>
            <a:pPr algn="ctr" indent="0" marL="0">
              <a:buNone/>
            </a:pPr>
            <a:r>
              <a:rPr lang="en-US" sz="1200" b="1" dirty="0">
                <a:solidFill>
                  <a:srgbClr val="3C3489"/>
                </a:solidFill>
                <a:latin typeface="Calibri" pitchFamily="34" charset="0"/>
                <a:ea typeface="Calibri" pitchFamily="34" charset="-122"/>
                <a:cs typeface="Calibri" pitchFamily="34" charset="-120"/>
              </a:rPr>
              <a:t>Planner</a:t>
            </a:r>
            <a:endParaRPr lang="en-US" sz="1200" dirty="0"/>
          </a:p>
        </p:txBody>
      </p:sp>
      <p:sp>
        <p:nvSpPr>
          <p:cNvPr id="19" name="!!j1"/>
          <p:cNvSpPr/>
          <p:nvPr/>
        </p:nvSpPr>
        <p:spPr>
          <a:xfrm>
            <a:off x="3691616" y="2925348"/>
            <a:ext cx="776874" cy="776874"/>
          </a:xfrm>
          <a:prstGeom prst="ellipse">
            <a:avLst/>
          </a:prstGeom>
          <a:solidFill>
            <a:srgbClr val="FFFFFF"/>
          </a:solidFill>
          <a:ln w="19050">
            <a:solidFill>
              <a:srgbClr val="0F6E56"/>
            </a:solidFill>
            <a:prstDash val="solid"/>
          </a:ln>
        </p:spPr>
        <p:txBody>
          <a:bodyPr wrap="square" lIns="50800" tIns="50800" rIns="50800" bIns="50800" rtlCol="0" anchor="ctr"/>
          <a:lstStyle/>
          <a:p>
            <a:pPr algn="ctr" indent="0" marL="0">
              <a:buNone/>
            </a:pPr>
            <a:endParaRPr lang="en-US" sz="1200" dirty="0"/>
          </a:p>
        </p:txBody>
      </p:sp>
      <p:pic>
        <p:nvPicPr>
          <p:cNvPr id="20" name="!!ji1" descr="/tmp/deck-icons/TbTool_0F6E56.png">    </p:cNvPr>
          <p:cNvPicPr>
            <a:picLocks noChangeAspect="1"/>
          </p:cNvPicPr>
          <p:nvPr/>
        </p:nvPicPr>
        <p:blipFill>
          <a:blip r:embed="rId3"/>
          <a:stretch>
            <a:fillRect/>
          </a:stretch>
        </p:blipFill>
        <p:spPr>
          <a:xfrm>
            <a:off x="3846991" y="3080723"/>
            <a:ext cx="466125" cy="466125"/>
          </a:xfrm>
          <a:prstGeom prst="rect">
            <a:avLst/>
          </a:prstGeom>
        </p:spPr>
      </p:pic>
      <p:sp>
        <p:nvSpPr>
          <p:cNvPr id="21" name="!!jl1"/>
          <p:cNvSpPr txBox="1"/>
          <p:nvPr/>
        </p:nvSpPr>
        <p:spPr>
          <a:xfrm>
            <a:off x="3439973" y="3766962"/>
            <a:ext cx="1280160" cy="237744"/>
          </a:xfrm>
          <a:prstGeom prst="rect">
            <a:avLst/>
          </a:prstGeom>
          <a:noFill/>
          <a:ln/>
        </p:spPr>
        <p:txBody>
          <a:bodyPr wrap="square" lIns="0" tIns="0" rIns="0" bIns="0" rtlCol="0" anchor="t"/>
          <a:lstStyle/>
          <a:p>
            <a:pPr algn="ctr" indent="0" marL="0">
              <a:buNone/>
            </a:pPr>
            <a:r>
              <a:rPr lang="en-US" sz="1200" b="1" dirty="0">
                <a:solidFill>
                  <a:srgbClr val="085041"/>
                </a:solidFill>
                <a:latin typeface="Calibri" pitchFamily="34" charset="0"/>
                <a:ea typeface="Calibri" pitchFamily="34" charset="-122"/>
                <a:cs typeface="Calibri" pitchFamily="34" charset="-120"/>
              </a:rPr>
              <a:t>Worker</a:t>
            </a:r>
            <a:endParaRPr lang="en-US" sz="1200" dirty="0"/>
          </a:p>
        </p:txBody>
      </p:sp>
      <p:sp>
        <p:nvSpPr>
          <p:cNvPr id="22" name="!!j2"/>
          <p:cNvSpPr/>
          <p:nvPr/>
        </p:nvSpPr>
        <p:spPr>
          <a:xfrm>
            <a:off x="5849600" y="2925348"/>
            <a:ext cx="776874" cy="776874"/>
          </a:xfrm>
          <a:prstGeom prst="ellipse">
            <a:avLst/>
          </a:prstGeom>
          <a:solidFill>
            <a:srgbClr val="FFFFFF"/>
          </a:solidFill>
          <a:ln w="4445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23" name="!!ji2" descr="/tmp/deck-icons/TbChecklist_993C1D.png">    </p:cNvPr>
          <p:cNvPicPr>
            <a:picLocks noChangeAspect="1"/>
          </p:cNvPicPr>
          <p:nvPr/>
        </p:nvPicPr>
        <p:blipFill>
          <a:blip r:embed="rId4"/>
          <a:stretch>
            <a:fillRect/>
          </a:stretch>
        </p:blipFill>
        <p:spPr>
          <a:xfrm>
            <a:off x="6004975" y="3080723"/>
            <a:ext cx="466125" cy="466125"/>
          </a:xfrm>
          <a:prstGeom prst="rect">
            <a:avLst/>
          </a:prstGeom>
        </p:spPr>
      </p:pic>
      <p:sp>
        <p:nvSpPr>
          <p:cNvPr id="24" name="!!jl2"/>
          <p:cNvSpPr txBox="1"/>
          <p:nvPr/>
        </p:nvSpPr>
        <p:spPr>
          <a:xfrm>
            <a:off x="5597957" y="3766962"/>
            <a:ext cx="1280160" cy="237744"/>
          </a:xfrm>
          <a:prstGeom prst="rect">
            <a:avLst/>
          </a:prstGeom>
          <a:noFill/>
          <a:ln/>
        </p:spPr>
        <p:txBody>
          <a:bodyPr wrap="square" lIns="0" tIns="0" rIns="0" bIns="0" rtlCol="0" anchor="t"/>
          <a:lstStyle/>
          <a:p>
            <a:pPr algn="ctr" indent="0" marL="0">
              <a:buNone/>
            </a:pPr>
            <a:r>
              <a:rPr lang="en-US" sz="1200" b="1" dirty="0">
                <a:solidFill>
                  <a:srgbClr val="712B13"/>
                </a:solidFill>
                <a:latin typeface="Calibri" pitchFamily="34" charset="0"/>
                <a:ea typeface="Calibri" pitchFamily="34" charset="-122"/>
                <a:cs typeface="Calibri" pitchFamily="34" charset="-120"/>
              </a:rPr>
              <a:t>Checker</a:t>
            </a:r>
            <a:endParaRPr lang="en-US" sz="1200" dirty="0"/>
          </a:p>
        </p:txBody>
      </p:sp>
      <p:sp>
        <p:nvSpPr>
          <p:cNvPr id="25" name="!!own0"/>
          <p:cNvSpPr/>
          <p:nvPr/>
        </p:nvSpPr>
        <p:spPr>
          <a:xfrm>
            <a:off x="1220724" y="4522257"/>
            <a:ext cx="1402690" cy="453177"/>
          </a:xfrm>
          <a:prstGeom prst="roundRect">
            <a:avLst>
              <a:gd name="adj" fmla="val 16142"/>
            </a:avLst>
          </a:prstGeom>
          <a:solidFill>
            <a:srgbClr val="EEEDFE"/>
          </a:solidFill>
          <a:ln w="12700">
            <a:solidFill>
              <a:srgbClr val="534AB7"/>
            </a:solidFill>
            <a:prstDash val="solid"/>
          </a:ln>
        </p:spPr>
        <p:txBody>
          <a:bodyPr wrap="square" lIns="50800" tIns="50800" rIns="50800" bIns="50800" rtlCol="0" anchor="ctr"/>
          <a:lstStyle/>
          <a:p>
            <a:pPr algn="ctr" indent="0" marL="0">
              <a:buNone/>
            </a:pPr>
            <a:r>
              <a:rPr lang="en-US" sz="1100" dirty="0">
                <a:solidFill>
                  <a:srgbClr val="3C3489"/>
                </a:solidFill>
                <a:latin typeface="Calibri" pitchFamily="34" charset="0"/>
                <a:ea typeface="Calibri" pitchFamily="34" charset="-122"/>
                <a:cs typeface="Calibri" pitchFamily="34" charset="-120"/>
              </a:rPr>
              <a:t>Own state</a:t>
            </a:r>
            <a:endParaRPr lang="en-US" sz="1100" dirty="0"/>
          </a:p>
        </p:txBody>
      </p:sp>
      <p:sp>
        <p:nvSpPr>
          <p:cNvPr id="26" name="!!owl0"/>
          <p:cNvSpPr/>
          <p:nvPr/>
        </p:nvSpPr>
        <p:spPr>
          <a:xfrm>
            <a:off x="1922069" y="3961181"/>
            <a:ext cx="914" cy="539496"/>
          </a:xfrm>
          <a:prstGeom prst="line">
            <a:avLst/>
          </a:prstGeom>
          <a:noFill/>
          <a:ln w="15875">
            <a:solidFill>
              <a:srgbClr val="5F5E5A"/>
            </a:solidFill>
            <a:prstDash val="solid"/>
            <a:tailEnd type="triangle"/>
          </a:ln>
        </p:spPr>
      </p:sp>
      <p:sp>
        <p:nvSpPr>
          <p:cNvPr id="27" name="!!own1"/>
          <p:cNvSpPr/>
          <p:nvPr/>
        </p:nvSpPr>
        <p:spPr>
          <a:xfrm>
            <a:off x="3378708" y="4522257"/>
            <a:ext cx="1402690" cy="453177"/>
          </a:xfrm>
          <a:prstGeom prst="roundRect">
            <a:avLst>
              <a:gd name="adj" fmla="val 16142"/>
            </a:avLst>
          </a:prstGeom>
          <a:solidFill>
            <a:srgbClr val="E1F5EE"/>
          </a:solidFill>
          <a:ln w="12700">
            <a:solidFill>
              <a:srgbClr val="0F6E56"/>
            </a:solidFill>
            <a:prstDash val="solid"/>
          </a:ln>
        </p:spPr>
        <p:txBody>
          <a:bodyPr wrap="square" lIns="50800" tIns="50800" rIns="50800" bIns="50800" rtlCol="0" anchor="ctr"/>
          <a:lstStyle/>
          <a:p>
            <a:pPr algn="ctr" indent="0" marL="0">
              <a:buNone/>
            </a:pPr>
            <a:r>
              <a:rPr lang="en-US" sz="1100" dirty="0">
                <a:solidFill>
                  <a:srgbClr val="085041"/>
                </a:solidFill>
                <a:latin typeface="Calibri" pitchFamily="34" charset="0"/>
                <a:ea typeface="Calibri" pitchFamily="34" charset="-122"/>
                <a:cs typeface="Calibri" pitchFamily="34" charset="-120"/>
              </a:rPr>
              <a:t>Own state</a:t>
            </a:r>
            <a:endParaRPr lang="en-US" sz="1100" dirty="0"/>
          </a:p>
        </p:txBody>
      </p:sp>
      <p:sp>
        <p:nvSpPr>
          <p:cNvPr id="28" name="!!owl1"/>
          <p:cNvSpPr/>
          <p:nvPr/>
        </p:nvSpPr>
        <p:spPr>
          <a:xfrm>
            <a:off x="4080053" y="3961181"/>
            <a:ext cx="914" cy="539496"/>
          </a:xfrm>
          <a:prstGeom prst="line">
            <a:avLst/>
          </a:prstGeom>
          <a:noFill/>
          <a:ln w="15875">
            <a:solidFill>
              <a:srgbClr val="5F5E5A"/>
            </a:solidFill>
            <a:prstDash val="solid"/>
            <a:tailEnd type="triangle"/>
          </a:ln>
        </p:spPr>
      </p:sp>
      <p:sp>
        <p:nvSpPr>
          <p:cNvPr id="29" name="!!own2"/>
          <p:cNvSpPr/>
          <p:nvPr/>
        </p:nvSpPr>
        <p:spPr>
          <a:xfrm>
            <a:off x="5536692" y="4522257"/>
            <a:ext cx="1402690" cy="453177"/>
          </a:xfrm>
          <a:prstGeom prst="roundRect">
            <a:avLst>
              <a:gd name="adj" fmla="val 16142"/>
            </a:avLst>
          </a:prstGeom>
          <a:solidFill>
            <a:srgbClr val="FAECE7"/>
          </a:solidFill>
          <a:ln w="12700">
            <a:solidFill>
              <a:srgbClr val="993C1D"/>
            </a:solidFill>
            <a:prstDash val="solid"/>
          </a:ln>
        </p:spPr>
        <p:txBody>
          <a:bodyPr wrap="square" lIns="50800" tIns="50800" rIns="50800" bIns="50800" rtlCol="0" anchor="ctr"/>
          <a:lstStyle/>
          <a:p>
            <a:pPr algn="ctr" indent="0" marL="0">
              <a:buNone/>
            </a:pPr>
            <a:r>
              <a:rPr lang="en-US" sz="1100" dirty="0">
                <a:solidFill>
                  <a:srgbClr val="712B13"/>
                </a:solidFill>
                <a:latin typeface="Calibri" pitchFamily="34" charset="0"/>
                <a:ea typeface="Calibri" pitchFamily="34" charset="-122"/>
                <a:cs typeface="Calibri" pitchFamily="34" charset="-120"/>
              </a:rPr>
              <a:t>Own state</a:t>
            </a:r>
            <a:endParaRPr lang="en-US" sz="1100" dirty="0"/>
          </a:p>
        </p:txBody>
      </p:sp>
      <p:sp>
        <p:nvSpPr>
          <p:cNvPr id="30" name="!!owl2"/>
          <p:cNvSpPr/>
          <p:nvPr/>
        </p:nvSpPr>
        <p:spPr>
          <a:xfrm>
            <a:off x="6238037" y="3961181"/>
            <a:ext cx="914" cy="539496"/>
          </a:xfrm>
          <a:prstGeom prst="line">
            <a:avLst/>
          </a:prstGeom>
          <a:noFill/>
          <a:ln w="15875">
            <a:solidFill>
              <a:srgbClr val="5F5E5A"/>
            </a:solidFill>
            <a:prstDash val="solid"/>
            <a:tailEnd type="triangle"/>
          </a:ln>
        </p:spPr>
      </p:sp>
      <p:sp>
        <p:nvSpPr>
          <p:cNvPr id="31" name="!!retry"/>
          <p:cNvSpPr/>
          <p:nvPr/>
        </p:nvSpPr>
        <p:spPr>
          <a:xfrm>
            <a:off x="4603364" y="4047500"/>
            <a:ext cx="1219261" cy="215798"/>
          </a:xfrm>
          <a:prstGeom prst="roundRect">
            <a:avLst>
              <a:gd name="adj" fmla="val 50000"/>
            </a:avLst>
          </a:prstGeom>
          <a:solidFill>
            <a:srgbClr val="FAEEDA"/>
          </a:solidFill>
          <a:ln w="12700">
            <a:solidFill>
              <a:srgbClr val="854F0B"/>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 max 3 tries</a:t>
            </a:r>
            <a:endParaRPr lang="en-US" sz="900" dirty="0"/>
          </a:p>
        </p:txBody>
      </p:sp>
      <p:pic>
        <p:nvPicPr>
          <p:cNvPr id="32" name="!!flag0" descr="/tmp/deck-icons/TbFlag_5F5E5A.png">    </p:cNvPr>
          <p:cNvPicPr>
            <a:picLocks noChangeAspect="1"/>
          </p:cNvPicPr>
          <p:nvPr/>
        </p:nvPicPr>
        <p:blipFill>
          <a:blip r:embed="rId5"/>
          <a:stretch>
            <a:fillRect/>
          </a:stretch>
        </p:blipFill>
        <p:spPr>
          <a:xfrm>
            <a:off x="2903952" y="3486424"/>
            <a:ext cx="194219" cy="194219"/>
          </a:xfrm>
          <a:prstGeom prst="rect">
            <a:avLst/>
          </a:prstGeom>
        </p:spPr>
      </p:pic>
      <p:pic>
        <p:nvPicPr>
          <p:cNvPr id="33" name="!!flag1" descr="/tmp/deck-icons/TbFlag_5F5E5A.png">    </p:cNvPr>
          <p:cNvPicPr>
            <a:picLocks noChangeAspect="1"/>
          </p:cNvPicPr>
          <p:nvPr/>
        </p:nvPicPr>
        <p:blipFill>
          <a:blip r:embed="rId6"/>
          <a:stretch>
            <a:fillRect/>
          </a:stretch>
        </p:blipFill>
        <p:spPr>
          <a:xfrm>
            <a:off x="5061936" y="3486424"/>
            <a:ext cx="194219" cy="194219"/>
          </a:xfrm>
          <a:prstGeom prst="rect">
            <a:avLst/>
          </a:prstGeom>
        </p:spPr>
      </p:pic>
      <p:sp>
        <p:nvSpPr>
          <p:cNvPr id="34" name="!!lockc"/>
          <p:cNvSpPr/>
          <p:nvPr/>
        </p:nvSpPr>
        <p:spPr>
          <a:xfrm>
            <a:off x="6410676" y="2817449"/>
            <a:ext cx="280538" cy="280538"/>
          </a:xfrm>
          <a:prstGeom prst="ellipse">
            <a:avLst/>
          </a:prstGeom>
          <a:solidFill>
            <a:srgbClr val="FFFFFF"/>
          </a:solidFill>
          <a:ln w="12700">
            <a:solidFill>
              <a:srgbClr val="993C1D"/>
            </a:solidFill>
            <a:prstDash val="solid"/>
          </a:ln>
        </p:spPr>
        <p:txBody>
          <a:bodyPr wrap="square" lIns="50800" tIns="50800" rIns="50800" bIns="50800" rtlCol="0" anchor="ctr"/>
          <a:lstStyle/>
          <a:p>
            <a:pPr algn="ctr" indent="0" marL="0">
              <a:buNone/>
            </a:pPr>
            <a:endParaRPr lang="en-US" sz="1200" dirty="0"/>
          </a:p>
        </p:txBody>
      </p:sp>
      <p:pic>
        <p:nvPicPr>
          <p:cNvPr id="35" name="!!locki" descr="/tmp/deck-icons/TbLock_993C1D.png">    </p:cNvPr>
          <p:cNvPicPr>
            <a:picLocks noChangeAspect="1"/>
          </p:cNvPicPr>
          <p:nvPr/>
        </p:nvPicPr>
        <p:blipFill>
          <a:blip r:embed="rId7"/>
          <a:stretch>
            <a:fillRect/>
          </a:stretch>
        </p:blipFill>
        <p:spPr>
          <a:xfrm>
            <a:off x="6464625" y="2871399"/>
            <a:ext cx="172639" cy="172639"/>
          </a:xfrm>
          <a:prstGeom prst="rect">
            <a:avLst/>
          </a:prstGeom>
        </p:spPr>
      </p:pic>
      <p:sp>
        <p:nvSpPr>
          <p:cNvPr id="36" name="!!pP"/>
          <p:cNvSpPr/>
          <p:nvPr/>
        </p:nvSpPr>
        <p:spPr>
          <a:xfrm>
            <a:off x="2655783" y="2990088"/>
            <a:ext cx="690555" cy="215798"/>
          </a:xfrm>
          <a:prstGeom prst="roundRect">
            <a:avLst>
              <a:gd name="adj" fmla="val 50000"/>
            </a:avLst>
          </a:prstGeom>
          <a:solidFill>
            <a:srgbClr val="EEEDFE"/>
          </a:solidFill>
          <a:ln w="12700">
            <a:solidFill>
              <a:srgbClr val="534AB7"/>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{plan}</a:t>
            </a:r>
            <a:endParaRPr lang="en-US" sz="900" dirty="0"/>
          </a:p>
        </p:txBody>
      </p:sp>
      <p:sp>
        <p:nvSpPr>
          <p:cNvPr id="37" name="!!pW"/>
          <p:cNvSpPr/>
          <p:nvPr/>
        </p:nvSpPr>
        <p:spPr>
          <a:xfrm>
            <a:off x="4738238" y="2990088"/>
            <a:ext cx="841614" cy="215798"/>
          </a:xfrm>
          <a:prstGeom prst="roundRect">
            <a:avLst>
              <a:gd name="adj" fmla="val 50000"/>
            </a:avLst>
          </a:prstGeom>
          <a:solidFill>
            <a:srgbClr val="E1F5EE"/>
          </a:solidFill>
          <a:ln w="12700">
            <a:solidFill>
              <a:srgbClr val="0F6E56"/>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{result}</a:t>
            </a:r>
            <a:endParaRPr lang="en-US" sz="900" dirty="0"/>
          </a:p>
        </p:txBody>
      </p:sp>
      <p:sp>
        <p:nvSpPr>
          <p:cNvPr id="38" name="!!pF"/>
          <p:cNvSpPr/>
          <p:nvPr/>
        </p:nvSpPr>
        <p:spPr>
          <a:xfrm>
            <a:off x="3351733" y="2364273"/>
            <a:ext cx="1672438" cy="215798"/>
          </a:xfrm>
          <a:prstGeom prst="roundRect">
            <a:avLst>
              <a:gd name="adj" fmla="val 50000"/>
            </a:avLst>
          </a:prstGeom>
          <a:solidFill>
            <a:srgbClr val="FAECE7"/>
          </a:solidFill>
          <a:ln w="12700">
            <a:solidFill>
              <a:srgbClr val="993C1D"/>
            </a:solidFill>
            <a:prstDash val="solid"/>
          </a:ln>
        </p:spPr>
        <p:txBody>
          <a:bodyPr wrap="square" lIns="0" tIns="0" rIns="0" bIns="0" rtlCol="0" anchor="ctr"/>
          <a:lstStyle/>
          <a:p>
            <a:pPr algn="ctr" indent="0" marL="0">
              <a:buNone/>
            </a:pPr>
            <a:r>
              <a:rPr lang="en-US" sz="900" dirty="0">
                <a:solidFill>
                  <a:srgbClr val="2C2C2A"/>
                </a:solidFill>
                <a:latin typeface="Consolas" pitchFamily="34" charset="0"/>
                <a:ea typeface="Consolas" pitchFamily="34" charset="-122"/>
                <a:cs typeface="Consolas" pitchFamily="34" charset="-120"/>
              </a:rPr>
              <a:t>{status: fail, why}</a:t>
            </a:r>
            <a:endParaRPr lang="en-US" sz="900" dirty="0"/>
          </a:p>
        </p:txBody>
      </p:sp>
      <p:sp>
        <p:nvSpPr>
          <p:cNvPr id="39" name="!!pstep"/>
          <p:cNvSpPr txBox="1"/>
          <p:nvPr/>
        </p:nvSpPr>
        <p:spPr>
          <a:xfrm>
            <a:off x="8092440" y="1371600"/>
            <a:ext cx="3611880" cy="274320"/>
          </a:xfrm>
          <a:prstGeom prst="rect">
            <a:avLst/>
          </a:prstGeom>
          <a:noFill/>
          <a:ln/>
        </p:spPr>
        <p:txBody>
          <a:bodyPr wrap="square" lIns="0" tIns="0" rIns="0" bIns="0" rtlCol="0" anchor="t"/>
          <a:lstStyle/>
          <a:p>
            <a:pPr algn="l" indent="0" marL="0">
              <a:buNone/>
            </a:pPr>
            <a:r>
              <a:rPr lang="en-US" sz="1200" dirty="0">
                <a:solidFill>
                  <a:srgbClr val="5F5E5A"/>
                </a:solidFill>
                <a:latin typeface="Calibri" pitchFamily="34" charset="0"/>
                <a:ea typeface="Calibri" pitchFamily="34" charset="-122"/>
                <a:cs typeface="Calibri" pitchFamily="34" charset="-120"/>
              </a:rPr>
              <a:t>After · all five principles applied</a:t>
            </a:r>
            <a:endParaRPr lang="en-US" sz="1200" dirty="0"/>
          </a:p>
        </p:txBody>
      </p:sp>
      <p:sp>
        <p:nvSpPr>
          <p:cNvPr id="40" name="!!pname"/>
          <p:cNvSpPr txBox="1"/>
          <p:nvPr/>
        </p:nvSpPr>
        <p:spPr>
          <a:xfrm>
            <a:off x="8092440" y="1645920"/>
            <a:ext cx="3611880" cy="411480"/>
          </a:xfrm>
          <a:prstGeom prst="rect">
            <a:avLst/>
          </a:prstGeom>
          <a:noFill/>
          <a:ln/>
        </p:spPr>
        <p:txBody>
          <a:bodyPr wrap="square" lIns="0" tIns="0" rIns="0" bIns="0" rtlCol="0" anchor="t"/>
          <a:lstStyle/>
          <a:p>
            <a:pPr algn="l" indent="0" marL="0">
              <a:buNone/>
            </a:pPr>
            <a:r>
              <a:rPr lang="en-US" sz="2200" b="1" dirty="0">
                <a:solidFill>
                  <a:srgbClr val="085041"/>
                </a:solidFill>
                <a:latin typeface="Calibri" pitchFamily="34" charset="0"/>
                <a:ea typeface="Calibri" pitchFamily="34" charset="-122"/>
                <a:cs typeface="Calibri" pitchFamily="34" charset="-120"/>
              </a:rPr>
              <a:t>Explicit hand-offs</a:t>
            </a:r>
            <a:endParaRPr lang="en-US" sz="2200" dirty="0"/>
          </a:p>
        </p:txBody>
      </p:sp>
      <p:sp>
        <p:nvSpPr>
          <p:cNvPr id="41" name="!!pcap"/>
          <p:cNvSpPr txBox="1"/>
          <p:nvPr/>
        </p:nvSpPr>
        <p:spPr>
          <a:xfrm>
            <a:off x="8092440" y="2148840"/>
            <a:ext cx="3611880" cy="1051560"/>
          </a:xfrm>
          <a:prstGeom prst="rect">
            <a:avLst/>
          </a:prstGeom>
          <a:noFill/>
          <a:ln/>
        </p:spPr>
        <p:txBody>
          <a:bodyPr wrap="square" lIns="0" tIns="0" rIns="0" bIns="0" rtlCol="0" anchor="t"/>
          <a:lstStyle/>
          <a:p>
            <a:pPr algn="l" indent="0" marL="0">
              <a:buNone/>
            </a:pPr>
            <a:r>
              <a:rPr lang="en-US" sz="1400" dirty="0">
                <a:solidFill>
                  <a:srgbClr val="2C2C2A"/>
                </a:solidFill>
                <a:latin typeface="Calibri" pitchFamily="34" charset="0"/>
                <a:ea typeface="Calibri" pitchFamily="34" charset="-122"/>
                <a:cs typeface="Calibri" pitchFamily="34" charset="-120"/>
              </a:rPr>
              <a:t>Each step returns a structured status instead of relying on finish_reason. This is a multi-agent system.</a:t>
            </a:r>
            <a:endParaRPr lang="en-US" sz="1400" dirty="0"/>
          </a:p>
        </p:txBody>
      </p:sp>
      <p:pic>
        <p:nvPicPr>
          <p:cNvPr id="42" name="!!cki0" descr="/tmp/deck-icons/TbCircleCheck_1D9E75.png">    </p:cNvPr>
          <p:cNvPicPr>
            <a:picLocks noChangeAspect="1"/>
          </p:cNvPicPr>
          <p:nvPr/>
        </p:nvPicPr>
        <p:blipFill>
          <a:blip r:embed="rId8"/>
          <a:stretch>
            <a:fillRect/>
          </a:stretch>
        </p:blipFill>
        <p:spPr>
          <a:xfrm>
            <a:off x="8092440" y="3419856"/>
            <a:ext cx="256032" cy="256032"/>
          </a:xfrm>
          <a:prstGeom prst="rect">
            <a:avLst/>
          </a:prstGeom>
        </p:spPr>
      </p:pic>
      <p:sp>
        <p:nvSpPr>
          <p:cNvPr id="43" name="!!ckt0"/>
          <p:cNvSpPr txBox="1"/>
          <p:nvPr/>
        </p:nvSpPr>
        <p:spPr>
          <a:xfrm>
            <a:off x="8458200" y="33832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Separation of concerns</a:t>
            </a:r>
            <a:endParaRPr lang="en-US" sz="1400" dirty="0"/>
          </a:p>
        </p:txBody>
      </p:sp>
      <p:pic>
        <p:nvPicPr>
          <p:cNvPr id="44" name="!!cki1" descr="/tmp/deck-icons/TbCircleCheck_1D9E75.png">    </p:cNvPr>
          <p:cNvPicPr>
            <a:picLocks noChangeAspect="1"/>
          </p:cNvPicPr>
          <p:nvPr/>
        </p:nvPicPr>
        <p:blipFill>
          <a:blip r:embed="rId9"/>
          <a:stretch>
            <a:fillRect/>
          </a:stretch>
        </p:blipFill>
        <p:spPr>
          <a:xfrm>
            <a:off x="8092440" y="3877056"/>
            <a:ext cx="256032" cy="256032"/>
          </a:xfrm>
          <a:prstGeom prst="rect">
            <a:avLst/>
          </a:prstGeom>
        </p:spPr>
      </p:pic>
      <p:sp>
        <p:nvSpPr>
          <p:cNvPr id="45" name="!!ckt1"/>
          <p:cNvSpPr txBox="1"/>
          <p:nvPr/>
        </p:nvSpPr>
        <p:spPr>
          <a:xfrm>
            <a:off x="8458200" y="38404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Isolated state</a:t>
            </a:r>
            <a:endParaRPr lang="en-US" sz="1400" dirty="0"/>
          </a:p>
        </p:txBody>
      </p:sp>
      <p:pic>
        <p:nvPicPr>
          <p:cNvPr id="46" name="!!cki2" descr="/tmp/deck-icons/TbCircleCheck_1D9E75.png">    </p:cNvPr>
          <p:cNvPicPr>
            <a:picLocks noChangeAspect="1"/>
          </p:cNvPicPr>
          <p:nvPr/>
        </p:nvPicPr>
        <p:blipFill>
          <a:blip r:embed="rId10"/>
          <a:stretch>
            <a:fillRect/>
          </a:stretch>
        </p:blipFill>
        <p:spPr>
          <a:xfrm>
            <a:off x="8092440" y="4334256"/>
            <a:ext cx="256032" cy="256032"/>
          </a:xfrm>
          <a:prstGeom prst="rect">
            <a:avLst/>
          </a:prstGeom>
        </p:spPr>
      </p:pic>
      <p:sp>
        <p:nvSpPr>
          <p:cNvPr id="47" name="!!ckt2"/>
          <p:cNvSpPr txBox="1"/>
          <p:nvPr/>
        </p:nvSpPr>
        <p:spPr>
          <a:xfrm>
            <a:off x="8458200" y="42976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Bounded execution</a:t>
            </a:r>
            <a:endParaRPr lang="en-US" sz="1400" dirty="0"/>
          </a:p>
        </p:txBody>
      </p:sp>
      <p:pic>
        <p:nvPicPr>
          <p:cNvPr id="48" name="!!cki3" descr="/tmp/deck-icons/TbCircleCheck_1D9E75.png">    </p:cNvPr>
          <p:cNvPicPr>
            <a:picLocks noChangeAspect="1"/>
          </p:cNvPicPr>
          <p:nvPr/>
        </p:nvPicPr>
        <p:blipFill>
          <a:blip r:embed="rId11"/>
          <a:stretch>
            <a:fillRect/>
          </a:stretch>
        </p:blipFill>
        <p:spPr>
          <a:xfrm>
            <a:off x="8092440" y="4791456"/>
            <a:ext cx="256032" cy="256032"/>
          </a:xfrm>
          <a:prstGeom prst="rect">
            <a:avLst/>
          </a:prstGeom>
        </p:spPr>
      </p:pic>
      <p:sp>
        <p:nvSpPr>
          <p:cNvPr id="49" name="!!ckt3"/>
          <p:cNvSpPr txBox="1"/>
          <p:nvPr/>
        </p:nvSpPr>
        <p:spPr>
          <a:xfrm>
            <a:off x="8458200" y="47548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Maker-checker</a:t>
            </a:r>
            <a:endParaRPr lang="en-US" sz="1400" dirty="0"/>
          </a:p>
        </p:txBody>
      </p:sp>
      <p:pic>
        <p:nvPicPr>
          <p:cNvPr id="50" name="!!cki4" descr="/tmp/deck-icons/TbCircleCheck_1D9E75.png">    </p:cNvPr>
          <p:cNvPicPr>
            <a:picLocks noChangeAspect="1"/>
          </p:cNvPicPr>
          <p:nvPr/>
        </p:nvPicPr>
        <p:blipFill>
          <a:blip r:embed="rId12"/>
          <a:stretch>
            <a:fillRect/>
          </a:stretch>
        </p:blipFill>
        <p:spPr>
          <a:xfrm>
            <a:off x="8092440" y="5248656"/>
            <a:ext cx="256032" cy="256032"/>
          </a:xfrm>
          <a:prstGeom prst="rect">
            <a:avLst/>
          </a:prstGeom>
        </p:spPr>
      </p:pic>
      <p:sp>
        <p:nvSpPr>
          <p:cNvPr id="51" name="!!ckt4"/>
          <p:cNvSpPr txBox="1"/>
          <p:nvPr/>
        </p:nvSpPr>
        <p:spPr>
          <a:xfrm>
            <a:off x="8458200" y="5212080"/>
            <a:ext cx="3246120" cy="329184"/>
          </a:xfrm>
          <a:prstGeom prst="rect">
            <a:avLst/>
          </a:prstGeom>
          <a:noFill/>
          <a:ln/>
        </p:spPr>
        <p:txBody>
          <a:bodyPr wrap="square" lIns="0" tIns="0" rIns="0" bIns="0" rtlCol="0" anchor="ctr"/>
          <a:lstStyle/>
          <a:p>
            <a:pPr algn="l" indent="0" marL="0">
              <a:buNone/>
            </a:pPr>
            <a:r>
              <a:rPr lang="en-US" sz="1400" b="1" dirty="0">
                <a:solidFill>
                  <a:srgbClr val="2C2C2A"/>
                </a:solidFill>
                <a:latin typeface="Calibri" pitchFamily="34" charset="0"/>
                <a:ea typeface="Calibri" pitchFamily="34" charset="-122"/>
                <a:cs typeface="Calibri" pitchFamily="34" charset="-120"/>
              </a:rPr>
              <a:t>Explicit hand-offs</a:t>
            </a:r>
            <a:endParaRPr lang="en-US" sz="1400" dirty="0"/>
          </a:p>
        </p:txBody>
      </p:sp>
      <p:sp>
        <p:nvSpPr>
          <p:cNvPr id="52" name="!!take5"/>
          <p:cNvSpPr txBox="1"/>
          <p:nvPr/>
        </p:nvSpPr>
        <p:spPr>
          <a:xfrm>
            <a:off x="548640" y="5760720"/>
            <a:ext cx="11064240" cy="457200"/>
          </a:xfrm>
          <a:prstGeom prst="rect">
            <a:avLst/>
          </a:prstGeom>
          <a:noFill/>
          <a:ln/>
        </p:spPr>
        <p:txBody>
          <a:bodyPr wrap="square" lIns="0" tIns="0" rIns="0" bIns="0" rtlCol="0" anchor="t"/>
          <a:lstStyle/>
          <a:p>
            <a:pPr algn="ctr" indent="0" marL="0">
              <a:buNone/>
            </a:pPr>
            <a:r>
              <a:rPr lang="en-US" sz="1600" b="1" i="1" dirty="0">
                <a:solidFill>
                  <a:srgbClr val="2C2C2A"/>
                </a:solidFill>
                <a:latin typeface="Calibri" pitchFamily="34" charset="0"/>
                <a:ea typeface="Calibri" pitchFamily="34" charset="-122"/>
                <a:cs typeface="Calibri" pitchFamily="34" charset="-120"/>
              </a:rPr>
              <a:t>This isn't an AI problem. It's a system design problem we've already solved, just not for agents yet.</a:t>
            </a:r>
            <a:endParaRPr lang="en-US" sz="1600" dirty="0"/>
          </a:p>
        </p:txBody>
      </p:sp>
      <p:sp>
        <p:nvSpPr>
          <p:cNvPr id="25" name="Slide Number Placeholder 0"/>
          <p:cNvSpPr>
            <a:spLocks noGrp="1"/>
          </p:cNvSpPr>
          <p:nvPr>
            <p:ph type="sldNum" sz="quarter" idx="4294967295"/>
          </p:nvPr>
        </p:nvSpPr>
        <p:spPr>
          <a:xfrm>
            <a:off x="5641848" y="6382512"/>
            <a:ext cx="914400" cy="201168"/>
          </a:xfrm>
          <a:prstGeom prst="rect">
            <a:avLst/>
          </a:prstGeom>
          <a:extLst>
            <a:ext uri="{C572A759-6A51-4108-AA02-DFA0A04FC94B}">
              <ma14:wrappingTextBoxFlag xmlns:ma14="http://schemas.microsoft.com/office/mac/drawingml/2011/main" val="0"/>
            </a:ext>
          </a:extLst>
        </p:spPr>
        <p:txBody>
          <a:bodyPr/>
          <a:lstStyle>
            <a:lvl1pPr>
              <a:defRPr sz="1000">
                <a:solidFill>
                  <a:srgbClr val="595959"/>
                </a:solidFill>
                <a:latin typeface="Arial"/>
                <a:ea typeface="Arial"/>
                <a:cs typeface="Arial"/>
              </a:defRPr>
            </a:lvl1pPr>
          </a:lstStyle>
          <a:p>
            <a:pPr algn="ctr"/>
            <a:fld id="{F7021451-1387-4CA6-816F-3879F97B5CBC}" type="slidenum">
              <a:rPr b="0" lang="en-US"/>
              <a:t>39</a:t>
            </a:fld>
            <a:endParaRPr lang="en-US"/>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900">
        <p159:morph option="byObject"/>
      </p:transition>
    </mc:Choice>
    <mc:Fallback>
      <p:transition spd="slow">
        <p:fade/>
      </p:transition>
    </mc:Fallback>
  </mc:AlternateContent>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01168"/>
            <a:ext cx="11338560" cy="530352"/>
          </a:xfrm>
          <a:prstGeom prst="rect">
            <a:avLst/>
          </a:prstGeom>
          <a:noFill/>
        </p:spPr>
        <p:txBody>
          <a:bodyPr wrap="square" lIns="0" rIns="0" tIns="0" bIns="0" anchor="b">
            <a:spAutoFit/>
          </a:bodyPr>
          <a:lstStyle/>
          <a:p>
            <a:r>
              <a:rPr sz="2600" b="1" i="0">
                <a:solidFill>
                  <a:srgbClr val="1A1A1A"/>
                </a:solidFill>
                <a:latin typeface="Calibri"/>
              </a:rPr>
              <a:t>Why Single Agents Fail · One Ticket</a:t>
            </a:r>
          </a:p>
        </p:txBody>
      </p:sp>
      <p:cxnSp>
        <p:nvCxnSpPr>
          <p:cNvPr id="3" name="Connector 2"/>
          <p:cNvCxnSpPr/>
          <p:nvPr/>
        </p:nvCxnSpPr>
        <p:spPr>
          <a:xfrm>
            <a:off x="411480" y="804672"/>
            <a:ext cx="11365992"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886968"/>
            <a:ext cx="11338560" cy="438912"/>
          </a:xfrm>
          <a:prstGeom prst="rect">
            <a:avLst/>
          </a:prstGeom>
          <a:noFill/>
        </p:spPr>
        <p:txBody>
          <a:bodyPr wrap="square" lIns="0" rIns="0" tIns="0" bIns="0" anchor="t">
            <a:spAutoFit/>
          </a:bodyPr>
          <a:lstStyle/>
          <a:p>
            <a:r>
              <a:rPr sz="1400" b="0" i="0">
                <a:solidFill>
                  <a:srgbClr val="404040"/>
                </a:solidFill>
                <a:latin typeface="Arial"/>
              </a:rPr>
              <a:t>Agents suffer from overload too. With one BAU ticket, the agent stays focused: right query, right fix, sign-off.</a:t>
            </a:r>
          </a:p>
        </p:txBody>
      </p:sp>
      <p:sp>
        <p:nvSpPr>
          <p:cNvPr id="5" name="TextBox 4"/>
          <p:cNvSpPr txBox="1"/>
          <p:nvPr/>
        </p:nvSpPr>
        <p:spPr>
          <a:xfrm>
            <a:off x="5641848" y="6382512"/>
            <a:ext cx="914400" cy="201168"/>
          </a:xfrm>
          <a:prstGeom prst="rect">
            <a:avLst/>
          </a:prstGeom>
          <a:noFill/>
        </p:spPr>
        <p:txBody>
          <a:bodyPr wrap="square" lIns="0" rIns="0" tIns="0" bIns="0" anchor="t">
            <a:spAutoFit/>
          </a:bodyPr>
          <a:lstStyle/>
          <a:p>
            <a:pPr algn="ctr"/>
            <a:fld id="{B6F15528-21DE-4FAA-801E-634DDDAF4B2B}" type="slidenum">
              <a:rPr lang="en-US" sz="1000">
                <a:solidFill>
                  <a:srgbClr val="595959"/>
                </a:solidFill>
                <a:latin typeface="Arial"/>
              </a:rPr>
              <a:t>‹#›</a:t>
            </a:fld>
          </a:p>
        </p:txBody>
      </p:sp>
      <p:sp>
        <p:nvSpPr>
          <p:cNvPr id="6" name="TextBox 5"/>
          <p:cNvSpPr txBox="1"/>
          <p:nvPr/>
        </p:nvSpPr>
        <p:spPr>
          <a:xfrm>
            <a:off x="5184648" y="6556248"/>
            <a:ext cx="1828800" cy="201168"/>
          </a:xfrm>
          <a:prstGeom prst="rect">
            <a:avLst/>
          </a:prstGeom>
          <a:noFill/>
        </p:spPr>
        <p:txBody>
          <a:bodyPr wrap="square" lIns="0" rIns="0" tIns="0" bIns="0" anchor="t">
            <a:spAutoFit/>
          </a:bodyPr>
          <a:lstStyle/>
          <a:p>
            <a:pPr algn="ctr"/>
            <a:r>
              <a:rPr sz="800" b="0" i="0">
                <a:solidFill>
                  <a:srgbClr val="7F7F7F"/>
                </a:solidFill>
                <a:latin typeface="Arial"/>
              </a:rPr>
              <a:t>RESTRICTED</a:t>
            </a:r>
          </a:p>
        </p:txBody>
      </p:sp>
      <p:sp>
        <p:nvSpPr>
          <p:cNvPr id="7" name="Rounded Rectangle 6"/>
          <p:cNvSpPr/>
          <p:nvPr/>
        </p:nvSpPr>
        <p:spPr>
          <a:xfrm>
            <a:off x="792314" y="1389888"/>
            <a:ext cx="10607371" cy="4453128"/>
          </a:xfrm>
          <a:prstGeom prst="roundRect">
            <a:avLst>
              <a:gd name="adj" fmla="val 1000"/>
            </a:avLst>
          </a:prstGeom>
          <a:solidFill>
            <a:srgbClr val="FFFFFF"/>
          </a:solidFill>
          <a:ln w="9525">
            <a:solidFill>
              <a:srgbClr val="D3D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2-why-single-agents-fail-happy-path.gif"/>
          <p:cNvPicPr>
            <a:picLocks noChangeAspect="1"/>
          </p:cNvPicPr>
          <p:nvPr/>
        </p:nvPicPr>
        <p:blipFill>
          <a:blip r:embed="rId2"/>
          <a:stretch>
            <a:fillRect/>
          </a:stretch>
        </p:blipFill>
        <p:spPr>
          <a:xfrm>
            <a:off x="847178" y="1444752"/>
            <a:ext cx="10497643" cy="4343400"/>
          </a:xfrm>
          <a:prstGeom prst="rect">
            <a:avLst/>
          </a:prstGeom>
        </p:spPr>
      </p:pic>
      <p:sp>
        <p:nvSpPr>
          <p:cNvPr id="9" name="Rounded Rectangle 8"/>
          <p:cNvSpPr/>
          <p:nvPr/>
        </p:nvSpPr>
        <p:spPr>
          <a:xfrm>
            <a:off x="847178" y="5934456"/>
            <a:ext cx="1737360" cy="310896"/>
          </a:xfrm>
          <a:prstGeom prst="roundRect">
            <a:avLst>
              <a:gd name="adj" fmla="val 5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3C3489"/>
                </a:solidFill>
                <a:latin typeface="Calibri"/>
                <a:hlinkClick r:id="rId3"/>
              </a:rPr>
              <a:t>►  Play animation</a:t>
            </a:r>
          </a:p>
        </p:txBody>
      </p:sp>
      <p:sp>
        <p:nvSpPr>
          <p:cNvPr id="10" name="TextBox 9"/>
          <p:cNvSpPr txBox="1"/>
          <p:nvPr/>
        </p:nvSpPr>
        <p:spPr>
          <a:xfrm>
            <a:off x="2767418" y="5916168"/>
            <a:ext cx="8577403" cy="365760"/>
          </a:xfrm>
          <a:prstGeom prst="rect">
            <a:avLst/>
          </a:prstGeom>
          <a:noFill/>
        </p:spPr>
        <p:txBody>
          <a:bodyPr wrap="square" lIns="0" rIns="0" tIns="0" bIns="0" anchor="ctr">
            <a:spAutoFit/>
          </a:bodyPr>
          <a:lstStyle/>
          <a:p>
            <a:r>
              <a:rPr sz="1400" b="1" i="1">
                <a:solidFill>
                  <a:srgbClr val="2C2C2A"/>
                </a:solidFill>
                <a:latin typeface="Calibri"/>
              </a:rPr>
              <a:t>Same agent, same five tools: one ticket, fixed and signed off in 4 LLM calls.</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01168"/>
            <a:ext cx="11338560" cy="530352"/>
          </a:xfrm>
          <a:prstGeom prst="rect">
            <a:avLst/>
          </a:prstGeom>
          <a:noFill/>
        </p:spPr>
        <p:txBody>
          <a:bodyPr wrap="square" lIns="0" rIns="0" tIns="0" bIns="0" anchor="b">
            <a:spAutoFit/>
          </a:bodyPr>
          <a:lstStyle/>
          <a:p>
            <a:r>
              <a:rPr sz="2600" b="1" i="0">
                <a:solidFill>
                  <a:srgbClr val="1A1A1A"/>
                </a:solidFill>
                <a:latin typeface="Calibri"/>
              </a:rPr>
              <a:t>Why Single Agents Fail · Three Tickets</a:t>
            </a:r>
          </a:p>
        </p:txBody>
      </p:sp>
      <p:cxnSp>
        <p:nvCxnSpPr>
          <p:cNvPr id="3" name="Connector 2"/>
          <p:cNvCxnSpPr/>
          <p:nvPr/>
        </p:nvCxnSpPr>
        <p:spPr>
          <a:xfrm>
            <a:off x="411480" y="804672"/>
            <a:ext cx="11365992"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886968"/>
            <a:ext cx="11338560" cy="438912"/>
          </a:xfrm>
          <a:prstGeom prst="rect">
            <a:avLst/>
          </a:prstGeom>
          <a:noFill/>
        </p:spPr>
        <p:txBody>
          <a:bodyPr wrap="square" lIns="0" rIns="0" tIns="0" bIns="0" anchor="t">
            <a:spAutoFit/>
          </a:bodyPr>
          <a:lstStyle/>
          <a:p>
            <a:r>
              <a:rPr sz="1400" b="0" i="0">
                <a:solidFill>
                  <a:srgbClr val="404040"/>
                </a:solidFill>
                <a:latin typeface="Arial"/>
              </a:rPr>
              <a:t>Give the same agent three tickets in one session and its decisions get weaker: mixed-up data, repeated retries, a test edited until it passes.</a:t>
            </a:r>
          </a:p>
        </p:txBody>
      </p:sp>
      <p:sp>
        <p:nvSpPr>
          <p:cNvPr id="5" name="TextBox 4"/>
          <p:cNvSpPr txBox="1"/>
          <p:nvPr/>
        </p:nvSpPr>
        <p:spPr>
          <a:xfrm>
            <a:off x="5641848" y="6382512"/>
            <a:ext cx="914400" cy="201168"/>
          </a:xfrm>
          <a:prstGeom prst="rect">
            <a:avLst/>
          </a:prstGeom>
          <a:noFill/>
        </p:spPr>
        <p:txBody>
          <a:bodyPr wrap="square" lIns="0" rIns="0" tIns="0" bIns="0" anchor="t">
            <a:spAutoFit/>
          </a:bodyPr>
          <a:lstStyle/>
          <a:p>
            <a:pPr algn="ctr"/>
            <a:fld id="{B6F15528-21DE-4FAA-801E-634DDDAF4B2B}" type="slidenum">
              <a:rPr lang="en-US" sz="1000">
                <a:solidFill>
                  <a:srgbClr val="595959"/>
                </a:solidFill>
                <a:latin typeface="Arial"/>
              </a:rPr>
              <a:t>‹#›</a:t>
            </a:fld>
          </a:p>
        </p:txBody>
      </p:sp>
      <p:sp>
        <p:nvSpPr>
          <p:cNvPr id="6" name="TextBox 5"/>
          <p:cNvSpPr txBox="1"/>
          <p:nvPr/>
        </p:nvSpPr>
        <p:spPr>
          <a:xfrm>
            <a:off x="5184648" y="6556248"/>
            <a:ext cx="1828800" cy="201168"/>
          </a:xfrm>
          <a:prstGeom prst="rect">
            <a:avLst/>
          </a:prstGeom>
          <a:noFill/>
        </p:spPr>
        <p:txBody>
          <a:bodyPr wrap="square" lIns="0" rIns="0" tIns="0" bIns="0" anchor="t">
            <a:spAutoFit/>
          </a:bodyPr>
          <a:lstStyle/>
          <a:p>
            <a:pPr algn="ctr"/>
            <a:r>
              <a:rPr sz="800" b="0" i="0">
                <a:solidFill>
                  <a:srgbClr val="7F7F7F"/>
                </a:solidFill>
                <a:latin typeface="Arial"/>
              </a:rPr>
              <a:t>RESTRICTED</a:t>
            </a:r>
          </a:p>
        </p:txBody>
      </p:sp>
      <p:sp>
        <p:nvSpPr>
          <p:cNvPr id="7" name="Rounded Rectangle 6"/>
          <p:cNvSpPr/>
          <p:nvPr/>
        </p:nvSpPr>
        <p:spPr>
          <a:xfrm>
            <a:off x="792314" y="1389888"/>
            <a:ext cx="10607371" cy="4453128"/>
          </a:xfrm>
          <a:prstGeom prst="roundRect">
            <a:avLst>
              <a:gd name="adj" fmla="val 1000"/>
            </a:avLst>
          </a:prstGeom>
          <a:solidFill>
            <a:srgbClr val="FFFFFF"/>
          </a:solidFill>
          <a:ln w="9525">
            <a:solidFill>
              <a:srgbClr val="D3D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2-why-single-agents-fail-chaotic-path.gif"/>
          <p:cNvPicPr>
            <a:picLocks noChangeAspect="1"/>
          </p:cNvPicPr>
          <p:nvPr/>
        </p:nvPicPr>
        <p:blipFill>
          <a:blip r:embed="rId2"/>
          <a:stretch>
            <a:fillRect/>
          </a:stretch>
        </p:blipFill>
        <p:spPr>
          <a:xfrm>
            <a:off x="847178" y="1444752"/>
            <a:ext cx="10497643" cy="4343400"/>
          </a:xfrm>
          <a:prstGeom prst="rect">
            <a:avLst/>
          </a:prstGeom>
        </p:spPr>
      </p:pic>
      <p:sp>
        <p:nvSpPr>
          <p:cNvPr id="9" name="Rounded Rectangle 8"/>
          <p:cNvSpPr/>
          <p:nvPr/>
        </p:nvSpPr>
        <p:spPr>
          <a:xfrm>
            <a:off x="847178" y="5934456"/>
            <a:ext cx="1737360" cy="310896"/>
          </a:xfrm>
          <a:prstGeom prst="roundRect">
            <a:avLst>
              <a:gd name="adj" fmla="val 5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3C3489"/>
                </a:solidFill>
                <a:latin typeface="Calibri"/>
                <a:hlinkClick r:id="rId3"/>
              </a:rPr>
              <a:t>►  Play animation</a:t>
            </a:r>
          </a:p>
        </p:txBody>
      </p:sp>
      <p:sp>
        <p:nvSpPr>
          <p:cNvPr id="10" name="TextBox 9"/>
          <p:cNvSpPr txBox="1"/>
          <p:nvPr/>
        </p:nvSpPr>
        <p:spPr>
          <a:xfrm>
            <a:off x="2767418" y="5916168"/>
            <a:ext cx="8577403" cy="365760"/>
          </a:xfrm>
          <a:prstGeom prst="rect">
            <a:avLst/>
          </a:prstGeom>
          <a:noFill/>
        </p:spPr>
        <p:txBody>
          <a:bodyPr wrap="square" lIns="0" rIns="0" tIns="0" bIns="0" anchor="ctr">
            <a:spAutoFit/>
          </a:bodyPr>
          <a:lstStyle/>
          <a:p>
            <a:r>
              <a:rPr sz="1400" b="1" i="1">
                <a:solidFill>
                  <a:srgbClr val="2C2C2A"/>
                </a:solidFill>
                <a:latin typeface="Calibri"/>
              </a:rPr>
              <a:t>A single agent is a monolith: it works for one task and fails like a monolith when you scale the work.</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411480" y="201168"/>
            <a:ext cx="11338560" cy="530352"/>
          </a:xfrm>
          <a:prstGeom prst="rect">
            <a:avLst/>
          </a:prstGeom>
          <a:noFill/>
        </p:spPr>
        <p:txBody>
          <a:bodyPr wrap="square" lIns="0" rIns="0" tIns="0" bIns="0" anchor="b">
            <a:spAutoFit/>
          </a:bodyPr>
          <a:lstStyle/>
          <a:p>
            <a:r>
              <a:rPr sz="2600" b="1" i="0">
                <a:solidFill>
                  <a:srgbClr val="1A1A1A"/>
                </a:solidFill>
                <a:latin typeface="Calibri"/>
              </a:rPr>
              <a:t>The Core Idea of Multi-Agent Systems</a:t>
            </a:r>
          </a:p>
        </p:txBody>
      </p:sp>
      <p:cxnSp>
        <p:nvCxnSpPr>
          <p:cNvPr id="3" name="Connector 2"/>
          <p:cNvCxnSpPr/>
          <p:nvPr/>
        </p:nvCxnSpPr>
        <p:spPr>
          <a:xfrm>
            <a:off x="411480" y="804672"/>
            <a:ext cx="11365992" cy="0"/>
          </a:xfrm>
          <a:prstGeom prst="line">
            <a:avLst/>
          </a:prstGeom>
          <a:ln w="9525">
            <a:solidFill>
              <a:srgbClr val="7F7F7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411480" y="886968"/>
            <a:ext cx="11338560" cy="438912"/>
          </a:xfrm>
          <a:prstGeom prst="rect">
            <a:avLst/>
          </a:prstGeom>
          <a:noFill/>
        </p:spPr>
        <p:txBody>
          <a:bodyPr wrap="square" lIns="0" rIns="0" tIns="0" bIns="0" anchor="t">
            <a:spAutoFit/>
          </a:bodyPr>
          <a:lstStyle/>
          <a:p>
            <a:r>
              <a:rPr sz="1400" b="0" i="0">
                <a:solidFill>
                  <a:srgbClr val="404040"/>
                </a:solidFill>
                <a:latin typeface="Arial"/>
              </a:rPr>
              <a:t>Give each agent one job and connect them with clear hand-offs. The shape can change (supervisor, pipeline, swarm); the building blocks stay the same.</a:t>
            </a:r>
          </a:p>
        </p:txBody>
      </p:sp>
      <p:sp>
        <p:nvSpPr>
          <p:cNvPr id="5" name="TextBox 4"/>
          <p:cNvSpPr txBox="1"/>
          <p:nvPr/>
        </p:nvSpPr>
        <p:spPr>
          <a:xfrm>
            <a:off x="5641848" y="6382512"/>
            <a:ext cx="914400" cy="201168"/>
          </a:xfrm>
          <a:prstGeom prst="rect">
            <a:avLst/>
          </a:prstGeom>
          <a:noFill/>
        </p:spPr>
        <p:txBody>
          <a:bodyPr wrap="square" lIns="0" rIns="0" tIns="0" bIns="0" anchor="t">
            <a:spAutoFit/>
          </a:bodyPr>
          <a:lstStyle/>
          <a:p>
            <a:pPr algn="ctr"/>
            <a:fld id="{B6F15528-21DE-4FAA-801E-634DDDAF4B2B}" type="slidenum">
              <a:rPr lang="en-US" sz="1000">
                <a:solidFill>
                  <a:srgbClr val="595959"/>
                </a:solidFill>
                <a:latin typeface="Arial"/>
              </a:rPr>
              <a:t>‹#›</a:t>
            </a:fld>
          </a:p>
        </p:txBody>
      </p:sp>
      <p:sp>
        <p:nvSpPr>
          <p:cNvPr id="6" name="TextBox 5"/>
          <p:cNvSpPr txBox="1"/>
          <p:nvPr/>
        </p:nvSpPr>
        <p:spPr>
          <a:xfrm>
            <a:off x="5184648" y="6556248"/>
            <a:ext cx="1828800" cy="201168"/>
          </a:xfrm>
          <a:prstGeom prst="rect">
            <a:avLst/>
          </a:prstGeom>
          <a:noFill/>
        </p:spPr>
        <p:txBody>
          <a:bodyPr wrap="square" lIns="0" rIns="0" tIns="0" bIns="0" anchor="t">
            <a:spAutoFit/>
          </a:bodyPr>
          <a:lstStyle/>
          <a:p>
            <a:pPr algn="ctr"/>
            <a:r>
              <a:rPr sz="800" b="0" i="0">
                <a:solidFill>
                  <a:srgbClr val="7F7F7F"/>
                </a:solidFill>
                <a:latin typeface="Arial"/>
              </a:rPr>
              <a:t>RESTRICTED</a:t>
            </a:r>
          </a:p>
        </p:txBody>
      </p:sp>
      <p:sp>
        <p:nvSpPr>
          <p:cNvPr id="7" name="Rounded Rectangle 6"/>
          <p:cNvSpPr/>
          <p:nvPr/>
        </p:nvSpPr>
        <p:spPr>
          <a:xfrm>
            <a:off x="792314" y="1389888"/>
            <a:ext cx="10607371" cy="4453128"/>
          </a:xfrm>
          <a:prstGeom prst="roundRect">
            <a:avLst>
              <a:gd name="adj" fmla="val 1000"/>
            </a:avLst>
          </a:prstGeom>
          <a:solidFill>
            <a:srgbClr val="FFFFFF"/>
          </a:solidFill>
          <a:ln w="9525">
            <a:solidFill>
              <a:srgbClr val="D3D1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6-core-idea.gif"/>
          <p:cNvPicPr>
            <a:picLocks noChangeAspect="1"/>
          </p:cNvPicPr>
          <p:nvPr/>
        </p:nvPicPr>
        <p:blipFill>
          <a:blip r:embed="rId2"/>
          <a:stretch>
            <a:fillRect/>
          </a:stretch>
        </p:blipFill>
        <p:spPr>
          <a:xfrm>
            <a:off x="847178" y="1444752"/>
            <a:ext cx="10497643" cy="4343400"/>
          </a:xfrm>
          <a:prstGeom prst="rect">
            <a:avLst/>
          </a:prstGeom>
        </p:spPr>
      </p:pic>
      <p:sp>
        <p:nvSpPr>
          <p:cNvPr id="9" name="Rounded Rectangle 8"/>
          <p:cNvSpPr/>
          <p:nvPr/>
        </p:nvSpPr>
        <p:spPr>
          <a:xfrm>
            <a:off x="847178" y="5934456"/>
            <a:ext cx="1737360" cy="310896"/>
          </a:xfrm>
          <a:prstGeom prst="roundRect">
            <a:avLst>
              <a:gd name="adj" fmla="val 50000"/>
            </a:avLst>
          </a:prstGeom>
          <a:solidFill>
            <a:srgbClr val="EEEDFE"/>
          </a:solidFill>
          <a:ln w="12700">
            <a:solidFill>
              <a:srgbClr val="534AB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100" b="1">
                <a:solidFill>
                  <a:srgbClr val="3C3489"/>
                </a:solidFill>
                <a:latin typeface="Calibri"/>
                <a:hlinkClick r:id="rId3"/>
              </a:rPr>
              <a:t>►  Play animation</a:t>
            </a:r>
          </a:p>
        </p:txBody>
      </p:sp>
      <p:sp>
        <p:nvSpPr>
          <p:cNvPr id="10" name="TextBox 9"/>
          <p:cNvSpPr txBox="1"/>
          <p:nvPr/>
        </p:nvSpPr>
        <p:spPr>
          <a:xfrm>
            <a:off x="2767418" y="5916168"/>
            <a:ext cx="8577403" cy="365760"/>
          </a:xfrm>
          <a:prstGeom prst="rect">
            <a:avLst/>
          </a:prstGeom>
          <a:noFill/>
        </p:spPr>
        <p:txBody>
          <a:bodyPr wrap="square" lIns="0" rIns="0" tIns="0" bIns="0" anchor="ctr">
            <a:spAutoFit/>
          </a:bodyPr>
          <a:lstStyle/>
          <a:p>
            <a:r>
              <a:rPr sz="1400" b="1" i="1">
                <a:solidFill>
                  <a:srgbClr val="2C2C2A"/>
                </a:solidFill>
                <a:latin typeface="Calibri"/>
              </a:rPr>
              <a:t>A multi-agent system is a well-run team: one job each, clear hand-offs, a shared goal, and someone who signs off.</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Multi-Agent Systems &amp; Subgraph Architecture</dc:title>
  <dc:subject>PptxGenJS Presentation</dc:subject>
  <dc:creator>Amitkumar</dc:creator>
  <cp:lastModifiedBy>Amitkumar</cp:lastModifiedBy>
  <cp:revision>1</cp:revision>
  <dcterms:created xsi:type="dcterms:W3CDTF">2026-10-29T02:54:45Z</dcterms:created>
  <dcterms:modified xsi:type="dcterms:W3CDTF">2026-10-29T02:54:45Z</dcterms:modified>
</cp:coreProperties>
</file>