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4 · Common Mistakes" id="{9dfb572e-2313-16e2-adee-5a274aa13173}">
          <p14:sldIdLst>
            <p14:sldId id="256"/>
          </p14:sldIdLst>
        </p14:section>
        <p14:section name="15 · Choose the Pattern" id="{214610a0-4f3f-bd17-74d3-5d6c6fb86e77}">
          <p14:sldIdLst>
            <p14:sldId id="257"/>
          </p14:sldIdLst>
        </p14:section>
        <p14:section name="16 · Design Principles" id="{f65816fb-1fbf-1045-70d2-5a7413acae0d}">
          <p14:sldIdLst>
            <p14:sldId id="258"/>
          </p14:sldIdLst>
        </p14:section>
        <p14:section name="16a · LangChain and LangGraph" id="{631d227e-f039-d9fc-8ad7-1b6d21b92b1a}">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seen the patterns. Now the traps. Almost every multi-agent system that fails in practice fails for a design reason, not because the model was weak.
The first three are about definition. No clear goal or "done": agents loop, or stop early, because nobody wrote down when the task is finished. Vague roles: two agents do the same work, or a step falls between them. No rules: no step limits, no retry budget, every agent can call every tool.
The next three are about wiring. Using multi-agent for a simple task adds cost, latency and failure points for no gain. Agents chatting instead of handing off pass whole histories around, and the context bloats exactly like our single agent on slide 2. And with no independent check or human gate, "done" gets reported when it isn't.
Close: Every mistake here is a missing decision: who does what, when is it done, and who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need, not the pattern. Read the left column and find the one that sounds like your problem.
If you need to route each request to the right specialist, that's supervisor–worker. If you have a capability you'll reuse inside bigger flows, wrap it as a subgraph. Long task that needs a plan first: planner–executor. A known, fixed sequence: specialist pipeline. Judgement calls where quality matters more than speed: peer and debate. Many independent sub-tasks that end in a sign-off: parallel swarm with a human gate.
The right-hand column matters as much as the pattern: every pattern has a typical way to fail, and it's cheaper to design for it up front.
Close: Pick the simplest pattern that meets the need. Start with one agent; add structure only when it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habits that prevent the mistakes on slide 14. None of them need a framework; you can apply them to the agent you're building this week.
One job per agent. Define "done" as a structured status, not free text, so the next step doesn't have to guess from finish_reason. Give each agent a handful of tools, with least privilege. Pass state, not chat. Bound everything: steps, retries, timeouts, tokens. Keep the maker and the checker separate. Put a human gate in front of anything irreversible. And trace every hand-off so you can see where it went wrong.
The card on the right is the practical version: before you write any code, write one of these for every agent. If you can't fill it in, the agent's job isn't clear yet.
Close: Write the role card first; the code gets much simpler.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libraries, two jobs. LangChain gives you the building blocks: a common interface to models, prompts, tools, and structured output, plus create_agent for a ready-made agent loop. LangGraph is the orchestration layer: you describe your system as a graph of nodes sharing a state, and it runs it, with loops, branching, persistence and human-in-the-loop built in.
The two core ideas are node and graph. A node is one job: a Python function that reads the state and returns the keys it changed. Edges are the hand-offs. A conditional edge is a router: here the checker's status decides whether we finish or go back to the worker. That's exactly the explicit hand-off from slide 5, replacing the finish_reason if/else.
The code is the whole thing: a state, two nodes, three edges, compile, invoke. recursion_limit is our bounded execution. And a compiled graph can itself be used as a node, which is how subgraphs work.
Close: LangChain for the parts, LangGraph for the wiring. Every pattern in this deck is a LangGraph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74320"/>
            <a:ext cx="10241280" cy="59436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Common Mistakes in Multi-Agent Design</a:t>
            </a:r>
            <a:endParaRPr lang="en-US" sz="3000" dirty="0"/>
          </a:p>
        </p:txBody>
      </p:sp>
      <p:sp>
        <p:nvSpPr>
          <p:cNvPr id="3" name="!!sub"/>
          <p:cNvSpPr txBox="1"/>
          <p:nvPr/>
        </p:nvSpPr>
        <p:spPr>
          <a:xfrm>
            <a:off x="502920" y="868680"/>
            <a:ext cx="11155680" cy="320040"/>
          </a:xfrm>
          <a:prstGeom prst="rect">
            <a:avLst/>
          </a:prstGeom>
          <a:noFill/>
          <a:ln/>
        </p:spPr>
        <p:txBody>
          <a:bodyPr wrap="square" lIns="0" tIns="0" rIns="0" bIns="0" rtlCol="0" anchor="t"/>
          <a:lstStyle/>
          <a:p>
            <a:pPr algn="l" indent="0" marL="0">
              <a:buNone/>
            </a:pPr>
            <a:r>
              <a:rPr lang="en-US" sz="1500" dirty="0">
                <a:solidFill>
                  <a:srgbClr val="5F5E5A"/>
                </a:solidFill>
                <a:latin typeface="Calibri" pitchFamily="34" charset="0"/>
                <a:ea typeface="Calibri" pitchFamily="34" charset="-122"/>
                <a:cs typeface="Calibri" pitchFamily="34" charset="-120"/>
              </a:rPr>
              <a:t>Most multi-agent failures are design mistakes, not model mistakes.</a:t>
            </a:r>
            <a:endParaRPr lang="en-US" sz="1500" dirty="0"/>
          </a:p>
        </p:txBody>
      </p:sp>
      <p:sp>
        <p:nvSpPr>
          <p:cNvPr id="4" name="!!num"/>
          <p:cNvSpPr txBox="1"/>
          <p:nvPr/>
        </p:nvSpPr>
        <p:spPr>
          <a:xfrm>
            <a:off x="11064240" y="6446520"/>
            <a:ext cx="640080" cy="228600"/>
          </a:xfrm>
          <a:prstGeom prst="rect">
            <a:avLst/>
          </a:prstGeom>
          <a:noFill/>
          <a:ln/>
        </p:spPr>
        <p:txBody>
          <a:bodyPr wrap="square" lIns="0" tIns="0" rIns="0" bIns="0" rtlCol="0" anchor="t"/>
          <a:lstStyle/>
          <a:p>
            <a:pPr algn="r" indent="0" marL="0">
              <a:buNone/>
            </a:pPr>
            <a:r>
              <a:rPr lang="en-US" sz="1000" dirty="0">
                <a:solidFill>
                  <a:srgbClr val="888780"/>
                </a:solidFill>
                <a:latin typeface="Calibri" pitchFamily="34" charset="0"/>
                <a:ea typeface="Calibri" pitchFamily="34" charset="-122"/>
                <a:cs typeface="Calibri" pitchFamily="34" charset="-120"/>
              </a:rPr>
              <a:t>14</a:t>
            </a:r>
            <a:endParaRPr lang="en-US" sz="1000" dirty="0"/>
          </a:p>
        </p:txBody>
      </p:sp>
      <p:sp>
        <p:nvSpPr>
          <p:cNvPr id="5" name="!!card1"/>
          <p:cNvSpPr/>
          <p:nvPr/>
        </p:nvSpPr>
        <p:spPr>
          <a:xfrm>
            <a:off x="502920" y="1371600"/>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6" name="!!dot1"/>
          <p:cNvSpPr/>
          <p:nvPr/>
        </p:nvSpPr>
        <p:spPr>
          <a:xfrm>
            <a:off x="704088" y="1572768"/>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7" name="!!ic1" descr="/tmp/deck-icons/TbTarget_993C1D.png">    </p:cNvPr>
          <p:cNvPicPr>
            <a:picLocks noChangeAspect="1"/>
          </p:cNvPicPr>
          <p:nvPr/>
        </p:nvPicPr>
        <p:blipFill>
          <a:blip r:embed="rId1"/>
          <a:stretch>
            <a:fillRect/>
          </a:stretch>
        </p:blipFill>
        <p:spPr>
          <a:xfrm>
            <a:off x="795528" y="1664208"/>
            <a:ext cx="274320" cy="274320"/>
          </a:xfrm>
          <a:prstGeom prst="rect">
            <a:avLst/>
          </a:prstGeom>
        </p:spPr>
      </p:pic>
      <p:sp>
        <p:nvSpPr>
          <p:cNvPr id="8" name="!!mt1"/>
          <p:cNvSpPr txBox="1"/>
          <p:nvPr/>
        </p:nvSpPr>
        <p:spPr>
          <a:xfrm>
            <a:off x="1289304" y="1554480"/>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No clear goal or “done”</a:t>
            </a:r>
            <a:endParaRPr lang="en-US" sz="1600" dirty="0"/>
          </a:p>
        </p:txBody>
      </p:sp>
      <p:sp>
        <p:nvSpPr>
          <p:cNvPr id="9" name="!!mw1"/>
          <p:cNvSpPr txBox="1"/>
          <p:nvPr/>
        </p:nvSpPr>
        <p:spPr>
          <a:xfrm>
            <a:off x="704088" y="2176272"/>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Agents loop or stop early; nobody knows when the task is finished.</a:t>
            </a:r>
            <a:endParaRPr lang="en-US" sz="1300" dirty="0"/>
          </a:p>
        </p:txBody>
      </p:sp>
      <p:sp>
        <p:nvSpPr>
          <p:cNvPr id="10" name="!!fix1"/>
          <p:cNvSpPr/>
          <p:nvPr/>
        </p:nvSpPr>
        <p:spPr>
          <a:xfrm>
            <a:off x="704088" y="2816352"/>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Write success criteria and an exit condition for every agent.</a:t>
            </a:r>
            <a:endParaRPr lang="en-US" sz="1250" dirty="0"/>
          </a:p>
        </p:txBody>
      </p:sp>
      <p:sp>
        <p:nvSpPr>
          <p:cNvPr id="11" name="!!card2"/>
          <p:cNvSpPr/>
          <p:nvPr/>
        </p:nvSpPr>
        <p:spPr>
          <a:xfrm>
            <a:off x="4279392" y="1371600"/>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12" name="!!dot2"/>
          <p:cNvSpPr/>
          <p:nvPr/>
        </p:nvSpPr>
        <p:spPr>
          <a:xfrm>
            <a:off x="4480560" y="1572768"/>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13" name="!!ic2" descr="/tmp/deck-icons/TbUsers_993C1D.png">    </p:cNvPr>
          <p:cNvPicPr>
            <a:picLocks noChangeAspect="1"/>
          </p:cNvPicPr>
          <p:nvPr/>
        </p:nvPicPr>
        <p:blipFill>
          <a:blip r:embed="rId2"/>
          <a:stretch>
            <a:fillRect/>
          </a:stretch>
        </p:blipFill>
        <p:spPr>
          <a:xfrm>
            <a:off x="4572000" y="1664208"/>
            <a:ext cx="274320" cy="274320"/>
          </a:xfrm>
          <a:prstGeom prst="rect">
            <a:avLst/>
          </a:prstGeom>
        </p:spPr>
      </p:pic>
      <p:sp>
        <p:nvSpPr>
          <p:cNvPr id="14" name="!!mt2"/>
          <p:cNvSpPr txBox="1"/>
          <p:nvPr/>
        </p:nvSpPr>
        <p:spPr>
          <a:xfrm>
            <a:off x="5065776" y="1554480"/>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Vague, overlapping roles</a:t>
            </a:r>
            <a:endParaRPr lang="en-US" sz="1600" dirty="0"/>
          </a:p>
        </p:txBody>
      </p:sp>
      <p:sp>
        <p:nvSpPr>
          <p:cNvPr id="15" name="!!mw2"/>
          <p:cNvSpPr txBox="1"/>
          <p:nvPr/>
        </p:nvSpPr>
        <p:spPr>
          <a:xfrm>
            <a:off x="4480560" y="2176272"/>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Two agents do the same work, or a step falls between them.</a:t>
            </a:r>
            <a:endParaRPr lang="en-US" sz="1300" dirty="0"/>
          </a:p>
        </p:txBody>
      </p:sp>
      <p:sp>
        <p:nvSpPr>
          <p:cNvPr id="16" name="!!fix2"/>
          <p:cNvSpPr/>
          <p:nvPr/>
        </p:nvSpPr>
        <p:spPr>
          <a:xfrm>
            <a:off x="4480560" y="2816352"/>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One job per agent, with written inputs and outputs.</a:t>
            </a:r>
            <a:endParaRPr lang="en-US" sz="1250" dirty="0"/>
          </a:p>
        </p:txBody>
      </p:sp>
      <p:sp>
        <p:nvSpPr>
          <p:cNvPr id="17" name="!!card3"/>
          <p:cNvSpPr/>
          <p:nvPr/>
        </p:nvSpPr>
        <p:spPr>
          <a:xfrm>
            <a:off x="8055864" y="1371600"/>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18" name="!!dot3"/>
          <p:cNvSpPr/>
          <p:nvPr/>
        </p:nvSpPr>
        <p:spPr>
          <a:xfrm>
            <a:off x="8257032" y="1572768"/>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19" name="!!ic3" descr="/tmp/deck-icons/TbInfinity_993C1D.png">    </p:cNvPr>
          <p:cNvPicPr>
            <a:picLocks noChangeAspect="1"/>
          </p:cNvPicPr>
          <p:nvPr/>
        </p:nvPicPr>
        <p:blipFill>
          <a:blip r:embed="rId3"/>
          <a:stretch>
            <a:fillRect/>
          </a:stretch>
        </p:blipFill>
        <p:spPr>
          <a:xfrm>
            <a:off x="8348472" y="1664208"/>
            <a:ext cx="274320" cy="274320"/>
          </a:xfrm>
          <a:prstGeom prst="rect">
            <a:avLst/>
          </a:prstGeom>
        </p:spPr>
      </p:pic>
      <p:sp>
        <p:nvSpPr>
          <p:cNvPr id="20" name="!!mt3"/>
          <p:cNvSpPr txBox="1"/>
          <p:nvPr/>
        </p:nvSpPr>
        <p:spPr>
          <a:xfrm>
            <a:off x="8842248" y="1554480"/>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No rules or limits</a:t>
            </a:r>
            <a:endParaRPr lang="en-US" sz="1600" dirty="0"/>
          </a:p>
        </p:txBody>
      </p:sp>
      <p:sp>
        <p:nvSpPr>
          <p:cNvPr id="21" name="!!mw3"/>
          <p:cNvSpPr txBox="1"/>
          <p:nvPr/>
        </p:nvSpPr>
        <p:spPr>
          <a:xfrm>
            <a:off x="8257032" y="2176272"/>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Endless retries, runaway cost, any agent can call any tool.</a:t>
            </a:r>
            <a:endParaRPr lang="en-US" sz="1300" dirty="0"/>
          </a:p>
        </p:txBody>
      </p:sp>
      <p:sp>
        <p:nvSpPr>
          <p:cNvPr id="22" name="!!fix3"/>
          <p:cNvSpPr/>
          <p:nvPr/>
        </p:nvSpPr>
        <p:spPr>
          <a:xfrm>
            <a:off x="8257032" y="2816352"/>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Step limits, retry budgets and least-privilege tools.</a:t>
            </a:r>
            <a:endParaRPr lang="en-US" sz="1250" dirty="0"/>
          </a:p>
        </p:txBody>
      </p:sp>
      <p:sp>
        <p:nvSpPr>
          <p:cNvPr id="23" name="!!card4"/>
          <p:cNvSpPr/>
          <p:nvPr/>
        </p:nvSpPr>
        <p:spPr>
          <a:xfrm>
            <a:off x="502920" y="3730752"/>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24" name="!!dot4"/>
          <p:cNvSpPr/>
          <p:nvPr/>
        </p:nvSpPr>
        <p:spPr>
          <a:xfrm>
            <a:off x="704088" y="3931920"/>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5" name="!!ic4" descr="/tmp/deck-icons/TbHammer_993C1D.png">    </p:cNvPr>
          <p:cNvPicPr>
            <a:picLocks noChangeAspect="1"/>
          </p:cNvPicPr>
          <p:nvPr/>
        </p:nvPicPr>
        <p:blipFill>
          <a:blip r:embed="rId4"/>
          <a:stretch>
            <a:fillRect/>
          </a:stretch>
        </p:blipFill>
        <p:spPr>
          <a:xfrm>
            <a:off x="795528" y="4023360"/>
            <a:ext cx="274320" cy="274320"/>
          </a:xfrm>
          <a:prstGeom prst="rect">
            <a:avLst/>
          </a:prstGeom>
        </p:spPr>
      </p:pic>
      <p:sp>
        <p:nvSpPr>
          <p:cNvPr id="26" name="!!mt4"/>
          <p:cNvSpPr txBox="1"/>
          <p:nvPr/>
        </p:nvSpPr>
        <p:spPr>
          <a:xfrm>
            <a:off x="1289304" y="3913632"/>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Wrong use case</a:t>
            </a:r>
            <a:endParaRPr lang="en-US" sz="1600" dirty="0"/>
          </a:p>
        </p:txBody>
      </p:sp>
      <p:sp>
        <p:nvSpPr>
          <p:cNvPr id="27" name="!!mw4"/>
          <p:cNvSpPr txBox="1"/>
          <p:nvPr/>
        </p:nvSpPr>
        <p:spPr>
          <a:xfrm>
            <a:off x="704088" y="4535424"/>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Multi-agent for a simple task: more cost, latency and failure points.</a:t>
            </a:r>
            <a:endParaRPr lang="en-US" sz="1300" dirty="0"/>
          </a:p>
        </p:txBody>
      </p:sp>
      <p:sp>
        <p:nvSpPr>
          <p:cNvPr id="28" name="!!fix4"/>
          <p:cNvSpPr/>
          <p:nvPr/>
        </p:nvSpPr>
        <p:spPr>
          <a:xfrm>
            <a:off x="704088" y="5175504"/>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Start with one agent or a fixed workflow; split when it breaks.</a:t>
            </a:r>
            <a:endParaRPr lang="en-US" sz="1250" dirty="0"/>
          </a:p>
        </p:txBody>
      </p:sp>
      <p:sp>
        <p:nvSpPr>
          <p:cNvPr id="29" name="!!card5"/>
          <p:cNvSpPr/>
          <p:nvPr/>
        </p:nvSpPr>
        <p:spPr>
          <a:xfrm>
            <a:off x="4279392" y="3730752"/>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30" name="!!dot5"/>
          <p:cNvSpPr/>
          <p:nvPr/>
        </p:nvSpPr>
        <p:spPr>
          <a:xfrm>
            <a:off x="4480560" y="3931920"/>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1" name="!!ic5" descr="/tmp/deck-icons/TbMessages_993C1D.png">    </p:cNvPr>
          <p:cNvPicPr>
            <a:picLocks noChangeAspect="1"/>
          </p:cNvPicPr>
          <p:nvPr/>
        </p:nvPicPr>
        <p:blipFill>
          <a:blip r:embed="rId5"/>
          <a:stretch>
            <a:fillRect/>
          </a:stretch>
        </p:blipFill>
        <p:spPr>
          <a:xfrm>
            <a:off x="4572000" y="4023360"/>
            <a:ext cx="274320" cy="274320"/>
          </a:xfrm>
          <a:prstGeom prst="rect">
            <a:avLst/>
          </a:prstGeom>
        </p:spPr>
      </p:pic>
      <p:sp>
        <p:nvSpPr>
          <p:cNvPr id="32" name="!!mt5"/>
          <p:cNvSpPr txBox="1"/>
          <p:nvPr/>
        </p:nvSpPr>
        <p:spPr>
          <a:xfrm>
            <a:off x="5065776" y="3913632"/>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Agents chat instead of hand off</a:t>
            </a:r>
            <a:endParaRPr lang="en-US" sz="1600" dirty="0"/>
          </a:p>
        </p:txBody>
      </p:sp>
      <p:sp>
        <p:nvSpPr>
          <p:cNvPr id="33" name="!!mw5"/>
          <p:cNvSpPr txBox="1"/>
          <p:nvPr/>
        </p:nvSpPr>
        <p:spPr>
          <a:xfrm>
            <a:off x="4480560" y="4535424"/>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Full histories passed around; context bloats and decisions drift.</a:t>
            </a:r>
            <a:endParaRPr lang="en-US" sz="1300" dirty="0"/>
          </a:p>
        </p:txBody>
      </p:sp>
      <p:sp>
        <p:nvSpPr>
          <p:cNvPr id="34" name="!!fix5"/>
          <p:cNvSpPr/>
          <p:nvPr/>
        </p:nvSpPr>
        <p:spPr>
          <a:xfrm>
            <a:off x="4480560" y="5175504"/>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Pass structured results through a small shared state.</a:t>
            </a:r>
            <a:endParaRPr lang="en-US" sz="1250" dirty="0"/>
          </a:p>
        </p:txBody>
      </p:sp>
      <p:sp>
        <p:nvSpPr>
          <p:cNvPr id="35" name="!!card6"/>
          <p:cNvSpPr/>
          <p:nvPr/>
        </p:nvSpPr>
        <p:spPr>
          <a:xfrm>
            <a:off x="8055864" y="3730752"/>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36" name="!!dot6"/>
          <p:cNvSpPr/>
          <p:nvPr/>
        </p:nvSpPr>
        <p:spPr>
          <a:xfrm>
            <a:off x="8257032" y="3931920"/>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7" name="!!ic6" descr="/tmp/deck-icons/TbEyeOff_993C1D.png">    </p:cNvPr>
          <p:cNvPicPr>
            <a:picLocks noChangeAspect="1"/>
          </p:cNvPicPr>
          <p:nvPr/>
        </p:nvPicPr>
        <p:blipFill>
          <a:blip r:embed="rId6"/>
          <a:stretch>
            <a:fillRect/>
          </a:stretch>
        </p:blipFill>
        <p:spPr>
          <a:xfrm>
            <a:off x="8348472" y="4023360"/>
            <a:ext cx="274320" cy="274320"/>
          </a:xfrm>
          <a:prstGeom prst="rect">
            <a:avLst/>
          </a:prstGeom>
        </p:spPr>
      </p:pic>
      <p:sp>
        <p:nvSpPr>
          <p:cNvPr id="38" name="!!mt6"/>
          <p:cNvSpPr txBox="1"/>
          <p:nvPr/>
        </p:nvSpPr>
        <p:spPr>
          <a:xfrm>
            <a:off x="8842248" y="3913632"/>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No independent check or human gate</a:t>
            </a:r>
            <a:endParaRPr lang="en-US" sz="1600" dirty="0"/>
          </a:p>
        </p:txBody>
      </p:sp>
      <p:sp>
        <p:nvSpPr>
          <p:cNvPr id="39" name="!!mw6"/>
          <p:cNvSpPr txBox="1"/>
          <p:nvPr/>
        </p:nvSpPr>
        <p:spPr>
          <a:xfrm>
            <a:off x="8257032" y="4535424"/>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“Done” is reported when it isn't; risky actions go out unreviewed.</a:t>
            </a:r>
            <a:endParaRPr lang="en-US" sz="1300" dirty="0"/>
          </a:p>
        </p:txBody>
      </p:sp>
      <p:sp>
        <p:nvSpPr>
          <p:cNvPr id="40" name="!!fix6"/>
          <p:cNvSpPr/>
          <p:nvPr/>
        </p:nvSpPr>
        <p:spPr>
          <a:xfrm>
            <a:off x="8257032" y="5175504"/>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A separate checker, plus human approval for irreversible steps.</a:t>
            </a:r>
            <a:endParaRPr lang="en-US" sz="1250" dirty="0"/>
          </a:p>
        </p:txBody>
      </p:sp>
      <p:sp>
        <p:nvSpPr>
          <p:cNvPr id="41" name="!!take"/>
          <p:cNvSpPr txBox="1"/>
          <p:nvPr/>
        </p:nvSpPr>
        <p:spPr>
          <a:xfrm>
            <a:off x="502920" y="6035040"/>
            <a:ext cx="11155680" cy="365760"/>
          </a:xfrm>
          <a:prstGeom prst="rect">
            <a:avLst/>
          </a:prstGeom>
          <a:noFill/>
          <a:ln/>
        </p:spPr>
        <p:txBody>
          <a:bodyPr wrap="square" lIns="0" tIns="0" rIns="0" bIns="0" rtlCol="0" anchor="t"/>
          <a:lstStyle/>
          <a:p>
            <a:pPr algn="ctr" indent="0" marL="0">
              <a:buNone/>
            </a:pPr>
            <a:r>
              <a:rPr lang="en-US" sz="1600" b="1" i="1" dirty="0">
                <a:solidFill>
                  <a:srgbClr val="2C2C2A"/>
                </a:solidFill>
                <a:latin typeface="Calibri" pitchFamily="34" charset="0"/>
                <a:ea typeface="Calibri" pitchFamily="34" charset="-122"/>
                <a:cs typeface="Calibri" pitchFamily="34" charset="-120"/>
              </a:rPr>
              <a:t>Every mistake here is a missing decision: who does what, when is it done, and who checks.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74320"/>
            <a:ext cx="10241280" cy="59436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How to Choose the Right Pattern</a:t>
            </a:r>
            <a:endParaRPr lang="en-US" sz="3000" dirty="0"/>
          </a:p>
        </p:txBody>
      </p:sp>
      <p:sp>
        <p:nvSpPr>
          <p:cNvPr id="3" name="!!sub"/>
          <p:cNvSpPr txBox="1"/>
          <p:nvPr/>
        </p:nvSpPr>
        <p:spPr>
          <a:xfrm>
            <a:off x="502920" y="868680"/>
            <a:ext cx="11155680" cy="320040"/>
          </a:xfrm>
          <a:prstGeom prst="rect">
            <a:avLst/>
          </a:prstGeom>
          <a:noFill/>
          <a:ln/>
        </p:spPr>
        <p:txBody>
          <a:bodyPr wrap="square" lIns="0" tIns="0" rIns="0" bIns="0" rtlCol="0" anchor="t"/>
          <a:lstStyle/>
          <a:p>
            <a:pPr algn="l" indent="0" marL="0">
              <a:buNone/>
            </a:pPr>
            <a:r>
              <a:rPr lang="en-US" sz="1500" dirty="0">
                <a:solidFill>
                  <a:srgbClr val="5F5E5A"/>
                </a:solidFill>
                <a:latin typeface="Calibri" pitchFamily="34" charset="0"/>
                <a:ea typeface="Calibri" pitchFamily="34" charset="-122"/>
                <a:cs typeface="Calibri" pitchFamily="34" charset="-120"/>
              </a:rPr>
              <a:t>Start from the need, not the pattern.</a:t>
            </a:r>
            <a:endParaRPr lang="en-US" sz="1500" dirty="0"/>
          </a:p>
        </p:txBody>
      </p:sp>
      <p:sp>
        <p:nvSpPr>
          <p:cNvPr id="4" name="!!num"/>
          <p:cNvSpPr txBox="1"/>
          <p:nvPr/>
        </p:nvSpPr>
        <p:spPr>
          <a:xfrm>
            <a:off x="11064240" y="6446520"/>
            <a:ext cx="640080" cy="228600"/>
          </a:xfrm>
          <a:prstGeom prst="rect">
            <a:avLst/>
          </a:prstGeom>
          <a:noFill/>
          <a:ln/>
        </p:spPr>
        <p:txBody>
          <a:bodyPr wrap="square" lIns="0" tIns="0" rIns="0" bIns="0" rtlCol="0" anchor="t"/>
          <a:lstStyle/>
          <a:p>
            <a:pPr algn="r" indent="0" marL="0">
              <a:buNone/>
            </a:pPr>
            <a:r>
              <a:rPr lang="en-US" sz="1000" dirty="0">
                <a:solidFill>
                  <a:srgbClr val="888780"/>
                </a:solidFill>
                <a:latin typeface="Calibri" pitchFamily="34" charset="0"/>
                <a:ea typeface="Calibri" pitchFamily="34" charset="-122"/>
                <a:cs typeface="Calibri" pitchFamily="34" charset="-120"/>
              </a:rPr>
              <a:t>15</a:t>
            </a:r>
            <a:endParaRPr lang="en-US" sz="1000" dirty="0"/>
          </a:p>
        </p:txBody>
      </p:sp>
      <p:graphicFrame>
        <p:nvGraphicFramePr>
          <p:cNvPr id="3" name="!!table"/>
          <p:cNvGraphicFramePr>
            <a:graphicFrameLocks noGrp="1"/>
          </p:cNvGraphicFramePr>
          <p:nvPr>
            <p:extLst>
              <p:ext uri="{D42A27DB-BD31-4B8C-83A1-F6EECF244321}">
                <p14:modId xmlns:p14="http://schemas.microsoft.com/office/powerpoint/2010/main" val="1579011935"/>
              </p:ext>
            </p:extLst>
          </p:nvPr>
        </p:nvGraphicFramePr>
        <p:xfrm>
          <a:off x="502920" y="1371600"/>
          <a:ext cx="11183112" cy="914400"/>
        </p:xfrm>
        <a:graphic>
          <a:graphicData uri="http://schemas.openxmlformats.org/drawingml/2006/table">
            <a:tbl>
              <a:tblPr/>
              <a:tblGrid>
                <a:gridCol w="3063240"/>
                <a:gridCol w="2331720"/>
                <a:gridCol w="3246120"/>
                <a:gridCol w="2542032"/>
              </a:tblGrid>
              <a:tr h="384048">
                <a:tc>
                  <a:txBody>
                    <a:bodyPr/>
                    <a:lstStyle/>
                    <a:p>
                      <a:pPr indent="0" marL="0">
                        <a:buNone/>
                      </a:pPr>
                      <a:r>
                        <a:rPr lang="en-US" sz="1300" b="1" dirty="0">
                          <a:solidFill>
                            <a:srgbClr val="2C2C2A"/>
                          </a:solidFill>
                          <a:latin typeface="Calibri" pitchFamily="34" charset="0"/>
                          <a:ea typeface="Calibri" pitchFamily="34" charset="-122"/>
                          <a:cs typeface="Calibri" pitchFamily="34" charset="-120"/>
                        </a:rPr>
                        <a:t>If you need…</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1EFE8"/>
                    </a:solidFill>
                  </a:tcPr>
                </a:tc>
                <a:tc>
                  <a:txBody>
                    <a:bodyPr/>
                    <a:lstStyle/>
                    <a:p>
                      <a:pPr indent="0" marL="0">
                        <a:buNone/>
                      </a:pPr>
                      <a:r>
                        <a:rPr lang="en-US" sz="1300" b="1" dirty="0">
                          <a:solidFill>
                            <a:srgbClr val="3C3489"/>
                          </a:solidFill>
                          <a:latin typeface="Calibri" pitchFamily="34" charset="0"/>
                          <a:ea typeface="Calibri" pitchFamily="34" charset="-122"/>
                          <a:cs typeface="Calibri" pitchFamily="34" charset="-120"/>
                        </a:rPr>
                        <a:t>Use this pattern</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EEEDFE"/>
                    </a:solidFill>
                  </a:tcPr>
                </a:tc>
                <a:tc>
                  <a:txBody>
                    <a:bodyPr/>
                    <a:lstStyle/>
                    <a:p>
                      <a:pPr indent="0" marL="0">
                        <a:buNone/>
                      </a:pPr>
                      <a:r>
                        <a:rPr lang="en-US" sz="1300" b="1" dirty="0">
                          <a:solidFill>
                            <a:srgbClr val="2C2C2A"/>
                          </a:solidFill>
                          <a:latin typeface="Calibri" pitchFamily="34" charset="0"/>
                          <a:ea typeface="Calibri" pitchFamily="34" charset="-122"/>
                          <a:cs typeface="Calibri" pitchFamily="34" charset="-120"/>
                        </a:rPr>
                        <a:t>Example (our world)</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1EFE8"/>
                    </a:solidFill>
                  </a:tcPr>
                </a:tc>
                <a:tc>
                  <a:txBody>
                    <a:bodyPr/>
                    <a:lstStyle/>
                    <a:p>
                      <a:pPr indent="0" marL="0">
                        <a:buNone/>
                      </a:pPr>
                      <a:r>
                        <a:rPr lang="en-US" sz="1300" b="1" dirty="0">
                          <a:solidFill>
                            <a:srgbClr val="712B13"/>
                          </a:solidFill>
                          <a:latin typeface="Calibri" pitchFamily="34" charset="0"/>
                          <a:ea typeface="Calibri" pitchFamily="34" charset="-122"/>
                          <a:cs typeface="Calibri" pitchFamily="34" charset="-120"/>
                        </a:rPr>
                        <a:t>Watch out for</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AECE7"/>
                    </a:solidFill>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Route each request to the right specialist</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Supervisor–Worker</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BAU triage sends a ticket to the SQL, code or test agent</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The supervisor becomes a bottleneck</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Reuse a self-contained capability inside bigger flows</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Subgraph</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One reconciliation subgraph used by the PD, LGD and EAD flows</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Keep its input and output state small and explicit</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A long task that needs a plan before doing</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Planner–Executor</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Plan a data-asset build from a BRD, then run each step</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Re-plan when a step fails; don't push on</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A known, fixed sequence of stages</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Specialist Pipeline</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Extract → transform → validate → report</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Errors flow downstream; check between stages</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Judgement calls where quality beats speed</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Peer + Debate</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Two reviewers challenge a model-change justification</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Cost and time; cap the number of rounds</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Many independent sub-tasks, then a sign-off</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Parallel Swarm + Human Gate</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Check 50 source feeds in parallel; a human approves the release</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Merging results, and approval fatigue</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bl>
          </a:graphicData>
        </a:graphic>
      </p:graphicFrame>
      <p:sp>
        <p:nvSpPr>
          <p:cNvPr id="6" name="!!rule"/>
          <p:cNvSpPr/>
          <p:nvPr/>
        </p:nvSpPr>
        <p:spPr>
          <a:xfrm>
            <a:off x="502920" y="5806440"/>
            <a:ext cx="11183112" cy="502920"/>
          </a:xfrm>
          <a:prstGeom prst="roundRect">
            <a:avLst>
              <a:gd name="adj" fmla="val 18182"/>
            </a:avLst>
          </a:prstGeom>
          <a:solidFill>
            <a:srgbClr val="E1F5EE"/>
          </a:solidFill>
          <a:ln w="12700">
            <a:solidFill>
              <a:srgbClr val="0F6E56"/>
            </a:solidFill>
            <a:prstDash val="solid"/>
          </a:ln>
        </p:spPr>
        <p:txBody>
          <a:bodyPr wrap="square" lIns="152400" tIns="152400" rIns="152400" bIns="152400" rtlCol="0" anchor="ctr"/>
          <a:lstStyle/>
          <a:p>
            <a:pPr algn="l" indent="0" marL="0">
              <a:buNone/>
            </a:pPr>
            <a:r>
              <a:rPr lang="en-US" sz="1400" b="1" dirty="0">
                <a:solidFill>
                  <a:srgbClr val="085041"/>
                </a:solidFill>
                <a:latin typeface="Calibri" pitchFamily="34" charset="0"/>
                <a:ea typeface="Calibri" pitchFamily="34" charset="-122"/>
                <a:cs typeface="Calibri" pitchFamily="34" charset="-120"/>
              </a:rPr>
              <a:t>Rule of thumb  </a:t>
            </a:r>
            <a:pPr algn="l" indent="0" marL="0">
              <a:buNone/>
            </a:pPr>
            <a:r>
              <a:rPr lang="en-US" sz="1400" dirty="0">
                <a:solidFill>
                  <a:srgbClr val="085041"/>
                </a:solidFill>
                <a:latin typeface="Calibri" pitchFamily="34" charset="0"/>
                <a:ea typeface="Calibri" pitchFamily="34" charset="-122"/>
                <a:cs typeface="Calibri" pitchFamily="34" charset="-120"/>
              </a:rPr>
              <a:t>Pick the simplest pattern that meets the need. Start with one agent; add structure only when it breaks.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74320"/>
            <a:ext cx="10241280" cy="59436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Design Principles You Can Apply Tomorrow</a:t>
            </a:r>
            <a:endParaRPr lang="en-US" sz="3000" dirty="0"/>
          </a:p>
        </p:txBody>
      </p:sp>
      <p:sp>
        <p:nvSpPr>
          <p:cNvPr id="3" name="!!sub"/>
          <p:cNvSpPr txBox="1"/>
          <p:nvPr/>
        </p:nvSpPr>
        <p:spPr>
          <a:xfrm>
            <a:off x="502920" y="868680"/>
            <a:ext cx="11155680" cy="320040"/>
          </a:xfrm>
          <a:prstGeom prst="rect">
            <a:avLst/>
          </a:prstGeom>
          <a:noFill/>
          <a:ln/>
        </p:spPr>
        <p:txBody>
          <a:bodyPr wrap="square" lIns="0" tIns="0" rIns="0" bIns="0" rtlCol="0" anchor="t"/>
          <a:lstStyle/>
          <a:p>
            <a:pPr algn="l" indent="0" marL="0">
              <a:buNone/>
            </a:pPr>
            <a:r>
              <a:rPr lang="en-US" sz="1500" dirty="0">
                <a:solidFill>
                  <a:srgbClr val="5F5E5A"/>
                </a:solidFill>
                <a:latin typeface="Calibri" pitchFamily="34" charset="0"/>
                <a:ea typeface="Calibri" pitchFamily="34" charset="-122"/>
                <a:cs typeface="Calibri" pitchFamily="34" charset="-120"/>
              </a:rPr>
              <a:t>Eight habits that prevent the mistakes on slide 14.</a:t>
            </a:r>
            <a:endParaRPr lang="en-US" sz="1500" dirty="0"/>
          </a:p>
        </p:txBody>
      </p:sp>
      <p:sp>
        <p:nvSpPr>
          <p:cNvPr id="4" name="!!num"/>
          <p:cNvSpPr txBox="1"/>
          <p:nvPr/>
        </p:nvSpPr>
        <p:spPr>
          <a:xfrm>
            <a:off x="11064240" y="6446520"/>
            <a:ext cx="640080" cy="228600"/>
          </a:xfrm>
          <a:prstGeom prst="rect">
            <a:avLst/>
          </a:prstGeom>
          <a:noFill/>
          <a:ln/>
        </p:spPr>
        <p:txBody>
          <a:bodyPr wrap="square" lIns="0" tIns="0" rIns="0" bIns="0" rtlCol="0" anchor="t"/>
          <a:lstStyle/>
          <a:p>
            <a:pPr algn="r" indent="0" marL="0">
              <a:buNone/>
            </a:pPr>
            <a:r>
              <a:rPr lang="en-US" sz="1000" dirty="0">
                <a:solidFill>
                  <a:srgbClr val="888780"/>
                </a:solidFill>
                <a:latin typeface="Calibri" pitchFamily="34" charset="0"/>
                <a:ea typeface="Calibri" pitchFamily="34" charset="-122"/>
                <a:cs typeface="Calibri" pitchFamily="34" charset="-120"/>
              </a:rPr>
              <a:t>16</a:t>
            </a:r>
            <a:endParaRPr lang="en-US" sz="1000" dirty="0"/>
          </a:p>
        </p:txBody>
      </p:sp>
      <p:sp>
        <p:nvSpPr>
          <p:cNvPr id="5" name="!!pn1"/>
          <p:cNvSpPr/>
          <p:nvPr/>
        </p:nvSpPr>
        <p:spPr>
          <a:xfrm>
            <a:off x="502920" y="1463040"/>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pt1"/>
          <p:cNvSpPr txBox="1"/>
          <p:nvPr/>
        </p:nvSpPr>
        <p:spPr>
          <a:xfrm>
            <a:off x="1033272" y="1417320"/>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One job per agent</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A clear goal, its own tools, inputs and outputs.</a:t>
            </a:r>
            <a:endParaRPr lang="en-US" sz="1400" dirty="0"/>
          </a:p>
        </p:txBody>
      </p:sp>
      <p:sp>
        <p:nvSpPr>
          <p:cNvPr id="7" name="!!pn2"/>
          <p:cNvSpPr/>
          <p:nvPr/>
        </p:nvSpPr>
        <p:spPr>
          <a:xfrm>
            <a:off x="3977640" y="1463040"/>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pt2"/>
          <p:cNvSpPr txBox="1"/>
          <p:nvPr/>
        </p:nvSpPr>
        <p:spPr>
          <a:xfrm>
            <a:off x="4507992" y="1417320"/>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Define “done”</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Return a structured status, not free text.</a:t>
            </a:r>
            <a:endParaRPr lang="en-US" sz="1400" dirty="0"/>
          </a:p>
        </p:txBody>
      </p:sp>
      <p:sp>
        <p:nvSpPr>
          <p:cNvPr id="9" name="!!pn3"/>
          <p:cNvSpPr/>
          <p:nvPr/>
        </p:nvSpPr>
        <p:spPr>
          <a:xfrm>
            <a:off x="502920" y="2578608"/>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0" name="!!pt3"/>
          <p:cNvSpPr txBox="1"/>
          <p:nvPr/>
        </p:nvSpPr>
        <p:spPr>
          <a:xfrm>
            <a:off x="1033272" y="2532888"/>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Few tools, least privilege</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A handful of tools per agent, read-only where possible.</a:t>
            </a:r>
            <a:endParaRPr lang="en-US" sz="1400" dirty="0"/>
          </a:p>
        </p:txBody>
      </p:sp>
      <p:sp>
        <p:nvSpPr>
          <p:cNvPr id="11" name="!!pn4"/>
          <p:cNvSpPr/>
          <p:nvPr/>
        </p:nvSpPr>
        <p:spPr>
          <a:xfrm>
            <a:off x="3977640" y="2578608"/>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2" name="!!pt4"/>
          <p:cNvSpPr txBox="1"/>
          <p:nvPr/>
        </p:nvSpPr>
        <p:spPr>
          <a:xfrm>
            <a:off x="4507992" y="2532888"/>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Pass state, not chat</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A small typed state; each agent writes only its keys.</a:t>
            </a:r>
            <a:endParaRPr lang="en-US" sz="1400" dirty="0"/>
          </a:p>
        </p:txBody>
      </p:sp>
      <p:sp>
        <p:nvSpPr>
          <p:cNvPr id="13" name="!!pn5"/>
          <p:cNvSpPr/>
          <p:nvPr/>
        </p:nvSpPr>
        <p:spPr>
          <a:xfrm>
            <a:off x="502920" y="3694176"/>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pt5"/>
          <p:cNvSpPr txBox="1"/>
          <p:nvPr/>
        </p:nvSpPr>
        <p:spPr>
          <a:xfrm>
            <a:off x="1033272" y="3648456"/>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Bound everything</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Max steps, retries, timeouts and tokens.</a:t>
            </a:r>
            <a:endParaRPr lang="en-US" sz="1400" dirty="0"/>
          </a:p>
        </p:txBody>
      </p:sp>
      <p:sp>
        <p:nvSpPr>
          <p:cNvPr id="15" name="!!pn6"/>
          <p:cNvSpPr/>
          <p:nvPr/>
        </p:nvSpPr>
        <p:spPr>
          <a:xfrm>
            <a:off x="3977640" y="3694176"/>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6" name="!!pt6"/>
          <p:cNvSpPr txBox="1"/>
          <p:nvPr/>
        </p:nvSpPr>
        <p:spPr>
          <a:xfrm>
            <a:off x="4507992" y="3648456"/>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Separate maker and checker</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The agent that does the work never grades it.</a:t>
            </a:r>
            <a:endParaRPr lang="en-US" sz="1400" dirty="0"/>
          </a:p>
        </p:txBody>
      </p:sp>
      <p:sp>
        <p:nvSpPr>
          <p:cNvPr id="17" name="!!pn7"/>
          <p:cNvSpPr/>
          <p:nvPr/>
        </p:nvSpPr>
        <p:spPr>
          <a:xfrm>
            <a:off x="502920" y="4809744"/>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18" name="!!pt7"/>
          <p:cNvSpPr txBox="1"/>
          <p:nvPr/>
        </p:nvSpPr>
        <p:spPr>
          <a:xfrm>
            <a:off x="1033272" y="4764024"/>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Human gate for the irreversible</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Approve before send, deploy, delete or close.</a:t>
            </a:r>
            <a:endParaRPr lang="en-US" sz="1400" dirty="0"/>
          </a:p>
        </p:txBody>
      </p:sp>
      <p:sp>
        <p:nvSpPr>
          <p:cNvPr id="19" name="!!pn8"/>
          <p:cNvSpPr/>
          <p:nvPr/>
        </p:nvSpPr>
        <p:spPr>
          <a:xfrm>
            <a:off x="3977640" y="4809744"/>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0" name="!!pt8"/>
          <p:cNvSpPr txBox="1"/>
          <p:nvPr/>
        </p:nvSpPr>
        <p:spPr>
          <a:xfrm>
            <a:off x="4507992" y="4764024"/>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Make it observable</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Trace every hand-off: status, tokens, latency.</a:t>
            </a:r>
            <a:endParaRPr lang="en-US" sz="1400" dirty="0"/>
          </a:p>
        </p:txBody>
      </p:sp>
      <p:sp>
        <p:nvSpPr>
          <p:cNvPr id="21" name="!!card"/>
          <p:cNvSpPr/>
          <p:nvPr/>
        </p:nvSpPr>
        <p:spPr>
          <a:xfrm>
            <a:off x="7543800" y="1371600"/>
            <a:ext cx="4142232" cy="4343400"/>
          </a:xfrm>
          <a:prstGeom prst="roundRect">
            <a:avLst>
              <a:gd name="adj" fmla="val 2649"/>
            </a:avLst>
          </a:prstGeom>
          <a:solidFill>
            <a:srgbClr val="E1F5EE"/>
          </a:solidFill>
          <a:ln w="15875">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2" name="!!cardic" descr="/tmp/deck-icons/TbId_0F6E56.png">    </p:cNvPr>
          <p:cNvPicPr>
            <a:picLocks noChangeAspect="1"/>
          </p:cNvPicPr>
          <p:nvPr/>
        </p:nvPicPr>
        <p:blipFill>
          <a:blip r:embed="rId1"/>
          <a:stretch>
            <a:fillRect/>
          </a:stretch>
        </p:blipFill>
        <p:spPr>
          <a:xfrm>
            <a:off x="7772400" y="1572768"/>
            <a:ext cx="347472" cy="347472"/>
          </a:xfrm>
          <a:prstGeom prst="rect">
            <a:avLst/>
          </a:prstGeom>
        </p:spPr>
      </p:pic>
      <p:sp>
        <p:nvSpPr>
          <p:cNvPr id="23" name="!!cardh"/>
          <p:cNvSpPr txBox="1"/>
          <p:nvPr/>
        </p:nvSpPr>
        <p:spPr>
          <a:xfrm>
            <a:off x="8229600" y="1527048"/>
            <a:ext cx="3319272" cy="548640"/>
          </a:xfrm>
          <a:prstGeom prst="rect">
            <a:avLst/>
          </a:prstGeom>
          <a:noFill/>
          <a:ln/>
        </p:spPr>
        <p:txBody>
          <a:bodyPr wrap="square" lIns="0" tIns="0" rIns="0" bIns="0" rtlCol="0" anchor="t"/>
          <a:lstStyle/>
          <a:p>
            <a:pPr algn="l" indent="0" marL="0">
              <a:buNone/>
            </a:pPr>
            <a:r>
              <a:rPr lang="en-US" sz="1600" b="1" dirty="0">
                <a:solidFill>
                  <a:srgbClr val="085041"/>
                </a:solidFill>
                <a:latin typeface="Calibri" pitchFamily="34" charset="0"/>
                <a:ea typeface="Calibri" pitchFamily="34" charset="-122"/>
                <a:cs typeface="Calibri" pitchFamily="34" charset="-120"/>
              </a:rPr>
              <a:t>Role card · Data agent</a:t>
            </a:r>
            <a:endParaRPr lang="en-US" sz="1400" dirty="0"/>
          </a:p>
          <a:p>
            <a:pPr algn="l" indent="0" marL="0">
              <a:buNone/>
            </a:pPr>
            <a:r>
              <a:rPr lang="en-US" sz="1200" dirty="0">
                <a:solidFill>
                  <a:srgbClr val="0F6E56"/>
                </a:solidFill>
                <a:latin typeface="Calibri" pitchFamily="34" charset="0"/>
                <a:ea typeface="Calibri" pitchFamily="34" charset="-122"/>
                <a:cs typeface="Calibri" pitchFamily="34" charset="-120"/>
              </a:rPr>
              <a:t>BAU defect fix</a:t>
            </a:r>
            <a:endParaRPr lang="en-US" sz="1400" dirty="0"/>
          </a:p>
        </p:txBody>
      </p:sp>
      <p:sp>
        <p:nvSpPr>
          <p:cNvPr id="24" name="!!ck0"/>
          <p:cNvSpPr txBox="1"/>
          <p:nvPr/>
        </p:nvSpPr>
        <p:spPr>
          <a:xfrm>
            <a:off x="7772400" y="2240280"/>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Goal</a:t>
            </a:r>
            <a:endParaRPr lang="en-US" sz="1200" dirty="0"/>
          </a:p>
        </p:txBody>
      </p:sp>
      <p:sp>
        <p:nvSpPr>
          <p:cNvPr id="25" name="!!cv0"/>
          <p:cNvSpPr txBox="1"/>
          <p:nvPr/>
        </p:nvSpPr>
        <p:spPr>
          <a:xfrm>
            <a:off x="8915400" y="2240280"/>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Find the source of the bad PD values for one ticket</a:t>
            </a:r>
            <a:endParaRPr lang="en-US" sz="1200" dirty="0"/>
          </a:p>
        </p:txBody>
      </p:sp>
      <p:sp>
        <p:nvSpPr>
          <p:cNvPr id="26" name="Shape 23"/>
          <p:cNvSpPr/>
          <p:nvPr/>
        </p:nvSpPr>
        <p:spPr>
          <a:xfrm>
            <a:off x="7772400" y="2670048"/>
            <a:ext cx="3685032" cy="914"/>
          </a:xfrm>
          <a:prstGeom prst="line">
            <a:avLst/>
          </a:prstGeom>
          <a:noFill/>
          <a:ln w="6350">
            <a:solidFill>
              <a:srgbClr val="9FE1CB"/>
            </a:solidFill>
            <a:prstDash val="solid"/>
          </a:ln>
        </p:spPr>
      </p:sp>
      <p:sp>
        <p:nvSpPr>
          <p:cNvPr id="27" name="!!ck1"/>
          <p:cNvSpPr txBox="1"/>
          <p:nvPr/>
        </p:nvSpPr>
        <p:spPr>
          <a:xfrm>
            <a:off x="7772400" y="2715768"/>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Tools</a:t>
            </a:r>
            <a:endParaRPr lang="en-US" sz="1200" dirty="0"/>
          </a:p>
        </p:txBody>
      </p:sp>
      <p:sp>
        <p:nvSpPr>
          <p:cNvPr id="28" name="!!cv1"/>
          <p:cNvSpPr txBox="1"/>
          <p:nvPr/>
        </p:nvSpPr>
        <p:spPr>
          <a:xfrm>
            <a:off x="8915400" y="2715768"/>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run_sql (read-only, max 500 rows), search_code</a:t>
            </a:r>
            <a:endParaRPr lang="en-US" sz="1200" dirty="0"/>
          </a:p>
        </p:txBody>
      </p:sp>
      <p:sp>
        <p:nvSpPr>
          <p:cNvPr id="29" name="Shape 26"/>
          <p:cNvSpPr/>
          <p:nvPr/>
        </p:nvSpPr>
        <p:spPr>
          <a:xfrm>
            <a:off x="7772400" y="3145536"/>
            <a:ext cx="3685032" cy="914"/>
          </a:xfrm>
          <a:prstGeom prst="line">
            <a:avLst/>
          </a:prstGeom>
          <a:noFill/>
          <a:ln w="6350">
            <a:solidFill>
              <a:srgbClr val="9FE1CB"/>
            </a:solidFill>
            <a:prstDash val="solid"/>
          </a:ln>
        </p:spPr>
      </p:sp>
      <p:sp>
        <p:nvSpPr>
          <p:cNvPr id="30" name="!!ck2"/>
          <p:cNvSpPr txBox="1"/>
          <p:nvPr/>
        </p:nvSpPr>
        <p:spPr>
          <a:xfrm>
            <a:off x="7772400" y="3191256"/>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Reads</a:t>
            </a:r>
            <a:endParaRPr lang="en-US" sz="1200" dirty="0"/>
          </a:p>
        </p:txBody>
      </p:sp>
      <p:sp>
        <p:nvSpPr>
          <p:cNvPr id="31" name="!!cv2"/>
          <p:cNvSpPr txBox="1"/>
          <p:nvPr/>
        </p:nvSpPr>
        <p:spPr>
          <a:xfrm>
            <a:off x="8915400" y="3191256"/>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ticket, plan</a:t>
            </a:r>
            <a:endParaRPr lang="en-US" sz="1200" dirty="0"/>
          </a:p>
        </p:txBody>
      </p:sp>
      <p:sp>
        <p:nvSpPr>
          <p:cNvPr id="32" name="Shape 29"/>
          <p:cNvSpPr/>
          <p:nvPr/>
        </p:nvSpPr>
        <p:spPr>
          <a:xfrm>
            <a:off x="7772400" y="3621024"/>
            <a:ext cx="3685032" cy="914"/>
          </a:xfrm>
          <a:prstGeom prst="line">
            <a:avLst/>
          </a:prstGeom>
          <a:noFill/>
          <a:ln w="6350">
            <a:solidFill>
              <a:srgbClr val="9FE1CB"/>
            </a:solidFill>
            <a:prstDash val="solid"/>
          </a:ln>
        </p:spPr>
      </p:sp>
      <p:sp>
        <p:nvSpPr>
          <p:cNvPr id="33" name="!!ck3"/>
          <p:cNvSpPr txBox="1"/>
          <p:nvPr/>
        </p:nvSpPr>
        <p:spPr>
          <a:xfrm>
            <a:off x="7772400" y="3666744"/>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Writes</a:t>
            </a:r>
            <a:endParaRPr lang="en-US" sz="1200" dirty="0"/>
          </a:p>
        </p:txBody>
      </p:sp>
      <p:sp>
        <p:nvSpPr>
          <p:cNvPr id="34" name="!!cv3"/>
          <p:cNvSpPr txBox="1"/>
          <p:nvPr/>
        </p:nvSpPr>
        <p:spPr>
          <a:xfrm>
            <a:off x="8915400" y="3666744"/>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findings, status</a:t>
            </a:r>
            <a:endParaRPr lang="en-US" sz="1200" dirty="0"/>
          </a:p>
        </p:txBody>
      </p:sp>
      <p:sp>
        <p:nvSpPr>
          <p:cNvPr id="35" name="Shape 32"/>
          <p:cNvSpPr/>
          <p:nvPr/>
        </p:nvSpPr>
        <p:spPr>
          <a:xfrm>
            <a:off x="7772400" y="4096512"/>
            <a:ext cx="3685032" cy="914"/>
          </a:xfrm>
          <a:prstGeom prst="line">
            <a:avLst/>
          </a:prstGeom>
          <a:noFill/>
          <a:ln w="6350">
            <a:solidFill>
              <a:srgbClr val="9FE1CB"/>
            </a:solidFill>
            <a:prstDash val="solid"/>
          </a:ln>
        </p:spPr>
      </p:sp>
      <p:sp>
        <p:nvSpPr>
          <p:cNvPr id="36" name="!!ck4"/>
          <p:cNvSpPr txBox="1"/>
          <p:nvPr/>
        </p:nvSpPr>
        <p:spPr>
          <a:xfrm>
            <a:off x="7772400" y="4142232"/>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Done when</a:t>
            </a:r>
            <a:endParaRPr lang="en-US" sz="1200" dirty="0"/>
          </a:p>
        </p:txBody>
      </p:sp>
      <p:sp>
        <p:nvSpPr>
          <p:cNvPr id="37" name="!!cv4"/>
          <p:cNvSpPr txBox="1"/>
          <p:nvPr/>
        </p:nvSpPr>
        <p:spPr>
          <a:xfrm>
            <a:off x="8915400" y="4142232"/>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the root-cause rows are identified, with evidence</a:t>
            </a:r>
            <a:endParaRPr lang="en-US" sz="1200" dirty="0"/>
          </a:p>
        </p:txBody>
      </p:sp>
      <p:sp>
        <p:nvSpPr>
          <p:cNvPr id="38" name="Shape 35"/>
          <p:cNvSpPr/>
          <p:nvPr/>
        </p:nvSpPr>
        <p:spPr>
          <a:xfrm>
            <a:off x="7772400" y="4572000"/>
            <a:ext cx="3685032" cy="914"/>
          </a:xfrm>
          <a:prstGeom prst="line">
            <a:avLst/>
          </a:prstGeom>
          <a:noFill/>
          <a:ln w="6350">
            <a:solidFill>
              <a:srgbClr val="9FE1CB"/>
            </a:solidFill>
            <a:prstDash val="solid"/>
          </a:ln>
        </p:spPr>
      </p:sp>
      <p:sp>
        <p:nvSpPr>
          <p:cNvPr id="39" name="!!ck5"/>
          <p:cNvSpPr txBox="1"/>
          <p:nvPr/>
        </p:nvSpPr>
        <p:spPr>
          <a:xfrm>
            <a:off x="7772400" y="4617720"/>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Limits</a:t>
            </a:r>
            <a:endParaRPr lang="en-US" sz="1200" dirty="0"/>
          </a:p>
        </p:txBody>
      </p:sp>
      <p:sp>
        <p:nvSpPr>
          <p:cNvPr id="40" name="!!cv5"/>
          <p:cNvSpPr txBox="1"/>
          <p:nvPr/>
        </p:nvSpPr>
        <p:spPr>
          <a:xfrm>
            <a:off x="8915400" y="4617720"/>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6 steps · 2 retries · 20k tokens</a:t>
            </a:r>
            <a:endParaRPr lang="en-US" sz="1200" dirty="0"/>
          </a:p>
        </p:txBody>
      </p:sp>
      <p:sp>
        <p:nvSpPr>
          <p:cNvPr id="41" name="Shape 38"/>
          <p:cNvSpPr/>
          <p:nvPr/>
        </p:nvSpPr>
        <p:spPr>
          <a:xfrm>
            <a:off x="7772400" y="5047488"/>
            <a:ext cx="3685032" cy="914"/>
          </a:xfrm>
          <a:prstGeom prst="line">
            <a:avLst/>
          </a:prstGeom>
          <a:noFill/>
          <a:ln w="6350">
            <a:solidFill>
              <a:srgbClr val="9FE1CB"/>
            </a:solidFill>
            <a:prstDash val="solid"/>
          </a:ln>
        </p:spPr>
      </p:sp>
      <p:sp>
        <p:nvSpPr>
          <p:cNvPr id="42" name="!!ck6"/>
          <p:cNvSpPr txBox="1"/>
          <p:nvPr/>
        </p:nvSpPr>
        <p:spPr>
          <a:xfrm>
            <a:off x="7772400" y="5093208"/>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Hands off to</a:t>
            </a:r>
            <a:endParaRPr lang="en-US" sz="1200" dirty="0"/>
          </a:p>
        </p:txBody>
      </p:sp>
      <p:sp>
        <p:nvSpPr>
          <p:cNvPr id="43" name="!!cv6"/>
          <p:cNvSpPr txBox="1"/>
          <p:nvPr/>
        </p:nvSpPr>
        <p:spPr>
          <a:xfrm>
            <a:off x="8915400" y="5093208"/>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Checker</a:t>
            </a:r>
            <a:endParaRPr lang="en-US" sz="1200" dirty="0"/>
          </a:p>
        </p:txBody>
      </p:sp>
      <p:sp>
        <p:nvSpPr>
          <p:cNvPr id="44" name="!!cardcap"/>
          <p:cNvSpPr txBox="1"/>
          <p:nvPr/>
        </p:nvSpPr>
        <p:spPr>
          <a:xfrm>
            <a:off x="7543800" y="5852160"/>
            <a:ext cx="4142232" cy="548640"/>
          </a:xfrm>
          <a:prstGeom prst="rect">
            <a:avLst/>
          </a:prstGeom>
          <a:noFill/>
          <a:ln/>
        </p:spPr>
        <p:txBody>
          <a:bodyPr wrap="square" lIns="0" tIns="0" rIns="0" bIns="0" rtlCol="0" anchor="t"/>
          <a:lstStyle/>
          <a:p>
            <a:pPr algn="l" indent="0" marL="0">
              <a:buNone/>
            </a:pPr>
            <a:r>
              <a:rPr lang="en-US" sz="1250" i="1" dirty="0">
                <a:solidFill>
                  <a:srgbClr val="5F5E5A"/>
                </a:solidFill>
                <a:latin typeface="Calibri" pitchFamily="34" charset="0"/>
                <a:ea typeface="Calibri" pitchFamily="34" charset="-122"/>
                <a:cs typeface="Calibri" pitchFamily="34" charset="-120"/>
              </a:rPr>
              <a:t>Write the role card before the code. If you can't fill it in, the agent's job isn't clear yet.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74320"/>
            <a:ext cx="10241280" cy="59436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LangChain and LangGraph</a:t>
            </a:r>
            <a:endParaRPr lang="en-US" sz="3000" dirty="0"/>
          </a:p>
        </p:txBody>
      </p:sp>
      <p:sp>
        <p:nvSpPr>
          <p:cNvPr id="3" name="!!sub"/>
          <p:cNvSpPr txBox="1"/>
          <p:nvPr/>
        </p:nvSpPr>
        <p:spPr>
          <a:xfrm>
            <a:off x="502920" y="868680"/>
            <a:ext cx="11155680" cy="320040"/>
          </a:xfrm>
          <a:prstGeom prst="rect">
            <a:avLst/>
          </a:prstGeom>
          <a:noFill/>
          <a:ln/>
        </p:spPr>
        <p:txBody>
          <a:bodyPr wrap="square" lIns="0" tIns="0" rIns="0" bIns="0" rtlCol="0" anchor="t"/>
          <a:lstStyle/>
          <a:p>
            <a:pPr algn="l" indent="0" marL="0">
              <a:buNone/>
            </a:pPr>
            <a:r>
              <a:rPr lang="en-US" sz="1500" dirty="0">
                <a:solidFill>
                  <a:srgbClr val="5F5E5A"/>
                </a:solidFill>
                <a:latin typeface="Calibri" pitchFamily="34" charset="0"/>
                <a:ea typeface="Calibri" pitchFamily="34" charset="-122"/>
                <a:cs typeface="Calibri" pitchFamily="34" charset="-120"/>
              </a:rPr>
              <a:t>LangChain gives you the parts. LangGraph wires them into a graph that shares one state.</a:t>
            </a:r>
            <a:endParaRPr lang="en-US" sz="1500" dirty="0"/>
          </a:p>
        </p:txBody>
      </p:sp>
      <p:sp>
        <p:nvSpPr>
          <p:cNvPr id="4" name="!!num"/>
          <p:cNvSpPr txBox="1"/>
          <p:nvPr/>
        </p:nvSpPr>
        <p:spPr>
          <a:xfrm>
            <a:off x="11064240" y="6446520"/>
            <a:ext cx="640080" cy="228600"/>
          </a:xfrm>
          <a:prstGeom prst="rect">
            <a:avLst/>
          </a:prstGeom>
          <a:noFill/>
          <a:ln/>
        </p:spPr>
        <p:txBody>
          <a:bodyPr wrap="square" lIns="0" tIns="0" rIns="0" bIns="0" rtlCol="0" anchor="t"/>
          <a:lstStyle/>
          <a:p>
            <a:pPr algn="r" indent="0" marL="0">
              <a:buNone/>
            </a:pPr>
            <a:r>
              <a:rPr lang="en-US" sz="1000" dirty="0">
                <a:solidFill>
                  <a:srgbClr val="888780"/>
                </a:solidFill>
                <a:latin typeface="Calibri" pitchFamily="34" charset="0"/>
                <a:ea typeface="Calibri" pitchFamily="34" charset="-122"/>
                <a:cs typeface="Calibri" pitchFamily="34" charset="-120"/>
              </a:rPr>
              <a:t>16a</a:t>
            </a:r>
            <a:endParaRPr lang="en-US" sz="1000" dirty="0"/>
          </a:p>
        </p:txBody>
      </p:sp>
      <p:sp>
        <p:nvSpPr>
          <p:cNvPr id="5" name="!!lcbox"/>
          <p:cNvSpPr/>
          <p:nvPr/>
        </p:nvSpPr>
        <p:spPr>
          <a:xfrm>
            <a:off x="502920" y="1371600"/>
            <a:ext cx="3520440" cy="1965960"/>
          </a:xfrm>
          <a:prstGeom prst="roundRect">
            <a:avLst>
              <a:gd name="adj" fmla="val 4651"/>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6" name="!!lcic" descr="/tmp/deck-icons/TbPuzzle_534AB7.png">    </p:cNvPr>
          <p:cNvPicPr>
            <a:picLocks noChangeAspect="1"/>
          </p:cNvPicPr>
          <p:nvPr/>
        </p:nvPicPr>
        <p:blipFill>
          <a:blip r:embed="rId1"/>
          <a:stretch>
            <a:fillRect/>
          </a:stretch>
        </p:blipFill>
        <p:spPr>
          <a:xfrm>
            <a:off x="685800" y="1517904"/>
            <a:ext cx="310896" cy="310896"/>
          </a:xfrm>
          <a:prstGeom prst="rect">
            <a:avLst/>
          </a:prstGeom>
        </p:spPr>
      </p:pic>
      <p:sp>
        <p:nvSpPr>
          <p:cNvPr id="7" name="!!lch"/>
          <p:cNvSpPr txBox="1"/>
          <p:nvPr/>
        </p:nvSpPr>
        <p:spPr>
          <a:xfrm>
            <a:off x="1069848" y="1499616"/>
            <a:ext cx="2834640" cy="365760"/>
          </a:xfrm>
          <a:prstGeom prst="rect">
            <a:avLst/>
          </a:prstGeom>
          <a:noFill/>
          <a:ln/>
        </p:spPr>
        <p:txBody>
          <a:bodyPr wrap="square" lIns="0" tIns="0" rIns="0" bIns="0" rtlCol="0" anchor="ctr"/>
          <a:lstStyle/>
          <a:p>
            <a:pPr algn="l" indent="0" marL="0">
              <a:buNone/>
            </a:pPr>
            <a:r>
              <a:rPr lang="en-US" sz="1500" b="1" dirty="0">
                <a:solidFill>
                  <a:srgbClr val="3C3489"/>
                </a:solidFill>
                <a:latin typeface="Calibri" pitchFamily="34" charset="0"/>
                <a:ea typeface="Calibri" pitchFamily="34" charset="-122"/>
                <a:cs typeface="Calibri" pitchFamily="34" charset="-120"/>
              </a:rPr>
              <a:t>LangChain · the building blocks</a:t>
            </a:r>
            <a:endParaRPr lang="en-US" sz="1500" dirty="0"/>
          </a:p>
        </p:txBody>
      </p:sp>
      <p:sp>
        <p:nvSpPr>
          <p:cNvPr id="8" name="!!lcb"/>
          <p:cNvSpPr txBox="1"/>
          <p:nvPr/>
        </p:nvSpPr>
        <p:spPr>
          <a:xfrm>
            <a:off x="685800" y="1920240"/>
            <a:ext cx="3200400" cy="1325880"/>
          </a:xfrm>
          <a:prstGeom prst="rect">
            <a:avLst/>
          </a:prstGeom>
          <a:noFill/>
          <a:ln/>
        </p:spPr>
        <p:txBody>
          <a:bodyPr wrap="square" lIns="0" tIns="0" rIns="0" bIns="0" rtlCol="0" anchor="t"/>
          <a:lstStyle/>
          <a:p>
            <a:pPr algn="l" marL="342900" indent="-342900">
              <a:spcAft>
                <a:spcPts val="400"/>
              </a:spcAft>
              <a:buSzPct val="100000"/>
              <a:buChar char="•"/>
            </a:pPr>
            <a:r>
              <a:rPr lang="en-US" sz="1250" dirty="0">
                <a:solidFill>
                  <a:srgbClr val="2C2C2A"/>
                </a:solidFill>
                <a:latin typeface="Calibri" pitchFamily="34" charset="0"/>
                <a:ea typeface="Calibri" pitchFamily="34" charset="-122"/>
                <a:cs typeface="Calibri" pitchFamily="34" charset="-120"/>
              </a:rPr>
              <a:t>One interface for chat models (e.g. ChatGroq, ChatAnthropic)</a:t>
            </a:r>
            <a:endParaRPr lang="en-US" sz="1250" dirty="0"/>
          </a:p>
          <a:p>
            <a:pPr algn="l" marL="342900" indent="-342900">
              <a:spcAft>
                <a:spcPts val="400"/>
              </a:spcAft>
              <a:buSzPct val="100000"/>
              <a:buChar char="•"/>
            </a:pPr>
            <a:r>
              <a:rPr lang="en-US" sz="1250" dirty="0">
                <a:solidFill>
                  <a:srgbClr val="2C2C2A"/>
                </a:solidFill>
                <a:latin typeface="Calibri" pitchFamily="34" charset="0"/>
                <a:ea typeface="Calibri" pitchFamily="34" charset="-122"/>
                <a:cs typeface="Calibri" pitchFamily="34" charset="-120"/>
              </a:rPr>
              <a:t>Prompts, tools (@tool) and structured output</a:t>
            </a:r>
            <a:endParaRPr lang="en-US" sz="1250" dirty="0"/>
          </a:p>
          <a:p>
            <a:pPr algn="l" marL="342900" indent="-342900">
              <a:spcAft>
                <a:spcPts val="400"/>
              </a:spcAft>
              <a:buSzPct val="100000"/>
              <a:buChar char="•"/>
            </a:pPr>
            <a:r>
              <a:rPr lang="en-US" sz="1250" dirty="0">
                <a:solidFill>
                  <a:srgbClr val="2C2C2A"/>
                </a:solidFill>
                <a:latin typeface="Calibri" pitchFamily="34" charset="0"/>
                <a:ea typeface="Calibri" pitchFamily="34" charset="-122"/>
                <a:cs typeface="Calibri" pitchFamily="34" charset="-120"/>
              </a:rPr>
              <a:t>create_agent: a ready-made agent loop</a:t>
            </a:r>
            <a:endParaRPr lang="en-US" sz="1250" dirty="0"/>
          </a:p>
        </p:txBody>
      </p:sp>
      <p:sp>
        <p:nvSpPr>
          <p:cNvPr id="9" name="!!lgbox"/>
          <p:cNvSpPr/>
          <p:nvPr/>
        </p:nvSpPr>
        <p:spPr>
          <a:xfrm>
            <a:off x="502920" y="3520440"/>
            <a:ext cx="3520440" cy="1965960"/>
          </a:xfrm>
          <a:prstGeom prst="roundRect">
            <a:avLst>
              <a:gd name="adj" fmla="val 4651"/>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0" name="!!lgic" descr="/tmp/deck-icons/TbGitBranch_0F6E56.png">    </p:cNvPr>
          <p:cNvPicPr>
            <a:picLocks noChangeAspect="1"/>
          </p:cNvPicPr>
          <p:nvPr/>
        </p:nvPicPr>
        <p:blipFill>
          <a:blip r:embed="rId2"/>
          <a:stretch>
            <a:fillRect/>
          </a:stretch>
        </p:blipFill>
        <p:spPr>
          <a:xfrm>
            <a:off x="685800" y="3666744"/>
            <a:ext cx="310896" cy="310896"/>
          </a:xfrm>
          <a:prstGeom prst="rect">
            <a:avLst/>
          </a:prstGeom>
        </p:spPr>
      </p:pic>
      <p:sp>
        <p:nvSpPr>
          <p:cNvPr id="11" name="!!lgh"/>
          <p:cNvSpPr txBox="1"/>
          <p:nvPr/>
        </p:nvSpPr>
        <p:spPr>
          <a:xfrm>
            <a:off x="1069848" y="3648456"/>
            <a:ext cx="2834640" cy="365760"/>
          </a:xfrm>
          <a:prstGeom prst="rect">
            <a:avLst/>
          </a:prstGeom>
          <a:noFill/>
          <a:ln/>
        </p:spPr>
        <p:txBody>
          <a:bodyPr wrap="square" lIns="0" tIns="0" rIns="0" bIns="0" rtlCol="0" anchor="ctr"/>
          <a:lstStyle/>
          <a:p>
            <a:pPr algn="l" indent="0" marL="0">
              <a:buNone/>
            </a:pPr>
            <a:r>
              <a:rPr lang="en-US" sz="1500" b="1" dirty="0">
                <a:solidFill>
                  <a:srgbClr val="085041"/>
                </a:solidFill>
                <a:latin typeface="Calibri" pitchFamily="34" charset="0"/>
                <a:ea typeface="Calibri" pitchFamily="34" charset="-122"/>
                <a:cs typeface="Calibri" pitchFamily="34" charset="-120"/>
              </a:rPr>
              <a:t>LangGraph · the orchestration</a:t>
            </a:r>
            <a:endParaRPr lang="en-US" sz="1500" dirty="0"/>
          </a:p>
        </p:txBody>
      </p:sp>
      <p:sp>
        <p:nvSpPr>
          <p:cNvPr id="12" name="!!lgb"/>
          <p:cNvSpPr txBox="1"/>
          <p:nvPr/>
        </p:nvSpPr>
        <p:spPr>
          <a:xfrm>
            <a:off x="685800" y="4069080"/>
            <a:ext cx="3200400" cy="1325880"/>
          </a:xfrm>
          <a:prstGeom prst="rect">
            <a:avLst/>
          </a:prstGeom>
          <a:noFill/>
          <a:ln/>
        </p:spPr>
        <p:txBody>
          <a:bodyPr wrap="square" lIns="0" tIns="0" rIns="0" bIns="0" rtlCol="0" anchor="t"/>
          <a:lstStyle/>
          <a:p>
            <a:pPr algn="l" marL="342900" indent="-342900">
              <a:spcAft>
                <a:spcPts val="400"/>
              </a:spcAft>
              <a:buSzPct val="100000"/>
              <a:buChar char="•"/>
            </a:pPr>
            <a:r>
              <a:rPr lang="en-US" sz="1250" dirty="0">
                <a:solidFill>
                  <a:srgbClr val="2C2C2A"/>
                </a:solidFill>
                <a:latin typeface="Calibri" pitchFamily="34" charset="0"/>
                <a:ea typeface="Calibri" pitchFamily="34" charset="-122"/>
                <a:cs typeface="Calibri" pitchFamily="34" charset="-120"/>
              </a:rPr>
              <a:t>Describe the system as nodes + edges over a shared state</a:t>
            </a:r>
            <a:endParaRPr lang="en-US" sz="1250" dirty="0"/>
          </a:p>
          <a:p>
            <a:pPr algn="l" marL="342900" indent="-342900">
              <a:spcAft>
                <a:spcPts val="400"/>
              </a:spcAft>
              <a:buSzPct val="100000"/>
              <a:buChar char="•"/>
            </a:pPr>
            <a:r>
              <a:rPr lang="en-US" sz="1250" dirty="0">
                <a:solidFill>
                  <a:srgbClr val="2C2C2A"/>
                </a:solidFill>
                <a:latin typeface="Calibri" pitchFamily="34" charset="0"/>
                <a:ea typeface="Calibri" pitchFamily="34" charset="-122"/>
                <a:cs typeface="Calibri" pitchFamily="34" charset="-120"/>
              </a:rPr>
              <a:t>Loops and branching (conditional edges)</a:t>
            </a:r>
            <a:endParaRPr lang="en-US" sz="1250" dirty="0"/>
          </a:p>
          <a:p>
            <a:pPr algn="l" marL="342900" indent="-342900">
              <a:spcAft>
                <a:spcPts val="400"/>
              </a:spcAft>
              <a:buSzPct val="100000"/>
              <a:buChar char="•"/>
            </a:pPr>
            <a:r>
              <a:rPr lang="en-US" sz="1250" dirty="0">
                <a:solidFill>
                  <a:srgbClr val="2C2C2A"/>
                </a:solidFill>
                <a:latin typeface="Calibri" pitchFamily="34" charset="0"/>
                <a:ea typeface="Calibri" pitchFamily="34" charset="-122"/>
                <a:cs typeface="Calibri" pitchFamily="34" charset="-120"/>
              </a:rPr>
              <a:t>Checkpoints: resume, and pause for a human</a:t>
            </a:r>
            <a:endParaRPr lang="en-US" sz="1250" dirty="0"/>
          </a:p>
        </p:txBody>
      </p:sp>
      <p:sp>
        <p:nvSpPr>
          <p:cNvPr id="13" name="!!gt"/>
          <p:cNvSpPr txBox="1"/>
          <p:nvPr/>
        </p:nvSpPr>
        <p:spPr>
          <a:xfrm>
            <a:off x="4343400" y="1371600"/>
            <a:ext cx="2697480" cy="274320"/>
          </a:xfrm>
          <a:prstGeom prst="rect">
            <a:avLst/>
          </a:prstGeom>
          <a:noFill/>
          <a:ln/>
        </p:spPr>
        <p:txBody>
          <a:bodyPr wrap="square" lIns="0" tIns="0" rIns="0" bIns="0" rtlCol="0" anchor="t"/>
          <a:lstStyle/>
          <a:p>
            <a:pPr algn="ctr" indent="0" marL="0">
              <a:buNone/>
            </a:pPr>
            <a:r>
              <a:rPr lang="en-US" sz="1300" b="1" dirty="0">
                <a:solidFill>
                  <a:srgbClr val="5F5E5A"/>
                </a:solidFill>
                <a:latin typeface="Calibri" pitchFamily="34" charset="0"/>
                <a:ea typeface="Calibri" pitchFamily="34" charset="-122"/>
                <a:cs typeface="Calibri" pitchFamily="34" charset="-120"/>
              </a:rPr>
              <a:t>The graph</a:t>
            </a:r>
            <a:endParaRPr lang="en-US" sz="1300" dirty="0"/>
          </a:p>
        </p:txBody>
      </p:sp>
      <p:sp>
        <p:nvSpPr>
          <p:cNvPr id="14" name="!!gs"/>
          <p:cNvSpPr/>
          <p:nvPr/>
        </p:nvSpPr>
        <p:spPr>
          <a:xfrm>
            <a:off x="5189220" y="1719072"/>
            <a:ext cx="1005840" cy="329184"/>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100" b="1" dirty="0">
                <a:solidFill>
                  <a:srgbClr val="2C2C2A"/>
                </a:solidFill>
                <a:latin typeface="Consolas" pitchFamily="34" charset="0"/>
                <a:ea typeface="Consolas" pitchFamily="34" charset="-122"/>
                <a:cs typeface="Consolas" pitchFamily="34" charset="-120"/>
              </a:rPr>
              <a:t>START</a:t>
            </a:r>
            <a:endParaRPr lang="en-US" sz="1100" dirty="0"/>
          </a:p>
        </p:txBody>
      </p:sp>
      <p:sp>
        <p:nvSpPr>
          <p:cNvPr id="15" name="!!ge1"/>
          <p:cNvSpPr/>
          <p:nvPr/>
        </p:nvSpPr>
        <p:spPr>
          <a:xfrm>
            <a:off x="5692140" y="2048256"/>
            <a:ext cx="914" cy="292608"/>
          </a:xfrm>
          <a:prstGeom prst="line">
            <a:avLst/>
          </a:prstGeom>
          <a:noFill/>
          <a:ln w="15875">
            <a:solidFill>
              <a:srgbClr val="5F5E5A"/>
            </a:solidFill>
            <a:prstDash val="solid"/>
            <a:tailEnd type="triangle"/>
          </a:ln>
        </p:spPr>
      </p:sp>
      <p:sp>
        <p:nvSpPr>
          <p:cNvPr id="16" name="!!gw"/>
          <p:cNvSpPr/>
          <p:nvPr/>
        </p:nvSpPr>
        <p:spPr>
          <a:xfrm>
            <a:off x="4823460" y="2377440"/>
            <a:ext cx="1737360" cy="658368"/>
          </a:xfrm>
          <a:prstGeom prst="roundRect">
            <a:avLst>
              <a:gd name="adj" fmla="val 11111"/>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400" b="1" dirty="0">
                <a:solidFill>
                  <a:srgbClr val="085041"/>
                </a:solidFill>
                <a:latin typeface="Calibri" pitchFamily="34" charset="0"/>
                <a:ea typeface="Calibri" pitchFamily="34" charset="-122"/>
                <a:cs typeface="Calibri" pitchFamily="34" charset="-120"/>
              </a:rPr>
              <a:t>worker</a:t>
            </a:r>
            <a:endParaRPr lang="en-US" sz="1200" dirty="0"/>
          </a:p>
          <a:p>
            <a:pPr algn="ctr" indent="0" marL="0">
              <a:buNone/>
            </a:pPr>
            <a:r>
              <a:rPr lang="en-US" sz="1100" dirty="0">
                <a:solidFill>
                  <a:srgbClr val="085041"/>
                </a:solidFill>
                <a:latin typeface="Calibri" pitchFamily="34" charset="0"/>
                <a:ea typeface="Calibri" pitchFamily="34" charset="-122"/>
                <a:cs typeface="Calibri" pitchFamily="34" charset="-120"/>
              </a:rPr>
              <a:t>node · does the job</a:t>
            </a:r>
            <a:endParaRPr lang="en-US" sz="1200" dirty="0"/>
          </a:p>
        </p:txBody>
      </p:sp>
      <p:sp>
        <p:nvSpPr>
          <p:cNvPr id="17" name="!!ge2"/>
          <p:cNvSpPr/>
          <p:nvPr/>
        </p:nvSpPr>
        <p:spPr>
          <a:xfrm>
            <a:off x="5692140" y="3035808"/>
            <a:ext cx="914" cy="384048"/>
          </a:xfrm>
          <a:prstGeom prst="line">
            <a:avLst/>
          </a:prstGeom>
          <a:noFill/>
          <a:ln w="15875">
            <a:solidFill>
              <a:srgbClr val="5F5E5A"/>
            </a:solidFill>
            <a:prstDash val="solid"/>
            <a:tailEnd type="triangle"/>
          </a:ln>
        </p:spPr>
      </p:sp>
      <p:sp>
        <p:nvSpPr>
          <p:cNvPr id="18" name="!!gc"/>
          <p:cNvSpPr/>
          <p:nvPr/>
        </p:nvSpPr>
        <p:spPr>
          <a:xfrm>
            <a:off x="4823460" y="3456432"/>
            <a:ext cx="1737360" cy="658368"/>
          </a:xfrm>
          <a:prstGeom prst="roundRect">
            <a:avLst>
              <a:gd name="adj" fmla="val 11111"/>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400" b="1" dirty="0">
                <a:solidFill>
                  <a:srgbClr val="712B13"/>
                </a:solidFill>
                <a:latin typeface="Calibri" pitchFamily="34" charset="0"/>
                <a:ea typeface="Calibri" pitchFamily="34" charset="-122"/>
                <a:cs typeface="Calibri" pitchFamily="34" charset="-120"/>
              </a:rPr>
              <a:t>checker</a:t>
            </a:r>
            <a:endParaRPr lang="en-US" sz="1200" dirty="0"/>
          </a:p>
          <a:p>
            <a:pPr algn="ctr" indent="0" marL="0">
              <a:buNone/>
            </a:pPr>
            <a:r>
              <a:rPr lang="en-US" sz="1100" dirty="0">
                <a:solidFill>
                  <a:srgbClr val="712B13"/>
                </a:solidFill>
                <a:latin typeface="Calibri" pitchFamily="34" charset="0"/>
                <a:ea typeface="Calibri" pitchFamily="34" charset="-122"/>
                <a:cs typeface="Calibri" pitchFamily="34" charset="-120"/>
              </a:rPr>
              <a:t>node · verifies</a:t>
            </a:r>
            <a:endParaRPr lang="en-US" sz="1200" dirty="0"/>
          </a:p>
        </p:txBody>
      </p:sp>
      <p:sp>
        <p:nvSpPr>
          <p:cNvPr id="19" name="!!ge3"/>
          <p:cNvSpPr/>
          <p:nvPr/>
        </p:nvSpPr>
        <p:spPr>
          <a:xfrm>
            <a:off x="5692140" y="4114800"/>
            <a:ext cx="914" cy="438912"/>
          </a:xfrm>
          <a:prstGeom prst="line">
            <a:avLst/>
          </a:prstGeom>
          <a:noFill/>
          <a:ln w="15875">
            <a:solidFill>
              <a:srgbClr val="5F5E5A"/>
            </a:solidFill>
            <a:prstDash val="solid"/>
            <a:tailEnd type="triangle"/>
          </a:ln>
        </p:spPr>
      </p:sp>
      <p:sp>
        <p:nvSpPr>
          <p:cNvPr id="20" name="!!gpass"/>
          <p:cNvSpPr txBox="1"/>
          <p:nvPr/>
        </p:nvSpPr>
        <p:spPr>
          <a:xfrm>
            <a:off x="5765292" y="4187952"/>
            <a:ext cx="548640" cy="274320"/>
          </a:xfrm>
          <a:prstGeom prst="rect">
            <a:avLst/>
          </a:prstGeom>
          <a:noFill/>
          <a:ln/>
        </p:spPr>
        <p:txBody>
          <a:bodyPr wrap="square" lIns="0" tIns="0" rIns="0" bIns="0" rtlCol="0" anchor="t"/>
          <a:lstStyle/>
          <a:p>
            <a:pPr algn="l" indent="0" marL="0">
              <a:buNone/>
            </a:pPr>
            <a:r>
              <a:rPr lang="en-US" sz="1100" b="1" dirty="0">
                <a:solidFill>
                  <a:srgbClr val="085041"/>
                </a:solidFill>
                <a:latin typeface="Calibri" pitchFamily="34" charset="0"/>
                <a:ea typeface="Calibri" pitchFamily="34" charset="-122"/>
                <a:cs typeface="Calibri" pitchFamily="34" charset="-120"/>
              </a:rPr>
              <a:t>pass</a:t>
            </a:r>
            <a:endParaRPr lang="en-US" sz="1100" dirty="0"/>
          </a:p>
        </p:txBody>
      </p:sp>
      <p:sp>
        <p:nvSpPr>
          <p:cNvPr id="21" name="!!gend"/>
          <p:cNvSpPr/>
          <p:nvPr/>
        </p:nvSpPr>
        <p:spPr>
          <a:xfrm>
            <a:off x="5189220" y="4590288"/>
            <a:ext cx="1005840" cy="329184"/>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100" b="1" dirty="0">
                <a:solidFill>
                  <a:srgbClr val="2C2C2A"/>
                </a:solidFill>
                <a:latin typeface="Consolas" pitchFamily="34" charset="0"/>
                <a:ea typeface="Consolas" pitchFamily="34" charset="-122"/>
                <a:cs typeface="Consolas" pitchFamily="34" charset="-120"/>
              </a:rPr>
              <a:t>END</a:t>
            </a:r>
            <a:endParaRPr lang="en-US" sz="1100" dirty="0"/>
          </a:p>
        </p:txBody>
      </p:sp>
      <p:sp>
        <p:nvSpPr>
          <p:cNvPr id="22" name="!!gf1"/>
          <p:cNvSpPr/>
          <p:nvPr/>
        </p:nvSpPr>
        <p:spPr>
          <a:xfrm flipH="1">
            <a:off x="4453128" y="3785616"/>
            <a:ext cx="370332" cy="914"/>
          </a:xfrm>
          <a:prstGeom prst="line">
            <a:avLst/>
          </a:prstGeom>
          <a:noFill/>
          <a:ln w="15875">
            <a:solidFill>
              <a:srgbClr val="993C1D"/>
            </a:solidFill>
            <a:prstDash val="dash"/>
          </a:ln>
        </p:spPr>
      </p:sp>
      <p:sp>
        <p:nvSpPr>
          <p:cNvPr id="23" name="!!gf2"/>
          <p:cNvSpPr/>
          <p:nvPr/>
        </p:nvSpPr>
        <p:spPr>
          <a:xfrm flipV="1">
            <a:off x="4453128" y="2706624"/>
            <a:ext cx="914" cy="1078992"/>
          </a:xfrm>
          <a:prstGeom prst="line">
            <a:avLst/>
          </a:prstGeom>
          <a:noFill/>
          <a:ln w="15875">
            <a:solidFill>
              <a:srgbClr val="993C1D"/>
            </a:solidFill>
            <a:prstDash val="dash"/>
          </a:ln>
        </p:spPr>
      </p:sp>
      <p:sp>
        <p:nvSpPr>
          <p:cNvPr id="24" name="!!gf3"/>
          <p:cNvSpPr/>
          <p:nvPr/>
        </p:nvSpPr>
        <p:spPr>
          <a:xfrm>
            <a:off x="4453128" y="2706624"/>
            <a:ext cx="352044" cy="914"/>
          </a:xfrm>
          <a:prstGeom prst="line">
            <a:avLst/>
          </a:prstGeom>
          <a:noFill/>
          <a:ln w="15875">
            <a:solidFill>
              <a:srgbClr val="993C1D"/>
            </a:solidFill>
            <a:prstDash val="dash"/>
            <a:tailEnd type="triangle"/>
          </a:ln>
        </p:spPr>
      </p:sp>
      <p:sp>
        <p:nvSpPr>
          <p:cNvPr id="25" name="!!gfail"/>
          <p:cNvSpPr txBox="1"/>
          <p:nvPr/>
        </p:nvSpPr>
        <p:spPr>
          <a:xfrm>
            <a:off x="4526280" y="3090672"/>
            <a:ext cx="548640" cy="274320"/>
          </a:xfrm>
          <a:prstGeom prst="rect">
            <a:avLst/>
          </a:prstGeom>
          <a:noFill/>
          <a:ln/>
        </p:spPr>
        <p:txBody>
          <a:bodyPr wrap="square" lIns="0" tIns="0" rIns="0" bIns="0" rtlCol="0" anchor="t"/>
          <a:lstStyle/>
          <a:p>
            <a:pPr algn="l" indent="0" marL="0">
              <a:buNone/>
            </a:pPr>
            <a:r>
              <a:rPr lang="en-US" sz="1100" b="1" dirty="0">
                <a:solidFill>
                  <a:srgbClr val="712B13"/>
                </a:solidFill>
                <a:latin typeface="Calibri" pitchFamily="34" charset="0"/>
                <a:ea typeface="Calibri" pitchFamily="34" charset="-122"/>
                <a:cs typeface="Calibri" pitchFamily="34" charset="-120"/>
              </a:rPr>
              <a:t>fail</a:t>
            </a:r>
            <a:endParaRPr lang="en-US" sz="1100" dirty="0"/>
          </a:p>
        </p:txBody>
      </p:sp>
      <p:sp>
        <p:nvSpPr>
          <p:cNvPr id="26" name="!!gstate"/>
          <p:cNvSpPr/>
          <p:nvPr/>
        </p:nvSpPr>
        <p:spPr>
          <a:xfrm>
            <a:off x="4343400" y="5138928"/>
            <a:ext cx="2697480" cy="347472"/>
          </a:xfrm>
          <a:prstGeom prst="roundRect">
            <a:avLst>
              <a:gd name="adj" fmla="val 15789"/>
            </a:avLst>
          </a:prstGeom>
          <a:solidFill>
            <a:srgbClr val="EEEDFE"/>
          </a:solidFill>
          <a:ln w="12700">
            <a:solidFill>
              <a:srgbClr val="534AB7"/>
            </a:solidFill>
            <a:prstDash val="solid"/>
          </a:ln>
        </p:spPr>
        <p:txBody>
          <a:bodyPr wrap="square" lIns="25400" tIns="25400" rIns="25400" bIns="25400" rtlCol="0" anchor="ctr"/>
          <a:lstStyle/>
          <a:p>
            <a:pPr algn="ctr" indent="0" marL="0">
              <a:buNone/>
            </a:pPr>
            <a:r>
              <a:rPr lang="en-US" sz="1150" b="1" dirty="0">
                <a:solidFill>
                  <a:srgbClr val="3C3489"/>
                </a:solidFill>
                <a:latin typeface="Calibri" pitchFamily="34" charset="0"/>
                <a:ea typeface="Calibri" pitchFamily="34" charset="-122"/>
                <a:cs typeface="Calibri" pitchFamily="34" charset="-120"/>
              </a:rPr>
              <a:t>State  </a:t>
            </a:r>
            <a:pPr algn="ctr" indent="0" marL="0">
              <a:buNone/>
            </a:pPr>
            <a:r>
              <a:rPr lang="en-US" sz="1000" dirty="0">
                <a:solidFill>
                  <a:srgbClr val="3C3489"/>
                </a:solidFill>
                <a:latin typeface="Consolas" pitchFamily="34" charset="0"/>
                <a:ea typeface="Consolas" pitchFamily="34" charset="-122"/>
                <a:cs typeface="Consolas" pitchFamily="34" charset="-120"/>
              </a:rPr>
              <a:t>{ticket, result, status}</a:t>
            </a:r>
            <a:endParaRPr lang="en-US" sz="1150" dirty="0"/>
          </a:p>
        </p:txBody>
      </p:sp>
      <p:sp>
        <p:nvSpPr>
          <p:cNvPr id="27" name="!!codebox"/>
          <p:cNvSpPr/>
          <p:nvPr/>
        </p:nvSpPr>
        <p:spPr>
          <a:xfrm>
            <a:off x="7315200" y="1371600"/>
            <a:ext cx="4370832" cy="4114800"/>
          </a:xfrm>
          <a:prstGeom prst="roundRect">
            <a:avLst>
              <a:gd name="adj" fmla="val 1333"/>
            </a:avLst>
          </a:prstGeom>
          <a:solidFill>
            <a:srgbClr val="F7F6F2"/>
          </a:solidFill>
          <a:ln w="9525">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28" name="!!code"/>
          <p:cNvSpPr txBox="1"/>
          <p:nvPr/>
        </p:nvSpPr>
        <p:spPr>
          <a:xfrm>
            <a:off x="7479792" y="1481328"/>
            <a:ext cx="4096512" cy="3931920"/>
          </a:xfrm>
          <a:prstGeom prst="rect">
            <a:avLst/>
          </a:prstGeom>
          <a:noFill/>
          <a:ln/>
        </p:spPr>
        <p:txBody>
          <a:bodyPr wrap="square" lIns="0" tIns="0" rIns="0" bIns="0" rtlCol="0" anchor="t"/>
          <a:lstStyle/>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from typing import TypedDict</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from langgraph.graph import StateGraph, START, END</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class State(TypedDict):</a:t>
            </a:r>
            <a:pPr algn="l" indent="0" marL="0">
              <a:lnSpc>
                <a:spcPct val="98000"/>
              </a:lnSpc>
              <a:buNone/>
            </a:pPr>
            <a:r>
              <a:rPr lang="en-US" sz="950" dirty="0">
                <a:solidFill>
                  <a:srgbClr val="0F6E56"/>
                </a:solidFill>
                <a:latin typeface="Consolas" pitchFamily="34" charset="0"/>
                <a:ea typeface="Consolas" pitchFamily="34" charset="-122"/>
                <a:cs typeface="Consolas" pitchFamily="34" charset="-120"/>
              </a:rPr>
              <a:t>  # shared state</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ticket: str</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result: str</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status: str</a:t>
            </a:r>
            <a:pPr algn="l" indent="0" marL="0">
              <a:lnSpc>
                <a:spcPct val="98000"/>
              </a:lnSpc>
              <a:buNone/>
            </a:pPr>
            <a:r>
              <a:rPr lang="en-US" sz="950" dirty="0">
                <a:solidFill>
                  <a:srgbClr val="0F6E56"/>
                </a:solidFill>
                <a:latin typeface="Consolas" pitchFamily="34" charset="0"/>
                <a:ea typeface="Consolas" pitchFamily="34" charset="-122"/>
                <a:cs typeface="Consolas" pitchFamily="34" charset="-120"/>
              </a:rPr>
              <a:t>  # "pass" | "fail"</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def worker(state: State) -&gt; dict:</a:t>
            </a:r>
            <a:pPr algn="l" indent="0" marL="0">
              <a:lnSpc>
                <a:spcPct val="98000"/>
              </a:lnSpc>
              <a:buNone/>
            </a:pPr>
            <a:r>
              <a:rPr lang="en-US" sz="950" dirty="0">
                <a:solidFill>
                  <a:srgbClr val="0F6E56"/>
                </a:solidFill>
                <a:latin typeface="Consolas" pitchFamily="34" charset="0"/>
                <a:ea typeface="Consolas" pitchFamily="34" charset="-122"/>
                <a:cs typeface="Consolas" pitchFamily="34" charset="-120"/>
              </a:rPr>
              <a:t>  # a node</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return {"result": fix(state["ticket"])}</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def checker(state: State) -&gt; dict:</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ok = verify(state["result"])</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return {"status": "pass" if ok else "fail"}</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g = StateGraph(State)</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g.add_node("worker", worker)</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g.add_node("checker", checker)</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g.add_edge(START, "worker")</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g.add_edge("worker", "checker")</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g.add_conditional_edges("checker",</a:t>
            </a:r>
            <a:pPr algn="l" indent="0" marL="0">
              <a:lnSpc>
                <a:spcPct val="98000"/>
              </a:lnSpc>
              <a:buNone/>
            </a:pPr>
            <a:r>
              <a:rPr lang="en-US" sz="950" dirty="0">
                <a:solidFill>
                  <a:srgbClr val="0F6E56"/>
                </a:solidFill>
                <a:latin typeface="Consolas" pitchFamily="34" charset="0"/>
                <a:ea typeface="Consolas" pitchFamily="34" charset="-122"/>
                <a:cs typeface="Consolas" pitchFamily="34" charset="-120"/>
              </a:rPr>
              <a:t>  # route on status</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lambda s: END if s["status"] == "pass"</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else "worker")</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app = g.compile()</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app.invoke({"ticket": "4521"}, {"recursion_limit": 10})</a:t>
            </a:r>
            <a:endParaRPr lang="en-US" sz="950" dirty="0"/>
          </a:p>
        </p:txBody>
      </p:sp>
      <p:sp>
        <p:nvSpPr>
          <p:cNvPr id="29" name="!!k0"/>
          <p:cNvSpPr/>
          <p:nvPr/>
        </p:nvSpPr>
        <p:spPr>
          <a:xfrm>
            <a:off x="502920" y="5715000"/>
            <a:ext cx="1772412" cy="603504"/>
          </a:xfrm>
          <a:prstGeom prst="roundRect">
            <a:avLst>
              <a:gd name="adj" fmla="val 12121"/>
            </a:avLst>
          </a:prstGeom>
          <a:solidFill>
            <a:srgbClr val="FFFFFF"/>
          </a:solidFill>
          <a:ln w="12700">
            <a:solidFill>
              <a:srgbClr val="D3D1C7"/>
            </a:solidFill>
            <a:prstDash val="solid"/>
          </a:ln>
        </p:spPr>
        <p:txBody>
          <a:bodyPr wrap="square" lIns="50800" tIns="50800" rIns="50800" bIns="50800" rtlCol="0" anchor="ctr"/>
          <a:lstStyle/>
          <a:p>
            <a:pPr algn="ctr" indent="0" marL="0">
              <a:buNone/>
            </a:pPr>
            <a:r>
              <a:rPr lang="en-US" sz="1250" b="1" dirty="0">
                <a:solidFill>
                  <a:srgbClr val="3C3489"/>
                </a:solidFill>
                <a:latin typeface="Calibri" pitchFamily="34" charset="0"/>
                <a:ea typeface="Calibri" pitchFamily="34" charset="-122"/>
                <a:cs typeface="Calibri" pitchFamily="34" charset="-120"/>
              </a:rPr>
              <a:t>State</a:t>
            </a:r>
            <a:endParaRPr lang="en-US" sz="1200" dirty="0"/>
          </a:p>
          <a:p>
            <a:pPr algn="ctr" indent="0" marL="0">
              <a:buNone/>
            </a:pPr>
            <a:r>
              <a:rPr lang="en-US" sz="1150" dirty="0">
                <a:solidFill>
                  <a:srgbClr val="5F5E5A"/>
                </a:solidFill>
                <a:latin typeface="Calibri" pitchFamily="34" charset="0"/>
                <a:ea typeface="Calibri" pitchFamily="34" charset="-122"/>
                <a:cs typeface="Calibri" pitchFamily="34" charset="-120"/>
              </a:rPr>
              <a:t>the shared state</a:t>
            </a:r>
            <a:endParaRPr lang="en-US" sz="1200" dirty="0"/>
          </a:p>
        </p:txBody>
      </p:sp>
      <p:sp>
        <p:nvSpPr>
          <p:cNvPr id="30" name="!!k1"/>
          <p:cNvSpPr/>
          <p:nvPr/>
        </p:nvSpPr>
        <p:spPr>
          <a:xfrm>
            <a:off x="2385060" y="5715000"/>
            <a:ext cx="1772412" cy="603504"/>
          </a:xfrm>
          <a:prstGeom prst="roundRect">
            <a:avLst>
              <a:gd name="adj" fmla="val 12121"/>
            </a:avLst>
          </a:prstGeom>
          <a:solidFill>
            <a:srgbClr val="FFFFFF"/>
          </a:solidFill>
          <a:ln w="12700">
            <a:solidFill>
              <a:srgbClr val="D3D1C7"/>
            </a:solidFill>
            <a:prstDash val="solid"/>
          </a:ln>
        </p:spPr>
        <p:txBody>
          <a:bodyPr wrap="square" lIns="50800" tIns="50800" rIns="50800" bIns="50800" rtlCol="0" anchor="ctr"/>
          <a:lstStyle/>
          <a:p>
            <a:pPr algn="ctr" indent="0" marL="0">
              <a:buNone/>
            </a:pPr>
            <a:r>
              <a:rPr lang="en-US" sz="1250" b="1" dirty="0">
                <a:solidFill>
                  <a:srgbClr val="3C3489"/>
                </a:solidFill>
                <a:latin typeface="Calibri" pitchFamily="34" charset="0"/>
                <a:ea typeface="Calibri" pitchFamily="34" charset="-122"/>
                <a:cs typeface="Calibri" pitchFamily="34" charset="-120"/>
              </a:rPr>
              <a:t>Node</a:t>
            </a:r>
            <a:endParaRPr lang="en-US" sz="1200" dirty="0"/>
          </a:p>
          <a:p>
            <a:pPr algn="ctr" indent="0" marL="0">
              <a:buNone/>
            </a:pPr>
            <a:r>
              <a:rPr lang="en-US" sz="1150" dirty="0">
                <a:solidFill>
                  <a:srgbClr val="5F5E5A"/>
                </a:solidFill>
                <a:latin typeface="Calibri" pitchFamily="34" charset="0"/>
                <a:ea typeface="Calibri" pitchFamily="34" charset="-122"/>
                <a:cs typeface="Calibri" pitchFamily="34" charset="-120"/>
              </a:rPr>
              <a:t>one agent or step</a:t>
            </a:r>
            <a:endParaRPr lang="en-US" sz="1200" dirty="0"/>
          </a:p>
        </p:txBody>
      </p:sp>
      <p:sp>
        <p:nvSpPr>
          <p:cNvPr id="31" name="!!k2"/>
          <p:cNvSpPr/>
          <p:nvPr/>
        </p:nvSpPr>
        <p:spPr>
          <a:xfrm>
            <a:off x="4267200" y="5715000"/>
            <a:ext cx="1772412" cy="603504"/>
          </a:xfrm>
          <a:prstGeom prst="roundRect">
            <a:avLst>
              <a:gd name="adj" fmla="val 12121"/>
            </a:avLst>
          </a:prstGeom>
          <a:solidFill>
            <a:srgbClr val="FFFFFF"/>
          </a:solidFill>
          <a:ln w="12700">
            <a:solidFill>
              <a:srgbClr val="D3D1C7"/>
            </a:solidFill>
            <a:prstDash val="solid"/>
          </a:ln>
        </p:spPr>
        <p:txBody>
          <a:bodyPr wrap="square" lIns="50800" tIns="50800" rIns="50800" bIns="50800" rtlCol="0" anchor="ctr"/>
          <a:lstStyle/>
          <a:p>
            <a:pPr algn="ctr" indent="0" marL="0">
              <a:buNone/>
            </a:pPr>
            <a:r>
              <a:rPr lang="en-US" sz="1250" b="1" dirty="0">
                <a:solidFill>
                  <a:srgbClr val="3C3489"/>
                </a:solidFill>
                <a:latin typeface="Calibri" pitchFamily="34" charset="0"/>
                <a:ea typeface="Calibri" pitchFamily="34" charset="-122"/>
                <a:cs typeface="Calibri" pitchFamily="34" charset="-120"/>
              </a:rPr>
              <a:t>Edge</a:t>
            </a:r>
            <a:endParaRPr lang="en-US" sz="1200" dirty="0"/>
          </a:p>
          <a:p>
            <a:pPr algn="ctr" indent="0" marL="0">
              <a:buNone/>
            </a:pPr>
            <a:r>
              <a:rPr lang="en-US" sz="1150" dirty="0">
                <a:solidFill>
                  <a:srgbClr val="5F5E5A"/>
                </a:solidFill>
                <a:latin typeface="Calibri" pitchFamily="34" charset="0"/>
                <a:ea typeface="Calibri" pitchFamily="34" charset="-122"/>
                <a:cs typeface="Calibri" pitchFamily="34" charset="-120"/>
              </a:rPr>
              <a:t>a hand-off</a:t>
            </a:r>
            <a:endParaRPr lang="en-US" sz="1200" dirty="0"/>
          </a:p>
        </p:txBody>
      </p:sp>
      <p:sp>
        <p:nvSpPr>
          <p:cNvPr id="32" name="!!k3"/>
          <p:cNvSpPr/>
          <p:nvPr/>
        </p:nvSpPr>
        <p:spPr>
          <a:xfrm>
            <a:off x="6149340" y="5715000"/>
            <a:ext cx="1772412" cy="603504"/>
          </a:xfrm>
          <a:prstGeom prst="roundRect">
            <a:avLst>
              <a:gd name="adj" fmla="val 12121"/>
            </a:avLst>
          </a:prstGeom>
          <a:solidFill>
            <a:srgbClr val="FFFFFF"/>
          </a:solidFill>
          <a:ln w="12700">
            <a:solidFill>
              <a:srgbClr val="D3D1C7"/>
            </a:solidFill>
            <a:prstDash val="solid"/>
          </a:ln>
        </p:spPr>
        <p:txBody>
          <a:bodyPr wrap="square" lIns="50800" tIns="50800" rIns="50800" bIns="50800" rtlCol="0" anchor="ctr"/>
          <a:lstStyle/>
          <a:p>
            <a:pPr algn="ctr" indent="0" marL="0">
              <a:buNone/>
            </a:pPr>
            <a:r>
              <a:rPr lang="en-US" sz="1250" b="1" dirty="0">
                <a:solidFill>
                  <a:srgbClr val="3C3489"/>
                </a:solidFill>
                <a:latin typeface="Calibri" pitchFamily="34" charset="0"/>
                <a:ea typeface="Calibri" pitchFamily="34" charset="-122"/>
                <a:cs typeface="Calibri" pitchFamily="34" charset="-120"/>
              </a:rPr>
              <a:t>Conditional edge</a:t>
            </a:r>
            <a:endParaRPr lang="en-US" sz="1200" dirty="0"/>
          </a:p>
          <a:p>
            <a:pPr algn="ctr" indent="0" marL="0">
              <a:buNone/>
            </a:pPr>
            <a:r>
              <a:rPr lang="en-US" sz="1150" dirty="0">
                <a:solidFill>
                  <a:srgbClr val="5F5E5A"/>
                </a:solidFill>
                <a:latin typeface="Calibri" pitchFamily="34" charset="0"/>
                <a:ea typeface="Calibri" pitchFamily="34" charset="-122"/>
                <a:cs typeface="Calibri" pitchFamily="34" charset="-120"/>
              </a:rPr>
              <a:t>route on status</a:t>
            </a:r>
            <a:endParaRPr lang="en-US" sz="1200" dirty="0"/>
          </a:p>
        </p:txBody>
      </p:sp>
      <p:sp>
        <p:nvSpPr>
          <p:cNvPr id="33" name="!!k4"/>
          <p:cNvSpPr/>
          <p:nvPr/>
        </p:nvSpPr>
        <p:spPr>
          <a:xfrm>
            <a:off x="8031480" y="5715000"/>
            <a:ext cx="1772412" cy="603504"/>
          </a:xfrm>
          <a:prstGeom prst="roundRect">
            <a:avLst>
              <a:gd name="adj" fmla="val 12121"/>
            </a:avLst>
          </a:prstGeom>
          <a:solidFill>
            <a:srgbClr val="FFFFFF"/>
          </a:solidFill>
          <a:ln w="12700">
            <a:solidFill>
              <a:srgbClr val="D3D1C7"/>
            </a:solidFill>
            <a:prstDash val="solid"/>
          </a:ln>
        </p:spPr>
        <p:txBody>
          <a:bodyPr wrap="square" lIns="50800" tIns="50800" rIns="50800" bIns="50800" rtlCol="0" anchor="ctr"/>
          <a:lstStyle/>
          <a:p>
            <a:pPr algn="ctr" indent="0" marL="0">
              <a:buNone/>
            </a:pPr>
            <a:r>
              <a:rPr lang="en-US" sz="1250" b="1" dirty="0">
                <a:solidFill>
                  <a:srgbClr val="3C3489"/>
                </a:solidFill>
                <a:latin typeface="Calibri" pitchFamily="34" charset="0"/>
                <a:ea typeface="Calibri" pitchFamily="34" charset="-122"/>
                <a:cs typeface="Calibri" pitchFamily="34" charset="-120"/>
              </a:rPr>
              <a:t>Subgraph</a:t>
            </a:r>
            <a:endParaRPr lang="en-US" sz="1200" dirty="0"/>
          </a:p>
          <a:p>
            <a:pPr algn="ctr" indent="0" marL="0">
              <a:buNone/>
            </a:pPr>
            <a:r>
              <a:rPr lang="en-US" sz="1150" dirty="0">
                <a:solidFill>
                  <a:srgbClr val="5F5E5A"/>
                </a:solidFill>
                <a:latin typeface="Calibri" pitchFamily="34" charset="0"/>
                <a:ea typeface="Calibri" pitchFamily="34" charset="-122"/>
                <a:cs typeface="Calibri" pitchFamily="34" charset="-120"/>
              </a:rPr>
              <a:t>a graph used as a node</a:t>
            </a:r>
            <a:endParaRPr lang="en-US" sz="1200" dirty="0"/>
          </a:p>
        </p:txBody>
      </p:sp>
      <p:sp>
        <p:nvSpPr>
          <p:cNvPr id="34" name="!!k5"/>
          <p:cNvSpPr/>
          <p:nvPr/>
        </p:nvSpPr>
        <p:spPr>
          <a:xfrm>
            <a:off x="9913620" y="5715000"/>
            <a:ext cx="1772412" cy="603504"/>
          </a:xfrm>
          <a:prstGeom prst="roundRect">
            <a:avLst>
              <a:gd name="adj" fmla="val 12121"/>
            </a:avLst>
          </a:prstGeom>
          <a:solidFill>
            <a:srgbClr val="FFFFFF"/>
          </a:solidFill>
          <a:ln w="12700">
            <a:solidFill>
              <a:srgbClr val="D3D1C7"/>
            </a:solidFill>
            <a:prstDash val="solid"/>
          </a:ln>
        </p:spPr>
        <p:txBody>
          <a:bodyPr wrap="square" lIns="50800" tIns="50800" rIns="50800" bIns="50800" rtlCol="0" anchor="ctr"/>
          <a:lstStyle/>
          <a:p>
            <a:pPr algn="ctr" indent="0" marL="0">
              <a:buNone/>
            </a:pPr>
            <a:r>
              <a:rPr lang="en-US" sz="1250" b="1" dirty="0">
                <a:solidFill>
                  <a:srgbClr val="3C3489"/>
                </a:solidFill>
                <a:latin typeface="Calibri" pitchFamily="34" charset="0"/>
                <a:ea typeface="Calibri" pitchFamily="34" charset="-122"/>
                <a:cs typeface="Calibri" pitchFamily="34" charset="-120"/>
              </a:rPr>
              <a:t>Checkpointer</a:t>
            </a:r>
            <a:endParaRPr lang="en-US" sz="1200" dirty="0"/>
          </a:p>
          <a:p>
            <a:pPr algn="ctr" indent="0" marL="0">
              <a:buNone/>
            </a:pPr>
            <a:r>
              <a:rPr lang="en-US" sz="1150" dirty="0">
                <a:solidFill>
                  <a:srgbClr val="5F5E5A"/>
                </a:solidFill>
                <a:latin typeface="Calibri" pitchFamily="34" charset="0"/>
                <a:ea typeface="Calibri" pitchFamily="34" charset="-122"/>
                <a:cs typeface="Calibri" pitchFamily="34" charset="-120"/>
              </a:rPr>
              <a:t>resume + human gate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Systems · Slides 14–16</dc:title>
  <dc:subject>PptxGenJS Presentation</dc:subject>
  <dc:creator>Amitkumar</dc:creator>
  <cp:lastModifiedBy>Amitkumar</cp:lastModifiedBy>
  <cp:revision>1</cp:revision>
  <dcterms:created xsi:type="dcterms:W3CDTF">2026-10-27T14:17:27Z</dcterms:created>
  <dcterms:modified xsi:type="dcterms:W3CDTF">2026-10-27T14:17:27Z</dcterms:modified>
</cp:coreProperties>
</file>