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Title" id="{2009efa3-b029-881f-f28e-18b6da79a5a7}">
          <p14:sldIdLst>
            <p14:sldId id="256"/>
          </p14:sldIdLst>
        </p14:section>
        <p14:section name="2 · Why Single Agents Fail" id="{3169cd3b-472e-1a5b-2ded-6b4cbea5b9da}">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Lst>
        </p14:section>
        <p14:section name="3 · Thinking + Acting + Checking" id="{ecc582ea-5729-c68d-ef29-cc1641a0fdeb}">
          <p14:sldIdLst>
            <p14:sldId id="284"/>
            <p14:sldId id="285"/>
          </p14:sldIdLst>
        </p14:section>
        <p14:section name="4 · Failure Modes" id="{ba17e4a8-3378-e37b-2c55-0afe2c8708e6}">
          <p14:sldIdLst>
            <p14:sldId id="286"/>
            <p14:sldId id="287"/>
            <p14:sldId id="288"/>
          </p14:sldIdLst>
        </p14:section>
        <p14:section name="5 · Root Cause" id="{8bfc00e9-0982-e8e8-222f-f68634afde99}">
          <p14:sldIdLst>
            <p14:sldId id="289"/>
            <p14:sldId id="290"/>
            <p14:sldId id="291"/>
            <p14:sldId id="292"/>
            <p14:sldId id="293"/>
            <p14:sldId id="294"/>
          </p14:sldIdLst>
        </p14:section>
        <p14:section name="6 · Core Idea" id="{da5ec321-26e3-21e8-c04b-9b25cffcbd01}">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multi-agent system is a parent graph that coordinates smaller graphs. Each agent is a subgraph: its own LLM, its own few tools, its own loop and state. The supervisor decides who works, the subgraphs do the work in isolation, and the checker verifies before anything leaves.</a:t>
            </a:r>
          </a:p>
          <a:p/>
          <a:p>
            <a:r>
              <a:t>Every single-agent loop is steered by one field, finish_reason, and that's where the problems start. The rest of this section explains why we need this architecture, then the later slides walk through six ways to wire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(slide 2): Here's a BAU defect-fix agent. One agent, five tools: run SQL, search code, run tests, human sign-off, close ticket. First, one ticket.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Happy flow (slides 3–11, click through at a steady pace): It queries the right rows, finds the nulls come from one feed, spots the join on the wrong key, applies the fix, runs reconciliation and sends it for sign-off. Approved and closed in four LLM calls. Every step is driven by finish_reason: tool_use means "run a tool", end_turn means "I'm done talking".</a:t>
            </a:r>
          </a:p>
          <a:p/>
          <a:p>
            <a:r>
              <a:t>— This step: Defect: PD is null for 120 accounts</a:t>
            </a:r>
          </a:p>
          <a:p>
            <a:r>
              <a:t>messages = [ticket_4521]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where the nulls come from
finish_reason = "tool_use" → run_sql(count nulls by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120 come from one source feed
messages.append(tool_result)  # 5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how that feed is joined
finish_reason = "tool_use" → search_code("pd_join")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is on the wrong key
messages.append(tool_result)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fix, run reconciliation
finish_reason = "tool_use" → run_tests(fix_4521)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Reconciliation passes
messages.append({"status":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and evidence sent for sign-off
finish_reason = "end_turn" → human_signoff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Ticket closed.
approved = True → close_ticket(4521)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Chaotic flow (slide 12): Now give the same agent three tickets in one session.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Slides 13–28 (click fast — the speed sells it): It pulls the whole table into its context. It switches tickets halfway. It tests one ticket's fix with another ticket's data. The test fails, so it retries the same fix. It fails again, so it edits the test until it passes. The human rejects it, there's nothing to resume from, and the context fills up.</a:t>
            </a:r>
          </a:p>
          <a:p/>
          <a:p>
            <a:r>
              <a:t>— This step: Three defects queued in one session</a:t>
            </a:r>
          </a:p>
          <a:p>
            <a:r>
              <a:t>messages = [ticket_4521, ticket_4522, ticket_4523]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Pulls the whole table to "have a look"
finish_reason = "tool_use" → run_sql("SELECT * ...")
Design smell: Unbounded tool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50,000 rows land in the context
messages.append(tool_result)  # 30k tokens
Design smell: No limit on what a tool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Finds the join bug for ticket 4521
finish_reason = "tool_use" → search_code("pd_join")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found, but it switches to ticket 4522
messages.append(tool_result)
Design smell: Task switching inside one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Queries accounts for 4522
finish_reason = "tool_use" → run_sql(accounts_4522)
Design smell: Shared state across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two account lists sit side by side
messages.append(tool_result)
Design smell: Shared state across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fix 4521 using 4522 data
finish_reason = "tool_use" → run_tests(fix_4521, data_4522)
Design smell: Wrong state passed to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fails
{"status":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Retries the same fix
finish_reason = "tool_use" → run_tests(fix_4521)  # again
Design smell: No retry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Fails again
{"status":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Edits the test so it passes
finish_reason = "tool_use" → edit_test()  # marks own homework
Design smell: Maker is also the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"passes"
{"status": "pass"}  # false green
Design smell: Maker is also the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Sends fix for 4521 with evidence from 4522
finish_reason = "end_turn" → human_signoff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Rejected: evidence does not match ticket
messages.append(reject_feedback)
Design smell: No checkpoint to resume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Three tickets, zero fixed. The model didn't get worse. We just asked one loop to carry three jobs' worth of state. A single agent is a monolith: it works for one task and fails like a monolith when you scale the work.</a:t>
            </a:r>
          </a:p>
          <a:p/>
          <a:p>
            <a:r>
              <a:t>Bridge: It's not that the agent is dumb. It's doing thinking, acting and checking in one loop.</a:t>
            </a:r>
          </a:p>
          <a:p/>
          <a:p>
            <a:r>
              <a:t>— This step: Context full. No ticket closed.</a:t>
            </a:r>
          </a:p>
          <a:p>
            <a:r>
              <a:t>finish_reason = "max_tokens"  # 3 tickets, 0 fixed</a:t>
            </a:r>
          </a:p>
          <a:p>
            <a:r>
              <a:t>Design smell: Single point of failure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(mixed): This is every message from the chaotic run, top to bottom, coloured by job. Purple is thinking, teal is acting, coral is checking. Look how they take turns in the same window. The 50k-row result sits right where the agent plans from, so the plan drifts. And look at the right-hand tags: every thinking block says "no signal". The loop only ever sees tool_use or end_turn. There's no signal for "plan ready" or "check passed".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30 (sorted): Same messages, sorted by job. Three clean lanes. The checking lane is all fails, a false pass and a rejection — the same brain that wrote the fix graded it. These are three responsibilities that never needed to share a brain.</a:t>
            </a:r>
          </a:p>
          <a:p/>
          <a:p>
            <a:r>
              <a:t>Close: One loop, three jobs, one exit signal. In banking we'd never let the maker check their own work. Why do we let an agent?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Step back from our example. Agent failures aren't random; they fall into the same three jobs. Thinking failures are when the agent loses the plot: it drifts from the goal, or picks the wrong tool.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32: Acting failures are when it can't stop doing: it loops on the same step, or one bad step poisons everything after it.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33: Checking failures are the most dangerous, because they look like success: it says "done" when it isn't, or stops halfway and sounds confident.</a:t>
            </a:r>
          </a:p>
          <a:p/>
          <a:p>
            <a:r>
              <a:t>Close: Notice the causes: crowded context, too many tools, no limits, no checkpoints, and grading its own work. None of these are model problems. Every failure is one of three jobs going wrong, and every cause is a design choice.</a:t>
            </a:r>
          </a:p>
          <a:p/>
          <a:p>
            <a:r>
              <a:t>Bridge: If every cause is a design choice, the fix is a design fix.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34 (root cause): Here's the single agent again: three jobs squashed into one loop, one shared context, and finish_reason deciding everything. Let's fix it, one principle at a time.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35 — Separation of concerns: Split the three jobs. A Planner thinks, a Worker acts, a Checker checks.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36 — Isolated state: Each part keeps only its own data. The big query result never reaches the Planner.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37 — Bounded execution: Retry limits and checkpoints. A failure stops or resumes from a checkpoint; it doesn't loop forever.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38 — Maker-checker: The Checker verifies independently. The Worker can't touch the tests.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39 — Explicit hand-offs: Each step returns a structured status — {plan}, {result}, {status: fail, why} — instead of relying on finish_reason. And look what we've built: a multi-agent system.</a:t>
            </a:r>
          </a:p>
          <a:p/>
          <a:p>
            <a:r>
              <a:t>Close: None of this is new. Software engineering solved it with separation of concerns and isolated state. Operations solved it with bounded execution and checkpoints. Banking solved it with maker-checker. We don't need a smarter model or a longer prompt. This isn't an AI problem; it's a system design problem we've already solved, just not for agents yet.</a:t>
            </a:r>
          </a:p>
          <a:p/>
          <a:p>
            <a:r>
              <a:t>Bridge: So what does an agent system look like when we apply these principles everywhere? That's a multi-agent system.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40 — Supervisor: This is what multi-agent systems look like. A supervisor hands work to specialist agents in parallel.</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41 — Pipeline: Or the agents work in sequence, each passing its result to the next.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42 — Peer swarm: Or they work as peers, talking to each other and agreeing on an answer.</a:t>
            </a:r>
          </a:p>
          <a:p/>
          <a:p>
            <a:r>
              <a:t>Three very different shapes, but look at what stays the same. Every agent does one job, with its own tools and its own memory. Something decides who works next: a supervisor, the fixed order of a pipeline, or the peers themselves. Agents pass structured results, not their whole conversation. A small shared state holds the goal and the progress. And a human gate signs off before anything goes out.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43 — Why it's better: That's the core idea: replace one agent that does everything with a team of focused agents and clear hand-offs. It's better for the same reasons a team beats one overloaded person:</a:t>
            </a:r>
          </a:p>
          <a:p>
            <a:r>
              <a:t>- Focus — small context, few tools, one job per agent</a:t>
            </a:r>
          </a:p>
          <a:p>
            <a:r>
              <a:t>- Containment — a failure stays inside one agent, not the whole run</a:t>
            </a:r>
          </a:p>
          <a:p>
            <a:r>
              <a:t>- Independent checking — the checker isn't the maker</a:t>
            </a:r>
          </a:p>
          <a:p>
            <a:r>
              <a:t>- Modular — test, swap or upgrade one agent at a time, even with a different model per agent</a:t>
            </a:r>
          </a:p>
          <a:p/>
          <a:p>
            <a:r>
              <a:t>Close: A multi-agent system is a well-run team: one job each, clear hand-offs, a shared goal, and someone who signs off.</a:t>
            </a:r>
          </a:p>
          <a:p/>
          <a:p>
            <a:r>
              <a:t>Hand-over to the next presenter: Every pattern you'll see next is these same building blocks wired differently — who coordinates, who talks to whom, and where the human sits.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5.png"/><Relationship Id="rId7" Type="http://schemas.openxmlformats.org/officeDocument/2006/relationships/image" Target="../media/image-34-5.png"/><Relationship Id="rId8" Type="http://schemas.openxmlformats.org/officeDocument/2006/relationships/image" Target="../media/image-34-5.png"/><Relationship Id="rId9" Type="http://schemas.openxmlformats.org/officeDocument/2006/relationships/image" Target="../media/image-34-5.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6.png"/><Relationship Id="rId8" Type="http://schemas.openxmlformats.org/officeDocument/2006/relationships/image" Target="../media/image-35-6.png"/><Relationship Id="rId9" Type="http://schemas.openxmlformats.org/officeDocument/2006/relationships/image" Target="../media/image-35-6.png"/><Relationship Id="rId10" Type="http://schemas.openxmlformats.org/officeDocument/2006/relationships/slideLayout" Target="../slideLayouts/slideLayout1.xml"/><Relationship Id="rId1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5.png"/><Relationship Id="rId7" Type="http://schemas.openxmlformats.org/officeDocument/2006/relationships/image" Target="../media/image-36-7.png"/><Relationship Id="rId8" Type="http://schemas.openxmlformats.org/officeDocument/2006/relationships/image" Target="../media/image-36-7.png"/><Relationship Id="rId9" Type="http://schemas.openxmlformats.org/officeDocument/2006/relationships/image" Target="../media/image-36-7.png"/><Relationship Id="rId10" Type="http://schemas.openxmlformats.org/officeDocument/2006/relationships/slideLayout" Target="../slideLayouts/slideLayout1.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5.png"/><Relationship Id="rId7" Type="http://schemas.openxmlformats.org/officeDocument/2006/relationships/image" Target="../media/image-37-7.png"/><Relationship Id="rId8" Type="http://schemas.openxmlformats.org/officeDocument/2006/relationships/image" Target="../media/image-37-7.png"/><Relationship Id="rId9" Type="http://schemas.openxmlformats.org/officeDocument/2006/relationships/image" Target="../media/image-37-7.png"/><Relationship Id="rId10" Type="http://schemas.openxmlformats.org/officeDocument/2006/relationships/image" Target="../media/image-37-10.png"/><Relationship Id="rId11" Type="http://schemas.openxmlformats.org/officeDocument/2006/relationships/image" Target="../media/image-37-10.png"/><Relationship Id="rId12" Type="http://schemas.openxmlformats.org/officeDocument/2006/relationships/slideLayout" Target="../slideLayouts/slideLayout1.xml"/><Relationship Id="rId1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5.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8.png"/><Relationship Id="rId10" Type="http://schemas.openxmlformats.org/officeDocument/2006/relationships/image" Target="../media/image-38-8.png"/><Relationship Id="rId11" Type="http://schemas.openxmlformats.org/officeDocument/2006/relationships/image" Target="../media/image-38-8.png"/><Relationship Id="rId12" Type="http://schemas.openxmlformats.org/officeDocument/2006/relationships/image" Target="../media/image-38-12.png"/><Relationship Id="rId13" Type="http://schemas.openxmlformats.org/officeDocument/2006/relationships/slideLayout" Target="../slideLayouts/slideLayout1.xml"/><Relationship Id="rId1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5.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8.png"/><Relationship Id="rId10" Type="http://schemas.openxmlformats.org/officeDocument/2006/relationships/image" Target="../media/image-39-8.png"/><Relationship Id="rId11" Type="http://schemas.openxmlformats.org/officeDocument/2006/relationships/image" Target="../media/image-39-8.png"/><Relationship Id="rId12" Type="http://schemas.openxmlformats.org/officeDocument/2006/relationships/image" Target="../media/image-39-8.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1.png"/><Relationship Id="rId3" Type="http://schemas.openxmlformats.org/officeDocument/2006/relationships/image" Target="../media/image-40-1.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1.png"/><Relationship Id="rId3" Type="http://schemas.openxmlformats.org/officeDocument/2006/relationships/image" Target="../media/image-41-1.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1.png"/><Relationship Id="rId3" Type="http://schemas.openxmlformats.org/officeDocument/2006/relationships/image" Target="../media/image-42-1.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1.png"/><Relationship Id="rId3" Type="http://schemas.openxmlformats.org/officeDocument/2006/relationships/image" Target="../media/image-43-1.png"/><Relationship Id="rId4" Type="http://schemas.openxmlformats.org/officeDocument/2006/relationships/image" Target="../media/image-43-4.png"/><Relationship Id="rId5" Type="http://schemas.openxmlformats.org/officeDocument/2006/relationships/image" Target="../media/image-43-4.png"/><Relationship Id="rId6" Type="http://schemas.openxmlformats.org/officeDocument/2006/relationships/image" Target="../media/image-43-4.png"/><Relationship Id="rId7" Type="http://schemas.openxmlformats.org/officeDocument/2006/relationships/image" Target="../media/image-43-4.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371600"/>
            <a:ext cx="4846320" cy="1828800"/>
          </a:xfrm>
          <a:prstGeom prst="rect">
            <a:avLst/>
          </a:prstGeom>
          <a:noFill/>
          <a:ln/>
        </p:spPr>
        <p:txBody>
          <a:bodyPr wrap="square" lIns="0" tIns="0" rIns="0" bIns="0" rtlCol="0" anchor="b"/>
          <a:lstStyle/>
          <a:p>
            <a:pPr algn="l" indent="0" marL="0">
              <a:buNone/>
            </a:pPr>
            <a:r>
              <a:rPr lang="en-US" sz="3600" b="1" dirty="0">
                <a:solidFill>
                  <a:srgbClr val="2C2C2A"/>
                </a:solidFill>
                <a:latin typeface="Calibri" pitchFamily="34" charset="0"/>
                <a:ea typeface="Calibri" pitchFamily="34" charset="-122"/>
                <a:cs typeface="Calibri" pitchFamily="34" charset="-120"/>
              </a:rPr>
              <a:t>Multi-Agent Systems &amp; Subgraph Architecture</a:t>
            </a:r>
            <a:endParaRPr lang="en-US" sz="3600" dirty="0"/>
          </a:p>
        </p:txBody>
      </p:sp>
      <p:sp>
        <p:nvSpPr>
          <p:cNvPr id="3" name="Text 1"/>
          <p:cNvSpPr txBox="1"/>
          <p:nvPr/>
        </p:nvSpPr>
        <p:spPr>
          <a:xfrm>
            <a:off x="548640" y="3383280"/>
            <a:ext cx="4846320" cy="640080"/>
          </a:xfrm>
          <a:prstGeom prst="rect">
            <a:avLst/>
          </a:prstGeom>
          <a:noFill/>
          <a:ln/>
        </p:spPr>
        <p:txBody>
          <a:bodyPr wrap="square" lIns="0" tIns="0" rIns="0" bIns="0" rtlCol="0" anchor="t"/>
          <a:lstStyle/>
          <a:p>
            <a:pPr algn="l" indent="0" marL="0">
              <a:buNone/>
            </a:pPr>
            <a:r>
              <a:rPr lang="en-US" sz="1800" dirty="0">
                <a:solidFill>
                  <a:srgbClr val="5F5E5A"/>
                </a:solidFill>
                <a:latin typeface="Calibri" pitchFamily="34" charset="0"/>
                <a:ea typeface="Calibri" pitchFamily="34" charset="-122"/>
                <a:cs typeface="Calibri" pitchFamily="34" charset="-120"/>
              </a:rPr>
              <a:t>From one overloaded agent to a team of focused ones.</a:t>
            </a:r>
            <a:endParaRPr lang="en-US" sz="1800" dirty="0"/>
          </a:p>
        </p:txBody>
      </p:sp>
      <p:sp>
        <p:nvSpPr>
          <p:cNvPr id="4" name="Text 2"/>
          <p:cNvSpPr/>
          <p:nvPr/>
        </p:nvSpPr>
        <p:spPr>
          <a:xfrm>
            <a:off x="548640" y="4206240"/>
            <a:ext cx="4846320" cy="1005840"/>
          </a:xfrm>
          <a:prstGeom prst="roundRect">
            <a:avLst>
              <a:gd name="adj" fmla="val 10909"/>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500" dirty="0">
                <a:solidFill>
                  <a:srgbClr val="3C3489"/>
                </a:solidFill>
                <a:latin typeface="Calibri" pitchFamily="34" charset="0"/>
                <a:ea typeface="Calibri" pitchFamily="34" charset="-122"/>
                <a:cs typeface="Calibri" pitchFamily="34" charset="-120"/>
              </a:rPr>
              <a:t>Every single-agent loop is steered by one field, </a:t>
            </a:r>
            <a:pPr algn="l" indent="0" marL="0">
              <a:buNone/>
            </a:pPr>
            <a:r>
              <a:rPr lang="en-US" sz="1500" b="1" dirty="0">
                <a:solidFill>
                  <a:srgbClr val="3C3489"/>
                </a:solidFill>
                <a:latin typeface="Consolas" pitchFamily="34" charset="0"/>
                <a:ea typeface="Consolas" pitchFamily="34" charset="-122"/>
                <a:cs typeface="Consolas" pitchFamily="34" charset="-120"/>
              </a:rPr>
              <a:t>finish_reason</a:t>
            </a:r>
            <a:pPr algn="l" indent="0" marL="0">
              <a:buNone/>
            </a:pPr>
            <a:r>
              <a:rPr lang="en-US" sz="1500" dirty="0">
                <a:solidFill>
                  <a:srgbClr val="3C3489"/>
                </a:solidFill>
                <a:latin typeface="Calibri" pitchFamily="34" charset="0"/>
                <a:ea typeface="Calibri" pitchFamily="34" charset="-122"/>
                <a:cs typeface="Calibri" pitchFamily="34" charset="-120"/>
              </a:rPr>
              <a:t>, and that's where the problems start.</a:t>
            </a:r>
            <a:endParaRPr lang="en-US" sz="1500" dirty="0"/>
          </a:p>
        </p:txBody>
      </p:sp>
      <p:sp>
        <p:nvSpPr>
          <p:cNvPr id="5" name="Text 3"/>
          <p:cNvSpPr/>
          <p:nvPr/>
        </p:nvSpPr>
        <p:spPr>
          <a:xfrm>
            <a:off x="5892394" y="910742"/>
            <a:ext cx="5555894" cy="3405226"/>
          </a:xfrm>
          <a:prstGeom prst="roundRect">
            <a:avLst>
              <a:gd name="adj" fmla="val 5371"/>
            </a:avLst>
          </a:prstGeom>
          <a:solidFill>
            <a:srgbClr val="FFFFFF">
              <a:alpha val="0"/>
            </a:srgbClr>
          </a:solidFill>
          <a:ln w="9525">
            <a:solidFill>
              <a:srgbClr val="5F5E5A"/>
            </a:solidFill>
            <a:prstDash val="dash"/>
          </a:ln>
        </p:spPr>
        <p:txBody>
          <a:bodyPr wrap="square" lIns="50800" tIns="50800" rIns="50800" bIns="50800" rtlCol="0" anchor="ctr"/>
          <a:lstStyle/>
          <a:p>
            <a:pPr algn="ctr" indent="0" marL="0">
              <a:buNone/>
            </a:pPr>
            <a:endParaRPr lang="en-US" sz="1200" dirty="0"/>
          </a:p>
        </p:txBody>
      </p:sp>
      <p:sp>
        <p:nvSpPr>
          <p:cNvPr id="6" name="Text 4"/>
          <p:cNvSpPr txBox="1"/>
          <p:nvPr/>
        </p:nvSpPr>
        <p:spPr>
          <a:xfrm>
            <a:off x="6071616" y="1018276"/>
            <a:ext cx="1371600" cy="228600"/>
          </a:xfrm>
          <a:prstGeom prst="rect">
            <a:avLst/>
          </a:prstGeom>
          <a:noFill/>
          <a:ln/>
        </p:spPr>
        <p:txBody>
          <a:bodyPr wrap="square" lIns="0" tIns="0" rIns="0" bIns="0" rtlCol="0" anchor="t"/>
          <a:lstStyle/>
          <a:p>
            <a:pPr algn="l" indent="0" marL="0">
              <a:buNone/>
            </a:pPr>
            <a:r>
              <a:rPr lang="en-US" sz="1100" b="1" dirty="0">
                <a:solidFill>
                  <a:srgbClr val="2C2C2A"/>
                </a:solidFill>
                <a:latin typeface="Calibri" pitchFamily="34" charset="0"/>
                <a:ea typeface="Calibri" pitchFamily="34" charset="-122"/>
                <a:cs typeface="Calibri" pitchFamily="34" charset="-120"/>
              </a:rPr>
              <a:t>Parent graph</a:t>
            </a:r>
            <a:endParaRPr lang="en-US" sz="1100" dirty="0"/>
          </a:p>
        </p:txBody>
      </p:sp>
      <p:sp>
        <p:nvSpPr>
          <p:cNvPr id="7" name="Text 5"/>
          <p:cNvSpPr/>
          <p:nvPr/>
        </p:nvSpPr>
        <p:spPr>
          <a:xfrm>
            <a:off x="7684618" y="1287109"/>
            <a:ext cx="1971446" cy="483900"/>
          </a:xfrm>
          <a:prstGeom prst="roundRect">
            <a:avLst>
              <a:gd name="adj" fmla="val 1511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Supervisor</a:t>
            </a:r>
            <a:endParaRPr lang="en-US" sz="1200" dirty="0"/>
          </a:p>
          <a:p>
            <a:pPr algn="ctr" indent="0" marL="0">
              <a:buNone/>
            </a:pPr>
            <a:r>
              <a:rPr lang="en-US" sz="1000" dirty="0">
                <a:solidFill>
                  <a:srgbClr val="534AB7"/>
                </a:solidFill>
                <a:latin typeface="Calibri" pitchFamily="34" charset="0"/>
                <a:ea typeface="Calibri" pitchFamily="34" charset="-122"/>
                <a:cs typeface="Calibri" pitchFamily="34" charset="-120"/>
              </a:rPr>
              <a:t>Routes the task</a:t>
            </a:r>
            <a:endParaRPr lang="en-US" sz="1200" dirty="0"/>
          </a:p>
        </p:txBody>
      </p:sp>
      <p:sp>
        <p:nvSpPr>
          <p:cNvPr id="8" name="Shape 6"/>
          <p:cNvSpPr/>
          <p:nvPr/>
        </p:nvSpPr>
        <p:spPr>
          <a:xfrm flipH="1">
            <a:off x="7057339" y="1771010"/>
            <a:ext cx="1209751" cy="286756"/>
          </a:xfrm>
          <a:prstGeom prst="line">
            <a:avLst/>
          </a:prstGeom>
          <a:noFill/>
          <a:ln w="15875">
            <a:solidFill>
              <a:srgbClr val="5F5E5A"/>
            </a:solidFill>
            <a:prstDash val="solid"/>
            <a:tailEnd type="triangle"/>
          </a:ln>
        </p:spPr>
      </p:sp>
      <p:sp>
        <p:nvSpPr>
          <p:cNvPr id="9" name="Shape 7"/>
          <p:cNvSpPr/>
          <p:nvPr/>
        </p:nvSpPr>
        <p:spPr>
          <a:xfrm>
            <a:off x="8670341" y="1771010"/>
            <a:ext cx="914" cy="286756"/>
          </a:xfrm>
          <a:prstGeom prst="line">
            <a:avLst/>
          </a:prstGeom>
          <a:noFill/>
          <a:ln w="15875">
            <a:solidFill>
              <a:srgbClr val="5F5E5A"/>
            </a:solidFill>
            <a:prstDash val="solid"/>
            <a:tailEnd type="triangle"/>
          </a:ln>
        </p:spPr>
      </p:sp>
      <p:sp>
        <p:nvSpPr>
          <p:cNvPr id="10" name="Shape 8"/>
          <p:cNvSpPr/>
          <p:nvPr/>
        </p:nvSpPr>
        <p:spPr>
          <a:xfrm>
            <a:off x="9073591" y="1771010"/>
            <a:ext cx="1209751" cy="286756"/>
          </a:xfrm>
          <a:prstGeom prst="line">
            <a:avLst/>
          </a:prstGeom>
          <a:noFill/>
          <a:ln w="15875">
            <a:solidFill>
              <a:srgbClr val="5F5E5A"/>
            </a:solidFill>
            <a:prstDash val="solid"/>
            <a:tailEnd type="triangle"/>
          </a:ln>
        </p:spPr>
      </p:sp>
      <p:sp>
        <p:nvSpPr>
          <p:cNvPr id="11" name="Text 9"/>
          <p:cNvSpPr/>
          <p:nvPr/>
        </p:nvSpPr>
        <p:spPr>
          <a:xfrm>
            <a:off x="6116422" y="2075688"/>
            <a:ext cx="1613002" cy="1344168"/>
          </a:xfrm>
          <a:prstGeom prst="roundRect">
            <a:avLst>
              <a:gd name="adj" fmla="val 8163"/>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sp>
        <p:nvSpPr>
          <p:cNvPr id="12" name="Text 10"/>
          <p:cNvSpPr txBox="1"/>
          <p:nvPr/>
        </p:nvSpPr>
        <p:spPr>
          <a:xfrm>
            <a:off x="6116422" y="2147377"/>
            <a:ext cx="1613002" cy="358445"/>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Research</a:t>
            </a:r>
            <a:endParaRPr lang="en-US" sz="1400" dirty="0"/>
          </a:p>
          <a:p>
            <a:pPr algn="ctr" indent="0" marL="0">
              <a:buNone/>
            </a:pPr>
            <a:r>
              <a:rPr lang="en-US" sz="1000" dirty="0">
                <a:solidFill>
                  <a:srgbClr val="0F6E56"/>
                </a:solidFill>
                <a:latin typeface="Calibri" pitchFamily="34" charset="0"/>
                <a:ea typeface="Calibri" pitchFamily="34" charset="-122"/>
                <a:cs typeface="Calibri" pitchFamily="34" charset="-120"/>
              </a:rPr>
              <a:t>subgraph</a:t>
            </a:r>
            <a:endParaRPr lang="en-US" sz="1400" dirty="0"/>
          </a:p>
        </p:txBody>
      </p:sp>
      <p:sp>
        <p:nvSpPr>
          <p:cNvPr id="13" name="Text 11"/>
          <p:cNvSpPr/>
          <p:nvPr/>
        </p:nvSpPr>
        <p:spPr>
          <a:xfrm>
            <a:off x="6250838"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LLM</a:t>
            </a:r>
            <a:endParaRPr lang="en-US" sz="1000" dirty="0"/>
          </a:p>
        </p:txBody>
      </p:sp>
      <p:sp>
        <p:nvSpPr>
          <p:cNvPr id="14" name="Text 12"/>
          <p:cNvSpPr/>
          <p:nvPr/>
        </p:nvSpPr>
        <p:spPr>
          <a:xfrm>
            <a:off x="7003572"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Tools</a:t>
            </a:r>
            <a:endParaRPr lang="en-US" sz="1000" dirty="0"/>
          </a:p>
        </p:txBody>
      </p:sp>
      <p:sp>
        <p:nvSpPr>
          <p:cNvPr id="15" name="Shape 13"/>
          <p:cNvSpPr/>
          <p:nvPr/>
        </p:nvSpPr>
        <p:spPr>
          <a:xfrm>
            <a:off x="6851233" y="2756733"/>
            <a:ext cx="143378" cy="914"/>
          </a:xfrm>
          <a:prstGeom prst="line">
            <a:avLst/>
          </a:prstGeom>
          <a:noFill/>
          <a:ln w="12700">
            <a:solidFill>
              <a:srgbClr val="5F5E5A"/>
            </a:solidFill>
            <a:prstDash val="solid"/>
            <a:headEnd type="triangle"/>
            <a:tailEnd type="triangle"/>
          </a:ln>
        </p:spPr>
      </p:sp>
      <p:sp>
        <p:nvSpPr>
          <p:cNvPr id="16" name="Text 14"/>
          <p:cNvSpPr txBox="1"/>
          <p:nvPr/>
        </p:nvSpPr>
        <p:spPr>
          <a:xfrm>
            <a:off x="6116422" y="3097256"/>
            <a:ext cx="1613002" cy="201168"/>
          </a:xfrm>
          <a:prstGeom prst="rect">
            <a:avLst/>
          </a:prstGeom>
          <a:noFill/>
          <a:ln/>
        </p:spPr>
        <p:txBody>
          <a:bodyPr wrap="square" lIns="0" tIns="0" rIns="0" bIns="0" rtlCol="0" anchor="t"/>
          <a:lstStyle/>
          <a:p>
            <a:pPr algn="ctr" indent="0" marL="0">
              <a:buNone/>
            </a:pPr>
            <a:r>
              <a:rPr lang="en-US" sz="1000" dirty="0">
                <a:solidFill>
                  <a:srgbClr val="0F6E56"/>
                </a:solidFill>
                <a:latin typeface="Calibri" pitchFamily="34" charset="0"/>
                <a:ea typeface="Calibri" pitchFamily="34" charset="-122"/>
                <a:cs typeface="Calibri" pitchFamily="34" charset="-120"/>
              </a:rPr>
              <a:t>Own loop + state</a:t>
            </a:r>
            <a:endParaRPr lang="en-US" sz="1000" dirty="0"/>
          </a:p>
        </p:txBody>
      </p:sp>
      <p:sp>
        <p:nvSpPr>
          <p:cNvPr id="17" name="Text 15"/>
          <p:cNvSpPr/>
          <p:nvPr/>
        </p:nvSpPr>
        <p:spPr>
          <a:xfrm>
            <a:off x="7863840" y="2075688"/>
            <a:ext cx="1613002" cy="1344168"/>
          </a:xfrm>
          <a:prstGeom prst="roundRect">
            <a:avLst>
              <a:gd name="adj" fmla="val 8163"/>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sp>
        <p:nvSpPr>
          <p:cNvPr id="18" name="Text 16"/>
          <p:cNvSpPr txBox="1"/>
          <p:nvPr/>
        </p:nvSpPr>
        <p:spPr>
          <a:xfrm>
            <a:off x="7863840" y="2147377"/>
            <a:ext cx="1613002" cy="358445"/>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Data</a:t>
            </a:r>
            <a:endParaRPr lang="en-US" sz="1400" dirty="0"/>
          </a:p>
          <a:p>
            <a:pPr algn="ctr" indent="0" marL="0">
              <a:buNone/>
            </a:pPr>
            <a:r>
              <a:rPr lang="en-US" sz="1000" dirty="0">
                <a:solidFill>
                  <a:srgbClr val="0F6E56"/>
                </a:solidFill>
                <a:latin typeface="Calibri" pitchFamily="34" charset="0"/>
                <a:ea typeface="Calibri" pitchFamily="34" charset="-122"/>
                <a:cs typeface="Calibri" pitchFamily="34" charset="-120"/>
              </a:rPr>
              <a:t>subgraph</a:t>
            </a:r>
            <a:endParaRPr lang="en-US" sz="1400" dirty="0"/>
          </a:p>
        </p:txBody>
      </p:sp>
      <p:sp>
        <p:nvSpPr>
          <p:cNvPr id="19" name="Text 17"/>
          <p:cNvSpPr/>
          <p:nvPr/>
        </p:nvSpPr>
        <p:spPr>
          <a:xfrm>
            <a:off x="7998257"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LLM</a:t>
            </a:r>
            <a:endParaRPr lang="en-US" sz="1000" dirty="0"/>
          </a:p>
        </p:txBody>
      </p:sp>
      <p:sp>
        <p:nvSpPr>
          <p:cNvPr id="20" name="Text 18"/>
          <p:cNvSpPr/>
          <p:nvPr/>
        </p:nvSpPr>
        <p:spPr>
          <a:xfrm>
            <a:off x="8750991"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Tools</a:t>
            </a:r>
            <a:endParaRPr lang="en-US" sz="1000" dirty="0"/>
          </a:p>
        </p:txBody>
      </p:sp>
      <p:sp>
        <p:nvSpPr>
          <p:cNvPr id="21" name="Shape 19"/>
          <p:cNvSpPr/>
          <p:nvPr/>
        </p:nvSpPr>
        <p:spPr>
          <a:xfrm>
            <a:off x="8598652" y="2756733"/>
            <a:ext cx="143378" cy="914"/>
          </a:xfrm>
          <a:prstGeom prst="line">
            <a:avLst/>
          </a:prstGeom>
          <a:noFill/>
          <a:ln w="12700">
            <a:solidFill>
              <a:srgbClr val="5F5E5A"/>
            </a:solidFill>
            <a:prstDash val="solid"/>
            <a:headEnd type="triangle"/>
            <a:tailEnd type="triangle"/>
          </a:ln>
        </p:spPr>
      </p:sp>
      <p:sp>
        <p:nvSpPr>
          <p:cNvPr id="22" name="Text 20"/>
          <p:cNvSpPr txBox="1"/>
          <p:nvPr/>
        </p:nvSpPr>
        <p:spPr>
          <a:xfrm>
            <a:off x="7863840" y="3097256"/>
            <a:ext cx="1613002" cy="201168"/>
          </a:xfrm>
          <a:prstGeom prst="rect">
            <a:avLst/>
          </a:prstGeom>
          <a:noFill/>
          <a:ln/>
        </p:spPr>
        <p:txBody>
          <a:bodyPr wrap="square" lIns="0" tIns="0" rIns="0" bIns="0" rtlCol="0" anchor="t"/>
          <a:lstStyle/>
          <a:p>
            <a:pPr algn="ctr" indent="0" marL="0">
              <a:buNone/>
            </a:pPr>
            <a:r>
              <a:rPr lang="en-US" sz="1000" dirty="0">
                <a:solidFill>
                  <a:srgbClr val="0F6E56"/>
                </a:solidFill>
                <a:latin typeface="Calibri" pitchFamily="34" charset="0"/>
                <a:ea typeface="Calibri" pitchFamily="34" charset="-122"/>
                <a:cs typeface="Calibri" pitchFamily="34" charset="-120"/>
              </a:rPr>
              <a:t>Own loop + state</a:t>
            </a:r>
            <a:endParaRPr lang="en-US" sz="1000" dirty="0"/>
          </a:p>
        </p:txBody>
      </p:sp>
      <p:sp>
        <p:nvSpPr>
          <p:cNvPr id="23" name="Text 21"/>
          <p:cNvSpPr/>
          <p:nvPr/>
        </p:nvSpPr>
        <p:spPr>
          <a:xfrm>
            <a:off x="9611258" y="2075688"/>
            <a:ext cx="1613002" cy="1344168"/>
          </a:xfrm>
          <a:prstGeom prst="roundRect">
            <a:avLst>
              <a:gd name="adj" fmla="val 8163"/>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sp>
        <p:nvSpPr>
          <p:cNvPr id="24" name="Text 22"/>
          <p:cNvSpPr txBox="1"/>
          <p:nvPr/>
        </p:nvSpPr>
        <p:spPr>
          <a:xfrm>
            <a:off x="9611258" y="2147377"/>
            <a:ext cx="1613002" cy="358445"/>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Action</a:t>
            </a:r>
            <a:endParaRPr lang="en-US" sz="1400" dirty="0"/>
          </a:p>
          <a:p>
            <a:pPr algn="ctr" indent="0" marL="0">
              <a:buNone/>
            </a:pPr>
            <a:r>
              <a:rPr lang="en-US" sz="1000" dirty="0">
                <a:solidFill>
                  <a:srgbClr val="0F6E56"/>
                </a:solidFill>
                <a:latin typeface="Calibri" pitchFamily="34" charset="0"/>
                <a:ea typeface="Calibri" pitchFamily="34" charset="-122"/>
                <a:cs typeface="Calibri" pitchFamily="34" charset="-120"/>
              </a:rPr>
              <a:t>subgraph</a:t>
            </a:r>
            <a:endParaRPr lang="en-US" sz="1400" dirty="0"/>
          </a:p>
        </p:txBody>
      </p:sp>
      <p:sp>
        <p:nvSpPr>
          <p:cNvPr id="25" name="Text 23"/>
          <p:cNvSpPr/>
          <p:nvPr/>
        </p:nvSpPr>
        <p:spPr>
          <a:xfrm>
            <a:off x="9745675"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LLM</a:t>
            </a:r>
            <a:endParaRPr lang="en-US" sz="1000" dirty="0"/>
          </a:p>
        </p:txBody>
      </p:sp>
      <p:sp>
        <p:nvSpPr>
          <p:cNvPr id="26" name="Text 24"/>
          <p:cNvSpPr/>
          <p:nvPr/>
        </p:nvSpPr>
        <p:spPr>
          <a:xfrm>
            <a:off x="10498409" y="2577511"/>
            <a:ext cx="591434" cy="358445"/>
          </a:xfrm>
          <a:prstGeom prst="roundRect">
            <a:avLst>
              <a:gd name="adj" fmla="val 20408"/>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000" dirty="0">
                <a:solidFill>
                  <a:srgbClr val="2C2C2A"/>
                </a:solidFill>
                <a:latin typeface="Calibri" pitchFamily="34" charset="0"/>
                <a:ea typeface="Calibri" pitchFamily="34" charset="-122"/>
                <a:cs typeface="Calibri" pitchFamily="34" charset="-120"/>
              </a:rPr>
              <a:t>Tools</a:t>
            </a:r>
            <a:endParaRPr lang="en-US" sz="1000" dirty="0"/>
          </a:p>
        </p:txBody>
      </p:sp>
      <p:sp>
        <p:nvSpPr>
          <p:cNvPr id="27" name="Shape 25"/>
          <p:cNvSpPr/>
          <p:nvPr/>
        </p:nvSpPr>
        <p:spPr>
          <a:xfrm>
            <a:off x="10346070" y="2756733"/>
            <a:ext cx="143378" cy="914"/>
          </a:xfrm>
          <a:prstGeom prst="line">
            <a:avLst/>
          </a:prstGeom>
          <a:noFill/>
          <a:ln w="12700">
            <a:solidFill>
              <a:srgbClr val="5F5E5A"/>
            </a:solidFill>
            <a:prstDash val="solid"/>
            <a:headEnd type="triangle"/>
            <a:tailEnd type="triangle"/>
          </a:ln>
        </p:spPr>
      </p:sp>
      <p:sp>
        <p:nvSpPr>
          <p:cNvPr id="28" name="Text 26"/>
          <p:cNvSpPr txBox="1"/>
          <p:nvPr/>
        </p:nvSpPr>
        <p:spPr>
          <a:xfrm>
            <a:off x="9611258" y="3097256"/>
            <a:ext cx="1613002" cy="201168"/>
          </a:xfrm>
          <a:prstGeom prst="rect">
            <a:avLst/>
          </a:prstGeom>
          <a:noFill/>
          <a:ln/>
        </p:spPr>
        <p:txBody>
          <a:bodyPr wrap="square" lIns="0" tIns="0" rIns="0" bIns="0" rtlCol="0" anchor="t"/>
          <a:lstStyle/>
          <a:p>
            <a:pPr algn="ctr" indent="0" marL="0">
              <a:buNone/>
            </a:pPr>
            <a:r>
              <a:rPr lang="en-US" sz="1000" dirty="0">
                <a:solidFill>
                  <a:srgbClr val="0F6E56"/>
                </a:solidFill>
                <a:latin typeface="Calibri" pitchFamily="34" charset="0"/>
                <a:ea typeface="Calibri" pitchFamily="34" charset="-122"/>
                <a:cs typeface="Calibri" pitchFamily="34" charset="-120"/>
              </a:rPr>
              <a:t>Own loop + state</a:t>
            </a:r>
            <a:endParaRPr lang="en-US" sz="1000" dirty="0"/>
          </a:p>
        </p:txBody>
      </p:sp>
      <p:sp>
        <p:nvSpPr>
          <p:cNvPr id="29" name="Shape 27"/>
          <p:cNvSpPr/>
          <p:nvPr/>
        </p:nvSpPr>
        <p:spPr>
          <a:xfrm>
            <a:off x="7057339" y="3419856"/>
            <a:ext cx="1164946" cy="250911"/>
          </a:xfrm>
          <a:prstGeom prst="line">
            <a:avLst/>
          </a:prstGeom>
          <a:noFill/>
          <a:ln w="15875">
            <a:solidFill>
              <a:srgbClr val="5F5E5A"/>
            </a:solidFill>
            <a:prstDash val="solid"/>
            <a:tailEnd type="triangle"/>
          </a:ln>
        </p:spPr>
      </p:sp>
      <p:sp>
        <p:nvSpPr>
          <p:cNvPr id="30" name="Shape 28"/>
          <p:cNvSpPr/>
          <p:nvPr/>
        </p:nvSpPr>
        <p:spPr>
          <a:xfrm>
            <a:off x="8670341" y="3419856"/>
            <a:ext cx="914" cy="250911"/>
          </a:xfrm>
          <a:prstGeom prst="line">
            <a:avLst/>
          </a:prstGeom>
          <a:noFill/>
          <a:ln w="15875">
            <a:solidFill>
              <a:srgbClr val="5F5E5A"/>
            </a:solidFill>
            <a:prstDash val="solid"/>
            <a:tailEnd type="triangle"/>
          </a:ln>
        </p:spPr>
      </p:sp>
      <p:sp>
        <p:nvSpPr>
          <p:cNvPr id="31" name="Shape 29"/>
          <p:cNvSpPr/>
          <p:nvPr/>
        </p:nvSpPr>
        <p:spPr>
          <a:xfrm flipH="1">
            <a:off x="9118397" y="3419856"/>
            <a:ext cx="1164946" cy="250911"/>
          </a:xfrm>
          <a:prstGeom prst="line">
            <a:avLst/>
          </a:prstGeom>
          <a:noFill/>
          <a:ln w="15875">
            <a:solidFill>
              <a:srgbClr val="5F5E5A"/>
            </a:solidFill>
            <a:prstDash val="solid"/>
            <a:tailEnd type="triangle"/>
          </a:ln>
        </p:spPr>
      </p:sp>
      <p:sp>
        <p:nvSpPr>
          <p:cNvPr id="32" name="Text 30"/>
          <p:cNvSpPr/>
          <p:nvPr/>
        </p:nvSpPr>
        <p:spPr>
          <a:xfrm>
            <a:off x="7684618" y="3688690"/>
            <a:ext cx="1971446" cy="483900"/>
          </a:xfrm>
          <a:prstGeom prst="roundRect">
            <a:avLst>
              <a:gd name="adj" fmla="val 1511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Checker</a:t>
            </a:r>
            <a:endParaRPr lang="en-US" sz="1200" dirty="0"/>
          </a:p>
          <a:p>
            <a:pPr algn="ctr" indent="0" marL="0">
              <a:buNone/>
            </a:pPr>
            <a:r>
              <a:rPr lang="en-US" sz="1000" dirty="0">
                <a:solidFill>
                  <a:srgbClr val="534AB7"/>
                </a:solidFill>
                <a:latin typeface="Calibri" pitchFamily="34" charset="0"/>
                <a:ea typeface="Calibri" pitchFamily="34" charset="-122"/>
                <a:cs typeface="Calibri" pitchFamily="34" charset="-120"/>
              </a:rPr>
              <a:t>Verifies the result</a:t>
            </a:r>
            <a:endParaRPr lang="en-US" sz="1200" dirty="0"/>
          </a:p>
        </p:txBody>
      </p:sp>
      <p:sp>
        <p:nvSpPr>
          <p:cNvPr id="33" name="Shape 31"/>
          <p:cNvSpPr/>
          <p:nvPr/>
        </p:nvSpPr>
        <p:spPr>
          <a:xfrm>
            <a:off x="8670341" y="4172590"/>
            <a:ext cx="914" cy="394289"/>
          </a:xfrm>
          <a:prstGeom prst="line">
            <a:avLst/>
          </a:prstGeom>
          <a:noFill/>
          <a:ln w="15875">
            <a:solidFill>
              <a:srgbClr val="5F5E5A"/>
            </a:solidFill>
            <a:prstDash val="solid"/>
            <a:tailEnd type="triangle"/>
          </a:ln>
        </p:spPr>
      </p:sp>
      <p:sp>
        <p:nvSpPr>
          <p:cNvPr id="34" name="Text 32"/>
          <p:cNvSpPr/>
          <p:nvPr/>
        </p:nvSpPr>
        <p:spPr>
          <a:xfrm>
            <a:off x="7953451" y="4584802"/>
            <a:ext cx="1433779" cy="394289"/>
          </a:xfrm>
          <a:prstGeom prst="roundRect">
            <a:avLst>
              <a:gd name="adj" fmla="val 18553"/>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alibri" pitchFamily="34" charset="0"/>
                <a:ea typeface="Calibri" pitchFamily="34" charset="-122"/>
                <a:cs typeface="Calibri" pitchFamily="34" charset="-120"/>
              </a:rPr>
              <a:t>Final answer</a:t>
            </a:r>
            <a:endParaRPr lang="en-US" sz="1100" dirty="0"/>
          </a:p>
        </p:txBody>
      </p:sp>
      <p:sp>
        <p:nvSpPr>
          <p:cNvPr id="35" name="Text 33"/>
          <p:cNvSpPr txBox="1"/>
          <p:nvPr/>
        </p:nvSpPr>
        <p:spPr>
          <a:xfrm>
            <a:off x="5892394" y="5122469"/>
            <a:ext cx="5555894" cy="228600"/>
          </a:xfrm>
          <a:prstGeom prst="rect">
            <a:avLst/>
          </a:prstGeom>
          <a:noFill/>
          <a:ln/>
        </p:spPr>
        <p:txBody>
          <a:bodyPr wrap="square" lIns="0" tIns="0" rIns="0" bIns="0" rtlCol="0" anchor="t"/>
          <a:lstStyle/>
          <a:p>
            <a:pPr algn="ctr" indent="0" marL="0">
              <a:buNone/>
            </a:pPr>
            <a:r>
              <a:rPr lang="en-US" sz="1000" dirty="0">
                <a:solidFill>
                  <a:srgbClr val="5F5E5A"/>
                </a:solidFill>
                <a:latin typeface="Calibri" pitchFamily="34" charset="0"/>
                <a:ea typeface="Calibri" pitchFamily="34" charset="-122"/>
                <a:cs typeface="Calibri" pitchFamily="34" charset="-120"/>
              </a:rPr>
              <a:t>Purple: control nodes  ·  Dashed teal: subgraphs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15875">
            <a:solidFill>
              <a:srgbClr val="B4B2A9"/>
            </a:solidFill>
            <a:prstDash val="solid"/>
          </a:ln>
        </p:spPr>
      </p:sp>
      <p:sp>
        <p:nvSpPr>
          <p:cNvPr id="4" name="!!e_agent-sql"/>
          <p:cNvSpPr/>
          <p:nvPr/>
        </p:nvSpPr>
        <p:spPr>
          <a:xfrm flipH="1" flipV="1">
            <a:off x="2124260" y="2577840"/>
            <a:ext cx="1704297" cy="658478"/>
          </a:xfrm>
          <a:prstGeom prst="line">
            <a:avLst/>
          </a:prstGeom>
          <a:noFill/>
          <a:ln w="15875">
            <a:solidFill>
              <a:srgbClr val="B4B2A9"/>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170307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 we start</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Same agent, same five tools. First, one ticket.</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  # one BAU defect</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8288" cy="128016"/>
          </a:xfrm>
          <a:prstGeom prst="roundRect">
            <a:avLst>
              <a:gd name="adj" fmla="val 3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44450">
            <a:solidFill>
              <a:srgbClr val="1D9E75"/>
            </a:solidFill>
            <a:prstDash val="solid"/>
          </a:ln>
        </p:spPr>
      </p:sp>
      <p:sp>
        <p:nvSpPr>
          <p:cNvPr id="4" name="!!e_agent-sql"/>
          <p:cNvSpPr/>
          <p:nvPr/>
        </p:nvSpPr>
        <p:spPr>
          <a:xfrm flipH="1" flipV="1">
            <a:off x="2124260" y="2577840"/>
            <a:ext cx="1704297" cy="658478"/>
          </a:xfrm>
          <a:prstGeom prst="line">
            <a:avLst/>
          </a:prstGeom>
          <a:noFill/>
          <a:ln w="15875">
            <a:solidFill>
              <a:srgbClr val="B4B2A9"/>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282321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Defect: PD is null for 120 accounts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[ticket_4521]</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6002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44450">
            <a:solidFill>
              <a:srgbClr val="1D9E75"/>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248640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Find where the nulls come from</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run_sql(count nulls by source)</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2004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44450">
            <a:solidFill>
              <a:srgbClr val="1D9E75"/>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144878"/>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All 120 come from one source feed</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  # 5 rows</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15%</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48006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44450">
            <a:solidFill>
              <a:srgbClr val="1D9E75"/>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379660" y="248640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Look at how that feed is joined</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search_code("pd_join")</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64008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44450">
            <a:solidFill>
              <a:srgbClr val="1D9E75"/>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675363" y="3144878"/>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Join is on the wrong key</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26%</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832104"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25400">
            <a:solidFill>
              <a:srgbClr val="1D9E75"/>
            </a:solidFill>
            <a:prstDash val="solid"/>
          </a:ln>
        </p:spPr>
      </p:sp>
      <p:sp>
        <p:nvSpPr>
          <p:cNvPr id="6" name="!!e_agent-tests"/>
          <p:cNvSpPr/>
          <p:nvPr/>
        </p:nvSpPr>
        <p:spPr>
          <a:xfrm flipH="1">
            <a:off x="2124260" y="3598822"/>
            <a:ext cx="1704297" cy="658478"/>
          </a:xfrm>
          <a:prstGeom prst="line">
            <a:avLst/>
          </a:prstGeom>
          <a:noFill/>
          <a:ln w="44450">
            <a:solidFill>
              <a:srgbClr val="1D9E75"/>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416586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Apply fix, run reconciliation</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31%</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992124"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25400">
            <a:solidFill>
              <a:srgbClr val="1D9E75"/>
            </a:solidFill>
            <a:prstDash val="solid"/>
          </a:ln>
        </p:spPr>
      </p:sp>
      <p:sp>
        <p:nvSpPr>
          <p:cNvPr id="6" name="!!e_agent-tests"/>
          <p:cNvSpPr/>
          <p:nvPr/>
        </p:nvSpPr>
        <p:spPr>
          <a:xfrm flipH="1">
            <a:off x="2124260" y="3598822"/>
            <a:ext cx="1704297" cy="658478"/>
          </a:xfrm>
          <a:prstGeom prst="line">
            <a:avLst/>
          </a:prstGeom>
          <a:noFill/>
          <a:ln w="44450">
            <a:solidFill>
              <a:srgbClr val="1D9E75"/>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507382"/>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7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Reconciliation passes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messages.append({"status": "pass"})</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34%</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088136"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25400">
            <a:solidFill>
              <a:srgbClr val="1D9E75"/>
            </a:solidFill>
            <a:prstDash val="solid"/>
          </a:ln>
        </p:spPr>
      </p:sp>
      <p:sp>
        <p:nvSpPr>
          <p:cNvPr id="6" name="!!e_agent-tests"/>
          <p:cNvSpPr/>
          <p:nvPr/>
        </p:nvSpPr>
        <p:spPr>
          <a:xfrm flipH="1">
            <a:off x="2124260" y="3598822"/>
            <a:ext cx="1704297" cy="658478"/>
          </a:xfrm>
          <a:prstGeom prst="line">
            <a:avLst/>
          </a:prstGeom>
          <a:noFill/>
          <a:ln w="25400">
            <a:solidFill>
              <a:srgbClr val="1D9E75"/>
            </a:solidFill>
            <a:prstDash val="solid"/>
          </a:ln>
        </p:spPr>
      </p:sp>
      <p:sp>
        <p:nvSpPr>
          <p:cNvPr id="7" name="!!e_agent-human"/>
          <p:cNvSpPr/>
          <p:nvPr/>
        </p:nvSpPr>
        <p:spPr>
          <a:xfrm>
            <a:off x="4766803" y="3598822"/>
            <a:ext cx="1704297" cy="658478"/>
          </a:xfrm>
          <a:prstGeom prst="line">
            <a:avLst/>
          </a:prstGeom>
          <a:noFill/>
          <a:ln w="44450">
            <a:solidFill>
              <a:srgbClr val="1D9E75"/>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379660" y="416586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8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Fix and evidence sent for sign-off</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"end_turn" → human_signoff</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37%</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184148"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1D9E75"/>
            </a:solidFill>
            <a:prstDash val="solid"/>
          </a:ln>
        </p:spPr>
      </p:sp>
      <p:sp>
        <p:nvSpPr>
          <p:cNvPr id="4" name="!!e_agent-sql"/>
          <p:cNvSpPr/>
          <p:nvPr/>
        </p:nvSpPr>
        <p:spPr>
          <a:xfrm flipH="1" flipV="1">
            <a:off x="2124260" y="2577840"/>
            <a:ext cx="1704297" cy="658478"/>
          </a:xfrm>
          <a:prstGeom prst="line">
            <a:avLst/>
          </a:prstGeom>
          <a:noFill/>
          <a:ln w="25400">
            <a:solidFill>
              <a:srgbClr val="1D9E75"/>
            </a:solidFill>
            <a:prstDash val="solid"/>
          </a:ln>
        </p:spPr>
      </p:sp>
      <p:sp>
        <p:nvSpPr>
          <p:cNvPr id="5" name="!!e_agent-code"/>
          <p:cNvSpPr/>
          <p:nvPr/>
        </p:nvSpPr>
        <p:spPr>
          <a:xfrm flipV="1">
            <a:off x="4766803" y="2577840"/>
            <a:ext cx="1704297" cy="658478"/>
          </a:xfrm>
          <a:prstGeom prst="line">
            <a:avLst/>
          </a:prstGeom>
          <a:noFill/>
          <a:ln w="25400">
            <a:solidFill>
              <a:srgbClr val="1D9E75"/>
            </a:solidFill>
            <a:prstDash val="solid"/>
          </a:ln>
        </p:spPr>
      </p:sp>
      <p:sp>
        <p:nvSpPr>
          <p:cNvPr id="6" name="!!e_agent-tests"/>
          <p:cNvSpPr/>
          <p:nvPr/>
        </p:nvSpPr>
        <p:spPr>
          <a:xfrm flipH="1">
            <a:off x="2124260" y="3598822"/>
            <a:ext cx="1704297" cy="658478"/>
          </a:xfrm>
          <a:prstGeom prst="line">
            <a:avLst/>
          </a:prstGeom>
          <a:noFill/>
          <a:ln w="25400">
            <a:solidFill>
              <a:srgbClr val="1D9E75"/>
            </a:solidFill>
            <a:prstDash val="solid"/>
          </a:ln>
        </p:spPr>
      </p:sp>
      <p:sp>
        <p:nvSpPr>
          <p:cNvPr id="7" name="!!e_agent-human"/>
          <p:cNvSpPr/>
          <p:nvPr/>
        </p:nvSpPr>
        <p:spPr>
          <a:xfrm>
            <a:off x="4766803" y="3598822"/>
            <a:ext cx="1704297" cy="658478"/>
          </a:xfrm>
          <a:prstGeom prst="line">
            <a:avLst/>
          </a:prstGeom>
          <a:noFill/>
          <a:ln w="25400">
            <a:solidFill>
              <a:srgbClr val="1D9E75"/>
            </a:solidFill>
            <a:prstDash val="solid"/>
          </a:ln>
        </p:spPr>
      </p:sp>
      <p:sp>
        <p:nvSpPr>
          <p:cNvPr id="8" name="!!e_close-human"/>
          <p:cNvSpPr/>
          <p:nvPr/>
        </p:nvSpPr>
        <p:spPr>
          <a:xfrm>
            <a:off x="6812280" y="4754880"/>
            <a:ext cx="914" cy="411480"/>
          </a:xfrm>
          <a:prstGeom prst="line">
            <a:avLst/>
          </a:prstGeom>
          <a:noFill/>
          <a:ln w="44450">
            <a:solidFill>
              <a:srgbClr val="1D9E75"/>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720840" y="5074920"/>
            <a:ext cx="182880" cy="182880"/>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9 of 9</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Approved. Ticket closed.</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approved = True → close_ticket(4521)</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37%</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184148"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41" name="!!final"/>
          <p:cNvSpPr/>
          <p:nvPr/>
        </p:nvSpPr>
        <p:spPr>
          <a:xfrm>
            <a:off x="8549640" y="5440680"/>
            <a:ext cx="3200400" cy="685800"/>
          </a:xfrm>
          <a:prstGeom prst="roundRect">
            <a:avLst>
              <a:gd name="adj" fmla="val 10667"/>
            </a:avLst>
          </a:prstGeom>
          <a:solidFill>
            <a:srgbClr val="E1F5EE"/>
          </a:solidFill>
          <a:ln w="12700">
            <a:solidFill>
              <a:srgbClr val="0F6E56"/>
            </a:solidFill>
            <a:prstDash val="solid"/>
          </a:ln>
        </p:spPr>
        <p:txBody>
          <a:bodyPr wrap="square" lIns="127000" tIns="127000" rIns="127000" bIns="127000" rtlCol="0" anchor="ctr"/>
          <a:lstStyle/>
          <a:p>
            <a:pPr algn="l" indent="0" marL="0">
              <a:buNone/>
            </a:pPr>
            <a:r>
              <a:rPr lang="en-US" sz="1300" b="1" dirty="0">
                <a:solidFill>
                  <a:srgbClr val="085041"/>
                </a:solidFill>
                <a:latin typeface="Calibri" pitchFamily="34" charset="0"/>
                <a:ea typeface="Calibri" pitchFamily="34" charset="-122"/>
                <a:cs typeface="Calibri" pitchFamily="34" charset="-120"/>
              </a:rPr>
              <a:t>1 ticket, 4 LLM calls, fixed and signed off.</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15875">
            <a:solidFill>
              <a:srgbClr val="B4B2A9"/>
            </a:solidFill>
            <a:prstDash val="solid"/>
          </a:ln>
        </p:spPr>
      </p:sp>
      <p:sp>
        <p:nvSpPr>
          <p:cNvPr id="4" name="!!e_agent-sql"/>
          <p:cNvSpPr/>
          <p:nvPr/>
        </p:nvSpPr>
        <p:spPr>
          <a:xfrm flipH="1" flipV="1">
            <a:off x="2124260" y="2577840"/>
            <a:ext cx="1704297" cy="658478"/>
          </a:xfrm>
          <a:prstGeom prst="line">
            <a:avLst/>
          </a:prstGeom>
          <a:noFill/>
          <a:ln w="15875">
            <a:solidFill>
              <a:srgbClr val="B4B2A9"/>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170307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 we start</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Now give the same agent three tickets in one session.</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  # three BAU defects</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8288" cy="128016"/>
          </a:xfrm>
          <a:prstGeom prst="roundRect">
            <a:avLst>
              <a:gd name="adj" fmla="val 3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44450">
            <a:solidFill>
              <a:srgbClr val="BA7517"/>
            </a:solidFill>
            <a:prstDash val="solid"/>
          </a:ln>
        </p:spPr>
      </p:sp>
      <p:sp>
        <p:nvSpPr>
          <p:cNvPr id="4" name="!!e_agent-sql"/>
          <p:cNvSpPr/>
          <p:nvPr/>
        </p:nvSpPr>
        <p:spPr>
          <a:xfrm flipH="1" flipV="1">
            <a:off x="2124260" y="2577840"/>
            <a:ext cx="1704297" cy="658478"/>
          </a:xfrm>
          <a:prstGeom prst="line">
            <a:avLst/>
          </a:prstGeom>
          <a:noFill/>
          <a:ln w="15875">
            <a:solidFill>
              <a:srgbClr val="B4B2A9"/>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282321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defects queued in one session</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[ticket_4521, ticket_4522, ticket_4523]</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2004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44450">
            <a:solidFill>
              <a:srgbClr val="BA7517"/>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248640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Pulls the whole table to "have a look"</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run_sql("SELECT * ...")</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Unbounded tool output</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15%</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48006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44450">
            <a:solidFill>
              <a:srgbClr val="BA7517"/>
            </a:solidFill>
            <a:prstDash val="solid"/>
          </a:ln>
        </p:spPr>
      </p:sp>
      <p:sp>
        <p:nvSpPr>
          <p:cNvPr id="5" name="!!e_agent-code"/>
          <p:cNvSpPr/>
          <p:nvPr/>
        </p:nvSpPr>
        <p:spPr>
          <a:xfrm flipV="1">
            <a:off x="4766803" y="2577840"/>
            <a:ext cx="1704297" cy="658478"/>
          </a:xfrm>
          <a:prstGeom prst="line">
            <a:avLst/>
          </a:prstGeom>
          <a:noFill/>
          <a:ln w="15875">
            <a:solidFill>
              <a:srgbClr val="B4B2A9"/>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144878"/>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50,000 rows land in the context</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  # 30k tokens</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limit on what a tool returns</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43%</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376172"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44450">
            <a:solidFill>
              <a:srgbClr val="BA7517"/>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379660" y="248640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Finds the join bug for ticket 4521</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search_code("pd_join")</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49%</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568196"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44450">
            <a:solidFill>
              <a:srgbClr val="BA7517"/>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675363" y="3144878"/>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Bug found, but it switches to ticket 4522</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Task switching inside one context</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55%</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76022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4445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534AB7.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248640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Queries accounts for 4522</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run_sql(accounts_4522)</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Shared state across tasks</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192024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4445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15875">
            <a:solidFill>
              <a:srgbClr val="B4B2A9"/>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144878"/>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7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Now two account lists sit side by side</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Shared state across tasks</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24028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BA7517"/>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4165860"/>
            <a:ext cx="182880" cy="182880"/>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8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Tests fix 4521 using 4522 data</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 data_4522)</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Wrong state passed to step</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74%</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368296"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507382"/>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9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 fails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"fail"}</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78%</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496312"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4165860"/>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10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Retries the same fix</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  # again</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retry budget</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82%</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624328"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507382"/>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11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Fails again</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"fail"}</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86%</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752344"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2032820" y="4165860"/>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12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Edits the test so it passes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edit_test()  # marks own homework</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Maker is also the checker</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91%</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2912364"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44450">
            <a:solidFill>
              <a:srgbClr val="A32D2D"/>
            </a:solidFill>
            <a:prstDash val="solid"/>
          </a:ln>
        </p:spPr>
      </p:sp>
      <p:sp>
        <p:nvSpPr>
          <p:cNvPr id="7" name="!!e_agent-human"/>
          <p:cNvSpPr/>
          <p:nvPr/>
        </p:nvSpPr>
        <p:spPr>
          <a:xfrm>
            <a:off x="4766803" y="3598822"/>
            <a:ext cx="1704297" cy="658478"/>
          </a:xfrm>
          <a:prstGeom prst="line">
            <a:avLst/>
          </a:prstGeom>
          <a:noFill/>
          <a:ln w="15875">
            <a:solidFill>
              <a:srgbClr val="B4B2A9"/>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3737117" y="3507382"/>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13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 "passes"</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"pass"}  # false green</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Maker is also the checker</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94%</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008376"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25400">
            <a:solidFill>
              <a:srgbClr val="A32D2D"/>
            </a:solidFill>
            <a:prstDash val="solid"/>
          </a:ln>
        </p:spPr>
      </p:sp>
      <p:sp>
        <p:nvSpPr>
          <p:cNvPr id="7" name="!!e_agent-human"/>
          <p:cNvSpPr/>
          <p:nvPr/>
        </p:nvSpPr>
        <p:spPr>
          <a:xfrm>
            <a:off x="4766803" y="3598822"/>
            <a:ext cx="1704297" cy="658478"/>
          </a:xfrm>
          <a:prstGeom prst="line">
            <a:avLst/>
          </a:prstGeom>
          <a:noFill/>
          <a:ln w="44450">
            <a:solidFill>
              <a:srgbClr val="A32D2D"/>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6379660" y="4165860"/>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14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Sends fix for 4521 with evidence from 4522</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"end_turn" → human_signoff</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97%</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104388"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25400">
            <a:solidFill>
              <a:srgbClr val="A32D2D"/>
            </a:solidFill>
            <a:prstDash val="solid"/>
          </a:ln>
        </p:spPr>
      </p:sp>
      <p:sp>
        <p:nvSpPr>
          <p:cNvPr id="7" name="!!e_agent-human"/>
          <p:cNvSpPr/>
          <p:nvPr/>
        </p:nvSpPr>
        <p:spPr>
          <a:xfrm>
            <a:off x="4766803" y="3598822"/>
            <a:ext cx="1704297" cy="658478"/>
          </a:xfrm>
          <a:prstGeom prst="line">
            <a:avLst/>
          </a:prstGeom>
          <a:noFill/>
          <a:ln w="44450">
            <a:solidFill>
              <a:srgbClr val="A32D2D"/>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675363" y="3507382"/>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15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Rejected: evidence does not match ticket</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messages.append(reject_feedback)</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checkpoint to resume from</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200400"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Why Single Agents Fail</a:t>
            </a:r>
            <a:endParaRPr lang="en-US" sz="3000" dirty="0"/>
          </a:p>
        </p:txBody>
      </p:sp>
      <p:sp>
        <p:nvSpPr>
          <p:cNvPr id="3" name="!!e_agent-ticket"/>
          <p:cNvSpPr/>
          <p:nvPr/>
        </p:nvSpPr>
        <p:spPr>
          <a:xfrm>
            <a:off x="4297680" y="1817370"/>
            <a:ext cx="914" cy="1097280"/>
          </a:xfrm>
          <a:prstGeom prst="line">
            <a:avLst/>
          </a:prstGeom>
          <a:noFill/>
          <a:ln w="25400">
            <a:solidFill>
              <a:srgbClr val="BA7517"/>
            </a:solidFill>
            <a:prstDash val="solid"/>
          </a:ln>
        </p:spPr>
      </p:sp>
      <p:sp>
        <p:nvSpPr>
          <p:cNvPr id="4" name="!!e_agent-sql"/>
          <p:cNvSpPr/>
          <p:nvPr/>
        </p:nvSpPr>
        <p:spPr>
          <a:xfrm flipH="1" flipV="1">
            <a:off x="2124260" y="2577840"/>
            <a:ext cx="1704297" cy="658478"/>
          </a:xfrm>
          <a:prstGeom prst="line">
            <a:avLst/>
          </a:prstGeom>
          <a:noFill/>
          <a:ln w="25400">
            <a:solidFill>
              <a:srgbClr val="BA7517"/>
            </a:solidFill>
            <a:prstDash val="solid"/>
          </a:ln>
        </p:spPr>
      </p:sp>
      <p:sp>
        <p:nvSpPr>
          <p:cNvPr id="5" name="!!e_agent-code"/>
          <p:cNvSpPr/>
          <p:nvPr/>
        </p:nvSpPr>
        <p:spPr>
          <a:xfrm flipV="1">
            <a:off x="4766803" y="2577840"/>
            <a:ext cx="1704297" cy="658478"/>
          </a:xfrm>
          <a:prstGeom prst="line">
            <a:avLst/>
          </a:prstGeom>
          <a:noFill/>
          <a:ln w="25400">
            <a:solidFill>
              <a:srgbClr val="BA7517"/>
            </a:solidFill>
            <a:prstDash val="solid"/>
          </a:ln>
        </p:spPr>
      </p:sp>
      <p:sp>
        <p:nvSpPr>
          <p:cNvPr id="6" name="!!e_agent-tests"/>
          <p:cNvSpPr/>
          <p:nvPr/>
        </p:nvSpPr>
        <p:spPr>
          <a:xfrm flipH="1">
            <a:off x="2124260" y="3598822"/>
            <a:ext cx="1704297" cy="658478"/>
          </a:xfrm>
          <a:prstGeom prst="line">
            <a:avLst/>
          </a:prstGeom>
          <a:noFill/>
          <a:ln w="25400">
            <a:solidFill>
              <a:srgbClr val="A32D2D"/>
            </a:solidFill>
            <a:prstDash val="solid"/>
          </a:ln>
        </p:spPr>
      </p:sp>
      <p:sp>
        <p:nvSpPr>
          <p:cNvPr id="7" name="!!e_agent-human"/>
          <p:cNvSpPr/>
          <p:nvPr/>
        </p:nvSpPr>
        <p:spPr>
          <a:xfrm>
            <a:off x="4766803" y="3598822"/>
            <a:ext cx="1704297" cy="658478"/>
          </a:xfrm>
          <a:prstGeom prst="line">
            <a:avLst/>
          </a:prstGeom>
          <a:noFill/>
          <a:ln w="25400">
            <a:solidFill>
              <a:srgbClr val="A32D2D"/>
            </a:solidFill>
            <a:prstDash val="solid"/>
          </a:ln>
        </p:spPr>
      </p:sp>
      <p:sp>
        <p:nvSpPr>
          <p:cNvPr id="8" name="!!e_close-human"/>
          <p:cNvSpPr/>
          <p:nvPr/>
        </p:nvSpPr>
        <p:spPr>
          <a:xfrm>
            <a:off x="6812280" y="4754880"/>
            <a:ext cx="914" cy="411480"/>
          </a:xfrm>
          <a:prstGeom prst="line">
            <a:avLst/>
          </a:prstGeom>
          <a:noFill/>
          <a:ln w="15875">
            <a:solidFill>
              <a:srgbClr val="B4B2A9"/>
            </a:solidFill>
            <a:prstDash val="solid"/>
          </a:ln>
        </p:spPr>
      </p:sp>
      <p:sp>
        <p:nvSpPr>
          <p:cNvPr id="9" name="!!n_ticket"/>
          <p:cNvSpPr/>
          <p:nvPr/>
        </p:nvSpPr>
        <p:spPr>
          <a:xfrm>
            <a:off x="4000500" y="1177290"/>
            <a:ext cx="594360" cy="59436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0" name="!!i_ticket" descr="/home/claude/multi-agent-deck/assets/icons/TbTicket_2C2C2A.png">    </p:cNvPr>
          <p:cNvPicPr>
            <a:picLocks noChangeAspect="1"/>
          </p:cNvPicPr>
          <p:nvPr/>
        </p:nvPicPr>
        <p:blipFill>
          <a:blip r:embed="rId1"/>
          <a:stretch>
            <a:fillRect/>
          </a:stretch>
        </p:blipFill>
        <p:spPr>
          <a:xfrm>
            <a:off x="4141661" y="1318451"/>
            <a:ext cx="312039" cy="312039"/>
          </a:xfrm>
          <a:prstGeom prst="rect">
            <a:avLst/>
          </a:prstGeom>
        </p:spPr>
      </p:pic>
      <p:sp>
        <p:nvSpPr>
          <p:cNvPr id="11" name="!!l_ticket"/>
          <p:cNvSpPr txBox="1"/>
          <p:nvPr/>
        </p:nvSpPr>
        <p:spPr>
          <a:xfrm>
            <a:off x="4686300" y="135559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2" name="!!n_agent"/>
          <p:cNvSpPr/>
          <p:nvPr/>
        </p:nvSpPr>
        <p:spPr>
          <a:xfrm>
            <a:off x="3840480" y="2960370"/>
            <a:ext cx="914400" cy="914400"/>
          </a:xfrm>
          <a:prstGeom prst="ellipse">
            <a:avLst/>
          </a:prstGeom>
          <a:solidFill>
            <a:srgbClr val="FCEBEB"/>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3" name="!!i_agent" descr="/home/claude/multi-agent-deck/assets/icons/TbRobot_A32D2D.png">    </p:cNvPr>
          <p:cNvPicPr>
            <a:picLocks noChangeAspect="1"/>
          </p:cNvPicPr>
          <p:nvPr/>
        </p:nvPicPr>
        <p:blipFill>
          <a:blip r:embed="rId2"/>
          <a:stretch>
            <a:fillRect/>
          </a:stretch>
        </p:blipFill>
        <p:spPr>
          <a:xfrm>
            <a:off x="4057650" y="3177540"/>
            <a:ext cx="480060" cy="480060"/>
          </a:xfrm>
          <a:prstGeom prst="rect">
            <a:avLst/>
          </a:prstGeom>
        </p:spPr>
      </p:pic>
      <p:sp>
        <p:nvSpPr>
          <p:cNvPr id="14" name="!!l_agent"/>
          <p:cNvSpPr txBox="1"/>
          <p:nvPr/>
        </p:nvSpPr>
        <p:spPr>
          <a:xfrm>
            <a:off x="3474720" y="394335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5" name="!!n_sql"/>
          <p:cNvSpPr/>
          <p:nvPr/>
        </p:nvSpPr>
        <p:spPr>
          <a:xfrm>
            <a:off x="14630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6" name="!!i_sql" descr="/home/claude/multi-agent-deck/assets/icons/TbDatabase_2C2C2A.png">    </p:cNvPr>
          <p:cNvPicPr>
            <a:picLocks noChangeAspect="1"/>
          </p:cNvPicPr>
          <p:nvPr/>
        </p:nvPicPr>
        <p:blipFill>
          <a:blip r:embed="rId3"/>
          <a:stretch>
            <a:fillRect/>
          </a:stretch>
        </p:blipFill>
        <p:spPr>
          <a:xfrm>
            <a:off x="1615059" y="2277999"/>
            <a:ext cx="336042" cy="336042"/>
          </a:xfrm>
          <a:prstGeom prst="rect">
            <a:avLst/>
          </a:prstGeom>
        </p:spPr>
      </p:pic>
      <p:sp>
        <p:nvSpPr>
          <p:cNvPr id="17" name="!!l_sql"/>
          <p:cNvSpPr txBox="1"/>
          <p:nvPr/>
        </p:nvSpPr>
        <p:spPr>
          <a:xfrm>
            <a:off x="9601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18" name="!!n_code"/>
          <p:cNvSpPr/>
          <p:nvPr/>
        </p:nvSpPr>
        <p:spPr>
          <a:xfrm>
            <a:off x="6492240" y="21259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code" descr="/home/claude/multi-agent-deck/assets/icons/TbCode_2C2C2A.png">    </p:cNvPr>
          <p:cNvPicPr>
            <a:picLocks noChangeAspect="1"/>
          </p:cNvPicPr>
          <p:nvPr/>
        </p:nvPicPr>
        <p:blipFill>
          <a:blip r:embed="rId4"/>
          <a:stretch>
            <a:fillRect/>
          </a:stretch>
        </p:blipFill>
        <p:spPr>
          <a:xfrm>
            <a:off x="6644259" y="2277999"/>
            <a:ext cx="336042" cy="336042"/>
          </a:xfrm>
          <a:prstGeom prst="rect">
            <a:avLst/>
          </a:prstGeom>
        </p:spPr>
      </p:pic>
      <p:sp>
        <p:nvSpPr>
          <p:cNvPr id="20" name="!!l_code"/>
          <p:cNvSpPr txBox="1"/>
          <p:nvPr/>
        </p:nvSpPr>
        <p:spPr>
          <a:xfrm>
            <a:off x="5989320" y="28346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1" name="!!n_tests"/>
          <p:cNvSpPr/>
          <p:nvPr/>
        </p:nvSpPr>
        <p:spPr>
          <a:xfrm>
            <a:off x="14630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tests" descr="/home/claude/multi-agent-deck/assets/icons/TbTestPipe_2C2C2A.png">    </p:cNvPr>
          <p:cNvPicPr>
            <a:picLocks noChangeAspect="1"/>
          </p:cNvPicPr>
          <p:nvPr/>
        </p:nvPicPr>
        <p:blipFill>
          <a:blip r:embed="rId5"/>
          <a:stretch>
            <a:fillRect/>
          </a:stretch>
        </p:blipFill>
        <p:spPr>
          <a:xfrm>
            <a:off x="1615059" y="4221099"/>
            <a:ext cx="336042" cy="336042"/>
          </a:xfrm>
          <a:prstGeom prst="rect">
            <a:avLst/>
          </a:prstGeom>
        </p:spPr>
      </p:pic>
      <p:sp>
        <p:nvSpPr>
          <p:cNvPr id="23" name="!!l_tests"/>
          <p:cNvSpPr txBox="1"/>
          <p:nvPr/>
        </p:nvSpPr>
        <p:spPr>
          <a:xfrm>
            <a:off x="960120" y="477774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4" name="!!n_human"/>
          <p:cNvSpPr/>
          <p:nvPr/>
        </p:nvSpPr>
        <p:spPr>
          <a:xfrm>
            <a:off x="6492240" y="4069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human" descr="/home/claude/multi-agent-deck/assets/icons/TbUserCheck_2C2C2A.png">    </p:cNvPr>
          <p:cNvPicPr>
            <a:picLocks noChangeAspect="1"/>
          </p:cNvPicPr>
          <p:nvPr/>
        </p:nvPicPr>
        <p:blipFill>
          <a:blip r:embed="rId6"/>
          <a:stretch>
            <a:fillRect/>
          </a:stretch>
        </p:blipFill>
        <p:spPr>
          <a:xfrm>
            <a:off x="6644259" y="4221099"/>
            <a:ext cx="336042" cy="336042"/>
          </a:xfrm>
          <a:prstGeom prst="rect">
            <a:avLst/>
          </a:prstGeom>
        </p:spPr>
      </p:pic>
      <p:sp>
        <p:nvSpPr>
          <p:cNvPr id="26" name="!!l_human"/>
          <p:cNvSpPr txBox="1"/>
          <p:nvPr/>
        </p:nvSpPr>
        <p:spPr>
          <a:xfrm>
            <a:off x="7223760" y="4270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27" name="!!n_close"/>
          <p:cNvSpPr/>
          <p:nvPr/>
        </p:nvSpPr>
        <p:spPr>
          <a:xfrm>
            <a:off x="6492240" y="5212080"/>
            <a:ext cx="640080" cy="640080"/>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close" descr="/home/claude/multi-agent-deck/assets/icons/TbCircleCheck_2C2C2A.png">    </p:cNvPr>
          <p:cNvPicPr>
            <a:picLocks noChangeAspect="1"/>
          </p:cNvPicPr>
          <p:nvPr/>
        </p:nvPicPr>
        <p:blipFill>
          <a:blip r:embed="rId7"/>
          <a:stretch>
            <a:fillRect/>
          </a:stretch>
        </p:blipFill>
        <p:spPr>
          <a:xfrm>
            <a:off x="6644259" y="5364099"/>
            <a:ext cx="336042" cy="336042"/>
          </a:xfrm>
          <a:prstGeom prst="rect">
            <a:avLst/>
          </a:prstGeom>
        </p:spPr>
      </p:pic>
      <p:sp>
        <p:nvSpPr>
          <p:cNvPr id="29" name="!!l_close"/>
          <p:cNvSpPr txBox="1"/>
          <p:nvPr/>
        </p:nvSpPr>
        <p:spPr>
          <a:xfrm>
            <a:off x="7223760" y="54132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0" name="!!dot"/>
          <p:cNvSpPr/>
          <p:nvPr/>
        </p:nvSpPr>
        <p:spPr>
          <a:xfrm>
            <a:off x="4206240" y="2754630"/>
            <a:ext cx="182880" cy="182880"/>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1" name="!!mode"/>
          <p:cNvSpPr/>
          <p:nvPr/>
        </p:nvSpPr>
        <p:spPr>
          <a:xfrm>
            <a:off x="8549640" y="109728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2" name="!!stepno"/>
          <p:cNvSpPr txBox="1"/>
          <p:nvPr/>
        </p:nvSpPr>
        <p:spPr>
          <a:xfrm>
            <a:off x="8549640" y="1572768"/>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16 of 16</a:t>
            </a:r>
            <a:endParaRPr lang="en-US" sz="1200" dirty="0"/>
          </a:p>
        </p:txBody>
      </p:sp>
      <p:sp>
        <p:nvSpPr>
          <p:cNvPr id="33" name="!!cap"/>
          <p:cNvSpPr txBox="1"/>
          <p:nvPr/>
        </p:nvSpPr>
        <p:spPr>
          <a:xfrm>
            <a:off x="8549640" y="1847088"/>
            <a:ext cx="3200400" cy="91440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Context full. No ticket closed.</a:t>
            </a:r>
            <a:endParaRPr lang="en-US" sz="1800" dirty="0"/>
          </a:p>
        </p:txBody>
      </p:sp>
      <p:sp>
        <p:nvSpPr>
          <p:cNvPr id="34" name="!!code"/>
          <p:cNvSpPr/>
          <p:nvPr/>
        </p:nvSpPr>
        <p:spPr>
          <a:xfrm>
            <a:off x="8549640" y="2834640"/>
            <a:ext cx="3200400" cy="777240"/>
          </a:xfrm>
          <a:prstGeom prst="roundRect">
            <a:avLst>
              <a:gd name="adj" fmla="val 9412"/>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"max_tokens"  # 3 tickets, 0 fixed</a:t>
            </a:r>
            <a:endParaRPr lang="en-US" sz="1050" dirty="0"/>
          </a:p>
        </p:txBody>
      </p:sp>
      <p:sp>
        <p:nvSpPr>
          <p:cNvPr id="35" name="!!smell"/>
          <p:cNvSpPr txBox="1"/>
          <p:nvPr/>
        </p:nvSpPr>
        <p:spPr>
          <a:xfrm>
            <a:off x="8549640" y="3703320"/>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Single point of failure</a:t>
            </a:r>
            <a:endParaRPr lang="en-US" sz="1300" dirty="0"/>
          </a:p>
        </p:txBody>
      </p:sp>
      <p:sp>
        <p:nvSpPr>
          <p:cNvPr id="36" name="!!stat0"/>
          <p:cNvSpPr/>
          <p:nvPr/>
        </p:nvSpPr>
        <p:spPr>
          <a:xfrm>
            <a:off x="8549640"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a:t>
            </a:r>
            <a:endParaRPr lang="en-US" sz="1200" dirty="0"/>
          </a:p>
        </p:txBody>
      </p:sp>
      <p:sp>
        <p:nvSpPr>
          <p:cNvPr id="37" name="!!stat1"/>
          <p:cNvSpPr/>
          <p:nvPr/>
        </p:nvSpPr>
        <p:spPr>
          <a:xfrm>
            <a:off x="9637776"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a:t>
            </a:r>
            <a:endParaRPr lang="en-US" sz="1200" dirty="0"/>
          </a:p>
        </p:txBody>
      </p:sp>
      <p:sp>
        <p:nvSpPr>
          <p:cNvPr id="38" name="!!stat2"/>
          <p:cNvSpPr/>
          <p:nvPr/>
        </p:nvSpPr>
        <p:spPr>
          <a:xfrm>
            <a:off x="10725912" y="4160520"/>
            <a:ext cx="1005840" cy="777240"/>
          </a:xfrm>
          <a:prstGeom prst="roundRect">
            <a:avLst>
              <a:gd name="adj" fmla="val 9412"/>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100%</a:t>
            </a:r>
            <a:endParaRPr lang="en-US" sz="1200" dirty="0"/>
          </a:p>
        </p:txBody>
      </p:sp>
      <p:sp>
        <p:nvSpPr>
          <p:cNvPr id="39" name="!!ctxbg"/>
          <p:cNvSpPr/>
          <p:nvPr/>
        </p:nvSpPr>
        <p:spPr>
          <a:xfrm>
            <a:off x="8549640" y="5074920"/>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0" name="!!ctxbar"/>
          <p:cNvSpPr/>
          <p:nvPr/>
        </p:nvSpPr>
        <p:spPr>
          <a:xfrm>
            <a:off x="8549640" y="5074920"/>
            <a:ext cx="3200400"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41" name="!!final"/>
          <p:cNvSpPr/>
          <p:nvPr/>
        </p:nvSpPr>
        <p:spPr>
          <a:xfrm>
            <a:off x="8549640" y="5440680"/>
            <a:ext cx="3200400" cy="685800"/>
          </a:xfrm>
          <a:prstGeom prst="roundRect">
            <a:avLst>
              <a:gd name="adj" fmla="val 10667"/>
            </a:avLst>
          </a:prstGeom>
          <a:solidFill>
            <a:srgbClr val="FCEBEB"/>
          </a:solidFill>
          <a:ln w="12700">
            <a:solidFill>
              <a:srgbClr val="A32D2D"/>
            </a:solidFill>
            <a:prstDash val="solid"/>
          </a:ln>
        </p:spPr>
        <p:txBody>
          <a:bodyPr wrap="square" lIns="127000" tIns="127000" rIns="127000" bIns="127000" rtlCol="0" anchor="ctr"/>
          <a:lstStyle/>
          <a:p>
            <a:pPr algn="l" indent="0" marL="0">
              <a:buNone/>
            </a:pPr>
            <a:r>
              <a:rPr lang="en-US" sz="1300" b="1" dirty="0">
                <a:solidFill>
                  <a:srgbClr val="791F1F"/>
                </a:solidFill>
                <a:latin typeface="Calibri" pitchFamily="34" charset="0"/>
                <a:ea typeface="Calibri" pitchFamily="34" charset="-122"/>
                <a:cs typeface="Calibri" pitchFamily="34" charset="-120"/>
              </a:rPr>
              <a:t>3 tickets, 0 fixed. The model didn't get worse; the design did.</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Thinking + Acting + Checking Are Mixed Together</a:t>
            </a:r>
            <a:endParaRPr lang="en-US" sz="3000" dirty="0"/>
          </a:p>
        </p:txBody>
      </p:sp>
      <p:sp>
        <p:nvSpPr>
          <p:cNvPr id="3" name="!!hdm"/>
          <p:cNvSpPr txBox="1"/>
          <p:nvPr/>
        </p:nvSpPr>
        <p:spPr>
          <a:xfrm>
            <a:off x="548640" y="1024128"/>
            <a:ext cx="694944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One agent, one context window  ·  time flows down ↓</a:t>
            </a:r>
            <a:endParaRPr lang="en-US" sz="1200" dirty="0"/>
          </a:p>
        </p:txBody>
      </p:sp>
      <p:sp>
        <p:nvSpPr>
          <p:cNvPr id="4" name="!!blk01"/>
          <p:cNvSpPr/>
          <p:nvPr/>
        </p:nvSpPr>
        <p:spPr>
          <a:xfrm>
            <a:off x="548640" y="1371600"/>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5" name="!!tag01"/>
          <p:cNvSpPr txBox="1"/>
          <p:nvPr/>
        </p:nvSpPr>
        <p:spPr>
          <a:xfrm>
            <a:off x="6035040" y="1371600"/>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6" name="!!blk02"/>
          <p:cNvSpPr/>
          <p:nvPr/>
        </p:nvSpPr>
        <p:spPr>
          <a:xfrm>
            <a:off x="548640" y="1668780"/>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7" name="!!tag02"/>
          <p:cNvSpPr txBox="1"/>
          <p:nvPr/>
        </p:nvSpPr>
        <p:spPr>
          <a:xfrm>
            <a:off x="6035040" y="1668780"/>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8" name="!!blk03"/>
          <p:cNvSpPr/>
          <p:nvPr/>
        </p:nvSpPr>
        <p:spPr>
          <a:xfrm>
            <a:off x="548640" y="1965960"/>
            <a:ext cx="6949440" cy="548640"/>
          </a:xfrm>
          <a:prstGeom prst="roundRect">
            <a:avLst>
              <a:gd name="adj" fmla="val 8333"/>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9" name="!!tag03"/>
          <p:cNvSpPr txBox="1"/>
          <p:nvPr/>
        </p:nvSpPr>
        <p:spPr>
          <a:xfrm>
            <a:off x="6035040" y="1965960"/>
            <a:ext cx="1371600" cy="54864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10" name="!!blk04"/>
          <p:cNvSpPr/>
          <p:nvPr/>
        </p:nvSpPr>
        <p:spPr>
          <a:xfrm>
            <a:off x="548640" y="256489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1" name="!!tag04"/>
          <p:cNvSpPr txBox="1"/>
          <p:nvPr/>
        </p:nvSpPr>
        <p:spPr>
          <a:xfrm>
            <a:off x="6035040" y="256489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2" name="!!blk05"/>
          <p:cNvSpPr/>
          <p:nvPr/>
        </p:nvSpPr>
        <p:spPr>
          <a:xfrm>
            <a:off x="548640" y="286207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3" name="!!tag05"/>
          <p:cNvSpPr txBox="1"/>
          <p:nvPr/>
        </p:nvSpPr>
        <p:spPr>
          <a:xfrm>
            <a:off x="6035040" y="286207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4" name="!!blk06"/>
          <p:cNvSpPr/>
          <p:nvPr/>
        </p:nvSpPr>
        <p:spPr>
          <a:xfrm>
            <a:off x="548640" y="315925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5" name="!!tag06"/>
          <p:cNvSpPr txBox="1"/>
          <p:nvPr/>
        </p:nvSpPr>
        <p:spPr>
          <a:xfrm>
            <a:off x="6035040" y="315925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6" name="!!blk07"/>
          <p:cNvSpPr/>
          <p:nvPr/>
        </p:nvSpPr>
        <p:spPr>
          <a:xfrm>
            <a:off x="548640" y="345643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7" name="!!tag07"/>
          <p:cNvSpPr txBox="1"/>
          <p:nvPr/>
        </p:nvSpPr>
        <p:spPr>
          <a:xfrm>
            <a:off x="6035040" y="345643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8" name="!!blk08"/>
          <p:cNvSpPr/>
          <p:nvPr/>
        </p:nvSpPr>
        <p:spPr>
          <a:xfrm>
            <a:off x="548640" y="375361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19" name="!!tag08"/>
          <p:cNvSpPr txBox="1"/>
          <p:nvPr/>
        </p:nvSpPr>
        <p:spPr>
          <a:xfrm>
            <a:off x="6035040" y="375361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0" name="!!blk09"/>
          <p:cNvSpPr/>
          <p:nvPr/>
        </p:nvSpPr>
        <p:spPr>
          <a:xfrm>
            <a:off x="548640" y="405079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21" name="!!tag09"/>
          <p:cNvSpPr txBox="1"/>
          <p:nvPr/>
        </p:nvSpPr>
        <p:spPr>
          <a:xfrm>
            <a:off x="6035040" y="405079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2" name="!!blk10"/>
          <p:cNvSpPr/>
          <p:nvPr/>
        </p:nvSpPr>
        <p:spPr>
          <a:xfrm>
            <a:off x="548640" y="434797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23" name="!!tag10"/>
          <p:cNvSpPr txBox="1"/>
          <p:nvPr/>
        </p:nvSpPr>
        <p:spPr>
          <a:xfrm>
            <a:off x="6035040" y="434797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4" name="!!blk11"/>
          <p:cNvSpPr/>
          <p:nvPr/>
        </p:nvSpPr>
        <p:spPr>
          <a:xfrm>
            <a:off x="548640" y="464515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25" name="!!tag11"/>
          <p:cNvSpPr txBox="1"/>
          <p:nvPr/>
        </p:nvSpPr>
        <p:spPr>
          <a:xfrm>
            <a:off x="6035040" y="464515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6" name="!!blk12"/>
          <p:cNvSpPr/>
          <p:nvPr/>
        </p:nvSpPr>
        <p:spPr>
          <a:xfrm>
            <a:off x="548640" y="4942332"/>
            <a:ext cx="6949440"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27" name="!!tag12"/>
          <p:cNvSpPr txBox="1"/>
          <p:nvPr/>
        </p:nvSpPr>
        <p:spPr>
          <a:xfrm>
            <a:off x="6035040" y="494233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8" name="!!blk13"/>
          <p:cNvSpPr/>
          <p:nvPr/>
        </p:nvSpPr>
        <p:spPr>
          <a:xfrm>
            <a:off x="548640" y="523951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29" name="!!tag13"/>
          <p:cNvSpPr txBox="1"/>
          <p:nvPr/>
        </p:nvSpPr>
        <p:spPr>
          <a:xfrm>
            <a:off x="6035040" y="523951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30" name="!!blk14"/>
          <p:cNvSpPr/>
          <p:nvPr/>
        </p:nvSpPr>
        <p:spPr>
          <a:xfrm>
            <a:off x="548640" y="553669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31" name="!!tag14"/>
          <p:cNvSpPr txBox="1"/>
          <p:nvPr/>
        </p:nvSpPr>
        <p:spPr>
          <a:xfrm>
            <a:off x="6035040" y="553669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end_turn</a:t>
            </a:r>
            <a:endParaRPr lang="en-US" sz="1000" dirty="0"/>
          </a:p>
        </p:txBody>
      </p:sp>
      <p:sp>
        <p:nvSpPr>
          <p:cNvPr id="32" name="!!blk15"/>
          <p:cNvSpPr/>
          <p:nvPr/>
        </p:nvSpPr>
        <p:spPr>
          <a:xfrm>
            <a:off x="548640" y="5833872"/>
            <a:ext cx="6949440"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33" name="!!tag15"/>
          <p:cNvSpPr txBox="1"/>
          <p:nvPr/>
        </p:nvSpPr>
        <p:spPr>
          <a:xfrm>
            <a:off x="6035040" y="583387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user</a:t>
            </a:r>
            <a:endParaRPr lang="en-US" sz="1000" dirty="0"/>
          </a:p>
        </p:txBody>
      </p:sp>
      <p:sp>
        <p:nvSpPr>
          <p:cNvPr id="34" name="!!blk16"/>
          <p:cNvSpPr/>
          <p:nvPr/>
        </p:nvSpPr>
        <p:spPr>
          <a:xfrm>
            <a:off x="548640" y="6131052"/>
            <a:ext cx="6949440"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35" name="!!tag16"/>
          <p:cNvSpPr txBox="1"/>
          <p:nvPr/>
        </p:nvSpPr>
        <p:spPr>
          <a:xfrm>
            <a:off x="6035040" y="6131052"/>
            <a:ext cx="1371600" cy="246888"/>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max_tokens</a:t>
            </a:r>
            <a:endParaRPr lang="en-US" sz="1000" dirty="0"/>
          </a:p>
        </p:txBody>
      </p:sp>
      <p:sp>
        <p:nvSpPr>
          <p:cNvPr id="36" name="Text 34"/>
          <p:cNvSpPr txBox="1"/>
          <p:nvPr/>
        </p:nvSpPr>
        <p:spPr>
          <a:xfrm>
            <a:off x="7955280" y="137160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37" name="Text 35"/>
          <p:cNvSpPr/>
          <p:nvPr/>
        </p:nvSpPr>
        <p:spPr>
          <a:xfrm>
            <a:off x="7955280" y="190195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38" name="Text 36"/>
          <p:cNvSpPr txBox="1"/>
          <p:nvPr/>
        </p:nvSpPr>
        <p:spPr>
          <a:xfrm>
            <a:off x="8275320" y="184708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39" name="Text 37"/>
          <p:cNvSpPr/>
          <p:nvPr/>
        </p:nvSpPr>
        <p:spPr>
          <a:xfrm>
            <a:off x="7955280" y="246888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40" name="Text 38"/>
          <p:cNvSpPr txBox="1"/>
          <p:nvPr/>
        </p:nvSpPr>
        <p:spPr>
          <a:xfrm>
            <a:off x="8275320" y="241401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41" name="Text 39"/>
          <p:cNvSpPr/>
          <p:nvPr/>
        </p:nvSpPr>
        <p:spPr>
          <a:xfrm>
            <a:off x="7955280" y="303580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42" name="Text 40"/>
          <p:cNvSpPr txBox="1"/>
          <p:nvPr/>
        </p:nvSpPr>
        <p:spPr>
          <a:xfrm>
            <a:off x="8275320" y="298094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43" name="Text 41"/>
          <p:cNvSpPr txBox="1"/>
          <p:nvPr/>
        </p:nvSpPr>
        <p:spPr>
          <a:xfrm>
            <a:off x="7955280" y="365760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Thinking + Acting + Checking Are Mixed Together</a:t>
            </a:r>
            <a:endParaRPr lang="en-US" sz="3000" dirty="0"/>
          </a:p>
        </p:txBody>
      </p:sp>
      <p:sp>
        <p:nvSpPr>
          <p:cNvPr id="3" name="!!lh0"/>
          <p:cNvSpPr txBox="1"/>
          <p:nvPr/>
        </p:nvSpPr>
        <p:spPr>
          <a:xfrm>
            <a:off x="548640" y="1024128"/>
            <a:ext cx="2258568" cy="274320"/>
          </a:xfrm>
          <a:prstGeom prst="rect">
            <a:avLst/>
          </a:prstGeom>
          <a:noFill/>
          <a:ln/>
        </p:spPr>
        <p:txBody>
          <a:bodyPr wrap="square" lIns="0" tIns="0" rIns="0" bIns="0" rtlCol="0" anchor="t"/>
          <a:lstStyle/>
          <a:p>
            <a:pPr algn="ctr" indent="0" marL="0">
              <a:buNone/>
            </a:pPr>
            <a:r>
              <a:rPr lang="en-US" sz="1300" b="1" dirty="0">
                <a:solidFill>
                  <a:srgbClr val="3C3489"/>
                </a:solidFill>
                <a:latin typeface="Calibri" pitchFamily="34" charset="0"/>
                <a:ea typeface="Calibri" pitchFamily="34" charset="-122"/>
                <a:cs typeface="Calibri" pitchFamily="34" charset="-120"/>
              </a:rPr>
              <a:t>Thinking</a:t>
            </a:r>
            <a:endParaRPr lang="en-US" sz="1300" dirty="0"/>
          </a:p>
        </p:txBody>
      </p:sp>
      <p:sp>
        <p:nvSpPr>
          <p:cNvPr id="4" name="!!lh1"/>
          <p:cNvSpPr txBox="1"/>
          <p:nvPr/>
        </p:nvSpPr>
        <p:spPr>
          <a:xfrm>
            <a:off x="2898648" y="1024128"/>
            <a:ext cx="2258568" cy="274320"/>
          </a:xfrm>
          <a:prstGeom prst="rect">
            <a:avLst/>
          </a:prstGeom>
          <a:noFill/>
          <a:ln/>
        </p:spPr>
        <p:txBody>
          <a:bodyPr wrap="square" lIns="0" tIns="0" rIns="0" bIns="0" rtlCol="0" anchor="t"/>
          <a:lstStyle/>
          <a:p>
            <a:pPr algn="ctr" indent="0" marL="0">
              <a:buNone/>
            </a:pPr>
            <a:r>
              <a:rPr lang="en-US" sz="1300" b="1" dirty="0">
                <a:solidFill>
                  <a:srgbClr val="085041"/>
                </a:solidFill>
                <a:latin typeface="Calibri" pitchFamily="34" charset="0"/>
                <a:ea typeface="Calibri" pitchFamily="34" charset="-122"/>
                <a:cs typeface="Calibri" pitchFamily="34" charset="-120"/>
              </a:rPr>
              <a:t>Acting</a:t>
            </a:r>
            <a:endParaRPr lang="en-US" sz="1300" dirty="0"/>
          </a:p>
        </p:txBody>
      </p:sp>
      <p:sp>
        <p:nvSpPr>
          <p:cNvPr id="5" name="!!lh2"/>
          <p:cNvSpPr txBox="1"/>
          <p:nvPr/>
        </p:nvSpPr>
        <p:spPr>
          <a:xfrm>
            <a:off x="5248656" y="1024128"/>
            <a:ext cx="2258568" cy="274320"/>
          </a:xfrm>
          <a:prstGeom prst="rect">
            <a:avLst/>
          </a:prstGeom>
          <a:noFill/>
          <a:ln/>
        </p:spPr>
        <p:txBody>
          <a:bodyPr wrap="square" lIns="0" tIns="0" rIns="0" bIns="0" rtlCol="0" anchor="t"/>
          <a:lstStyle/>
          <a:p>
            <a:pPr algn="ctr" indent="0" marL="0">
              <a:buNone/>
            </a:pPr>
            <a:r>
              <a:rPr lang="en-US" sz="1300" b="1" dirty="0">
                <a:solidFill>
                  <a:srgbClr val="712B13"/>
                </a:solidFill>
                <a:latin typeface="Calibri" pitchFamily="34" charset="0"/>
                <a:ea typeface="Calibri" pitchFamily="34" charset="-122"/>
                <a:cs typeface="Calibri" pitchFamily="34" charset="-120"/>
              </a:rPr>
              <a:t>Checking</a:t>
            </a:r>
            <a:endParaRPr lang="en-US" sz="1300" dirty="0"/>
          </a:p>
        </p:txBody>
      </p:sp>
      <p:sp>
        <p:nvSpPr>
          <p:cNvPr id="6" name="!!blk01"/>
          <p:cNvSpPr/>
          <p:nvPr/>
        </p:nvSpPr>
        <p:spPr>
          <a:xfrm>
            <a:off x="548640" y="1371600"/>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7" name="!!blk02"/>
          <p:cNvSpPr/>
          <p:nvPr/>
        </p:nvSpPr>
        <p:spPr>
          <a:xfrm>
            <a:off x="2898648" y="1668780"/>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8" name="!!blk03"/>
          <p:cNvSpPr/>
          <p:nvPr/>
        </p:nvSpPr>
        <p:spPr>
          <a:xfrm>
            <a:off x="2898648" y="1965960"/>
            <a:ext cx="2258568" cy="548640"/>
          </a:xfrm>
          <a:prstGeom prst="roundRect">
            <a:avLst>
              <a:gd name="adj" fmla="val 8333"/>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9" name="!!blk04"/>
          <p:cNvSpPr/>
          <p:nvPr/>
        </p:nvSpPr>
        <p:spPr>
          <a:xfrm>
            <a:off x="548640" y="256489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0" name="!!blk05"/>
          <p:cNvSpPr/>
          <p:nvPr/>
        </p:nvSpPr>
        <p:spPr>
          <a:xfrm>
            <a:off x="2898648" y="286207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1" name="!!blk06"/>
          <p:cNvSpPr/>
          <p:nvPr/>
        </p:nvSpPr>
        <p:spPr>
          <a:xfrm>
            <a:off x="548640" y="315925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2" name="!!blk07"/>
          <p:cNvSpPr/>
          <p:nvPr/>
        </p:nvSpPr>
        <p:spPr>
          <a:xfrm>
            <a:off x="2898648" y="345643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3" name="!!blk08"/>
          <p:cNvSpPr/>
          <p:nvPr/>
        </p:nvSpPr>
        <p:spPr>
          <a:xfrm>
            <a:off x="2898648" y="375361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14" name="!!blk09"/>
          <p:cNvSpPr/>
          <p:nvPr/>
        </p:nvSpPr>
        <p:spPr>
          <a:xfrm>
            <a:off x="5248656" y="405079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15" name="!!blk10"/>
          <p:cNvSpPr/>
          <p:nvPr/>
        </p:nvSpPr>
        <p:spPr>
          <a:xfrm>
            <a:off x="2898648" y="434797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16" name="!!blk11"/>
          <p:cNvSpPr/>
          <p:nvPr/>
        </p:nvSpPr>
        <p:spPr>
          <a:xfrm>
            <a:off x="5248656" y="464515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17" name="!!blk12"/>
          <p:cNvSpPr/>
          <p:nvPr/>
        </p:nvSpPr>
        <p:spPr>
          <a:xfrm>
            <a:off x="2898648" y="4942332"/>
            <a:ext cx="2258568" cy="246888"/>
          </a:xfrm>
          <a:prstGeom prst="roundRect">
            <a:avLst>
              <a:gd name="adj" fmla="val 18519"/>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18" name="!!blk13"/>
          <p:cNvSpPr/>
          <p:nvPr/>
        </p:nvSpPr>
        <p:spPr>
          <a:xfrm>
            <a:off x="5248656" y="523951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19" name="!!blk14"/>
          <p:cNvSpPr/>
          <p:nvPr/>
        </p:nvSpPr>
        <p:spPr>
          <a:xfrm>
            <a:off x="548640" y="553669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20" name="!!blk15"/>
          <p:cNvSpPr/>
          <p:nvPr/>
        </p:nvSpPr>
        <p:spPr>
          <a:xfrm>
            <a:off x="5248656" y="5833872"/>
            <a:ext cx="2258568" cy="246888"/>
          </a:xfrm>
          <a:prstGeom prst="roundRect">
            <a:avLst>
              <a:gd name="adj" fmla="val 18519"/>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21" name="!!blk16"/>
          <p:cNvSpPr/>
          <p:nvPr/>
        </p:nvSpPr>
        <p:spPr>
          <a:xfrm>
            <a:off x="548640" y="6131052"/>
            <a:ext cx="2258568" cy="246888"/>
          </a:xfrm>
          <a:prstGeom prst="roundRect">
            <a:avLst>
              <a:gd name="adj" fmla="val 18519"/>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22" name="Text 20"/>
          <p:cNvSpPr txBox="1"/>
          <p:nvPr/>
        </p:nvSpPr>
        <p:spPr>
          <a:xfrm>
            <a:off x="7955280" y="137160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23" name="Text 21"/>
          <p:cNvSpPr/>
          <p:nvPr/>
        </p:nvSpPr>
        <p:spPr>
          <a:xfrm>
            <a:off x="7955280" y="190195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24" name="Text 22"/>
          <p:cNvSpPr txBox="1"/>
          <p:nvPr/>
        </p:nvSpPr>
        <p:spPr>
          <a:xfrm>
            <a:off x="8275320" y="184708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25" name="Text 23"/>
          <p:cNvSpPr/>
          <p:nvPr/>
        </p:nvSpPr>
        <p:spPr>
          <a:xfrm>
            <a:off x="7955280" y="246888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26" name="Text 24"/>
          <p:cNvSpPr txBox="1"/>
          <p:nvPr/>
        </p:nvSpPr>
        <p:spPr>
          <a:xfrm>
            <a:off x="8275320" y="241401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27" name="Text 25"/>
          <p:cNvSpPr/>
          <p:nvPr/>
        </p:nvSpPr>
        <p:spPr>
          <a:xfrm>
            <a:off x="7955280" y="303580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28" name="Text 26"/>
          <p:cNvSpPr txBox="1"/>
          <p:nvPr/>
        </p:nvSpPr>
        <p:spPr>
          <a:xfrm>
            <a:off x="8275320" y="298094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29" name="Text 27"/>
          <p:cNvSpPr txBox="1"/>
          <p:nvPr/>
        </p:nvSpPr>
        <p:spPr>
          <a:xfrm>
            <a:off x="7955280" y="365760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
        <p:nvSpPr>
          <p:cNvPr id="30" name="!!take3"/>
          <p:cNvSpPr/>
          <p:nvPr/>
        </p:nvSpPr>
        <p:spPr>
          <a:xfrm>
            <a:off x="7955280" y="4709160"/>
            <a:ext cx="3749040" cy="1051560"/>
          </a:xfrm>
          <a:prstGeom prst="roundRect">
            <a:avLst>
              <a:gd name="adj" fmla="val 10435"/>
            </a:avLst>
          </a:prstGeom>
          <a:solidFill>
            <a:srgbClr val="FAECE7"/>
          </a:solidFill>
          <a:ln w="12700">
            <a:solidFill>
              <a:srgbClr val="993C1D"/>
            </a:solidFill>
            <a:prstDash val="solid"/>
          </a:ln>
        </p:spPr>
        <p:txBody>
          <a:bodyPr wrap="square" lIns="152400" tIns="152400" rIns="152400" bIns="152400" rtlCol="0" anchor="ctr"/>
          <a:lstStyle/>
          <a:p>
            <a:pPr algn="l" indent="0" marL="0">
              <a:buNone/>
            </a:pPr>
            <a:r>
              <a:rPr lang="en-US" sz="1400" b="1" dirty="0">
                <a:solidFill>
                  <a:srgbClr val="712B13"/>
                </a:solidFill>
                <a:latin typeface="Calibri" pitchFamily="34" charset="0"/>
                <a:ea typeface="Calibri" pitchFamily="34" charset="-122"/>
                <a:cs typeface="Calibri" pitchFamily="34" charset="-120"/>
              </a:rPr>
              <a:t>One loop, three jobs, one exit signal. We'd never let the maker check their own work. Why let an agent?</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Failure Modes: What You Observe</a:t>
            </a:r>
            <a:endParaRPr lang="en-US" sz="3000" dirty="0"/>
          </a:p>
        </p:txBody>
      </p:sp>
      <p:pic>
        <p:nvPicPr>
          <p:cNvPr id="3" name="!!fi0" descr="/home/claude/multi-agent-deck/assets/icons/TbBrain_534AB7.png">    </p:cNvPr>
          <p:cNvPicPr>
            <a:picLocks noChangeAspect="1"/>
          </p:cNvPicPr>
          <p:nvPr/>
        </p:nvPicPr>
        <p:blipFill>
          <a:blip r:embed="rId1"/>
          <a:stretch>
            <a:fillRect/>
          </a:stretch>
        </p:blipFill>
        <p:spPr>
          <a:xfrm>
            <a:off x="548640" y="1143000"/>
            <a:ext cx="292608" cy="292608"/>
          </a:xfrm>
          <a:prstGeom prst="rect">
            <a:avLst/>
          </a:prstGeom>
        </p:spPr>
      </p:pic>
      <p:sp>
        <p:nvSpPr>
          <p:cNvPr id="4" name="!!fh0"/>
          <p:cNvSpPr txBox="1"/>
          <p:nvPr/>
        </p:nvSpPr>
        <p:spPr>
          <a:xfrm>
            <a:off x="932688" y="11430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5" name="!!card00"/>
          <p:cNvSpPr/>
          <p:nvPr/>
        </p:nvSpPr>
        <p:spPr>
          <a:xfrm>
            <a:off x="548640" y="164592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ci00" descr="/home/claude/multi-agent-deck/assets/icons/TbRouteOff_534AB7.png">    </p:cNvPr>
          <p:cNvPicPr>
            <a:picLocks noChangeAspect="1"/>
          </p:cNvPicPr>
          <p:nvPr/>
        </p:nvPicPr>
        <p:blipFill>
          <a:blip r:embed="rId2"/>
          <a:stretch>
            <a:fillRect/>
          </a:stretch>
        </p:blipFill>
        <p:spPr>
          <a:xfrm>
            <a:off x="731520" y="1828800"/>
            <a:ext cx="274320" cy="274320"/>
          </a:xfrm>
          <a:prstGeom prst="rect">
            <a:avLst/>
          </a:prstGeom>
        </p:spPr>
      </p:pic>
      <p:sp>
        <p:nvSpPr>
          <p:cNvPr id="7" name="!!cn00"/>
          <p:cNvSpPr txBox="1"/>
          <p:nvPr/>
        </p:nvSpPr>
        <p:spPr>
          <a:xfrm>
            <a:off x="1097280" y="181051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8" name="!!cb00"/>
          <p:cNvSpPr txBox="1"/>
          <p:nvPr/>
        </p:nvSpPr>
        <p:spPr>
          <a:xfrm>
            <a:off x="73152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9" name="!!card01"/>
          <p:cNvSpPr/>
          <p:nvPr/>
        </p:nvSpPr>
        <p:spPr>
          <a:xfrm>
            <a:off x="548640" y="374904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0" name="!!ci01" descr="/home/claude/multi-agent-deck/assets/icons/TbTool_534AB7.png">    </p:cNvPr>
          <p:cNvPicPr>
            <a:picLocks noChangeAspect="1"/>
          </p:cNvPicPr>
          <p:nvPr/>
        </p:nvPicPr>
        <p:blipFill>
          <a:blip r:embed="rId3"/>
          <a:stretch>
            <a:fillRect/>
          </a:stretch>
        </p:blipFill>
        <p:spPr>
          <a:xfrm>
            <a:off x="731520" y="3931920"/>
            <a:ext cx="274320" cy="274320"/>
          </a:xfrm>
          <a:prstGeom prst="rect">
            <a:avLst/>
          </a:prstGeom>
        </p:spPr>
      </p:pic>
      <p:sp>
        <p:nvSpPr>
          <p:cNvPr id="11" name="!!cn01"/>
          <p:cNvSpPr txBox="1"/>
          <p:nvPr/>
        </p:nvSpPr>
        <p:spPr>
          <a:xfrm>
            <a:off x="1097280" y="391363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2" name="!!cb01"/>
          <p:cNvSpPr txBox="1"/>
          <p:nvPr/>
        </p:nvSpPr>
        <p:spPr>
          <a:xfrm>
            <a:off x="73152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Failure Modes: What You Observe</a:t>
            </a:r>
            <a:endParaRPr lang="en-US" sz="3000" dirty="0"/>
          </a:p>
        </p:txBody>
      </p:sp>
      <p:pic>
        <p:nvPicPr>
          <p:cNvPr id="3" name="!!fi0" descr="/home/claude/multi-agent-deck/assets/icons/TbBrain_534AB7.png">    </p:cNvPr>
          <p:cNvPicPr>
            <a:picLocks noChangeAspect="1"/>
          </p:cNvPicPr>
          <p:nvPr/>
        </p:nvPicPr>
        <p:blipFill>
          <a:blip r:embed="rId1"/>
          <a:stretch>
            <a:fillRect/>
          </a:stretch>
        </p:blipFill>
        <p:spPr>
          <a:xfrm>
            <a:off x="548640" y="1143000"/>
            <a:ext cx="292608" cy="292608"/>
          </a:xfrm>
          <a:prstGeom prst="rect">
            <a:avLst/>
          </a:prstGeom>
        </p:spPr>
      </p:pic>
      <p:sp>
        <p:nvSpPr>
          <p:cNvPr id="4" name="!!fh0"/>
          <p:cNvSpPr txBox="1"/>
          <p:nvPr/>
        </p:nvSpPr>
        <p:spPr>
          <a:xfrm>
            <a:off x="932688" y="11430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5" name="!!card00"/>
          <p:cNvSpPr/>
          <p:nvPr/>
        </p:nvSpPr>
        <p:spPr>
          <a:xfrm>
            <a:off x="548640" y="164592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ci00" descr="/home/claude/multi-agent-deck/assets/icons/TbRouteOff_534AB7.png">    </p:cNvPr>
          <p:cNvPicPr>
            <a:picLocks noChangeAspect="1"/>
          </p:cNvPicPr>
          <p:nvPr/>
        </p:nvPicPr>
        <p:blipFill>
          <a:blip r:embed="rId2"/>
          <a:stretch>
            <a:fillRect/>
          </a:stretch>
        </p:blipFill>
        <p:spPr>
          <a:xfrm>
            <a:off x="731520" y="1828800"/>
            <a:ext cx="274320" cy="274320"/>
          </a:xfrm>
          <a:prstGeom prst="rect">
            <a:avLst/>
          </a:prstGeom>
        </p:spPr>
      </p:pic>
      <p:sp>
        <p:nvSpPr>
          <p:cNvPr id="7" name="!!cn00"/>
          <p:cNvSpPr txBox="1"/>
          <p:nvPr/>
        </p:nvSpPr>
        <p:spPr>
          <a:xfrm>
            <a:off x="1097280" y="181051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8" name="!!cb00"/>
          <p:cNvSpPr txBox="1"/>
          <p:nvPr/>
        </p:nvSpPr>
        <p:spPr>
          <a:xfrm>
            <a:off x="73152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9" name="!!card01"/>
          <p:cNvSpPr/>
          <p:nvPr/>
        </p:nvSpPr>
        <p:spPr>
          <a:xfrm>
            <a:off x="548640" y="374904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0" name="!!ci01" descr="/home/claude/multi-agent-deck/assets/icons/TbTool_534AB7.png">    </p:cNvPr>
          <p:cNvPicPr>
            <a:picLocks noChangeAspect="1"/>
          </p:cNvPicPr>
          <p:nvPr/>
        </p:nvPicPr>
        <p:blipFill>
          <a:blip r:embed="rId3"/>
          <a:stretch>
            <a:fillRect/>
          </a:stretch>
        </p:blipFill>
        <p:spPr>
          <a:xfrm>
            <a:off x="731520" y="3931920"/>
            <a:ext cx="274320" cy="274320"/>
          </a:xfrm>
          <a:prstGeom prst="rect">
            <a:avLst/>
          </a:prstGeom>
        </p:spPr>
      </p:pic>
      <p:sp>
        <p:nvSpPr>
          <p:cNvPr id="11" name="!!cn01"/>
          <p:cNvSpPr txBox="1"/>
          <p:nvPr/>
        </p:nvSpPr>
        <p:spPr>
          <a:xfrm>
            <a:off x="1097280" y="391363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2" name="!!cb01"/>
          <p:cNvSpPr txBox="1"/>
          <p:nvPr/>
        </p:nvSpPr>
        <p:spPr>
          <a:xfrm>
            <a:off x="73152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3" name="!!fi1" descr="/home/claude/multi-agent-deck/assets/icons/TbPlayerPlay_0F6E56.png">    </p:cNvPr>
          <p:cNvPicPr>
            <a:picLocks noChangeAspect="1"/>
          </p:cNvPicPr>
          <p:nvPr/>
        </p:nvPicPr>
        <p:blipFill>
          <a:blip r:embed="rId4"/>
          <a:stretch>
            <a:fillRect/>
          </a:stretch>
        </p:blipFill>
        <p:spPr>
          <a:xfrm>
            <a:off x="4297680" y="1143000"/>
            <a:ext cx="292608" cy="292608"/>
          </a:xfrm>
          <a:prstGeom prst="rect">
            <a:avLst/>
          </a:prstGeom>
        </p:spPr>
      </p:pic>
      <p:sp>
        <p:nvSpPr>
          <p:cNvPr id="14" name="!!fh1"/>
          <p:cNvSpPr txBox="1"/>
          <p:nvPr/>
        </p:nvSpPr>
        <p:spPr>
          <a:xfrm>
            <a:off x="4681728" y="11430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5" name="!!card10"/>
          <p:cNvSpPr/>
          <p:nvPr/>
        </p:nvSpPr>
        <p:spPr>
          <a:xfrm>
            <a:off x="4297680" y="164592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6" name="!!ci10" descr="/home/claude/multi-agent-deck/assets/icons/TbRepeat_0F6E56.png">    </p:cNvPr>
          <p:cNvPicPr>
            <a:picLocks noChangeAspect="1"/>
          </p:cNvPicPr>
          <p:nvPr/>
        </p:nvPicPr>
        <p:blipFill>
          <a:blip r:embed="rId5"/>
          <a:stretch>
            <a:fillRect/>
          </a:stretch>
        </p:blipFill>
        <p:spPr>
          <a:xfrm>
            <a:off x="4480560" y="1828800"/>
            <a:ext cx="274320" cy="274320"/>
          </a:xfrm>
          <a:prstGeom prst="rect">
            <a:avLst/>
          </a:prstGeom>
        </p:spPr>
      </p:pic>
      <p:sp>
        <p:nvSpPr>
          <p:cNvPr id="17" name="!!cn10"/>
          <p:cNvSpPr txBox="1"/>
          <p:nvPr/>
        </p:nvSpPr>
        <p:spPr>
          <a:xfrm>
            <a:off x="4846320" y="181051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18" name="!!cb10"/>
          <p:cNvSpPr txBox="1"/>
          <p:nvPr/>
        </p:nvSpPr>
        <p:spPr>
          <a:xfrm>
            <a:off x="448056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19" name="!!card11"/>
          <p:cNvSpPr/>
          <p:nvPr/>
        </p:nvSpPr>
        <p:spPr>
          <a:xfrm>
            <a:off x="4297680" y="374904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ci11" descr="/home/claude/multi-agent-deck/assets/icons/TbStack2_0F6E56.png">    </p:cNvPr>
          <p:cNvPicPr>
            <a:picLocks noChangeAspect="1"/>
          </p:cNvPicPr>
          <p:nvPr/>
        </p:nvPicPr>
        <p:blipFill>
          <a:blip r:embed="rId6"/>
          <a:stretch>
            <a:fillRect/>
          </a:stretch>
        </p:blipFill>
        <p:spPr>
          <a:xfrm>
            <a:off x="4480560" y="3931920"/>
            <a:ext cx="274320" cy="274320"/>
          </a:xfrm>
          <a:prstGeom prst="rect">
            <a:avLst/>
          </a:prstGeom>
        </p:spPr>
      </p:pic>
      <p:sp>
        <p:nvSpPr>
          <p:cNvPr id="21" name="!!cn11"/>
          <p:cNvSpPr txBox="1"/>
          <p:nvPr/>
        </p:nvSpPr>
        <p:spPr>
          <a:xfrm>
            <a:off x="4846320" y="391363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2" name="!!cb11"/>
          <p:cNvSpPr txBox="1"/>
          <p:nvPr/>
        </p:nvSpPr>
        <p:spPr>
          <a:xfrm>
            <a:off x="448056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Failure Modes: What You Observe</a:t>
            </a:r>
            <a:endParaRPr lang="en-US" sz="3000" dirty="0"/>
          </a:p>
        </p:txBody>
      </p:sp>
      <p:pic>
        <p:nvPicPr>
          <p:cNvPr id="3" name="!!fi0" descr="/home/claude/multi-agent-deck/assets/icons/TbBrain_534AB7.png">    </p:cNvPr>
          <p:cNvPicPr>
            <a:picLocks noChangeAspect="1"/>
          </p:cNvPicPr>
          <p:nvPr/>
        </p:nvPicPr>
        <p:blipFill>
          <a:blip r:embed="rId1"/>
          <a:stretch>
            <a:fillRect/>
          </a:stretch>
        </p:blipFill>
        <p:spPr>
          <a:xfrm>
            <a:off x="548640" y="1143000"/>
            <a:ext cx="292608" cy="292608"/>
          </a:xfrm>
          <a:prstGeom prst="rect">
            <a:avLst/>
          </a:prstGeom>
        </p:spPr>
      </p:pic>
      <p:sp>
        <p:nvSpPr>
          <p:cNvPr id="4" name="!!fh0"/>
          <p:cNvSpPr txBox="1"/>
          <p:nvPr/>
        </p:nvSpPr>
        <p:spPr>
          <a:xfrm>
            <a:off x="932688" y="11430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5" name="!!card00"/>
          <p:cNvSpPr/>
          <p:nvPr/>
        </p:nvSpPr>
        <p:spPr>
          <a:xfrm>
            <a:off x="548640" y="164592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6" name="!!ci00" descr="/home/claude/multi-agent-deck/assets/icons/TbRouteOff_534AB7.png">    </p:cNvPr>
          <p:cNvPicPr>
            <a:picLocks noChangeAspect="1"/>
          </p:cNvPicPr>
          <p:nvPr/>
        </p:nvPicPr>
        <p:blipFill>
          <a:blip r:embed="rId2"/>
          <a:stretch>
            <a:fillRect/>
          </a:stretch>
        </p:blipFill>
        <p:spPr>
          <a:xfrm>
            <a:off x="731520" y="1828800"/>
            <a:ext cx="274320" cy="274320"/>
          </a:xfrm>
          <a:prstGeom prst="rect">
            <a:avLst/>
          </a:prstGeom>
        </p:spPr>
      </p:pic>
      <p:sp>
        <p:nvSpPr>
          <p:cNvPr id="7" name="!!cn00"/>
          <p:cNvSpPr txBox="1"/>
          <p:nvPr/>
        </p:nvSpPr>
        <p:spPr>
          <a:xfrm>
            <a:off x="1097280" y="181051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8" name="!!cb00"/>
          <p:cNvSpPr txBox="1"/>
          <p:nvPr/>
        </p:nvSpPr>
        <p:spPr>
          <a:xfrm>
            <a:off x="73152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9" name="!!card01"/>
          <p:cNvSpPr/>
          <p:nvPr/>
        </p:nvSpPr>
        <p:spPr>
          <a:xfrm>
            <a:off x="548640" y="3749040"/>
            <a:ext cx="3566160" cy="1920240"/>
          </a:xfrm>
          <a:prstGeom prst="roundRect">
            <a:avLst>
              <a:gd name="adj" fmla="val 6667"/>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0" name="!!ci01" descr="/home/claude/multi-agent-deck/assets/icons/TbTool_534AB7.png">    </p:cNvPr>
          <p:cNvPicPr>
            <a:picLocks noChangeAspect="1"/>
          </p:cNvPicPr>
          <p:nvPr/>
        </p:nvPicPr>
        <p:blipFill>
          <a:blip r:embed="rId3"/>
          <a:stretch>
            <a:fillRect/>
          </a:stretch>
        </p:blipFill>
        <p:spPr>
          <a:xfrm>
            <a:off x="731520" y="3931920"/>
            <a:ext cx="274320" cy="274320"/>
          </a:xfrm>
          <a:prstGeom prst="rect">
            <a:avLst/>
          </a:prstGeom>
        </p:spPr>
      </p:pic>
      <p:sp>
        <p:nvSpPr>
          <p:cNvPr id="11" name="!!cn01"/>
          <p:cNvSpPr txBox="1"/>
          <p:nvPr/>
        </p:nvSpPr>
        <p:spPr>
          <a:xfrm>
            <a:off x="1097280" y="391363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2" name="!!cb01"/>
          <p:cNvSpPr txBox="1"/>
          <p:nvPr/>
        </p:nvSpPr>
        <p:spPr>
          <a:xfrm>
            <a:off x="73152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3" name="!!fi1" descr="/home/claude/multi-agent-deck/assets/icons/TbPlayerPlay_0F6E56.png">    </p:cNvPr>
          <p:cNvPicPr>
            <a:picLocks noChangeAspect="1"/>
          </p:cNvPicPr>
          <p:nvPr/>
        </p:nvPicPr>
        <p:blipFill>
          <a:blip r:embed="rId4"/>
          <a:stretch>
            <a:fillRect/>
          </a:stretch>
        </p:blipFill>
        <p:spPr>
          <a:xfrm>
            <a:off x="4297680" y="1143000"/>
            <a:ext cx="292608" cy="292608"/>
          </a:xfrm>
          <a:prstGeom prst="rect">
            <a:avLst/>
          </a:prstGeom>
        </p:spPr>
      </p:pic>
      <p:sp>
        <p:nvSpPr>
          <p:cNvPr id="14" name="!!fh1"/>
          <p:cNvSpPr txBox="1"/>
          <p:nvPr/>
        </p:nvSpPr>
        <p:spPr>
          <a:xfrm>
            <a:off x="4681728" y="11430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5" name="!!card10"/>
          <p:cNvSpPr/>
          <p:nvPr/>
        </p:nvSpPr>
        <p:spPr>
          <a:xfrm>
            <a:off x="4297680" y="164592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6" name="!!ci10" descr="/home/claude/multi-agent-deck/assets/icons/TbRepeat_0F6E56.png">    </p:cNvPr>
          <p:cNvPicPr>
            <a:picLocks noChangeAspect="1"/>
          </p:cNvPicPr>
          <p:nvPr/>
        </p:nvPicPr>
        <p:blipFill>
          <a:blip r:embed="rId5"/>
          <a:stretch>
            <a:fillRect/>
          </a:stretch>
        </p:blipFill>
        <p:spPr>
          <a:xfrm>
            <a:off x="4480560" y="1828800"/>
            <a:ext cx="274320" cy="274320"/>
          </a:xfrm>
          <a:prstGeom prst="rect">
            <a:avLst/>
          </a:prstGeom>
        </p:spPr>
      </p:pic>
      <p:sp>
        <p:nvSpPr>
          <p:cNvPr id="17" name="!!cn10"/>
          <p:cNvSpPr txBox="1"/>
          <p:nvPr/>
        </p:nvSpPr>
        <p:spPr>
          <a:xfrm>
            <a:off x="4846320" y="181051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18" name="!!cb10"/>
          <p:cNvSpPr txBox="1"/>
          <p:nvPr/>
        </p:nvSpPr>
        <p:spPr>
          <a:xfrm>
            <a:off x="448056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19" name="!!card11"/>
          <p:cNvSpPr/>
          <p:nvPr/>
        </p:nvSpPr>
        <p:spPr>
          <a:xfrm>
            <a:off x="4297680" y="3749040"/>
            <a:ext cx="3566160" cy="1920240"/>
          </a:xfrm>
          <a:prstGeom prst="roundRect">
            <a:avLst>
              <a:gd name="adj" fmla="val 6667"/>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ci11" descr="/home/claude/multi-agent-deck/assets/icons/TbStack2_0F6E56.png">    </p:cNvPr>
          <p:cNvPicPr>
            <a:picLocks noChangeAspect="1"/>
          </p:cNvPicPr>
          <p:nvPr/>
        </p:nvPicPr>
        <p:blipFill>
          <a:blip r:embed="rId6"/>
          <a:stretch>
            <a:fillRect/>
          </a:stretch>
        </p:blipFill>
        <p:spPr>
          <a:xfrm>
            <a:off x="4480560" y="3931920"/>
            <a:ext cx="274320" cy="274320"/>
          </a:xfrm>
          <a:prstGeom prst="rect">
            <a:avLst/>
          </a:prstGeom>
        </p:spPr>
      </p:pic>
      <p:sp>
        <p:nvSpPr>
          <p:cNvPr id="21" name="!!cn11"/>
          <p:cNvSpPr txBox="1"/>
          <p:nvPr/>
        </p:nvSpPr>
        <p:spPr>
          <a:xfrm>
            <a:off x="4846320" y="391363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2" name="!!cb11"/>
          <p:cNvSpPr txBox="1"/>
          <p:nvPr/>
        </p:nvSpPr>
        <p:spPr>
          <a:xfrm>
            <a:off x="448056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pic>
        <p:nvPicPr>
          <p:cNvPr id="23" name="!!fi2" descr="/home/claude/multi-agent-deck/assets/icons/TbChecklist_993C1D.png">    </p:cNvPr>
          <p:cNvPicPr>
            <a:picLocks noChangeAspect="1"/>
          </p:cNvPicPr>
          <p:nvPr/>
        </p:nvPicPr>
        <p:blipFill>
          <a:blip r:embed="rId7"/>
          <a:stretch>
            <a:fillRect/>
          </a:stretch>
        </p:blipFill>
        <p:spPr>
          <a:xfrm>
            <a:off x="8046720" y="1143000"/>
            <a:ext cx="292608" cy="292608"/>
          </a:xfrm>
          <a:prstGeom prst="rect">
            <a:avLst/>
          </a:prstGeom>
        </p:spPr>
      </p:pic>
      <p:sp>
        <p:nvSpPr>
          <p:cNvPr id="24" name="!!fh2"/>
          <p:cNvSpPr txBox="1"/>
          <p:nvPr/>
        </p:nvSpPr>
        <p:spPr>
          <a:xfrm>
            <a:off x="8430768" y="1143000"/>
            <a:ext cx="3182112" cy="310896"/>
          </a:xfrm>
          <a:prstGeom prst="rect">
            <a:avLst/>
          </a:prstGeom>
          <a:noFill/>
          <a:ln/>
        </p:spPr>
        <p:txBody>
          <a:bodyPr wrap="square" lIns="0" tIns="0" rIns="0" bIns="0" rtlCol="0" anchor="ctr"/>
          <a:lstStyle/>
          <a:p>
            <a:pPr algn="l" indent="0" marL="0">
              <a:buNone/>
            </a:pPr>
            <a:r>
              <a:rPr lang="en-US" sz="1700" b="1" dirty="0">
                <a:solidFill>
                  <a:srgbClr val="712B13"/>
                </a:solidFill>
                <a:latin typeface="Calibri" pitchFamily="34" charset="0"/>
                <a:ea typeface="Calibri" pitchFamily="34" charset="-122"/>
                <a:cs typeface="Calibri" pitchFamily="34" charset="-120"/>
              </a:rPr>
              <a:t>Checking failures</a:t>
            </a:r>
            <a:endParaRPr lang="en-US" sz="1700" dirty="0"/>
          </a:p>
        </p:txBody>
      </p:sp>
      <p:sp>
        <p:nvSpPr>
          <p:cNvPr id="25" name="!!card20"/>
          <p:cNvSpPr/>
          <p:nvPr/>
        </p:nvSpPr>
        <p:spPr>
          <a:xfrm>
            <a:off x="8046720" y="1645920"/>
            <a:ext cx="3566160" cy="1920240"/>
          </a:xfrm>
          <a:prstGeom prst="roundRect">
            <a:avLst>
              <a:gd name="adj" fmla="val 6667"/>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6" name="!!ci20" descr="/home/claude/multi-agent-deck/assets/icons/TbMoodCheck_993C1D.png">    </p:cNvPr>
          <p:cNvPicPr>
            <a:picLocks noChangeAspect="1"/>
          </p:cNvPicPr>
          <p:nvPr/>
        </p:nvPicPr>
        <p:blipFill>
          <a:blip r:embed="rId8"/>
          <a:stretch>
            <a:fillRect/>
          </a:stretch>
        </p:blipFill>
        <p:spPr>
          <a:xfrm>
            <a:off x="8229600" y="1828800"/>
            <a:ext cx="274320" cy="274320"/>
          </a:xfrm>
          <a:prstGeom prst="rect">
            <a:avLst/>
          </a:prstGeom>
        </p:spPr>
      </p:pic>
      <p:sp>
        <p:nvSpPr>
          <p:cNvPr id="27" name="!!cn20"/>
          <p:cNvSpPr txBox="1"/>
          <p:nvPr/>
        </p:nvSpPr>
        <p:spPr>
          <a:xfrm>
            <a:off x="8595360" y="181051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False success</a:t>
            </a:r>
            <a:endParaRPr lang="en-US" sz="1600" dirty="0"/>
          </a:p>
        </p:txBody>
      </p:sp>
      <p:sp>
        <p:nvSpPr>
          <p:cNvPr id="28" name="!!cb20"/>
          <p:cNvSpPr txBox="1"/>
          <p:nvPr/>
        </p:nvSpPr>
        <p:spPr>
          <a:xfrm>
            <a:off x="8229600" y="221284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says "done" when it isn't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grades its own work</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"report sent" but the attachment is empty</a:t>
            </a:r>
            <a:endParaRPr lang="en-US" sz="1400" dirty="0"/>
          </a:p>
        </p:txBody>
      </p:sp>
      <p:sp>
        <p:nvSpPr>
          <p:cNvPr id="29" name="!!card21"/>
          <p:cNvSpPr/>
          <p:nvPr/>
        </p:nvSpPr>
        <p:spPr>
          <a:xfrm>
            <a:off x="8046720" y="3749040"/>
            <a:ext cx="3566160" cy="1920240"/>
          </a:xfrm>
          <a:prstGeom prst="roundRect">
            <a:avLst>
              <a:gd name="adj" fmla="val 6667"/>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0" name="!!ci21" descr="/home/claude/multi-agent-deck/assets/icons/TbPlayerStop_993C1D.png">    </p:cNvPr>
          <p:cNvPicPr>
            <a:picLocks noChangeAspect="1"/>
          </p:cNvPicPr>
          <p:nvPr/>
        </p:nvPicPr>
        <p:blipFill>
          <a:blip r:embed="rId9"/>
          <a:stretch>
            <a:fillRect/>
          </a:stretch>
        </p:blipFill>
        <p:spPr>
          <a:xfrm>
            <a:off x="8229600" y="3931920"/>
            <a:ext cx="274320" cy="274320"/>
          </a:xfrm>
          <a:prstGeom prst="rect">
            <a:avLst/>
          </a:prstGeom>
        </p:spPr>
      </p:pic>
      <p:sp>
        <p:nvSpPr>
          <p:cNvPr id="31" name="!!cn21"/>
          <p:cNvSpPr txBox="1"/>
          <p:nvPr/>
        </p:nvSpPr>
        <p:spPr>
          <a:xfrm>
            <a:off x="8595360" y="391363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Premature stop</a:t>
            </a:r>
            <a:endParaRPr lang="en-US" sz="1600" dirty="0"/>
          </a:p>
        </p:txBody>
      </p:sp>
      <p:sp>
        <p:nvSpPr>
          <p:cNvPr id="32" name="!!cb21"/>
          <p:cNvSpPr txBox="1"/>
          <p:nvPr/>
        </p:nvSpPr>
        <p:spPr>
          <a:xfrm>
            <a:off x="8229600" y="431596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quits halfway, sounds confident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"stopped talking" read as "finished"</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answers 2 of 5 questions</a:t>
            </a:r>
            <a:endParaRPr lang="en-US" sz="1400" dirty="0"/>
          </a:p>
        </p:txBody>
      </p:sp>
      <p:sp>
        <p:nvSpPr>
          <p:cNvPr id="33" name="!!take4"/>
          <p:cNvSpPr txBox="1"/>
          <p:nvPr/>
        </p:nvSpPr>
        <p:spPr>
          <a:xfrm>
            <a:off x="548640" y="5989320"/>
            <a:ext cx="11064240" cy="411480"/>
          </a:xfrm>
          <a:prstGeom prst="rect">
            <a:avLst/>
          </a:prstGeom>
          <a:noFill/>
          <a:ln/>
        </p:spPr>
        <p:txBody>
          <a:bodyPr wrap="square" lIns="0" tIns="0" rIns="0" bIns="0" rtlCol="0" anchor="t"/>
          <a:lstStyle/>
          <a:p>
            <a:pPr algn="ctr" indent="0" marL="0">
              <a:buNone/>
            </a:pPr>
            <a:r>
              <a:rPr lang="en-US" sz="1700" b="1" i="1" dirty="0">
                <a:solidFill>
                  <a:srgbClr val="2C2C2A"/>
                </a:solidFill>
                <a:latin typeface="Calibri" pitchFamily="34" charset="0"/>
                <a:ea typeface="Calibri" pitchFamily="34" charset="-122"/>
                <a:cs typeface="Calibri" pitchFamily="34" charset="-120"/>
              </a:rPr>
              <a:t>Every failure is one of three jobs going wrong, and every cause is a design choice.</a:t>
            </a:r>
            <a:endParaRPr lang="en-US" sz="17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big"/>
          <p:cNvSpPr/>
          <p:nvPr/>
        </p:nvSpPr>
        <p:spPr>
          <a:xfrm>
            <a:off x="3324758" y="2284171"/>
            <a:ext cx="1510589" cy="1510589"/>
          </a:xfrm>
          <a:prstGeom prst="ellipse">
            <a:avLst/>
          </a:prstGeom>
          <a:solidFill>
            <a:srgbClr val="FFFFFF">
              <a:alpha val="0"/>
            </a:srgbClr>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7" name="!!bigl"/>
          <p:cNvSpPr txBox="1"/>
          <p:nvPr/>
        </p:nvSpPr>
        <p:spPr>
          <a:xfrm>
            <a:off x="4921667" y="2284171"/>
            <a:ext cx="1828800" cy="228600"/>
          </a:xfrm>
          <a:prstGeom prst="rect">
            <a:avLst/>
          </a:prstGeom>
          <a:noFill/>
          <a:ln/>
        </p:spPr>
        <p:txBody>
          <a:bodyPr wrap="square" lIns="0" tIns="0" rIns="0" bIns="0" rtlCol="0" anchor="t"/>
          <a:lstStyle/>
          <a:p>
            <a:pPr algn="l" indent="0" marL="0">
              <a:buNone/>
            </a:pPr>
            <a:r>
              <a:rPr lang="en-US" sz="1100" b="1" dirty="0">
                <a:solidFill>
                  <a:srgbClr val="A32D2D"/>
                </a:solidFill>
                <a:latin typeface="Calibri" pitchFamily="34" charset="0"/>
                <a:ea typeface="Calibri" pitchFamily="34" charset="-122"/>
                <a:cs typeface="Calibri" pitchFamily="34" charset="-120"/>
              </a:rPr>
              <a:t>↻ one loop, one agent</a:t>
            </a:r>
            <a:endParaRPr lang="en-US" sz="1100" dirty="0"/>
          </a:p>
        </p:txBody>
      </p:sp>
      <p:sp>
        <p:nvSpPr>
          <p:cNvPr id="8" name="!!lt0"/>
          <p:cNvSpPr/>
          <p:nvPr/>
        </p:nvSpPr>
        <p:spPr>
          <a:xfrm>
            <a:off x="4080053" y="1809415"/>
            <a:ext cx="914" cy="431597"/>
          </a:xfrm>
          <a:prstGeom prst="line">
            <a:avLst/>
          </a:prstGeom>
          <a:noFill/>
          <a:ln w="15875">
            <a:solidFill>
              <a:srgbClr val="5F5E5A"/>
            </a:solidFill>
            <a:prstDash val="solid"/>
            <a:tailEnd type="triangle"/>
          </a:ln>
        </p:spPr>
      </p:sp>
      <p:sp>
        <p:nvSpPr>
          <p:cNvPr id="9" name="!!fr"/>
          <p:cNvSpPr/>
          <p:nvPr/>
        </p:nvSpPr>
        <p:spPr>
          <a:xfrm>
            <a:off x="5067330" y="3535802"/>
            <a:ext cx="2125614"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finish_reason decides all</a:t>
            </a:r>
            <a:endParaRPr lang="en-US" sz="900" dirty="0"/>
          </a:p>
        </p:txBody>
      </p:sp>
      <p:sp>
        <p:nvSpPr>
          <p:cNvPr id="10" name="!!j0"/>
          <p:cNvSpPr/>
          <p:nvPr/>
        </p:nvSpPr>
        <p:spPr>
          <a:xfrm>
            <a:off x="3515524" y="2636786"/>
            <a:ext cx="481662" cy="481662"/>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1" name="!!ji0" descr="/home/claude/multi-agent-deck/assets/icons/TbBrain_534AB7.png">    </p:cNvPr>
          <p:cNvPicPr>
            <a:picLocks noChangeAspect="1"/>
          </p:cNvPicPr>
          <p:nvPr/>
        </p:nvPicPr>
        <p:blipFill>
          <a:blip r:embed="rId2"/>
          <a:stretch>
            <a:fillRect/>
          </a:stretch>
        </p:blipFill>
        <p:spPr>
          <a:xfrm>
            <a:off x="3611857" y="2733118"/>
            <a:ext cx="288997" cy="288997"/>
          </a:xfrm>
          <a:prstGeom prst="rect">
            <a:avLst/>
          </a:prstGeom>
        </p:spPr>
      </p:pic>
      <p:sp>
        <p:nvSpPr>
          <p:cNvPr id="12" name="!!j1"/>
          <p:cNvSpPr/>
          <p:nvPr/>
        </p:nvSpPr>
        <p:spPr>
          <a:xfrm>
            <a:off x="4162919" y="2636786"/>
            <a:ext cx="481662" cy="481662"/>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3" name="!!ji1" descr="/home/claude/multi-agent-deck/assets/icons/TbTool_0F6E56.png">    </p:cNvPr>
          <p:cNvPicPr>
            <a:picLocks noChangeAspect="1"/>
          </p:cNvPicPr>
          <p:nvPr/>
        </p:nvPicPr>
        <p:blipFill>
          <a:blip r:embed="rId3"/>
          <a:stretch>
            <a:fillRect/>
          </a:stretch>
        </p:blipFill>
        <p:spPr>
          <a:xfrm>
            <a:off x="4259252" y="2733118"/>
            <a:ext cx="288997" cy="288997"/>
          </a:xfrm>
          <a:prstGeom prst="rect">
            <a:avLst/>
          </a:prstGeom>
        </p:spPr>
      </p:pic>
      <p:sp>
        <p:nvSpPr>
          <p:cNvPr id="14" name="!!j2"/>
          <p:cNvSpPr/>
          <p:nvPr/>
        </p:nvSpPr>
        <p:spPr>
          <a:xfrm>
            <a:off x="3839222" y="3100752"/>
            <a:ext cx="481662" cy="481662"/>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5" name="!!ji2" descr="/home/claude/multi-agent-deck/assets/icons/TbChecklist_993C1D.png">    </p:cNvPr>
          <p:cNvPicPr>
            <a:picLocks noChangeAspect="1"/>
          </p:cNvPicPr>
          <p:nvPr/>
        </p:nvPicPr>
        <p:blipFill>
          <a:blip r:embed="rId4"/>
          <a:stretch>
            <a:fillRect/>
          </a:stretch>
        </p:blipFill>
        <p:spPr>
          <a:xfrm>
            <a:off x="3935554" y="3197085"/>
            <a:ext cx="288997" cy="288997"/>
          </a:xfrm>
          <a:prstGeom prst="rect">
            <a:avLst/>
          </a:prstGeom>
        </p:spPr>
      </p:pic>
      <p:sp>
        <p:nvSpPr>
          <p:cNvPr id="16" name="!!shm"/>
          <p:cNvSpPr/>
          <p:nvPr/>
        </p:nvSpPr>
        <p:spPr>
          <a:xfrm>
            <a:off x="2461565" y="422635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17" name="!!sm0"/>
          <p:cNvSpPr/>
          <p:nvPr/>
        </p:nvSpPr>
        <p:spPr>
          <a:xfrm>
            <a:off x="4080053" y="3816340"/>
            <a:ext cx="914" cy="388437"/>
          </a:xfrm>
          <a:prstGeom prst="line">
            <a:avLst/>
          </a:prstGeom>
          <a:noFill/>
          <a:ln w="15875">
            <a:solidFill>
              <a:srgbClr val="5F5E5A"/>
            </a:solidFill>
            <a:prstDash val="solid"/>
            <a:tailEnd type="triangle"/>
          </a:ln>
        </p:spPr>
      </p:sp>
      <p:sp>
        <p:nvSpPr>
          <p:cNvPr id="18"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6</a:t>
            </a:r>
            <a:endParaRPr lang="en-US" sz="1200" dirty="0"/>
          </a:p>
        </p:txBody>
      </p:sp>
      <p:sp>
        <p:nvSpPr>
          <p:cNvPr id="19"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A32D2D"/>
                </a:solidFill>
                <a:latin typeface="Calibri" pitchFamily="34" charset="0"/>
                <a:ea typeface="Calibri" pitchFamily="34" charset="-122"/>
                <a:cs typeface="Calibri" pitchFamily="34" charset="-120"/>
              </a:rPr>
              <a:t>Root cause</a:t>
            </a:r>
            <a:endParaRPr lang="en-US" sz="2200" dirty="0"/>
          </a:p>
        </p:txBody>
      </p:sp>
      <p:sp>
        <p:nvSpPr>
          <p:cNvPr id="20"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One agent does thinking, acting and checking, shares one context, and only stops when finish_reason says so.</a:t>
            </a:r>
            <a:endParaRPr lang="en-US" sz="1400" dirty="0"/>
          </a:p>
        </p:txBody>
      </p:sp>
      <p:pic>
        <p:nvPicPr>
          <p:cNvPr id="21" name="!!cki0" descr="/home/claude/multi-agent-deck/assets/icons/TbCircle_B4B2A9.png">    </p:cNvPr>
          <p:cNvPicPr>
            <a:picLocks noChangeAspect="1"/>
          </p:cNvPicPr>
          <p:nvPr/>
        </p:nvPicPr>
        <p:blipFill>
          <a:blip r:embed="rId5"/>
          <a:stretch>
            <a:fillRect/>
          </a:stretch>
        </p:blipFill>
        <p:spPr>
          <a:xfrm>
            <a:off x="8092440" y="3191256"/>
            <a:ext cx="256032" cy="256032"/>
          </a:xfrm>
          <a:prstGeom prst="rect">
            <a:avLst/>
          </a:prstGeom>
        </p:spPr>
      </p:pic>
      <p:sp>
        <p:nvSpPr>
          <p:cNvPr id="22"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Separation of concerns</a:t>
            </a:r>
            <a:endParaRPr lang="en-US" sz="1400" dirty="0"/>
          </a:p>
        </p:txBody>
      </p:sp>
      <p:pic>
        <p:nvPicPr>
          <p:cNvPr id="23" name="!!cki1" descr="/home/claude/multi-agent-deck/assets/icons/TbCircle_B4B2A9.png">    </p:cNvPr>
          <p:cNvPicPr>
            <a:picLocks noChangeAspect="1"/>
          </p:cNvPicPr>
          <p:nvPr/>
        </p:nvPicPr>
        <p:blipFill>
          <a:blip r:embed="rId6"/>
          <a:stretch>
            <a:fillRect/>
          </a:stretch>
        </p:blipFill>
        <p:spPr>
          <a:xfrm>
            <a:off x="8092440" y="3648456"/>
            <a:ext cx="256032" cy="256032"/>
          </a:xfrm>
          <a:prstGeom prst="rect">
            <a:avLst/>
          </a:prstGeom>
        </p:spPr>
      </p:pic>
      <p:sp>
        <p:nvSpPr>
          <p:cNvPr id="24"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25" name="!!cki2" descr="/home/claude/multi-agent-deck/assets/icons/TbCircle_B4B2A9.png">    </p:cNvPr>
          <p:cNvPicPr>
            <a:picLocks noChangeAspect="1"/>
          </p:cNvPicPr>
          <p:nvPr/>
        </p:nvPicPr>
        <p:blipFill>
          <a:blip r:embed="rId7"/>
          <a:stretch>
            <a:fillRect/>
          </a:stretch>
        </p:blipFill>
        <p:spPr>
          <a:xfrm>
            <a:off x="8092440" y="4105656"/>
            <a:ext cx="256032" cy="256032"/>
          </a:xfrm>
          <a:prstGeom prst="rect">
            <a:avLst/>
          </a:prstGeom>
        </p:spPr>
      </p:pic>
      <p:sp>
        <p:nvSpPr>
          <p:cNvPr id="26"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27" name="!!cki3" descr="/home/claude/multi-agent-deck/assets/icons/TbCircle_B4B2A9.png">    </p:cNvPr>
          <p:cNvPicPr>
            <a:picLocks noChangeAspect="1"/>
          </p:cNvPicPr>
          <p:nvPr/>
        </p:nvPicPr>
        <p:blipFill>
          <a:blip r:embed="rId8"/>
          <a:stretch>
            <a:fillRect/>
          </a:stretch>
        </p:blipFill>
        <p:spPr>
          <a:xfrm>
            <a:off x="8092440" y="4562856"/>
            <a:ext cx="256032" cy="256032"/>
          </a:xfrm>
          <a:prstGeom prst="rect">
            <a:avLst/>
          </a:prstGeom>
        </p:spPr>
      </p:pic>
      <p:sp>
        <p:nvSpPr>
          <p:cNvPr id="28"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29" name="!!cki4" descr="/home/claude/multi-agent-deck/assets/icons/TbCircle_B4B2A9.png">    </p:cNvPr>
          <p:cNvPicPr>
            <a:picLocks noChangeAspect="1"/>
          </p:cNvPicPr>
          <p:nvPr/>
        </p:nvPicPr>
        <p:blipFill>
          <a:blip r:embed="rId9"/>
          <a:stretch>
            <a:fillRect/>
          </a:stretch>
        </p:blipFill>
        <p:spPr>
          <a:xfrm>
            <a:off x="8092440" y="5020056"/>
            <a:ext cx="256032" cy="256032"/>
          </a:xfrm>
          <a:prstGeom prst="rect">
            <a:avLst/>
          </a:prstGeom>
        </p:spPr>
      </p:pic>
      <p:sp>
        <p:nvSpPr>
          <p:cNvPr id="30"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shm"/>
          <p:cNvSpPr/>
          <p:nvPr/>
        </p:nvSpPr>
        <p:spPr>
          <a:xfrm>
            <a:off x="2461565" y="422635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23" name="!!sm10"/>
          <p:cNvSpPr/>
          <p:nvPr/>
        </p:nvSpPr>
        <p:spPr>
          <a:xfrm>
            <a:off x="1922069" y="3686861"/>
            <a:ext cx="1186891" cy="517916"/>
          </a:xfrm>
          <a:prstGeom prst="line">
            <a:avLst/>
          </a:prstGeom>
          <a:noFill/>
          <a:ln w="15875">
            <a:solidFill>
              <a:srgbClr val="5F5E5A"/>
            </a:solidFill>
            <a:prstDash val="solid"/>
            <a:tailEnd type="triangle"/>
          </a:ln>
        </p:spPr>
      </p:sp>
      <p:sp>
        <p:nvSpPr>
          <p:cNvPr id="24" name="!!sm11"/>
          <p:cNvSpPr/>
          <p:nvPr/>
        </p:nvSpPr>
        <p:spPr>
          <a:xfrm>
            <a:off x="4080053" y="3686861"/>
            <a:ext cx="914" cy="517916"/>
          </a:xfrm>
          <a:prstGeom prst="line">
            <a:avLst/>
          </a:prstGeom>
          <a:noFill/>
          <a:ln w="15875">
            <a:solidFill>
              <a:srgbClr val="5F5E5A"/>
            </a:solidFill>
            <a:prstDash val="solid"/>
            <a:tailEnd type="triangle"/>
          </a:ln>
        </p:spPr>
      </p:sp>
      <p:sp>
        <p:nvSpPr>
          <p:cNvPr id="25" name="!!sm12"/>
          <p:cNvSpPr/>
          <p:nvPr/>
        </p:nvSpPr>
        <p:spPr>
          <a:xfrm flipH="1">
            <a:off x="5051146" y="3686861"/>
            <a:ext cx="1186891" cy="517916"/>
          </a:xfrm>
          <a:prstGeom prst="line">
            <a:avLst/>
          </a:prstGeom>
          <a:noFill/>
          <a:ln w="15875">
            <a:solidFill>
              <a:srgbClr val="5F5E5A"/>
            </a:solidFill>
            <a:prstDash val="solid"/>
            <a:tailEnd type="triangle"/>
          </a:ln>
        </p:spPr>
      </p:sp>
      <p:sp>
        <p:nvSpPr>
          <p:cNvPr id="26"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6</a:t>
            </a:r>
            <a:endParaRPr lang="en-US" sz="1200" dirty="0"/>
          </a:p>
        </p:txBody>
      </p:sp>
      <p:sp>
        <p:nvSpPr>
          <p:cNvPr id="27"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Separation of concerns</a:t>
            </a:r>
            <a:endParaRPr lang="en-US" sz="2200" dirty="0"/>
          </a:p>
        </p:txBody>
      </p:sp>
      <p:sp>
        <p:nvSpPr>
          <p:cNvPr id="28"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Split the three jobs: a Planner thinks, a Worker acts, a Checker checks.</a:t>
            </a:r>
            <a:endParaRPr lang="en-US" sz="1400" dirty="0"/>
          </a:p>
        </p:txBody>
      </p:sp>
      <p:pic>
        <p:nvPicPr>
          <p:cNvPr id="29" name="!!cki0" descr="/home/claude/multi-agent-deck/assets/icons/TbCircleCheck_1D9E75.png">    </p:cNvPr>
          <p:cNvPicPr>
            <a:picLocks noChangeAspect="1"/>
          </p:cNvPicPr>
          <p:nvPr/>
        </p:nvPicPr>
        <p:blipFill>
          <a:blip r:embed="rId5"/>
          <a:stretch>
            <a:fillRect/>
          </a:stretch>
        </p:blipFill>
        <p:spPr>
          <a:xfrm>
            <a:off x="8092440" y="3191256"/>
            <a:ext cx="256032" cy="256032"/>
          </a:xfrm>
          <a:prstGeom prst="rect">
            <a:avLst/>
          </a:prstGeom>
        </p:spPr>
      </p:pic>
      <p:sp>
        <p:nvSpPr>
          <p:cNvPr id="30"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1" name="!!cki1" descr="/home/claude/multi-agent-deck/assets/icons/TbCircle_B4B2A9.png">    </p:cNvPr>
          <p:cNvPicPr>
            <a:picLocks noChangeAspect="1"/>
          </p:cNvPicPr>
          <p:nvPr/>
        </p:nvPicPr>
        <p:blipFill>
          <a:blip r:embed="rId6"/>
          <a:stretch>
            <a:fillRect/>
          </a:stretch>
        </p:blipFill>
        <p:spPr>
          <a:xfrm>
            <a:off x="8092440" y="3648456"/>
            <a:ext cx="256032" cy="256032"/>
          </a:xfrm>
          <a:prstGeom prst="rect">
            <a:avLst/>
          </a:prstGeom>
        </p:spPr>
      </p:pic>
      <p:sp>
        <p:nvSpPr>
          <p:cNvPr id="32"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33" name="!!cki2" descr="/home/claude/multi-agent-deck/assets/icons/TbCircle_B4B2A9.png">    </p:cNvPr>
          <p:cNvPicPr>
            <a:picLocks noChangeAspect="1"/>
          </p:cNvPicPr>
          <p:nvPr/>
        </p:nvPicPr>
        <p:blipFill>
          <a:blip r:embed="rId7"/>
          <a:stretch>
            <a:fillRect/>
          </a:stretch>
        </p:blipFill>
        <p:spPr>
          <a:xfrm>
            <a:off x="8092440" y="4105656"/>
            <a:ext cx="256032" cy="256032"/>
          </a:xfrm>
          <a:prstGeom prst="rect">
            <a:avLst/>
          </a:prstGeom>
        </p:spPr>
      </p:pic>
      <p:sp>
        <p:nvSpPr>
          <p:cNvPr id="34"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35" name="!!cki3" descr="/home/claude/multi-agent-deck/assets/icons/TbCircle_B4B2A9.png">    </p:cNvPr>
          <p:cNvPicPr>
            <a:picLocks noChangeAspect="1"/>
          </p:cNvPicPr>
          <p:nvPr/>
        </p:nvPicPr>
        <p:blipFill>
          <a:blip r:embed="rId8"/>
          <a:stretch>
            <a:fillRect/>
          </a:stretch>
        </p:blipFill>
        <p:spPr>
          <a:xfrm>
            <a:off x="8092440" y="4562856"/>
            <a:ext cx="256032" cy="256032"/>
          </a:xfrm>
          <a:prstGeom prst="rect">
            <a:avLst/>
          </a:prstGeom>
        </p:spPr>
      </p:pic>
      <p:sp>
        <p:nvSpPr>
          <p:cNvPr id="36"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37" name="!!cki4" descr="/home/claude/multi-agent-deck/assets/icons/TbCircle_B4B2A9.png">    </p:cNvPr>
          <p:cNvPicPr>
            <a:picLocks noChangeAspect="1"/>
          </p:cNvPicPr>
          <p:nvPr/>
        </p:nvPicPr>
        <p:blipFill>
          <a:blip r:embed="rId9"/>
          <a:stretch>
            <a:fillRect/>
          </a:stretch>
        </p:blipFill>
        <p:spPr>
          <a:xfrm>
            <a:off x="8092440" y="5020056"/>
            <a:ext cx="256032" cy="256032"/>
          </a:xfrm>
          <a:prstGeom prst="rect">
            <a:avLst/>
          </a:prstGeom>
        </p:spPr>
      </p:pic>
      <p:sp>
        <p:nvSpPr>
          <p:cNvPr id="38"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own0"/>
          <p:cNvSpPr/>
          <p:nvPr/>
        </p:nvSpPr>
        <p:spPr>
          <a:xfrm>
            <a:off x="1220724" y="424793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3" name="!!owl0"/>
          <p:cNvSpPr/>
          <p:nvPr/>
        </p:nvSpPr>
        <p:spPr>
          <a:xfrm>
            <a:off x="1922069" y="3686861"/>
            <a:ext cx="914" cy="539496"/>
          </a:xfrm>
          <a:prstGeom prst="line">
            <a:avLst/>
          </a:prstGeom>
          <a:noFill/>
          <a:ln w="15875">
            <a:solidFill>
              <a:srgbClr val="5F5E5A"/>
            </a:solidFill>
            <a:prstDash val="solid"/>
            <a:tailEnd type="triangle"/>
          </a:ln>
        </p:spPr>
      </p:sp>
      <p:sp>
        <p:nvSpPr>
          <p:cNvPr id="24" name="!!own1"/>
          <p:cNvSpPr/>
          <p:nvPr/>
        </p:nvSpPr>
        <p:spPr>
          <a:xfrm>
            <a:off x="3378708" y="424793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5" name="!!owl1"/>
          <p:cNvSpPr/>
          <p:nvPr/>
        </p:nvSpPr>
        <p:spPr>
          <a:xfrm>
            <a:off x="4080053" y="3686861"/>
            <a:ext cx="914" cy="539496"/>
          </a:xfrm>
          <a:prstGeom prst="line">
            <a:avLst/>
          </a:prstGeom>
          <a:noFill/>
          <a:ln w="15875">
            <a:solidFill>
              <a:srgbClr val="5F5E5A"/>
            </a:solidFill>
            <a:prstDash val="solid"/>
            <a:tailEnd type="triangle"/>
          </a:ln>
        </p:spPr>
      </p:sp>
      <p:sp>
        <p:nvSpPr>
          <p:cNvPr id="26" name="!!own2"/>
          <p:cNvSpPr/>
          <p:nvPr/>
        </p:nvSpPr>
        <p:spPr>
          <a:xfrm>
            <a:off x="5536692" y="424793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7" name="!!owl2"/>
          <p:cNvSpPr/>
          <p:nvPr/>
        </p:nvSpPr>
        <p:spPr>
          <a:xfrm>
            <a:off x="6238037" y="3686861"/>
            <a:ext cx="914" cy="539496"/>
          </a:xfrm>
          <a:prstGeom prst="line">
            <a:avLst/>
          </a:prstGeom>
          <a:noFill/>
          <a:ln w="15875">
            <a:solidFill>
              <a:srgbClr val="5F5E5A"/>
            </a:solidFill>
            <a:prstDash val="solid"/>
            <a:tailEnd type="triangle"/>
          </a:ln>
        </p:spPr>
      </p:sp>
      <p:sp>
        <p:nvSpPr>
          <p:cNvPr id="28"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6</a:t>
            </a:r>
            <a:endParaRPr lang="en-US" sz="1200" dirty="0"/>
          </a:p>
        </p:txBody>
      </p:sp>
      <p:sp>
        <p:nvSpPr>
          <p:cNvPr id="29"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Isolated state</a:t>
            </a:r>
            <a:endParaRPr lang="en-US" sz="2200" dirty="0"/>
          </a:p>
        </p:txBody>
      </p:sp>
      <p:sp>
        <p:nvSpPr>
          <p:cNvPr id="30"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part keeps only its own data. The big query result never reaches the Planner.</a:t>
            </a:r>
            <a:endParaRPr lang="en-US" sz="1400" dirty="0"/>
          </a:p>
        </p:txBody>
      </p:sp>
      <p:pic>
        <p:nvPicPr>
          <p:cNvPr id="31" name="!!cki0" descr="/home/claude/multi-agent-deck/assets/icons/TbCircleCheck_1D9E75.png">    </p:cNvPr>
          <p:cNvPicPr>
            <a:picLocks noChangeAspect="1"/>
          </p:cNvPicPr>
          <p:nvPr/>
        </p:nvPicPr>
        <p:blipFill>
          <a:blip r:embed="rId5"/>
          <a:stretch>
            <a:fillRect/>
          </a:stretch>
        </p:blipFill>
        <p:spPr>
          <a:xfrm>
            <a:off x="8092440" y="3191256"/>
            <a:ext cx="256032" cy="256032"/>
          </a:xfrm>
          <a:prstGeom prst="rect">
            <a:avLst/>
          </a:prstGeom>
        </p:spPr>
      </p:pic>
      <p:sp>
        <p:nvSpPr>
          <p:cNvPr id="32"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3" name="!!cki1" descr="/home/claude/multi-agent-deck/assets/icons/TbCircleCheck_1D9E75.png">    </p:cNvPr>
          <p:cNvPicPr>
            <a:picLocks noChangeAspect="1"/>
          </p:cNvPicPr>
          <p:nvPr/>
        </p:nvPicPr>
        <p:blipFill>
          <a:blip r:embed="rId6"/>
          <a:stretch>
            <a:fillRect/>
          </a:stretch>
        </p:blipFill>
        <p:spPr>
          <a:xfrm>
            <a:off x="8092440" y="3648456"/>
            <a:ext cx="256032" cy="256032"/>
          </a:xfrm>
          <a:prstGeom prst="rect">
            <a:avLst/>
          </a:prstGeom>
        </p:spPr>
      </p:pic>
      <p:sp>
        <p:nvSpPr>
          <p:cNvPr id="34"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35" name="!!cki2" descr="/home/claude/multi-agent-deck/assets/icons/TbCircle_B4B2A9.png">    </p:cNvPr>
          <p:cNvPicPr>
            <a:picLocks noChangeAspect="1"/>
          </p:cNvPicPr>
          <p:nvPr/>
        </p:nvPicPr>
        <p:blipFill>
          <a:blip r:embed="rId7"/>
          <a:stretch>
            <a:fillRect/>
          </a:stretch>
        </p:blipFill>
        <p:spPr>
          <a:xfrm>
            <a:off x="8092440" y="4105656"/>
            <a:ext cx="256032" cy="256032"/>
          </a:xfrm>
          <a:prstGeom prst="rect">
            <a:avLst/>
          </a:prstGeom>
        </p:spPr>
      </p:pic>
      <p:sp>
        <p:nvSpPr>
          <p:cNvPr id="36"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37" name="!!cki3" descr="/home/claude/multi-agent-deck/assets/icons/TbCircle_B4B2A9.png">    </p:cNvPr>
          <p:cNvPicPr>
            <a:picLocks noChangeAspect="1"/>
          </p:cNvPicPr>
          <p:nvPr/>
        </p:nvPicPr>
        <p:blipFill>
          <a:blip r:embed="rId8"/>
          <a:stretch>
            <a:fillRect/>
          </a:stretch>
        </p:blipFill>
        <p:spPr>
          <a:xfrm>
            <a:off x="8092440" y="4562856"/>
            <a:ext cx="256032" cy="256032"/>
          </a:xfrm>
          <a:prstGeom prst="rect">
            <a:avLst/>
          </a:prstGeom>
        </p:spPr>
      </p:pic>
      <p:sp>
        <p:nvSpPr>
          <p:cNvPr id="38"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39" name="!!cki4" descr="/home/claude/multi-agent-deck/assets/icons/TbCircle_B4B2A9.png">    </p:cNvPr>
          <p:cNvPicPr>
            <a:picLocks noChangeAspect="1"/>
          </p:cNvPicPr>
          <p:nvPr/>
        </p:nvPicPr>
        <p:blipFill>
          <a:blip r:embed="rId9"/>
          <a:stretch>
            <a:fillRect/>
          </a:stretch>
        </p:blipFill>
        <p:spPr>
          <a:xfrm>
            <a:off x="8092440" y="5020056"/>
            <a:ext cx="256032" cy="256032"/>
          </a:xfrm>
          <a:prstGeom prst="rect">
            <a:avLst/>
          </a:prstGeom>
        </p:spPr>
      </p:pic>
      <p:sp>
        <p:nvSpPr>
          <p:cNvPr id="40"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own0"/>
          <p:cNvSpPr/>
          <p:nvPr/>
        </p:nvSpPr>
        <p:spPr>
          <a:xfrm>
            <a:off x="1220724" y="424793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3" name="!!owl0"/>
          <p:cNvSpPr/>
          <p:nvPr/>
        </p:nvSpPr>
        <p:spPr>
          <a:xfrm>
            <a:off x="1922069" y="3686861"/>
            <a:ext cx="914" cy="539496"/>
          </a:xfrm>
          <a:prstGeom prst="line">
            <a:avLst/>
          </a:prstGeom>
          <a:noFill/>
          <a:ln w="15875">
            <a:solidFill>
              <a:srgbClr val="5F5E5A"/>
            </a:solidFill>
            <a:prstDash val="solid"/>
            <a:tailEnd type="triangle"/>
          </a:ln>
        </p:spPr>
      </p:sp>
      <p:sp>
        <p:nvSpPr>
          <p:cNvPr id="24" name="!!own1"/>
          <p:cNvSpPr/>
          <p:nvPr/>
        </p:nvSpPr>
        <p:spPr>
          <a:xfrm>
            <a:off x="3378708" y="424793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5" name="!!owl1"/>
          <p:cNvSpPr/>
          <p:nvPr/>
        </p:nvSpPr>
        <p:spPr>
          <a:xfrm>
            <a:off x="4080053" y="3686861"/>
            <a:ext cx="914" cy="539496"/>
          </a:xfrm>
          <a:prstGeom prst="line">
            <a:avLst/>
          </a:prstGeom>
          <a:noFill/>
          <a:ln w="15875">
            <a:solidFill>
              <a:srgbClr val="5F5E5A"/>
            </a:solidFill>
            <a:prstDash val="solid"/>
            <a:tailEnd type="triangle"/>
          </a:ln>
        </p:spPr>
      </p:sp>
      <p:sp>
        <p:nvSpPr>
          <p:cNvPr id="26" name="!!own2"/>
          <p:cNvSpPr/>
          <p:nvPr/>
        </p:nvSpPr>
        <p:spPr>
          <a:xfrm>
            <a:off x="5536692" y="424793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7" name="!!owl2"/>
          <p:cNvSpPr/>
          <p:nvPr/>
        </p:nvSpPr>
        <p:spPr>
          <a:xfrm>
            <a:off x="6238037" y="3686861"/>
            <a:ext cx="914" cy="539496"/>
          </a:xfrm>
          <a:prstGeom prst="line">
            <a:avLst/>
          </a:prstGeom>
          <a:noFill/>
          <a:ln w="15875">
            <a:solidFill>
              <a:srgbClr val="5F5E5A"/>
            </a:solidFill>
            <a:prstDash val="solid"/>
            <a:tailEnd type="triangle"/>
          </a:ln>
        </p:spPr>
      </p:sp>
      <p:sp>
        <p:nvSpPr>
          <p:cNvPr id="28" name="!!retry"/>
          <p:cNvSpPr/>
          <p:nvPr/>
        </p:nvSpPr>
        <p:spPr>
          <a:xfrm>
            <a:off x="4603364" y="377318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29" name="!!flag0" descr="/home/claude/multi-agent-deck/assets/icons/TbFlag_5F5E5A.png">    </p:cNvPr>
          <p:cNvPicPr>
            <a:picLocks noChangeAspect="1"/>
          </p:cNvPicPr>
          <p:nvPr/>
        </p:nvPicPr>
        <p:blipFill>
          <a:blip r:embed="rId5"/>
          <a:stretch>
            <a:fillRect/>
          </a:stretch>
        </p:blipFill>
        <p:spPr>
          <a:xfrm>
            <a:off x="2903952" y="3212104"/>
            <a:ext cx="194219" cy="194219"/>
          </a:xfrm>
          <a:prstGeom prst="rect">
            <a:avLst/>
          </a:prstGeom>
        </p:spPr>
      </p:pic>
      <p:pic>
        <p:nvPicPr>
          <p:cNvPr id="30" name="!!flag1" descr="/home/claude/multi-agent-deck/assets/icons/TbFlag_5F5E5A.png">    </p:cNvPr>
          <p:cNvPicPr>
            <a:picLocks noChangeAspect="1"/>
          </p:cNvPicPr>
          <p:nvPr/>
        </p:nvPicPr>
        <p:blipFill>
          <a:blip r:embed="rId6"/>
          <a:stretch>
            <a:fillRect/>
          </a:stretch>
        </p:blipFill>
        <p:spPr>
          <a:xfrm>
            <a:off x="5061936" y="3212104"/>
            <a:ext cx="194219" cy="194219"/>
          </a:xfrm>
          <a:prstGeom prst="rect">
            <a:avLst/>
          </a:prstGeom>
        </p:spPr>
      </p:pic>
      <p:sp>
        <p:nvSpPr>
          <p:cNvPr id="31"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6</a:t>
            </a:r>
            <a:endParaRPr lang="en-US" sz="1200" dirty="0"/>
          </a:p>
        </p:txBody>
      </p:sp>
      <p:sp>
        <p:nvSpPr>
          <p:cNvPr id="32"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Bounded execution</a:t>
            </a:r>
            <a:endParaRPr lang="en-US" sz="2200" dirty="0"/>
          </a:p>
        </p:txBody>
      </p:sp>
      <p:sp>
        <p:nvSpPr>
          <p:cNvPr id="33"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Retry limits and checkpoints. A failure stops or resumes from a checkpoint; it doesn't loop.</a:t>
            </a:r>
            <a:endParaRPr lang="en-US" sz="1400" dirty="0"/>
          </a:p>
        </p:txBody>
      </p:sp>
      <p:pic>
        <p:nvPicPr>
          <p:cNvPr id="34" name="!!cki0" descr="/home/claude/multi-agent-deck/assets/icons/TbCircleCheck_1D9E75.png">    </p:cNvPr>
          <p:cNvPicPr>
            <a:picLocks noChangeAspect="1"/>
          </p:cNvPicPr>
          <p:nvPr/>
        </p:nvPicPr>
        <p:blipFill>
          <a:blip r:embed="rId7"/>
          <a:stretch>
            <a:fillRect/>
          </a:stretch>
        </p:blipFill>
        <p:spPr>
          <a:xfrm>
            <a:off x="8092440" y="3191256"/>
            <a:ext cx="256032" cy="256032"/>
          </a:xfrm>
          <a:prstGeom prst="rect">
            <a:avLst/>
          </a:prstGeom>
        </p:spPr>
      </p:pic>
      <p:sp>
        <p:nvSpPr>
          <p:cNvPr id="35"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6" name="!!cki1" descr="/home/claude/multi-agent-deck/assets/icons/TbCircleCheck_1D9E75.png">    </p:cNvPr>
          <p:cNvPicPr>
            <a:picLocks noChangeAspect="1"/>
          </p:cNvPicPr>
          <p:nvPr/>
        </p:nvPicPr>
        <p:blipFill>
          <a:blip r:embed="rId8"/>
          <a:stretch>
            <a:fillRect/>
          </a:stretch>
        </p:blipFill>
        <p:spPr>
          <a:xfrm>
            <a:off x="8092440" y="3648456"/>
            <a:ext cx="256032" cy="256032"/>
          </a:xfrm>
          <a:prstGeom prst="rect">
            <a:avLst/>
          </a:prstGeom>
        </p:spPr>
      </p:pic>
      <p:sp>
        <p:nvSpPr>
          <p:cNvPr id="37"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38" name="!!cki2" descr="/home/claude/multi-agent-deck/assets/icons/TbCircleCheck_1D9E75.png">    </p:cNvPr>
          <p:cNvPicPr>
            <a:picLocks noChangeAspect="1"/>
          </p:cNvPicPr>
          <p:nvPr/>
        </p:nvPicPr>
        <p:blipFill>
          <a:blip r:embed="rId9"/>
          <a:stretch>
            <a:fillRect/>
          </a:stretch>
        </p:blipFill>
        <p:spPr>
          <a:xfrm>
            <a:off x="8092440" y="4105656"/>
            <a:ext cx="256032" cy="256032"/>
          </a:xfrm>
          <a:prstGeom prst="rect">
            <a:avLst/>
          </a:prstGeom>
        </p:spPr>
      </p:pic>
      <p:sp>
        <p:nvSpPr>
          <p:cNvPr id="39"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0" name="!!cki3" descr="/home/claude/multi-agent-deck/assets/icons/TbCircle_B4B2A9.png">    </p:cNvPr>
          <p:cNvPicPr>
            <a:picLocks noChangeAspect="1"/>
          </p:cNvPicPr>
          <p:nvPr/>
        </p:nvPicPr>
        <p:blipFill>
          <a:blip r:embed="rId10"/>
          <a:stretch>
            <a:fillRect/>
          </a:stretch>
        </p:blipFill>
        <p:spPr>
          <a:xfrm>
            <a:off x="8092440" y="4562856"/>
            <a:ext cx="256032" cy="256032"/>
          </a:xfrm>
          <a:prstGeom prst="rect">
            <a:avLst/>
          </a:prstGeom>
        </p:spPr>
      </p:pic>
      <p:sp>
        <p:nvSpPr>
          <p:cNvPr id="41"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42" name="!!cki4" descr="/home/claude/multi-agent-deck/assets/icons/TbCircle_B4B2A9.png">    </p:cNvPr>
          <p:cNvPicPr>
            <a:picLocks noChangeAspect="1"/>
          </p:cNvPicPr>
          <p:nvPr/>
        </p:nvPicPr>
        <p:blipFill>
          <a:blip r:embed="rId11"/>
          <a:stretch>
            <a:fillRect/>
          </a:stretch>
        </p:blipFill>
        <p:spPr>
          <a:xfrm>
            <a:off x="8092440" y="5020056"/>
            <a:ext cx="256032" cy="256032"/>
          </a:xfrm>
          <a:prstGeom prst="rect">
            <a:avLst/>
          </a:prstGeom>
        </p:spPr>
      </p:pic>
      <p:sp>
        <p:nvSpPr>
          <p:cNvPr id="43"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own0"/>
          <p:cNvSpPr/>
          <p:nvPr/>
        </p:nvSpPr>
        <p:spPr>
          <a:xfrm>
            <a:off x="1220724" y="424793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3" name="!!owl0"/>
          <p:cNvSpPr/>
          <p:nvPr/>
        </p:nvSpPr>
        <p:spPr>
          <a:xfrm>
            <a:off x="1922069" y="3686861"/>
            <a:ext cx="914" cy="539496"/>
          </a:xfrm>
          <a:prstGeom prst="line">
            <a:avLst/>
          </a:prstGeom>
          <a:noFill/>
          <a:ln w="15875">
            <a:solidFill>
              <a:srgbClr val="5F5E5A"/>
            </a:solidFill>
            <a:prstDash val="solid"/>
            <a:tailEnd type="triangle"/>
          </a:ln>
        </p:spPr>
      </p:sp>
      <p:sp>
        <p:nvSpPr>
          <p:cNvPr id="24" name="!!own1"/>
          <p:cNvSpPr/>
          <p:nvPr/>
        </p:nvSpPr>
        <p:spPr>
          <a:xfrm>
            <a:off x="3378708" y="424793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5" name="!!owl1"/>
          <p:cNvSpPr/>
          <p:nvPr/>
        </p:nvSpPr>
        <p:spPr>
          <a:xfrm>
            <a:off x="4080053" y="3686861"/>
            <a:ext cx="914" cy="539496"/>
          </a:xfrm>
          <a:prstGeom prst="line">
            <a:avLst/>
          </a:prstGeom>
          <a:noFill/>
          <a:ln w="15875">
            <a:solidFill>
              <a:srgbClr val="5F5E5A"/>
            </a:solidFill>
            <a:prstDash val="solid"/>
            <a:tailEnd type="triangle"/>
          </a:ln>
        </p:spPr>
      </p:sp>
      <p:sp>
        <p:nvSpPr>
          <p:cNvPr id="26" name="!!own2"/>
          <p:cNvSpPr/>
          <p:nvPr/>
        </p:nvSpPr>
        <p:spPr>
          <a:xfrm>
            <a:off x="5536692" y="424793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7" name="!!owl2"/>
          <p:cNvSpPr/>
          <p:nvPr/>
        </p:nvSpPr>
        <p:spPr>
          <a:xfrm>
            <a:off x="6238037" y="3686861"/>
            <a:ext cx="914" cy="539496"/>
          </a:xfrm>
          <a:prstGeom prst="line">
            <a:avLst/>
          </a:prstGeom>
          <a:noFill/>
          <a:ln w="15875">
            <a:solidFill>
              <a:srgbClr val="5F5E5A"/>
            </a:solidFill>
            <a:prstDash val="solid"/>
            <a:tailEnd type="triangle"/>
          </a:ln>
        </p:spPr>
      </p:sp>
      <p:sp>
        <p:nvSpPr>
          <p:cNvPr id="28" name="!!retry"/>
          <p:cNvSpPr/>
          <p:nvPr/>
        </p:nvSpPr>
        <p:spPr>
          <a:xfrm>
            <a:off x="4603364" y="377318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29" name="!!flag0" descr="/home/claude/multi-agent-deck/assets/icons/TbFlag_5F5E5A.png">    </p:cNvPr>
          <p:cNvPicPr>
            <a:picLocks noChangeAspect="1"/>
          </p:cNvPicPr>
          <p:nvPr/>
        </p:nvPicPr>
        <p:blipFill>
          <a:blip r:embed="rId5"/>
          <a:stretch>
            <a:fillRect/>
          </a:stretch>
        </p:blipFill>
        <p:spPr>
          <a:xfrm>
            <a:off x="2903952" y="3212104"/>
            <a:ext cx="194219" cy="194219"/>
          </a:xfrm>
          <a:prstGeom prst="rect">
            <a:avLst/>
          </a:prstGeom>
        </p:spPr>
      </p:pic>
      <p:pic>
        <p:nvPicPr>
          <p:cNvPr id="30" name="!!flag1" descr="/home/claude/multi-agent-deck/assets/icons/TbFlag_5F5E5A.png">    </p:cNvPr>
          <p:cNvPicPr>
            <a:picLocks noChangeAspect="1"/>
          </p:cNvPicPr>
          <p:nvPr/>
        </p:nvPicPr>
        <p:blipFill>
          <a:blip r:embed="rId6"/>
          <a:stretch>
            <a:fillRect/>
          </a:stretch>
        </p:blipFill>
        <p:spPr>
          <a:xfrm>
            <a:off x="5061936" y="3212104"/>
            <a:ext cx="194219" cy="194219"/>
          </a:xfrm>
          <a:prstGeom prst="rect">
            <a:avLst/>
          </a:prstGeom>
        </p:spPr>
      </p:pic>
      <p:sp>
        <p:nvSpPr>
          <p:cNvPr id="31" name="!!lockc"/>
          <p:cNvSpPr/>
          <p:nvPr/>
        </p:nvSpPr>
        <p:spPr>
          <a:xfrm>
            <a:off x="6410676" y="254312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2" name="!!locki" descr="/home/claude/multi-agent-deck/assets/icons/TbLock_993C1D.png">    </p:cNvPr>
          <p:cNvPicPr>
            <a:picLocks noChangeAspect="1"/>
          </p:cNvPicPr>
          <p:nvPr/>
        </p:nvPicPr>
        <p:blipFill>
          <a:blip r:embed="rId7"/>
          <a:stretch>
            <a:fillRect/>
          </a:stretch>
        </p:blipFill>
        <p:spPr>
          <a:xfrm>
            <a:off x="6464625" y="2597079"/>
            <a:ext cx="172639" cy="172639"/>
          </a:xfrm>
          <a:prstGeom prst="rect">
            <a:avLst/>
          </a:prstGeom>
        </p:spPr>
      </p:pic>
      <p:sp>
        <p:nvSpPr>
          <p:cNvPr id="33"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6</a:t>
            </a:r>
            <a:endParaRPr lang="en-US" sz="1200" dirty="0"/>
          </a:p>
        </p:txBody>
      </p:sp>
      <p:sp>
        <p:nvSpPr>
          <p:cNvPr id="34"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Maker-checker</a:t>
            </a:r>
            <a:endParaRPr lang="en-US" sz="2200" dirty="0"/>
          </a:p>
        </p:txBody>
      </p:sp>
      <p:sp>
        <p:nvSpPr>
          <p:cNvPr id="35"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The Checker verifies independently. The Worker can't touch the tests.</a:t>
            </a:r>
            <a:endParaRPr lang="en-US" sz="1400" dirty="0"/>
          </a:p>
        </p:txBody>
      </p:sp>
      <p:pic>
        <p:nvPicPr>
          <p:cNvPr id="36" name="!!cki0" descr="/home/claude/multi-agent-deck/assets/icons/TbCircleCheck_1D9E75.png">    </p:cNvPr>
          <p:cNvPicPr>
            <a:picLocks noChangeAspect="1"/>
          </p:cNvPicPr>
          <p:nvPr/>
        </p:nvPicPr>
        <p:blipFill>
          <a:blip r:embed="rId8"/>
          <a:stretch>
            <a:fillRect/>
          </a:stretch>
        </p:blipFill>
        <p:spPr>
          <a:xfrm>
            <a:off x="8092440" y="3191256"/>
            <a:ext cx="256032" cy="256032"/>
          </a:xfrm>
          <a:prstGeom prst="rect">
            <a:avLst/>
          </a:prstGeom>
        </p:spPr>
      </p:pic>
      <p:sp>
        <p:nvSpPr>
          <p:cNvPr id="37"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8" name="!!cki1" descr="/home/claude/multi-agent-deck/assets/icons/TbCircleCheck_1D9E75.png">    </p:cNvPr>
          <p:cNvPicPr>
            <a:picLocks noChangeAspect="1"/>
          </p:cNvPicPr>
          <p:nvPr/>
        </p:nvPicPr>
        <p:blipFill>
          <a:blip r:embed="rId9"/>
          <a:stretch>
            <a:fillRect/>
          </a:stretch>
        </p:blipFill>
        <p:spPr>
          <a:xfrm>
            <a:off x="8092440" y="3648456"/>
            <a:ext cx="256032" cy="256032"/>
          </a:xfrm>
          <a:prstGeom prst="rect">
            <a:avLst/>
          </a:prstGeom>
        </p:spPr>
      </p:pic>
      <p:sp>
        <p:nvSpPr>
          <p:cNvPr id="39"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0" name="!!cki2" descr="/home/claude/multi-agent-deck/assets/icons/TbCircleCheck_1D9E75.png">    </p:cNvPr>
          <p:cNvPicPr>
            <a:picLocks noChangeAspect="1"/>
          </p:cNvPicPr>
          <p:nvPr/>
        </p:nvPicPr>
        <p:blipFill>
          <a:blip r:embed="rId10"/>
          <a:stretch>
            <a:fillRect/>
          </a:stretch>
        </p:blipFill>
        <p:spPr>
          <a:xfrm>
            <a:off x="8092440" y="4105656"/>
            <a:ext cx="256032" cy="256032"/>
          </a:xfrm>
          <a:prstGeom prst="rect">
            <a:avLst/>
          </a:prstGeom>
        </p:spPr>
      </p:pic>
      <p:sp>
        <p:nvSpPr>
          <p:cNvPr id="41"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2" name="!!cki3" descr="/home/claude/multi-agent-deck/assets/icons/TbCircleCheck_1D9E75.png">    </p:cNvPr>
          <p:cNvPicPr>
            <a:picLocks noChangeAspect="1"/>
          </p:cNvPicPr>
          <p:nvPr/>
        </p:nvPicPr>
        <p:blipFill>
          <a:blip r:embed="rId11"/>
          <a:stretch>
            <a:fillRect/>
          </a:stretch>
        </p:blipFill>
        <p:spPr>
          <a:xfrm>
            <a:off x="8092440" y="4562856"/>
            <a:ext cx="256032" cy="256032"/>
          </a:xfrm>
          <a:prstGeom prst="rect">
            <a:avLst/>
          </a:prstGeom>
        </p:spPr>
      </p:pic>
      <p:sp>
        <p:nvSpPr>
          <p:cNvPr id="43"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44" name="!!cki4" descr="/home/claude/multi-agent-deck/assets/icons/TbCircle_B4B2A9.png">    </p:cNvPr>
          <p:cNvPicPr>
            <a:picLocks noChangeAspect="1"/>
          </p:cNvPicPr>
          <p:nvPr/>
        </p:nvPicPr>
        <p:blipFill>
          <a:blip r:embed="rId12"/>
          <a:stretch>
            <a:fillRect/>
          </a:stretch>
        </p:blipFill>
        <p:spPr>
          <a:xfrm>
            <a:off x="8092440" y="5020056"/>
            <a:ext cx="256032" cy="256032"/>
          </a:xfrm>
          <a:prstGeom prst="rect">
            <a:avLst/>
          </a:prstGeom>
        </p:spPr>
      </p:pic>
      <p:sp>
        <p:nvSpPr>
          <p:cNvPr id="45"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Root Cause: A System Design Problem</a:t>
            </a:r>
            <a:endParaRPr lang="en-US" sz="3000" dirty="0"/>
          </a:p>
        </p:txBody>
      </p:sp>
      <p:sp>
        <p:nvSpPr>
          <p:cNvPr id="3" name="!!task"/>
          <p:cNvSpPr/>
          <p:nvPr/>
        </p:nvSpPr>
        <p:spPr>
          <a:xfrm>
            <a:off x="3821095" y="126991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4" name="!!taski" descr="/home/claude/multi-agent-deck/assets/icons/TbTicket_2C2C2A.png">    </p:cNvPr>
          <p:cNvPicPr>
            <a:picLocks noChangeAspect="1"/>
          </p:cNvPicPr>
          <p:nvPr/>
        </p:nvPicPr>
        <p:blipFill>
          <a:blip r:embed="rId1"/>
          <a:stretch>
            <a:fillRect/>
          </a:stretch>
        </p:blipFill>
        <p:spPr>
          <a:xfrm>
            <a:off x="3939784" y="1388608"/>
            <a:ext cx="280538" cy="280538"/>
          </a:xfrm>
          <a:prstGeom prst="rect">
            <a:avLst/>
          </a:prstGeom>
        </p:spPr>
      </p:pic>
      <p:sp>
        <p:nvSpPr>
          <p:cNvPr id="5" name="!!taskl"/>
          <p:cNvSpPr txBox="1"/>
          <p:nvPr/>
        </p:nvSpPr>
        <p:spPr>
          <a:xfrm>
            <a:off x="4425330" y="144255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6" name="!!lt1a"/>
          <p:cNvSpPr/>
          <p:nvPr/>
        </p:nvSpPr>
        <p:spPr>
          <a:xfrm flipH="1">
            <a:off x="1727850" y="1528877"/>
            <a:ext cx="2093244" cy="914"/>
          </a:xfrm>
          <a:prstGeom prst="line">
            <a:avLst/>
          </a:prstGeom>
          <a:noFill/>
          <a:ln w="15875">
            <a:solidFill>
              <a:srgbClr val="5F5E5A"/>
            </a:solidFill>
            <a:prstDash val="solid"/>
          </a:ln>
        </p:spPr>
      </p:sp>
      <p:sp>
        <p:nvSpPr>
          <p:cNvPr id="7" name="!!lt1b"/>
          <p:cNvSpPr/>
          <p:nvPr/>
        </p:nvSpPr>
        <p:spPr>
          <a:xfrm>
            <a:off x="1727850" y="1528877"/>
            <a:ext cx="914" cy="1143732"/>
          </a:xfrm>
          <a:prstGeom prst="line">
            <a:avLst/>
          </a:prstGeom>
          <a:noFill/>
          <a:ln w="15875">
            <a:solidFill>
              <a:srgbClr val="5F5E5A"/>
            </a:solidFill>
            <a:prstDash val="solid"/>
            <a:tailEnd type="triangle"/>
          </a:ln>
        </p:spPr>
      </p:sp>
      <p:sp>
        <p:nvSpPr>
          <p:cNvPr id="8" name="!!lpw"/>
          <p:cNvSpPr/>
          <p:nvPr/>
        </p:nvSpPr>
        <p:spPr>
          <a:xfrm>
            <a:off x="2332086" y="3039466"/>
            <a:ext cx="1316370" cy="914"/>
          </a:xfrm>
          <a:prstGeom prst="line">
            <a:avLst/>
          </a:prstGeom>
          <a:noFill/>
          <a:ln w="15875">
            <a:solidFill>
              <a:srgbClr val="5F5E5A"/>
            </a:solidFill>
            <a:prstDash val="solid"/>
            <a:tailEnd type="triangle"/>
          </a:ln>
        </p:spPr>
      </p:sp>
      <p:sp>
        <p:nvSpPr>
          <p:cNvPr id="9" name="!!lwc"/>
          <p:cNvSpPr/>
          <p:nvPr/>
        </p:nvSpPr>
        <p:spPr>
          <a:xfrm>
            <a:off x="4490070" y="3039466"/>
            <a:ext cx="1316370" cy="914"/>
          </a:xfrm>
          <a:prstGeom prst="line">
            <a:avLst/>
          </a:prstGeom>
          <a:noFill/>
          <a:ln w="15875">
            <a:solidFill>
              <a:srgbClr val="5F5E5A"/>
            </a:solidFill>
            <a:prstDash val="solid"/>
            <a:tailEnd type="triangle"/>
          </a:ln>
        </p:spPr>
      </p:sp>
      <p:sp>
        <p:nvSpPr>
          <p:cNvPr id="10" name="!!fb1"/>
          <p:cNvSpPr/>
          <p:nvPr/>
        </p:nvSpPr>
        <p:spPr>
          <a:xfrm flipV="1">
            <a:off x="6238037" y="2370491"/>
            <a:ext cx="914" cy="280538"/>
          </a:xfrm>
          <a:prstGeom prst="line">
            <a:avLst/>
          </a:prstGeom>
          <a:noFill/>
          <a:ln w="15875">
            <a:solidFill>
              <a:srgbClr val="5F5E5A"/>
            </a:solidFill>
            <a:prstDash val="dash"/>
          </a:ln>
        </p:spPr>
      </p:sp>
      <p:sp>
        <p:nvSpPr>
          <p:cNvPr id="11" name="!!fb2"/>
          <p:cNvSpPr/>
          <p:nvPr/>
        </p:nvSpPr>
        <p:spPr>
          <a:xfrm flipH="1">
            <a:off x="2137867" y="2370491"/>
            <a:ext cx="4100170" cy="914"/>
          </a:xfrm>
          <a:prstGeom prst="line">
            <a:avLst/>
          </a:prstGeom>
          <a:noFill/>
          <a:ln w="15875">
            <a:solidFill>
              <a:srgbClr val="5F5E5A"/>
            </a:solidFill>
            <a:prstDash val="dash"/>
          </a:ln>
        </p:spPr>
      </p:sp>
      <p:sp>
        <p:nvSpPr>
          <p:cNvPr id="12" name="!!fb3"/>
          <p:cNvSpPr/>
          <p:nvPr/>
        </p:nvSpPr>
        <p:spPr>
          <a:xfrm>
            <a:off x="2137867" y="2370491"/>
            <a:ext cx="914" cy="302118"/>
          </a:xfrm>
          <a:prstGeom prst="line">
            <a:avLst/>
          </a:prstGeom>
          <a:noFill/>
          <a:ln w="15875">
            <a:solidFill>
              <a:srgbClr val="5F5E5A"/>
            </a:solidFill>
            <a:prstDash val="dash"/>
            <a:tailEnd type="triangle"/>
          </a:ln>
        </p:spPr>
      </p:sp>
      <p:sp>
        <p:nvSpPr>
          <p:cNvPr id="13" name="!!j0"/>
          <p:cNvSpPr/>
          <p:nvPr/>
        </p:nvSpPr>
        <p:spPr>
          <a:xfrm>
            <a:off x="1533632" y="265102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home/claude/multi-agent-deck/assets/icons/TbBrain_534AB7.png">    </p:cNvPr>
          <p:cNvPicPr>
            <a:picLocks noChangeAspect="1"/>
          </p:cNvPicPr>
          <p:nvPr/>
        </p:nvPicPr>
        <p:blipFill>
          <a:blip r:embed="rId2"/>
          <a:stretch>
            <a:fillRect/>
          </a:stretch>
        </p:blipFill>
        <p:spPr>
          <a:xfrm>
            <a:off x="1689007" y="2806403"/>
            <a:ext cx="466125" cy="466125"/>
          </a:xfrm>
          <a:prstGeom prst="rect">
            <a:avLst/>
          </a:prstGeom>
        </p:spPr>
      </p:pic>
      <p:sp>
        <p:nvSpPr>
          <p:cNvPr id="15" name="!!jl0"/>
          <p:cNvSpPr txBox="1"/>
          <p:nvPr/>
        </p:nvSpPr>
        <p:spPr>
          <a:xfrm>
            <a:off x="1281989" y="349264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6" name="!!j1"/>
          <p:cNvSpPr/>
          <p:nvPr/>
        </p:nvSpPr>
        <p:spPr>
          <a:xfrm>
            <a:off x="3691616" y="265102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7" name="!!ji1" descr="/home/claude/multi-agent-deck/assets/icons/TbTool_0F6E56.png">    </p:cNvPr>
          <p:cNvPicPr>
            <a:picLocks noChangeAspect="1"/>
          </p:cNvPicPr>
          <p:nvPr/>
        </p:nvPicPr>
        <p:blipFill>
          <a:blip r:embed="rId3"/>
          <a:stretch>
            <a:fillRect/>
          </a:stretch>
        </p:blipFill>
        <p:spPr>
          <a:xfrm>
            <a:off x="3846991" y="2806403"/>
            <a:ext cx="466125" cy="466125"/>
          </a:xfrm>
          <a:prstGeom prst="rect">
            <a:avLst/>
          </a:prstGeom>
        </p:spPr>
      </p:pic>
      <p:sp>
        <p:nvSpPr>
          <p:cNvPr id="18" name="!!jl1"/>
          <p:cNvSpPr txBox="1"/>
          <p:nvPr/>
        </p:nvSpPr>
        <p:spPr>
          <a:xfrm>
            <a:off x="3439973" y="349264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19" name="!!j2"/>
          <p:cNvSpPr/>
          <p:nvPr/>
        </p:nvSpPr>
        <p:spPr>
          <a:xfrm>
            <a:off x="5849600" y="265102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0" name="!!ji2" descr="/home/claude/multi-agent-deck/assets/icons/TbChecklist_993C1D.png">    </p:cNvPr>
          <p:cNvPicPr>
            <a:picLocks noChangeAspect="1"/>
          </p:cNvPicPr>
          <p:nvPr/>
        </p:nvPicPr>
        <p:blipFill>
          <a:blip r:embed="rId4"/>
          <a:stretch>
            <a:fillRect/>
          </a:stretch>
        </p:blipFill>
        <p:spPr>
          <a:xfrm>
            <a:off x="6004975" y="2806403"/>
            <a:ext cx="466125" cy="466125"/>
          </a:xfrm>
          <a:prstGeom prst="rect">
            <a:avLst/>
          </a:prstGeom>
        </p:spPr>
      </p:pic>
      <p:sp>
        <p:nvSpPr>
          <p:cNvPr id="21" name="!!jl2"/>
          <p:cNvSpPr txBox="1"/>
          <p:nvPr/>
        </p:nvSpPr>
        <p:spPr>
          <a:xfrm>
            <a:off x="5597957" y="349264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2" name="!!own0"/>
          <p:cNvSpPr/>
          <p:nvPr/>
        </p:nvSpPr>
        <p:spPr>
          <a:xfrm>
            <a:off x="1220724" y="424793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3" name="!!owl0"/>
          <p:cNvSpPr/>
          <p:nvPr/>
        </p:nvSpPr>
        <p:spPr>
          <a:xfrm>
            <a:off x="1922069" y="3686861"/>
            <a:ext cx="914" cy="539496"/>
          </a:xfrm>
          <a:prstGeom prst="line">
            <a:avLst/>
          </a:prstGeom>
          <a:noFill/>
          <a:ln w="15875">
            <a:solidFill>
              <a:srgbClr val="5F5E5A"/>
            </a:solidFill>
            <a:prstDash val="solid"/>
            <a:tailEnd type="triangle"/>
          </a:ln>
        </p:spPr>
      </p:sp>
      <p:sp>
        <p:nvSpPr>
          <p:cNvPr id="24" name="!!own1"/>
          <p:cNvSpPr/>
          <p:nvPr/>
        </p:nvSpPr>
        <p:spPr>
          <a:xfrm>
            <a:off x="3378708" y="424793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5" name="!!owl1"/>
          <p:cNvSpPr/>
          <p:nvPr/>
        </p:nvSpPr>
        <p:spPr>
          <a:xfrm>
            <a:off x="4080053" y="3686861"/>
            <a:ext cx="914" cy="539496"/>
          </a:xfrm>
          <a:prstGeom prst="line">
            <a:avLst/>
          </a:prstGeom>
          <a:noFill/>
          <a:ln w="15875">
            <a:solidFill>
              <a:srgbClr val="5F5E5A"/>
            </a:solidFill>
            <a:prstDash val="solid"/>
            <a:tailEnd type="triangle"/>
          </a:ln>
        </p:spPr>
      </p:sp>
      <p:sp>
        <p:nvSpPr>
          <p:cNvPr id="26" name="!!own2"/>
          <p:cNvSpPr/>
          <p:nvPr/>
        </p:nvSpPr>
        <p:spPr>
          <a:xfrm>
            <a:off x="5536692" y="424793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27" name="!!owl2"/>
          <p:cNvSpPr/>
          <p:nvPr/>
        </p:nvSpPr>
        <p:spPr>
          <a:xfrm>
            <a:off x="6238037" y="3686861"/>
            <a:ext cx="914" cy="539496"/>
          </a:xfrm>
          <a:prstGeom prst="line">
            <a:avLst/>
          </a:prstGeom>
          <a:noFill/>
          <a:ln w="15875">
            <a:solidFill>
              <a:srgbClr val="5F5E5A"/>
            </a:solidFill>
            <a:prstDash val="solid"/>
            <a:tailEnd type="triangle"/>
          </a:ln>
        </p:spPr>
      </p:sp>
      <p:sp>
        <p:nvSpPr>
          <p:cNvPr id="28" name="!!retry"/>
          <p:cNvSpPr/>
          <p:nvPr/>
        </p:nvSpPr>
        <p:spPr>
          <a:xfrm>
            <a:off x="4603364" y="377318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29" name="!!flag0" descr="/home/claude/multi-agent-deck/assets/icons/TbFlag_5F5E5A.png">    </p:cNvPr>
          <p:cNvPicPr>
            <a:picLocks noChangeAspect="1"/>
          </p:cNvPicPr>
          <p:nvPr/>
        </p:nvPicPr>
        <p:blipFill>
          <a:blip r:embed="rId5"/>
          <a:stretch>
            <a:fillRect/>
          </a:stretch>
        </p:blipFill>
        <p:spPr>
          <a:xfrm>
            <a:off x="2903952" y="3212104"/>
            <a:ext cx="194219" cy="194219"/>
          </a:xfrm>
          <a:prstGeom prst="rect">
            <a:avLst/>
          </a:prstGeom>
        </p:spPr>
      </p:pic>
      <p:pic>
        <p:nvPicPr>
          <p:cNvPr id="30" name="!!flag1" descr="/home/claude/multi-agent-deck/assets/icons/TbFlag_5F5E5A.png">    </p:cNvPr>
          <p:cNvPicPr>
            <a:picLocks noChangeAspect="1"/>
          </p:cNvPicPr>
          <p:nvPr/>
        </p:nvPicPr>
        <p:blipFill>
          <a:blip r:embed="rId6"/>
          <a:stretch>
            <a:fillRect/>
          </a:stretch>
        </p:blipFill>
        <p:spPr>
          <a:xfrm>
            <a:off x="5061936" y="3212104"/>
            <a:ext cx="194219" cy="194219"/>
          </a:xfrm>
          <a:prstGeom prst="rect">
            <a:avLst/>
          </a:prstGeom>
        </p:spPr>
      </p:pic>
      <p:sp>
        <p:nvSpPr>
          <p:cNvPr id="31" name="!!lockc"/>
          <p:cNvSpPr/>
          <p:nvPr/>
        </p:nvSpPr>
        <p:spPr>
          <a:xfrm>
            <a:off x="6410676" y="254312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2" name="!!locki" descr="/home/claude/multi-agent-deck/assets/icons/TbLock_993C1D.png">    </p:cNvPr>
          <p:cNvPicPr>
            <a:picLocks noChangeAspect="1"/>
          </p:cNvPicPr>
          <p:nvPr/>
        </p:nvPicPr>
        <p:blipFill>
          <a:blip r:embed="rId7"/>
          <a:stretch>
            <a:fillRect/>
          </a:stretch>
        </p:blipFill>
        <p:spPr>
          <a:xfrm>
            <a:off x="6464625" y="2597079"/>
            <a:ext cx="172639" cy="172639"/>
          </a:xfrm>
          <a:prstGeom prst="rect">
            <a:avLst/>
          </a:prstGeom>
        </p:spPr>
      </p:pic>
      <p:sp>
        <p:nvSpPr>
          <p:cNvPr id="33" name="!!pP"/>
          <p:cNvSpPr/>
          <p:nvPr/>
        </p:nvSpPr>
        <p:spPr>
          <a:xfrm>
            <a:off x="2655783" y="2715768"/>
            <a:ext cx="690555" cy="215798"/>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{plan}</a:t>
            </a:r>
            <a:endParaRPr lang="en-US" sz="900" dirty="0"/>
          </a:p>
        </p:txBody>
      </p:sp>
      <p:sp>
        <p:nvSpPr>
          <p:cNvPr id="34" name="!!pW"/>
          <p:cNvSpPr/>
          <p:nvPr/>
        </p:nvSpPr>
        <p:spPr>
          <a:xfrm>
            <a:off x="4738238" y="2715768"/>
            <a:ext cx="841614" cy="215798"/>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{result}</a:t>
            </a:r>
            <a:endParaRPr lang="en-US" sz="900" dirty="0"/>
          </a:p>
        </p:txBody>
      </p:sp>
      <p:sp>
        <p:nvSpPr>
          <p:cNvPr id="35" name="!!pF"/>
          <p:cNvSpPr/>
          <p:nvPr/>
        </p:nvSpPr>
        <p:spPr>
          <a:xfrm>
            <a:off x="3351733" y="2089953"/>
            <a:ext cx="1672438" cy="215798"/>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{status: fail, why}</a:t>
            </a:r>
            <a:endParaRPr lang="en-US" sz="900" dirty="0"/>
          </a:p>
        </p:txBody>
      </p:sp>
      <p:sp>
        <p:nvSpPr>
          <p:cNvPr id="36" name="!!pstep"/>
          <p:cNvSpPr txBox="1"/>
          <p:nvPr/>
        </p:nvSpPr>
        <p:spPr>
          <a:xfrm>
            <a:off x="8092440" y="11430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6</a:t>
            </a:r>
            <a:endParaRPr lang="en-US" sz="1200" dirty="0"/>
          </a:p>
        </p:txBody>
      </p:sp>
      <p:sp>
        <p:nvSpPr>
          <p:cNvPr id="37" name="!!pname"/>
          <p:cNvSpPr txBox="1"/>
          <p:nvPr/>
        </p:nvSpPr>
        <p:spPr>
          <a:xfrm>
            <a:off x="8092440" y="14173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Explicit hand-offs</a:t>
            </a:r>
            <a:endParaRPr lang="en-US" sz="2200" dirty="0"/>
          </a:p>
        </p:txBody>
      </p:sp>
      <p:sp>
        <p:nvSpPr>
          <p:cNvPr id="38" name="!!pcap"/>
          <p:cNvSpPr txBox="1"/>
          <p:nvPr/>
        </p:nvSpPr>
        <p:spPr>
          <a:xfrm>
            <a:off x="8092440" y="19202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step returns a structured status instead of relying on finish_reason. This is a multi-agent system.</a:t>
            </a:r>
            <a:endParaRPr lang="en-US" sz="1400" dirty="0"/>
          </a:p>
        </p:txBody>
      </p:sp>
      <p:pic>
        <p:nvPicPr>
          <p:cNvPr id="39" name="!!cki0" descr="/home/claude/multi-agent-deck/assets/icons/TbCircleCheck_1D9E75.png">    </p:cNvPr>
          <p:cNvPicPr>
            <a:picLocks noChangeAspect="1"/>
          </p:cNvPicPr>
          <p:nvPr/>
        </p:nvPicPr>
        <p:blipFill>
          <a:blip r:embed="rId8"/>
          <a:stretch>
            <a:fillRect/>
          </a:stretch>
        </p:blipFill>
        <p:spPr>
          <a:xfrm>
            <a:off x="8092440" y="3191256"/>
            <a:ext cx="256032" cy="256032"/>
          </a:xfrm>
          <a:prstGeom prst="rect">
            <a:avLst/>
          </a:prstGeom>
        </p:spPr>
      </p:pic>
      <p:sp>
        <p:nvSpPr>
          <p:cNvPr id="40" name="!!ckt0"/>
          <p:cNvSpPr txBox="1"/>
          <p:nvPr/>
        </p:nvSpPr>
        <p:spPr>
          <a:xfrm>
            <a:off x="8458200" y="3154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41" name="!!cki1" descr="/home/claude/multi-agent-deck/assets/icons/TbCircleCheck_1D9E75.png">    </p:cNvPr>
          <p:cNvPicPr>
            <a:picLocks noChangeAspect="1"/>
          </p:cNvPicPr>
          <p:nvPr/>
        </p:nvPicPr>
        <p:blipFill>
          <a:blip r:embed="rId9"/>
          <a:stretch>
            <a:fillRect/>
          </a:stretch>
        </p:blipFill>
        <p:spPr>
          <a:xfrm>
            <a:off x="8092440" y="3648456"/>
            <a:ext cx="256032" cy="256032"/>
          </a:xfrm>
          <a:prstGeom prst="rect">
            <a:avLst/>
          </a:prstGeom>
        </p:spPr>
      </p:pic>
      <p:sp>
        <p:nvSpPr>
          <p:cNvPr id="42" name="!!ckt1"/>
          <p:cNvSpPr txBox="1"/>
          <p:nvPr/>
        </p:nvSpPr>
        <p:spPr>
          <a:xfrm>
            <a:off x="8458200" y="3611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3" name="!!cki2" descr="/home/claude/multi-agent-deck/assets/icons/TbCircleCheck_1D9E75.png">    </p:cNvPr>
          <p:cNvPicPr>
            <a:picLocks noChangeAspect="1"/>
          </p:cNvPicPr>
          <p:nvPr/>
        </p:nvPicPr>
        <p:blipFill>
          <a:blip r:embed="rId10"/>
          <a:stretch>
            <a:fillRect/>
          </a:stretch>
        </p:blipFill>
        <p:spPr>
          <a:xfrm>
            <a:off x="8092440" y="4105656"/>
            <a:ext cx="256032" cy="256032"/>
          </a:xfrm>
          <a:prstGeom prst="rect">
            <a:avLst/>
          </a:prstGeom>
        </p:spPr>
      </p:pic>
      <p:sp>
        <p:nvSpPr>
          <p:cNvPr id="44" name="!!ckt2"/>
          <p:cNvSpPr txBox="1"/>
          <p:nvPr/>
        </p:nvSpPr>
        <p:spPr>
          <a:xfrm>
            <a:off x="8458200" y="4069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5" name="!!cki3" descr="/home/claude/multi-agent-deck/assets/icons/TbCircleCheck_1D9E75.png">    </p:cNvPr>
          <p:cNvPicPr>
            <a:picLocks noChangeAspect="1"/>
          </p:cNvPicPr>
          <p:nvPr/>
        </p:nvPicPr>
        <p:blipFill>
          <a:blip r:embed="rId11"/>
          <a:stretch>
            <a:fillRect/>
          </a:stretch>
        </p:blipFill>
        <p:spPr>
          <a:xfrm>
            <a:off x="8092440" y="4562856"/>
            <a:ext cx="256032" cy="256032"/>
          </a:xfrm>
          <a:prstGeom prst="rect">
            <a:avLst/>
          </a:prstGeom>
        </p:spPr>
      </p:pic>
      <p:sp>
        <p:nvSpPr>
          <p:cNvPr id="46" name="!!ckt3"/>
          <p:cNvSpPr txBox="1"/>
          <p:nvPr/>
        </p:nvSpPr>
        <p:spPr>
          <a:xfrm>
            <a:off x="8458200" y="4526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47" name="!!cki4" descr="/home/claude/multi-agent-deck/assets/icons/TbCircleCheck_1D9E75.png">    </p:cNvPr>
          <p:cNvPicPr>
            <a:picLocks noChangeAspect="1"/>
          </p:cNvPicPr>
          <p:nvPr/>
        </p:nvPicPr>
        <p:blipFill>
          <a:blip r:embed="rId12"/>
          <a:stretch>
            <a:fillRect/>
          </a:stretch>
        </p:blipFill>
        <p:spPr>
          <a:xfrm>
            <a:off x="8092440" y="5020056"/>
            <a:ext cx="256032" cy="256032"/>
          </a:xfrm>
          <a:prstGeom prst="rect">
            <a:avLst/>
          </a:prstGeom>
        </p:spPr>
      </p:pic>
      <p:sp>
        <p:nvSpPr>
          <p:cNvPr id="48" name="!!ckt4"/>
          <p:cNvSpPr txBox="1"/>
          <p:nvPr/>
        </p:nvSpPr>
        <p:spPr>
          <a:xfrm>
            <a:off x="8458200" y="4983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Explicit hand-offs</a:t>
            </a:r>
            <a:endParaRPr lang="en-US" sz="1400" dirty="0"/>
          </a:p>
        </p:txBody>
      </p:sp>
      <p:sp>
        <p:nvSpPr>
          <p:cNvPr id="49" name="!!take5"/>
          <p:cNvSpPr txBox="1"/>
          <p:nvPr/>
        </p:nvSpPr>
        <p:spPr>
          <a:xfrm>
            <a:off x="548640" y="5897880"/>
            <a:ext cx="11064240" cy="50292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This isn't an AI problem. It's a system design problem we've already solved, just not for agents yet.</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The Core Idea of Multi-Agent Systems</a:t>
            </a:r>
            <a:endParaRPr lang="en-US" sz="3000" dirty="0"/>
          </a:p>
        </p:txBody>
      </p:sp>
      <p:sp>
        <p:nvSpPr>
          <p:cNvPr id="3" name="!!tab0"/>
          <p:cNvSpPr/>
          <p:nvPr/>
        </p:nvSpPr>
        <p:spPr>
          <a:xfrm>
            <a:off x="548640" y="96012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1 · Supervisor</a:t>
            </a:r>
            <a:endParaRPr lang="en-US" sz="1200" dirty="0"/>
          </a:p>
        </p:txBody>
      </p:sp>
      <p:sp>
        <p:nvSpPr>
          <p:cNvPr id="4" name="!!tab1"/>
          <p:cNvSpPr/>
          <p:nvPr/>
        </p:nvSpPr>
        <p:spPr>
          <a:xfrm>
            <a:off x="21488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2 · Pipeline</a:t>
            </a:r>
            <a:endParaRPr lang="en-US" sz="1200" dirty="0"/>
          </a:p>
        </p:txBody>
      </p:sp>
      <p:sp>
        <p:nvSpPr>
          <p:cNvPr id="5" name="!!tab2"/>
          <p:cNvSpPr/>
          <p:nvPr/>
        </p:nvSpPr>
        <p:spPr>
          <a:xfrm>
            <a:off x="37490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3 · Peer swarm</a:t>
            </a:r>
            <a:endParaRPr lang="en-US" sz="1200" dirty="0"/>
          </a:p>
        </p:txBody>
      </p:sp>
      <p:sp>
        <p:nvSpPr>
          <p:cNvPr id="6" name="!!m0e0"/>
          <p:cNvSpPr/>
          <p:nvPr/>
        </p:nvSpPr>
        <p:spPr>
          <a:xfrm>
            <a:off x="7444679" y="2046427"/>
            <a:ext cx="622524" cy="914"/>
          </a:xfrm>
          <a:prstGeom prst="line">
            <a:avLst/>
          </a:prstGeom>
          <a:noFill/>
          <a:ln w="15875">
            <a:solidFill>
              <a:srgbClr val="5F5E5A"/>
            </a:solidFill>
            <a:prstDash val="solid"/>
            <a:headEnd type="triangle"/>
            <a:tailEnd type="triangle"/>
          </a:ln>
        </p:spPr>
      </p:sp>
      <p:sp>
        <p:nvSpPr>
          <p:cNvPr id="7" name="!!m0e1"/>
          <p:cNvSpPr/>
          <p:nvPr/>
        </p:nvSpPr>
        <p:spPr>
          <a:xfrm flipH="1">
            <a:off x="3628339" y="2398288"/>
            <a:ext cx="1894637" cy="974385"/>
          </a:xfrm>
          <a:prstGeom prst="line">
            <a:avLst/>
          </a:prstGeom>
          <a:noFill/>
          <a:ln w="15875">
            <a:solidFill>
              <a:srgbClr val="5F5E5A"/>
            </a:solidFill>
            <a:prstDash val="solid"/>
            <a:headEnd type="triangle"/>
            <a:tailEnd type="triangle"/>
          </a:ln>
        </p:spPr>
      </p:sp>
      <p:sp>
        <p:nvSpPr>
          <p:cNvPr id="8" name="!!m0e2"/>
          <p:cNvSpPr/>
          <p:nvPr/>
        </p:nvSpPr>
        <p:spPr>
          <a:xfrm>
            <a:off x="6064301" y="2398288"/>
            <a:ext cx="914" cy="893186"/>
          </a:xfrm>
          <a:prstGeom prst="line">
            <a:avLst/>
          </a:prstGeom>
          <a:noFill/>
          <a:ln w="15875">
            <a:solidFill>
              <a:srgbClr val="5F5E5A"/>
            </a:solidFill>
            <a:prstDash val="solid"/>
            <a:headEnd type="triangle"/>
            <a:tailEnd type="triangle"/>
          </a:ln>
        </p:spPr>
      </p:sp>
      <p:sp>
        <p:nvSpPr>
          <p:cNvPr id="9" name="!!m0e3"/>
          <p:cNvSpPr/>
          <p:nvPr/>
        </p:nvSpPr>
        <p:spPr>
          <a:xfrm>
            <a:off x="6605626" y="2398288"/>
            <a:ext cx="1894637" cy="974385"/>
          </a:xfrm>
          <a:prstGeom prst="line">
            <a:avLst/>
          </a:prstGeom>
          <a:noFill/>
          <a:ln w="15875">
            <a:solidFill>
              <a:srgbClr val="5F5E5A"/>
            </a:solidFill>
            <a:prstDash val="solid"/>
            <a:headEnd type="triangle"/>
            <a:tailEnd type="triangle"/>
          </a:ln>
        </p:spPr>
      </p:sp>
      <p:sp>
        <p:nvSpPr>
          <p:cNvPr id="10" name="!!m0e4"/>
          <p:cNvSpPr/>
          <p:nvPr/>
        </p:nvSpPr>
        <p:spPr>
          <a:xfrm>
            <a:off x="3357677" y="4644786"/>
            <a:ext cx="914" cy="568391"/>
          </a:xfrm>
          <a:prstGeom prst="line">
            <a:avLst/>
          </a:prstGeom>
          <a:noFill/>
          <a:ln w="15875">
            <a:solidFill>
              <a:srgbClr val="5F5E5A"/>
            </a:solidFill>
            <a:prstDash val="solid"/>
            <a:tailEnd type="triangle"/>
          </a:ln>
        </p:spPr>
      </p:sp>
      <p:sp>
        <p:nvSpPr>
          <p:cNvPr id="11" name="!!m0e5"/>
          <p:cNvSpPr/>
          <p:nvPr/>
        </p:nvSpPr>
        <p:spPr>
          <a:xfrm>
            <a:off x="6064301" y="4644786"/>
            <a:ext cx="914" cy="568391"/>
          </a:xfrm>
          <a:prstGeom prst="line">
            <a:avLst/>
          </a:prstGeom>
          <a:noFill/>
          <a:ln w="15875">
            <a:solidFill>
              <a:srgbClr val="5F5E5A"/>
            </a:solidFill>
            <a:prstDash val="solid"/>
            <a:tailEnd type="triangle"/>
          </a:ln>
        </p:spPr>
      </p:sp>
      <p:sp>
        <p:nvSpPr>
          <p:cNvPr id="12" name="!!m0e6"/>
          <p:cNvSpPr/>
          <p:nvPr/>
        </p:nvSpPr>
        <p:spPr>
          <a:xfrm>
            <a:off x="8770925" y="4644786"/>
            <a:ext cx="914" cy="568391"/>
          </a:xfrm>
          <a:prstGeom prst="line">
            <a:avLst/>
          </a:prstGeom>
          <a:noFill/>
          <a:ln w="15875">
            <a:solidFill>
              <a:srgbClr val="5F5E5A"/>
            </a:solidFill>
            <a:prstDash val="solid"/>
            <a:tailEnd type="triangle"/>
          </a:ln>
        </p:spPr>
      </p:sp>
      <p:sp>
        <p:nvSpPr>
          <p:cNvPr id="13" name="!!coord"/>
          <p:cNvSpPr/>
          <p:nvPr/>
        </p:nvSpPr>
        <p:spPr>
          <a:xfrm>
            <a:off x="4710989" y="1708099"/>
            <a:ext cx="2706624" cy="676656"/>
          </a:xfrm>
          <a:prstGeom prst="roundRect">
            <a:avLst>
              <a:gd name="adj" fmla="val 10811"/>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Supervisor</a:t>
            </a:r>
            <a:endParaRPr lang="en-US" sz="1400" dirty="0"/>
          </a:p>
        </p:txBody>
      </p:sp>
      <p:sp>
        <p:nvSpPr>
          <p:cNvPr id="14" name="!!guard"/>
          <p:cNvSpPr/>
          <p:nvPr/>
        </p:nvSpPr>
        <p:spPr>
          <a:xfrm>
            <a:off x="8094269" y="1708099"/>
            <a:ext cx="2029968" cy="676656"/>
          </a:xfrm>
          <a:prstGeom prst="roundRect">
            <a:avLst>
              <a:gd name="adj" fmla="val 10811"/>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5" name="!!ag0"/>
          <p:cNvSpPr/>
          <p:nvPr/>
        </p:nvSpPr>
        <p:spPr>
          <a:xfrm>
            <a:off x="2897551"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6" name="!!agi0" descr="/home/claude/multi-agent-deck/assets/icons/TbRobot_1D9E75.png">    </p:cNvPr>
          <p:cNvPicPr>
            <a:picLocks noChangeAspect="1"/>
          </p:cNvPicPr>
          <p:nvPr/>
        </p:nvPicPr>
        <p:blipFill>
          <a:blip r:embed="rId1"/>
          <a:stretch>
            <a:fillRect/>
          </a:stretch>
        </p:blipFill>
        <p:spPr>
          <a:xfrm>
            <a:off x="3154680" y="3602736"/>
            <a:ext cx="405994" cy="405994"/>
          </a:xfrm>
          <a:prstGeom prst="rect">
            <a:avLst/>
          </a:prstGeom>
        </p:spPr>
      </p:pic>
      <p:sp>
        <p:nvSpPr>
          <p:cNvPr id="17" name="!!agl0"/>
          <p:cNvSpPr txBox="1"/>
          <p:nvPr/>
        </p:nvSpPr>
        <p:spPr>
          <a:xfrm>
            <a:off x="2626157"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18" name="!!ag1"/>
          <p:cNvSpPr/>
          <p:nvPr/>
        </p:nvSpPr>
        <p:spPr>
          <a:xfrm>
            <a:off x="5604175"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1" descr="/home/claude/multi-agent-deck/assets/icons/TbRobot_1D9E75.png">    </p:cNvPr>
          <p:cNvPicPr>
            <a:picLocks noChangeAspect="1"/>
          </p:cNvPicPr>
          <p:nvPr/>
        </p:nvPicPr>
        <p:blipFill>
          <a:blip r:embed="rId2"/>
          <a:stretch>
            <a:fillRect/>
          </a:stretch>
        </p:blipFill>
        <p:spPr>
          <a:xfrm>
            <a:off x="5861304" y="3602736"/>
            <a:ext cx="405994" cy="405994"/>
          </a:xfrm>
          <a:prstGeom prst="rect">
            <a:avLst/>
          </a:prstGeom>
        </p:spPr>
      </p:pic>
      <p:sp>
        <p:nvSpPr>
          <p:cNvPr id="20" name="!!agl1"/>
          <p:cNvSpPr txBox="1"/>
          <p:nvPr/>
        </p:nvSpPr>
        <p:spPr>
          <a:xfrm>
            <a:off x="5332781"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1" name="!!ag2"/>
          <p:cNvSpPr/>
          <p:nvPr/>
        </p:nvSpPr>
        <p:spPr>
          <a:xfrm>
            <a:off x="8310799"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2" name="!!agi2" descr="/home/claude/multi-agent-deck/assets/icons/TbRobot_1D9E75.png">    </p:cNvPr>
          <p:cNvPicPr>
            <a:picLocks noChangeAspect="1"/>
          </p:cNvPicPr>
          <p:nvPr/>
        </p:nvPicPr>
        <p:blipFill>
          <a:blip r:embed="rId3"/>
          <a:stretch>
            <a:fillRect/>
          </a:stretch>
        </p:blipFill>
        <p:spPr>
          <a:xfrm>
            <a:off x="8567928" y="3602736"/>
            <a:ext cx="405994" cy="405994"/>
          </a:xfrm>
          <a:prstGeom prst="rect">
            <a:avLst/>
          </a:prstGeom>
        </p:spPr>
      </p:pic>
      <p:sp>
        <p:nvSpPr>
          <p:cNvPr id="23" name="!!agl2"/>
          <p:cNvSpPr txBox="1"/>
          <p:nvPr/>
        </p:nvSpPr>
        <p:spPr>
          <a:xfrm>
            <a:off x="8039405"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4" name="!!shared"/>
          <p:cNvSpPr/>
          <p:nvPr/>
        </p:nvSpPr>
        <p:spPr>
          <a:xfrm>
            <a:off x="2139696" y="5267310"/>
            <a:ext cx="7849210" cy="595457"/>
          </a:xfrm>
          <a:prstGeom prst="roundRect">
            <a:avLst>
              <a:gd name="adj" fmla="val 12285"/>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state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The Core Idea of Multi-Agent Systems</a:t>
            </a:r>
            <a:endParaRPr lang="en-US" sz="3000" dirty="0"/>
          </a:p>
        </p:txBody>
      </p:sp>
      <p:sp>
        <p:nvSpPr>
          <p:cNvPr id="3" name="!!tab0"/>
          <p:cNvSpPr/>
          <p:nvPr/>
        </p:nvSpPr>
        <p:spPr>
          <a:xfrm>
            <a:off x="5486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1 · Supervisor</a:t>
            </a:r>
            <a:endParaRPr lang="en-US" sz="1200" dirty="0"/>
          </a:p>
        </p:txBody>
      </p:sp>
      <p:sp>
        <p:nvSpPr>
          <p:cNvPr id="4" name="!!tab1"/>
          <p:cNvSpPr/>
          <p:nvPr/>
        </p:nvSpPr>
        <p:spPr>
          <a:xfrm>
            <a:off x="2148840" y="96012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2 · Pipeline</a:t>
            </a:r>
            <a:endParaRPr lang="en-US" sz="1200" dirty="0"/>
          </a:p>
        </p:txBody>
      </p:sp>
      <p:sp>
        <p:nvSpPr>
          <p:cNvPr id="5" name="!!tab2"/>
          <p:cNvSpPr/>
          <p:nvPr/>
        </p:nvSpPr>
        <p:spPr>
          <a:xfrm>
            <a:off x="37490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3 · Peer swarm</a:t>
            </a:r>
            <a:endParaRPr lang="en-US" sz="1200" dirty="0"/>
          </a:p>
        </p:txBody>
      </p:sp>
      <p:sp>
        <p:nvSpPr>
          <p:cNvPr id="6" name="!!m1e0"/>
          <p:cNvSpPr/>
          <p:nvPr/>
        </p:nvSpPr>
        <p:spPr>
          <a:xfrm>
            <a:off x="3357677" y="2398288"/>
            <a:ext cx="914" cy="893186"/>
          </a:xfrm>
          <a:prstGeom prst="line">
            <a:avLst/>
          </a:prstGeom>
          <a:noFill/>
          <a:ln w="15875">
            <a:solidFill>
              <a:srgbClr val="5F5E5A"/>
            </a:solidFill>
            <a:prstDash val="solid"/>
            <a:tailEnd type="triangle"/>
          </a:ln>
        </p:spPr>
      </p:sp>
      <p:sp>
        <p:nvSpPr>
          <p:cNvPr id="7" name="!!m1e1"/>
          <p:cNvSpPr/>
          <p:nvPr/>
        </p:nvSpPr>
        <p:spPr>
          <a:xfrm>
            <a:off x="3844869" y="3805733"/>
            <a:ext cx="1705173" cy="914"/>
          </a:xfrm>
          <a:prstGeom prst="line">
            <a:avLst/>
          </a:prstGeom>
          <a:noFill/>
          <a:ln w="15875">
            <a:solidFill>
              <a:srgbClr val="5F5E5A"/>
            </a:solidFill>
            <a:prstDash val="solid"/>
            <a:tailEnd type="triangle"/>
          </a:ln>
        </p:spPr>
      </p:sp>
      <p:sp>
        <p:nvSpPr>
          <p:cNvPr id="8" name="!!m1e2"/>
          <p:cNvSpPr/>
          <p:nvPr/>
        </p:nvSpPr>
        <p:spPr>
          <a:xfrm>
            <a:off x="6551493" y="3805733"/>
            <a:ext cx="1705173" cy="914"/>
          </a:xfrm>
          <a:prstGeom prst="line">
            <a:avLst/>
          </a:prstGeom>
          <a:noFill/>
          <a:ln w="15875">
            <a:solidFill>
              <a:srgbClr val="5F5E5A"/>
            </a:solidFill>
            <a:prstDash val="solid"/>
            <a:tailEnd type="triangle"/>
          </a:ln>
        </p:spPr>
      </p:sp>
      <p:sp>
        <p:nvSpPr>
          <p:cNvPr id="9" name="!!m1e3"/>
          <p:cNvSpPr/>
          <p:nvPr/>
        </p:nvSpPr>
        <p:spPr>
          <a:xfrm flipV="1">
            <a:off x="8987455" y="2425355"/>
            <a:ext cx="81199" cy="974385"/>
          </a:xfrm>
          <a:prstGeom prst="line">
            <a:avLst/>
          </a:prstGeom>
          <a:noFill/>
          <a:ln w="15875">
            <a:solidFill>
              <a:srgbClr val="5F5E5A"/>
            </a:solidFill>
            <a:prstDash val="solid"/>
            <a:tailEnd type="triangle"/>
          </a:ln>
        </p:spPr>
      </p:sp>
      <p:sp>
        <p:nvSpPr>
          <p:cNvPr id="10" name="!!m1e4"/>
          <p:cNvSpPr/>
          <p:nvPr/>
        </p:nvSpPr>
        <p:spPr>
          <a:xfrm>
            <a:off x="3357677" y="4644786"/>
            <a:ext cx="914" cy="568391"/>
          </a:xfrm>
          <a:prstGeom prst="line">
            <a:avLst/>
          </a:prstGeom>
          <a:noFill/>
          <a:ln w="15875">
            <a:solidFill>
              <a:srgbClr val="5F5E5A"/>
            </a:solidFill>
            <a:prstDash val="dash"/>
            <a:tailEnd type="triangle"/>
          </a:ln>
        </p:spPr>
      </p:sp>
      <p:sp>
        <p:nvSpPr>
          <p:cNvPr id="11" name="!!m1e5"/>
          <p:cNvSpPr/>
          <p:nvPr/>
        </p:nvSpPr>
        <p:spPr>
          <a:xfrm>
            <a:off x="6064301" y="4644786"/>
            <a:ext cx="914" cy="568391"/>
          </a:xfrm>
          <a:prstGeom prst="line">
            <a:avLst/>
          </a:prstGeom>
          <a:noFill/>
          <a:ln w="15875">
            <a:solidFill>
              <a:srgbClr val="5F5E5A"/>
            </a:solidFill>
            <a:prstDash val="dash"/>
            <a:tailEnd type="triangle"/>
          </a:ln>
        </p:spPr>
      </p:sp>
      <p:sp>
        <p:nvSpPr>
          <p:cNvPr id="12" name="!!m1e6"/>
          <p:cNvSpPr/>
          <p:nvPr/>
        </p:nvSpPr>
        <p:spPr>
          <a:xfrm>
            <a:off x="8770925" y="4644786"/>
            <a:ext cx="914" cy="568391"/>
          </a:xfrm>
          <a:prstGeom prst="line">
            <a:avLst/>
          </a:prstGeom>
          <a:noFill/>
          <a:ln w="15875">
            <a:solidFill>
              <a:srgbClr val="5F5E5A"/>
            </a:solidFill>
            <a:prstDash val="dash"/>
            <a:tailEnd type="triangle"/>
          </a:ln>
        </p:spPr>
      </p:sp>
      <p:sp>
        <p:nvSpPr>
          <p:cNvPr id="13" name="!!coord"/>
          <p:cNvSpPr/>
          <p:nvPr/>
        </p:nvSpPr>
        <p:spPr>
          <a:xfrm>
            <a:off x="2004365" y="1708099"/>
            <a:ext cx="2706624" cy="676656"/>
          </a:xfrm>
          <a:prstGeom prst="roundRect">
            <a:avLst>
              <a:gd name="adj" fmla="val 10811"/>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Input</a:t>
            </a:r>
            <a:endParaRPr lang="en-US" sz="1400" dirty="0"/>
          </a:p>
        </p:txBody>
      </p:sp>
      <p:sp>
        <p:nvSpPr>
          <p:cNvPr id="14" name="!!guard"/>
          <p:cNvSpPr/>
          <p:nvPr/>
        </p:nvSpPr>
        <p:spPr>
          <a:xfrm>
            <a:off x="8094269" y="1708099"/>
            <a:ext cx="2029968" cy="676656"/>
          </a:xfrm>
          <a:prstGeom prst="roundRect">
            <a:avLst>
              <a:gd name="adj" fmla="val 10811"/>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5" name="!!ag0"/>
          <p:cNvSpPr/>
          <p:nvPr/>
        </p:nvSpPr>
        <p:spPr>
          <a:xfrm>
            <a:off x="2897551"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6" name="!!agi0" descr="/home/claude/multi-agent-deck/assets/icons/TbRobot_1D9E75.png">    </p:cNvPr>
          <p:cNvPicPr>
            <a:picLocks noChangeAspect="1"/>
          </p:cNvPicPr>
          <p:nvPr/>
        </p:nvPicPr>
        <p:blipFill>
          <a:blip r:embed="rId1"/>
          <a:stretch>
            <a:fillRect/>
          </a:stretch>
        </p:blipFill>
        <p:spPr>
          <a:xfrm>
            <a:off x="3154680" y="3602736"/>
            <a:ext cx="405994" cy="405994"/>
          </a:xfrm>
          <a:prstGeom prst="rect">
            <a:avLst/>
          </a:prstGeom>
        </p:spPr>
      </p:pic>
      <p:sp>
        <p:nvSpPr>
          <p:cNvPr id="17" name="!!agl0"/>
          <p:cNvSpPr txBox="1"/>
          <p:nvPr/>
        </p:nvSpPr>
        <p:spPr>
          <a:xfrm>
            <a:off x="2626157"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18" name="!!ag1"/>
          <p:cNvSpPr/>
          <p:nvPr/>
        </p:nvSpPr>
        <p:spPr>
          <a:xfrm>
            <a:off x="5604175"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1" descr="/home/claude/multi-agent-deck/assets/icons/TbRobot_1D9E75.png">    </p:cNvPr>
          <p:cNvPicPr>
            <a:picLocks noChangeAspect="1"/>
          </p:cNvPicPr>
          <p:nvPr/>
        </p:nvPicPr>
        <p:blipFill>
          <a:blip r:embed="rId2"/>
          <a:stretch>
            <a:fillRect/>
          </a:stretch>
        </p:blipFill>
        <p:spPr>
          <a:xfrm>
            <a:off x="5861304" y="3602736"/>
            <a:ext cx="405994" cy="405994"/>
          </a:xfrm>
          <a:prstGeom prst="rect">
            <a:avLst/>
          </a:prstGeom>
        </p:spPr>
      </p:pic>
      <p:sp>
        <p:nvSpPr>
          <p:cNvPr id="20" name="!!agl1"/>
          <p:cNvSpPr txBox="1"/>
          <p:nvPr/>
        </p:nvSpPr>
        <p:spPr>
          <a:xfrm>
            <a:off x="5332781"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1" name="!!ag2"/>
          <p:cNvSpPr/>
          <p:nvPr/>
        </p:nvSpPr>
        <p:spPr>
          <a:xfrm>
            <a:off x="8310799" y="3345607"/>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2" name="!!agi2" descr="/home/claude/multi-agent-deck/assets/icons/TbRobot_1D9E75.png">    </p:cNvPr>
          <p:cNvPicPr>
            <a:picLocks noChangeAspect="1"/>
          </p:cNvPicPr>
          <p:nvPr/>
        </p:nvPicPr>
        <p:blipFill>
          <a:blip r:embed="rId3"/>
          <a:stretch>
            <a:fillRect/>
          </a:stretch>
        </p:blipFill>
        <p:spPr>
          <a:xfrm>
            <a:off x="8567928" y="3602736"/>
            <a:ext cx="405994" cy="405994"/>
          </a:xfrm>
          <a:prstGeom prst="rect">
            <a:avLst/>
          </a:prstGeom>
        </p:spPr>
      </p:pic>
      <p:sp>
        <p:nvSpPr>
          <p:cNvPr id="23" name="!!agl2"/>
          <p:cNvSpPr txBox="1"/>
          <p:nvPr/>
        </p:nvSpPr>
        <p:spPr>
          <a:xfrm>
            <a:off x="8039405" y="434705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4" name="!!shared"/>
          <p:cNvSpPr/>
          <p:nvPr/>
        </p:nvSpPr>
        <p:spPr>
          <a:xfrm>
            <a:off x="2139696" y="5267310"/>
            <a:ext cx="7849210" cy="595457"/>
          </a:xfrm>
          <a:prstGeom prst="roundRect">
            <a:avLst>
              <a:gd name="adj" fmla="val 12285"/>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state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The Core Idea of Multi-Agent Systems</a:t>
            </a:r>
            <a:endParaRPr lang="en-US" sz="3000" dirty="0"/>
          </a:p>
        </p:txBody>
      </p:sp>
      <p:sp>
        <p:nvSpPr>
          <p:cNvPr id="3" name="!!tab0"/>
          <p:cNvSpPr/>
          <p:nvPr/>
        </p:nvSpPr>
        <p:spPr>
          <a:xfrm>
            <a:off x="5486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1 · Supervisor</a:t>
            </a:r>
            <a:endParaRPr lang="en-US" sz="1200" dirty="0"/>
          </a:p>
        </p:txBody>
      </p:sp>
      <p:sp>
        <p:nvSpPr>
          <p:cNvPr id="4" name="!!tab1"/>
          <p:cNvSpPr/>
          <p:nvPr/>
        </p:nvSpPr>
        <p:spPr>
          <a:xfrm>
            <a:off x="2148840" y="96012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2 · Pipeline</a:t>
            </a:r>
            <a:endParaRPr lang="en-US" sz="1200" dirty="0"/>
          </a:p>
        </p:txBody>
      </p:sp>
      <p:sp>
        <p:nvSpPr>
          <p:cNvPr id="5" name="!!tab2"/>
          <p:cNvSpPr/>
          <p:nvPr/>
        </p:nvSpPr>
        <p:spPr>
          <a:xfrm>
            <a:off x="3749040" y="96012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3 · Peer swarm</a:t>
            </a:r>
            <a:endParaRPr lang="en-US" sz="1200" dirty="0"/>
          </a:p>
        </p:txBody>
      </p:sp>
      <p:sp>
        <p:nvSpPr>
          <p:cNvPr id="6" name="!!m2e0"/>
          <p:cNvSpPr/>
          <p:nvPr/>
        </p:nvSpPr>
        <p:spPr>
          <a:xfrm>
            <a:off x="7444679" y="1911096"/>
            <a:ext cx="622524" cy="914"/>
          </a:xfrm>
          <a:prstGeom prst="line">
            <a:avLst/>
          </a:prstGeom>
          <a:noFill/>
          <a:ln w="15875">
            <a:solidFill>
              <a:srgbClr val="5F5E5A"/>
            </a:solidFill>
            <a:prstDash val="solid"/>
            <a:headEnd type="triangle"/>
            <a:tailEnd type="triangle"/>
          </a:ln>
        </p:spPr>
      </p:sp>
      <p:sp>
        <p:nvSpPr>
          <p:cNvPr id="7" name="!!m2e1"/>
          <p:cNvSpPr/>
          <p:nvPr/>
        </p:nvSpPr>
        <p:spPr>
          <a:xfrm>
            <a:off x="6064301" y="2262957"/>
            <a:ext cx="914" cy="351861"/>
          </a:xfrm>
          <a:prstGeom prst="line">
            <a:avLst/>
          </a:prstGeom>
          <a:noFill/>
          <a:ln w="15875">
            <a:solidFill>
              <a:srgbClr val="5F5E5A"/>
            </a:solidFill>
            <a:prstDash val="solid"/>
            <a:tailEnd type="triangle"/>
          </a:ln>
        </p:spPr>
      </p:sp>
      <p:sp>
        <p:nvSpPr>
          <p:cNvPr id="8" name="!!m2e2"/>
          <p:cNvSpPr/>
          <p:nvPr/>
        </p:nvSpPr>
        <p:spPr>
          <a:xfrm flipV="1">
            <a:off x="4169664" y="3359140"/>
            <a:ext cx="1488643" cy="771388"/>
          </a:xfrm>
          <a:prstGeom prst="line">
            <a:avLst/>
          </a:prstGeom>
          <a:noFill/>
          <a:ln w="15875">
            <a:solidFill>
              <a:srgbClr val="5F5E5A"/>
            </a:solidFill>
            <a:prstDash val="solid"/>
            <a:headEnd type="triangle"/>
            <a:tailEnd type="triangle"/>
          </a:ln>
        </p:spPr>
      </p:sp>
      <p:sp>
        <p:nvSpPr>
          <p:cNvPr id="9" name="!!m2e3"/>
          <p:cNvSpPr/>
          <p:nvPr/>
        </p:nvSpPr>
        <p:spPr>
          <a:xfrm>
            <a:off x="6470294" y="3359140"/>
            <a:ext cx="1488643" cy="771388"/>
          </a:xfrm>
          <a:prstGeom prst="line">
            <a:avLst/>
          </a:prstGeom>
          <a:noFill/>
          <a:ln w="15875">
            <a:solidFill>
              <a:srgbClr val="5F5E5A"/>
            </a:solidFill>
            <a:prstDash val="solid"/>
            <a:headEnd type="triangle"/>
            <a:tailEnd type="triangle"/>
          </a:ln>
        </p:spPr>
      </p:sp>
      <p:sp>
        <p:nvSpPr>
          <p:cNvPr id="10" name="!!m2e4"/>
          <p:cNvSpPr/>
          <p:nvPr/>
        </p:nvSpPr>
        <p:spPr>
          <a:xfrm>
            <a:off x="4250863" y="4347058"/>
            <a:ext cx="3626876" cy="914"/>
          </a:xfrm>
          <a:prstGeom prst="line">
            <a:avLst/>
          </a:prstGeom>
          <a:noFill/>
          <a:ln w="15875">
            <a:solidFill>
              <a:srgbClr val="5F5E5A"/>
            </a:solidFill>
            <a:prstDash val="solid"/>
            <a:headEnd type="triangle"/>
            <a:tailEnd type="triangle"/>
          </a:ln>
        </p:spPr>
      </p:sp>
      <p:sp>
        <p:nvSpPr>
          <p:cNvPr id="11" name="!!coord"/>
          <p:cNvSpPr/>
          <p:nvPr/>
        </p:nvSpPr>
        <p:spPr>
          <a:xfrm>
            <a:off x="4710989" y="1572768"/>
            <a:ext cx="2706624" cy="676656"/>
          </a:xfrm>
          <a:prstGeom prst="roundRect">
            <a:avLst>
              <a:gd name="adj" fmla="val 10811"/>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Task</a:t>
            </a:r>
            <a:endParaRPr lang="en-US" sz="1400" dirty="0"/>
          </a:p>
        </p:txBody>
      </p:sp>
      <p:sp>
        <p:nvSpPr>
          <p:cNvPr id="12" name="!!guard"/>
          <p:cNvSpPr/>
          <p:nvPr/>
        </p:nvSpPr>
        <p:spPr>
          <a:xfrm>
            <a:off x="8094269" y="1572768"/>
            <a:ext cx="2029968" cy="676656"/>
          </a:xfrm>
          <a:prstGeom prst="roundRect">
            <a:avLst>
              <a:gd name="adj" fmla="val 10811"/>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3" name="!!ag0"/>
          <p:cNvSpPr/>
          <p:nvPr/>
        </p:nvSpPr>
        <p:spPr>
          <a:xfrm>
            <a:off x="3303544" y="3886932"/>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4" name="!!agi0" descr="/home/claude/multi-agent-deck/assets/icons/TbRobot_1D9E75.png">    </p:cNvPr>
          <p:cNvPicPr>
            <a:picLocks noChangeAspect="1"/>
          </p:cNvPicPr>
          <p:nvPr/>
        </p:nvPicPr>
        <p:blipFill>
          <a:blip r:embed="rId1"/>
          <a:stretch>
            <a:fillRect/>
          </a:stretch>
        </p:blipFill>
        <p:spPr>
          <a:xfrm>
            <a:off x="3560674" y="4144061"/>
            <a:ext cx="405994" cy="405994"/>
          </a:xfrm>
          <a:prstGeom prst="rect">
            <a:avLst/>
          </a:prstGeom>
        </p:spPr>
      </p:pic>
      <p:sp>
        <p:nvSpPr>
          <p:cNvPr id="15" name="!!agl0"/>
          <p:cNvSpPr txBox="1"/>
          <p:nvPr/>
        </p:nvSpPr>
        <p:spPr>
          <a:xfrm>
            <a:off x="3032150" y="488838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16" name="!!ag1"/>
          <p:cNvSpPr/>
          <p:nvPr/>
        </p:nvSpPr>
        <p:spPr>
          <a:xfrm>
            <a:off x="5604175" y="2668951"/>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7" name="!!agi1" descr="/home/claude/multi-agent-deck/assets/icons/TbRobot_1D9E75.png">    </p:cNvPr>
          <p:cNvPicPr>
            <a:picLocks noChangeAspect="1"/>
          </p:cNvPicPr>
          <p:nvPr/>
        </p:nvPicPr>
        <p:blipFill>
          <a:blip r:embed="rId2"/>
          <a:stretch>
            <a:fillRect/>
          </a:stretch>
        </p:blipFill>
        <p:spPr>
          <a:xfrm>
            <a:off x="5861304" y="2926080"/>
            <a:ext cx="405994" cy="405994"/>
          </a:xfrm>
          <a:prstGeom prst="rect">
            <a:avLst/>
          </a:prstGeom>
        </p:spPr>
      </p:pic>
      <p:sp>
        <p:nvSpPr>
          <p:cNvPr id="18" name="!!agl1"/>
          <p:cNvSpPr txBox="1"/>
          <p:nvPr/>
        </p:nvSpPr>
        <p:spPr>
          <a:xfrm>
            <a:off x="5332781" y="367040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19" name="!!ag2"/>
          <p:cNvSpPr/>
          <p:nvPr/>
        </p:nvSpPr>
        <p:spPr>
          <a:xfrm>
            <a:off x="7904805" y="3886932"/>
            <a:ext cx="920252" cy="92025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0" name="!!agi2" descr="/home/claude/multi-agent-deck/assets/icons/TbRobot_1D9E75.png">    </p:cNvPr>
          <p:cNvPicPr>
            <a:picLocks noChangeAspect="1"/>
          </p:cNvPicPr>
          <p:nvPr/>
        </p:nvPicPr>
        <p:blipFill>
          <a:blip r:embed="rId3"/>
          <a:stretch>
            <a:fillRect/>
          </a:stretch>
        </p:blipFill>
        <p:spPr>
          <a:xfrm>
            <a:off x="8161934" y="4144061"/>
            <a:ext cx="405994" cy="405994"/>
          </a:xfrm>
          <a:prstGeom prst="rect">
            <a:avLst/>
          </a:prstGeom>
        </p:spPr>
      </p:pic>
      <p:sp>
        <p:nvSpPr>
          <p:cNvPr id="21" name="!!agl2"/>
          <p:cNvSpPr txBox="1"/>
          <p:nvPr/>
        </p:nvSpPr>
        <p:spPr>
          <a:xfrm>
            <a:off x="7633411" y="488838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2" name="!!shared"/>
          <p:cNvSpPr/>
          <p:nvPr/>
        </p:nvSpPr>
        <p:spPr>
          <a:xfrm>
            <a:off x="2139696" y="5267310"/>
            <a:ext cx="7849210" cy="595457"/>
          </a:xfrm>
          <a:prstGeom prst="roundRect">
            <a:avLst>
              <a:gd name="adj" fmla="val 12285"/>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board</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502920" y="292608"/>
            <a:ext cx="11155680" cy="640080"/>
          </a:xfrm>
          <a:prstGeom prst="rect">
            <a:avLst/>
          </a:prstGeom>
          <a:noFill/>
          <a:ln/>
        </p:spPr>
        <p:txBody>
          <a:bodyPr wrap="square" lIns="0" tIns="0" rIns="0" bIns="0" rtlCol="0" anchor="t"/>
          <a:lstStyle/>
          <a:p>
            <a:pPr algn="l" indent="0" marL="0">
              <a:buNone/>
            </a:pPr>
            <a:r>
              <a:rPr lang="en-US" sz="3000" b="1" dirty="0">
                <a:solidFill>
                  <a:srgbClr val="2C2C2A"/>
                </a:solidFill>
                <a:latin typeface="Calibri" pitchFamily="34" charset="0"/>
                <a:ea typeface="Calibri" pitchFamily="34" charset="-122"/>
                <a:cs typeface="Calibri" pitchFamily="34" charset="-120"/>
              </a:rPr>
              <a:t>The Core Idea of Multi-Agent Systems</a:t>
            </a:r>
            <a:endParaRPr lang="en-US" sz="3000" dirty="0"/>
          </a:p>
        </p:txBody>
      </p:sp>
      <p:sp>
        <p:nvSpPr>
          <p:cNvPr id="3" name="!!m0e0"/>
          <p:cNvSpPr/>
          <p:nvPr/>
        </p:nvSpPr>
        <p:spPr>
          <a:xfrm>
            <a:off x="4296766" y="2121408"/>
            <a:ext cx="399593" cy="914"/>
          </a:xfrm>
          <a:prstGeom prst="line">
            <a:avLst/>
          </a:prstGeom>
          <a:noFill/>
          <a:ln w="15875">
            <a:solidFill>
              <a:srgbClr val="5F5E5A"/>
            </a:solidFill>
            <a:prstDash val="solid"/>
            <a:headEnd type="triangle"/>
            <a:tailEnd type="triangle"/>
          </a:ln>
        </p:spPr>
      </p:sp>
      <p:sp>
        <p:nvSpPr>
          <p:cNvPr id="4" name="!!m0e1"/>
          <p:cNvSpPr/>
          <p:nvPr/>
        </p:nvSpPr>
        <p:spPr>
          <a:xfrm flipH="1">
            <a:off x="1847088" y="2347265"/>
            <a:ext cx="1216152" cy="625450"/>
          </a:xfrm>
          <a:prstGeom prst="line">
            <a:avLst/>
          </a:prstGeom>
          <a:noFill/>
          <a:ln w="15875">
            <a:solidFill>
              <a:srgbClr val="5F5E5A"/>
            </a:solidFill>
            <a:prstDash val="solid"/>
            <a:headEnd type="triangle"/>
            <a:tailEnd type="triangle"/>
          </a:ln>
        </p:spPr>
      </p:sp>
      <p:sp>
        <p:nvSpPr>
          <p:cNvPr id="5" name="!!m0e2"/>
          <p:cNvSpPr/>
          <p:nvPr/>
        </p:nvSpPr>
        <p:spPr>
          <a:xfrm>
            <a:off x="3410712" y="2347265"/>
            <a:ext cx="914" cy="573329"/>
          </a:xfrm>
          <a:prstGeom prst="line">
            <a:avLst/>
          </a:prstGeom>
          <a:noFill/>
          <a:ln w="15875">
            <a:solidFill>
              <a:srgbClr val="5F5E5A"/>
            </a:solidFill>
            <a:prstDash val="solid"/>
            <a:headEnd type="triangle"/>
            <a:tailEnd type="triangle"/>
          </a:ln>
        </p:spPr>
      </p:sp>
      <p:sp>
        <p:nvSpPr>
          <p:cNvPr id="6" name="!!m0e3"/>
          <p:cNvSpPr/>
          <p:nvPr/>
        </p:nvSpPr>
        <p:spPr>
          <a:xfrm>
            <a:off x="3758184" y="2347265"/>
            <a:ext cx="1216152" cy="625450"/>
          </a:xfrm>
          <a:prstGeom prst="line">
            <a:avLst/>
          </a:prstGeom>
          <a:noFill/>
          <a:ln w="15875">
            <a:solidFill>
              <a:srgbClr val="5F5E5A"/>
            </a:solidFill>
            <a:prstDash val="solid"/>
            <a:headEnd type="triangle"/>
            <a:tailEnd type="triangle"/>
          </a:ln>
        </p:spPr>
      </p:sp>
      <p:sp>
        <p:nvSpPr>
          <p:cNvPr id="7" name="!!m0e4"/>
          <p:cNvSpPr/>
          <p:nvPr/>
        </p:nvSpPr>
        <p:spPr>
          <a:xfrm>
            <a:off x="1673352" y="3789274"/>
            <a:ext cx="914" cy="364846"/>
          </a:xfrm>
          <a:prstGeom prst="line">
            <a:avLst/>
          </a:prstGeom>
          <a:noFill/>
          <a:ln w="15875">
            <a:solidFill>
              <a:srgbClr val="5F5E5A"/>
            </a:solidFill>
            <a:prstDash val="solid"/>
            <a:tailEnd type="triangle"/>
          </a:ln>
        </p:spPr>
      </p:sp>
      <p:sp>
        <p:nvSpPr>
          <p:cNvPr id="8" name="!!m0e5"/>
          <p:cNvSpPr/>
          <p:nvPr/>
        </p:nvSpPr>
        <p:spPr>
          <a:xfrm>
            <a:off x="3410712" y="3789274"/>
            <a:ext cx="914" cy="364846"/>
          </a:xfrm>
          <a:prstGeom prst="line">
            <a:avLst/>
          </a:prstGeom>
          <a:noFill/>
          <a:ln w="15875">
            <a:solidFill>
              <a:srgbClr val="5F5E5A"/>
            </a:solidFill>
            <a:prstDash val="solid"/>
            <a:tailEnd type="triangle"/>
          </a:ln>
        </p:spPr>
      </p:sp>
      <p:sp>
        <p:nvSpPr>
          <p:cNvPr id="9" name="!!m0e6"/>
          <p:cNvSpPr/>
          <p:nvPr/>
        </p:nvSpPr>
        <p:spPr>
          <a:xfrm>
            <a:off x="5148072" y="3789274"/>
            <a:ext cx="914" cy="364846"/>
          </a:xfrm>
          <a:prstGeom prst="line">
            <a:avLst/>
          </a:prstGeom>
          <a:noFill/>
          <a:ln w="15875">
            <a:solidFill>
              <a:srgbClr val="5F5E5A"/>
            </a:solidFill>
            <a:prstDash val="solid"/>
            <a:tailEnd type="triangle"/>
          </a:ln>
        </p:spPr>
      </p:sp>
      <p:sp>
        <p:nvSpPr>
          <p:cNvPr id="10" name="!!coord"/>
          <p:cNvSpPr/>
          <p:nvPr/>
        </p:nvSpPr>
        <p:spPr>
          <a:xfrm>
            <a:off x="2542032" y="1904238"/>
            <a:ext cx="1737360" cy="434340"/>
          </a:xfrm>
          <a:prstGeom prst="roundRect">
            <a:avLst>
              <a:gd name="adj" fmla="val 168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Supervisor</a:t>
            </a:r>
            <a:endParaRPr lang="en-US" sz="1100" dirty="0"/>
          </a:p>
        </p:txBody>
      </p:sp>
      <p:sp>
        <p:nvSpPr>
          <p:cNvPr id="11" name="!!guard"/>
          <p:cNvSpPr/>
          <p:nvPr/>
        </p:nvSpPr>
        <p:spPr>
          <a:xfrm>
            <a:off x="4713732" y="1904238"/>
            <a:ext cx="1303020" cy="434340"/>
          </a:xfrm>
          <a:prstGeom prst="roundRect">
            <a:avLst>
              <a:gd name="adj" fmla="val 168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b="1" dirty="0">
                <a:solidFill>
                  <a:srgbClr val="712B13"/>
                </a:solidFill>
                <a:latin typeface="Calibri" pitchFamily="34" charset="0"/>
                <a:ea typeface="Calibri" pitchFamily="34" charset="-122"/>
                <a:cs typeface="Calibri" pitchFamily="34" charset="-120"/>
              </a:rPr>
              <a:t>Human gate</a:t>
            </a:r>
            <a:endParaRPr lang="en-US" sz="1100" dirty="0"/>
          </a:p>
        </p:txBody>
      </p:sp>
      <p:sp>
        <p:nvSpPr>
          <p:cNvPr id="12" name="!!ag0"/>
          <p:cNvSpPr/>
          <p:nvPr/>
        </p:nvSpPr>
        <p:spPr>
          <a:xfrm>
            <a:off x="1378001" y="295534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3" name="!!agi0" descr="/home/claude/multi-agent-deck/assets/icons/TbRobot_1D9E75.png">    </p:cNvPr>
          <p:cNvPicPr>
            <a:picLocks noChangeAspect="1"/>
          </p:cNvPicPr>
          <p:nvPr/>
        </p:nvPicPr>
        <p:blipFill>
          <a:blip r:embed="rId1"/>
          <a:stretch>
            <a:fillRect/>
          </a:stretch>
        </p:blipFill>
        <p:spPr>
          <a:xfrm>
            <a:off x="1543050" y="3120390"/>
            <a:ext cx="260604" cy="260604"/>
          </a:xfrm>
          <a:prstGeom prst="rect">
            <a:avLst/>
          </a:prstGeom>
        </p:spPr>
      </p:pic>
      <p:sp>
        <p:nvSpPr>
          <p:cNvPr id="14" name="!!agl0"/>
          <p:cNvSpPr txBox="1"/>
          <p:nvPr/>
        </p:nvSpPr>
        <p:spPr>
          <a:xfrm>
            <a:off x="941832" y="359816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A</a:t>
            </a:r>
            <a:endParaRPr lang="en-US" sz="1100" dirty="0"/>
          </a:p>
        </p:txBody>
      </p:sp>
      <p:sp>
        <p:nvSpPr>
          <p:cNvPr id="15" name="!!ag1"/>
          <p:cNvSpPr/>
          <p:nvPr/>
        </p:nvSpPr>
        <p:spPr>
          <a:xfrm>
            <a:off x="3115361" y="295534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6" name="!!agi1" descr="/home/claude/multi-agent-deck/assets/icons/TbRobot_1D9E75.png">    </p:cNvPr>
          <p:cNvPicPr>
            <a:picLocks noChangeAspect="1"/>
          </p:cNvPicPr>
          <p:nvPr/>
        </p:nvPicPr>
        <p:blipFill>
          <a:blip r:embed="rId2"/>
          <a:stretch>
            <a:fillRect/>
          </a:stretch>
        </p:blipFill>
        <p:spPr>
          <a:xfrm>
            <a:off x="3280410" y="3120390"/>
            <a:ext cx="260604" cy="260604"/>
          </a:xfrm>
          <a:prstGeom prst="rect">
            <a:avLst/>
          </a:prstGeom>
        </p:spPr>
      </p:pic>
      <p:sp>
        <p:nvSpPr>
          <p:cNvPr id="17" name="!!agl1"/>
          <p:cNvSpPr txBox="1"/>
          <p:nvPr/>
        </p:nvSpPr>
        <p:spPr>
          <a:xfrm>
            <a:off x="2679192" y="359816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B</a:t>
            </a:r>
            <a:endParaRPr lang="en-US" sz="1100" dirty="0"/>
          </a:p>
        </p:txBody>
      </p:sp>
      <p:sp>
        <p:nvSpPr>
          <p:cNvPr id="18" name="!!ag2"/>
          <p:cNvSpPr/>
          <p:nvPr/>
        </p:nvSpPr>
        <p:spPr>
          <a:xfrm>
            <a:off x="4852721" y="295534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2" descr="/home/claude/multi-agent-deck/assets/icons/TbRobot_1D9E75.png">    </p:cNvPr>
          <p:cNvPicPr>
            <a:picLocks noChangeAspect="1"/>
          </p:cNvPicPr>
          <p:nvPr/>
        </p:nvPicPr>
        <p:blipFill>
          <a:blip r:embed="rId3"/>
          <a:stretch>
            <a:fillRect/>
          </a:stretch>
        </p:blipFill>
        <p:spPr>
          <a:xfrm>
            <a:off x="5017770" y="3120390"/>
            <a:ext cx="260604" cy="260604"/>
          </a:xfrm>
          <a:prstGeom prst="rect">
            <a:avLst/>
          </a:prstGeom>
        </p:spPr>
      </p:pic>
      <p:sp>
        <p:nvSpPr>
          <p:cNvPr id="20" name="!!agl2"/>
          <p:cNvSpPr txBox="1"/>
          <p:nvPr/>
        </p:nvSpPr>
        <p:spPr>
          <a:xfrm>
            <a:off x="4416552" y="359816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C</a:t>
            </a:r>
            <a:endParaRPr lang="en-US" sz="1100" dirty="0"/>
          </a:p>
        </p:txBody>
      </p:sp>
      <p:sp>
        <p:nvSpPr>
          <p:cNvPr id="21" name="!!shared"/>
          <p:cNvSpPr/>
          <p:nvPr/>
        </p:nvSpPr>
        <p:spPr>
          <a:xfrm>
            <a:off x="891540" y="4188866"/>
            <a:ext cx="5038344" cy="382219"/>
          </a:xfrm>
          <a:prstGeom prst="roundRect">
            <a:avLst>
              <a:gd name="adj" fmla="val 19139"/>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alibri" pitchFamily="34" charset="0"/>
                <a:ea typeface="Calibri" pitchFamily="34" charset="-122"/>
                <a:cs typeface="Calibri" pitchFamily="34" charset="-120"/>
              </a:rPr>
              <a:t>Shared state</a:t>
            </a:r>
            <a:endParaRPr lang="en-US" sz="1100" dirty="0"/>
          </a:p>
        </p:txBody>
      </p:sp>
      <p:sp>
        <p:nvSpPr>
          <p:cNvPr id="22" name="!!core"/>
          <p:cNvSpPr/>
          <p:nvPr/>
        </p:nvSpPr>
        <p:spPr>
          <a:xfrm>
            <a:off x="6675120" y="1188720"/>
            <a:ext cx="5029200" cy="1051560"/>
          </a:xfrm>
          <a:prstGeom prst="roundRect">
            <a:avLst>
              <a:gd name="adj" fmla="val 10435"/>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500" b="1" dirty="0">
                <a:solidFill>
                  <a:srgbClr val="3C3489"/>
                </a:solidFill>
                <a:latin typeface="Calibri" pitchFamily="34" charset="0"/>
                <a:ea typeface="Calibri" pitchFamily="34" charset="-122"/>
                <a:cs typeface="Calibri" pitchFamily="34" charset="-120"/>
              </a:rPr>
              <a:t>Replace one agent that does everything with a team of focused agents, each owning one job, coordinated through clear hand-offs.</a:t>
            </a:r>
            <a:endParaRPr lang="en-US" sz="1500" dirty="0"/>
          </a:p>
        </p:txBody>
      </p:sp>
      <p:pic>
        <p:nvPicPr>
          <p:cNvPr id="23" name="!!wi0" descr="/home/claude/multi-agent-deck/assets/icons/TbCircleCheck_1D9E75.png">    </p:cNvPr>
          <p:cNvPicPr>
            <a:picLocks noChangeAspect="1"/>
          </p:cNvPicPr>
          <p:nvPr/>
        </p:nvPicPr>
        <p:blipFill>
          <a:blip r:embed="rId4"/>
          <a:stretch>
            <a:fillRect/>
          </a:stretch>
        </p:blipFill>
        <p:spPr>
          <a:xfrm>
            <a:off x="6675120" y="2560320"/>
            <a:ext cx="274320" cy="274320"/>
          </a:xfrm>
          <a:prstGeom prst="rect">
            <a:avLst/>
          </a:prstGeom>
        </p:spPr>
      </p:pic>
      <p:sp>
        <p:nvSpPr>
          <p:cNvPr id="24" name="!!wt0"/>
          <p:cNvSpPr txBox="1"/>
          <p:nvPr/>
        </p:nvSpPr>
        <p:spPr>
          <a:xfrm>
            <a:off x="7086600" y="251460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Focus</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small context, few tools, one job per agent</a:t>
            </a:r>
            <a:endParaRPr lang="en-US" sz="1400" dirty="0"/>
          </a:p>
        </p:txBody>
      </p:sp>
      <p:pic>
        <p:nvPicPr>
          <p:cNvPr id="25" name="!!wi1" descr="/home/claude/multi-agent-deck/assets/icons/TbCircleCheck_1D9E75.png">    </p:cNvPr>
          <p:cNvPicPr>
            <a:picLocks noChangeAspect="1"/>
          </p:cNvPicPr>
          <p:nvPr/>
        </p:nvPicPr>
        <p:blipFill>
          <a:blip r:embed="rId5"/>
          <a:stretch>
            <a:fillRect/>
          </a:stretch>
        </p:blipFill>
        <p:spPr>
          <a:xfrm>
            <a:off x="6675120" y="3291840"/>
            <a:ext cx="274320" cy="274320"/>
          </a:xfrm>
          <a:prstGeom prst="rect">
            <a:avLst/>
          </a:prstGeom>
        </p:spPr>
      </p:pic>
      <p:sp>
        <p:nvSpPr>
          <p:cNvPr id="26" name="!!wt1"/>
          <p:cNvSpPr txBox="1"/>
          <p:nvPr/>
        </p:nvSpPr>
        <p:spPr>
          <a:xfrm>
            <a:off x="7086600" y="324612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Containment</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a failure stays inside one agent, not the whole run</a:t>
            </a:r>
            <a:endParaRPr lang="en-US" sz="1400" dirty="0"/>
          </a:p>
        </p:txBody>
      </p:sp>
      <p:pic>
        <p:nvPicPr>
          <p:cNvPr id="27" name="!!wi2" descr="/home/claude/multi-agent-deck/assets/icons/TbCircleCheck_1D9E75.png">    </p:cNvPr>
          <p:cNvPicPr>
            <a:picLocks noChangeAspect="1"/>
          </p:cNvPicPr>
          <p:nvPr/>
        </p:nvPicPr>
        <p:blipFill>
          <a:blip r:embed="rId6"/>
          <a:stretch>
            <a:fillRect/>
          </a:stretch>
        </p:blipFill>
        <p:spPr>
          <a:xfrm>
            <a:off x="6675120" y="4023360"/>
            <a:ext cx="274320" cy="274320"/>
          </a:xfrm>
          <a:prstGeom prst="rect">
            <a:avLst/>
          </a:prstGeom>
        </p:spPr>
      </p:pic>
      <p:sp>
        <p:nvSpPr>
          <p:cNvPr id="28" name="!!wt2"/>
          <p:cNvSpPr txBox="1"/>
          <p:nvPr/>
        </p:nvSpPr>
        <p:spPr>
          <a:xfrm>
            <a:off x="7086600" y="397764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Independent checking</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the checker isn't the maker</a:t>
            </a:r>
            <a:endParaRPr lang="en-US" sz="1400" dirty="0"/>
          </a:p>
        </p:txBody>
      </p:sp>
      <p:pic>
        <p:nvPicPr>
          <p:cNvPr id="29" name="!!wi3" descr="/home/claude/multi-agent-deck/assets/icons/TbCircleCheck_1D9E75.png">    </p:cNvPr>
          <p:cNvPicPr>
            <a:picLocks noChangeAspect="1"/>
          </p:cNvPicPr>
          <p:nvPr/>
        </p:nvPicPr>
        <p:blipFill>
          <a:blip r:embed="rId7"/>
          <a:stretch>
            <a:fillRect/>
          </a:stretch>
        </p:blipFill>
        <p:spPr>
          <a:xfrm>
            <a:off x="6675120" y="4754880"/>
            <a:ext cx="274320" cy="274320"/>
          </a:xfrm>
          <a:prstGeom prst="rect">
            <a:avLst/>
          </a:prstGeom>
        </p:spPr>
      </p:pic>
      <p:sp>
        <p:nvSpPr>
          <p:cNvPr id="30" name="!!wt3"/>
          <p:cNvSpPr txBox="1"/>
          <p:nvPr/>
        </p:nvSpPr>
        <p:spPr>
          <a:xfrm>
            <a:off x="7086600" y="470916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Modular</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test, swap or upgrade one agent at a time, even a different model per agent</a:t>
            </a:r>
            <a:endParaRPr lang="en-US" sz="1400" dirty="0"/>
          </a:p>
        </p:txBody>
      </p:sp>
      <p:sp>
        <p:nvSpPr>
          <p:cNvPr id="31" name="!!take6"/>
          <p:cNvSpPr txBox="1"/>
          <p:nvPr/>
        </p:nvSpPr>
        <p:spPr>
          <a:xfrm>
            <a:off x="548640" y="5852160"/>
            <a:ext cx="11064240" cy="50292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A multi-agent system is a well-run team: one job each, clear hand-offs, a shared goal, and someone who signs off.</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&amp; Subgraph Architecture</dc:title>
  <dc:subject>PptxGenJS Presentation</dc:subject>
  <dc:creator>Amitkumar</dc:creator>
  <cp:lastModifiedBy>Amitkumar</cp:lastModifiedBy>
  <cp:revision>1</cp:revision>
  <dcterms:created xsi:type="dcterms:W3CDTF">2026-10-23T05:02:10Z</dcterms:created>
  <dcterms:modified xsi:type="dcterms:W3CDTF">2026-10-23T05:02:10Z</dcterms:modified>
</cp:coreProperties>
</file>