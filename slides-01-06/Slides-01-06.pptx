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Response Codes" id="{8d151169-f3fc-e149-e462-8550e7646797}">
          <p14:sldIdLst>
            <p14:sldId id="256"/>
          </p14:sldIdLst>
        </p14:section>
        <p14:section name="2 · Why Single Agents Fail" id="{07d12ee4-935b-0e15-f14a-e1455f179736}">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Lst>
        </p14:section>
        <p14:section name="3 · Why Single Agents Fail – Part 2" id="{91468179-629e-cf2e-cff1-0c9df41be6c9}">
          <p14:sldIdLst>
            <p14:sldId id="284"/>
            <p14:sldId id="285"/>
          </p14:sldIdLst>
        </p14:section>
        <p14:section name="4 · Failure Modes" id="{a5e9956a-ddc1-2d50-83f1-dc503ed253e3}">
          <p14:sldIdLst>
            <p14:sldId id="286"/>
            <p14:sldId id="287"/>
            <p14:sldId id="288"/>
          </p14:sldIdLst>
        </p14:section>
        <p14:section name="5 · Root Cause" id="{2df5904e-f604-8fb5-4673-8165f0be4a80}">
          <p14:sldIdLst>
            <p14:sldId id="289"/>
            <p14:sldId id="290"/>
            <p14:sldId id="291"/>
            <p14:sldId id="292"/>
            <p14:sldId id="293"/>
            <p14:sldId id="294"/>
          </p14:sldIdLst>
        </p14:section>
        <p14:section name="6 · Core Idea" id="{0d5b988a-58ca-7497-5a5e-3c80f238b0fd}">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we talk about multi-agent systems, look at what one agent actually gets back from the model. Every reply ends with a response code: the model's reason for stopping. Here it's finish_reason = "tool_calls". The content is empty, because the model isn't answering yet; it's asking us to run a tool.</a:t>
            </a:r>
          </a:p>
          <a:p/>
          <a:p>
            <a:r>
              <a:t>There are really four cases: the model finished its answer, it wants a tool, it was cut off by the token limit, or it was blocked. Every provider has them, but the names change. Groq and OpenAI call the field finish_reason and say stop, tool_calls, length. Anthropic calls it stop_reason and says end_turn, tool_use, max_tokens. Gemini says STOP even when it wants a tool, so you have to look inside the content.</a:t>
            </a:r>
          </a:p>
          <a:p/>
          <a:p>
            <a:r>
              <a:t>Close: A single agent's loop runs on this one field: tool_calls means go again, stop means we're done. That works for one task. The next slides show what happens when we give that same loop more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(slide 2): Here's a BAU defect-fix agent. One agent, five tools: run SQL, search code, run tests, human sign-off, close ticket. First, one ticket.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Happy flow (slides 3–11, click through at a steady pace): It queries the right rows, finds the nulls come from one feed, spots the join on the wrong key, applies the fix, runs reconciliation and sends it for sign-off. Approved and closed in four LLM calls. Every step is driven by finish_reason: tool_use means "run a tool", end_turn means "I'm done talking".</a:t>
            </a:r>
          </a:p>
          <a:p/>
          <a:p>
            <a:r>
              <a:t>— This step: Defect: PD is null for 120 accounts</a:t>
            </a:r>
          </a:p>
          <a:p>
            <a:r>
              <a:t>messages = [ticket_4521]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where the nulls come from
finish_reason = "tool_use" → run_sql(count nulls by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120 come from one source feed
messages.append(tool_result)  # 5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how that feed is joined
finish_reason = "tool_use" → search_code("pd_join")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is on the wrong key
messages.append(tool_result)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fix, run reconciliation
finish_reason = "tool_use" → run_tests(fix_4521)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Reconciliation passes
messages.append({"status":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and evidence sent for sign-off
finish_reason = "end_turn" → human_signoff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Ticket closed.
approved = True → close_ticket(4521)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Chaotic flow (slide 12): Now give the same agent three tickets in one session.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Slides 13–28 (click fast — the speed sells it): It pulls the whole table into its context. It switches tickets halfway. It tests one ticket's fix with another ticket's data. The test fails, so it retries the same fix. It fails again, so it edits the test until it passes. The human rejects it, there's nothing to resume from, and the context fills up.</a:t>
            </a:r>
          </a:p>
          <a:p/>
          <a:p>
            <a:r>
              <a:t>— This step: Three defects queued in one session</a:t>
            </a:r>
          </a:p>
          <a:p>
            <a:r>
              <a:t>messages = [ticket_4521, ticket_4522, ticket_4523]</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Pulls the whole table to "have a look"
finish_reason = "tool_use" → run_sql("SELECT * ...")
Design smell: Unbounded tool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50,000 rows land in the context
messages.append(tool_result)  # 30k tokens
Design smell: No limit on what a tool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Finds the join bug for ticket 4521
finish_reason = "tool_use" → search_code("pd_join")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found, but it switches to ticket 4522
messages.append(tool_result)
Design smell: Task switching inside one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Queries accounts for 4522
finish_reason = "tool_use" → run_sql(accounts_4522)
Design smell: Shared state across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two account lists sit side by side
messages.append(tool_result)
Design smell: Shared state across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fix 4521 using 4522 data
finish_reason = "tool_use" → run_tests(fix_4521, data_4522)
Design smell: Wrong state passed to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fails
{"status":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Retries the same fix
finish_reason = "tool_use" → run_tests(fix_4521)  # again
Design smell: No retry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Fails again
{"status":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Edits the test so it passes
finish_reason = "tool_use" → edit_test()  # marks own homework
Design smell: Maker is also the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"passes"
{"status": "pass"}  # false green
Design smell: Maker is also the 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Sends fix for 4521 with evidence from 4522
finish_reason = "end_turn" → human_signoff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Rejected: evidence does not match ticket
messages.append(reject_feedback)
Design smell: No checkpoint to resume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Three tickets, zero fixed. The model didn't get worse. We just asked one loop to carry three jobs' worth of state. A single agent is a monolith: it works for one task and fails like a monolith when you scale the work.</a:t>
            </a:r>
          </a:p>
          <a:p/>
          <a:p>
            <a:r>
              <a:t>Bridge: It's not that the agent is dumb. It's doing thinking, acting and checking in one loop.</a:t>
            </a:r>
          </a:p>
          <a:p/>
          <a:p>
            <a:r>
              <a:t>— This step: Context full. No ticket closed.</a:t>
            </a:r>
          </a:p>
          <a:p>
            <a:r>
              <a:t>finish_reason = "max_tokens"  # 3 tickets, 0 fixed</a:t>
            </a:r>
          </a:p>
          <a:p>
            <a:r>
              <a:t>Design smell: Single point of failure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29 (mixed): This is every message from the chaotic run, top to bottom, coloured by job. Purple is thinking, teal is acting, coral is checking. Look how they take turns in the same window. The 50k-row result sits right where the agent plans from, so the plan drifts. And look at the right-hand tags: every thinking block says "no signal". The loop only ever sees tool_use or end_turn. There's no signal for "plan ready" or "check passed".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30 (sorted): Same messages, sorted by job. Three clean lanes. The checking lane is all fails, a false pass and a rejection — the same brain that wrote the fix graded it. These are three responsibilities that never needed to share a brain.</a:t>
            </a:r>
          </a:p>
          <a:p/>
          <a:p>
            <a:r>
              <a:t>Close: One loop, three jobs, one exit signal. In banking we'd never let the maker check their own work. Why do we let an agent?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31: Step back from our example. Agent failures aren't random; they fall into the same three jobs. Thinking failures are when the agent loses the plot: it drifts from the goal, or picks the wrong tool.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32: Acting failures are when it can't stop doing: it loops on the same step, or one bad step poisons everything after it.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33: Checking failures are the most dangerous, because they look like success: it says "done" when it isn't, or stops halfway and sounds confident.</a:t>
            </a:r>
          </a:p>
          <a:p/>
          <a:p>
            <a:r>
              <a:t>Close: Notice the causes: crowded context, too many tools, no limits, no checkpoints, and grading its own work. None of these are model problems. Every failure is one of three jobs going wrong, and every cause is a design choice.</a:t>
            </a:r>
          </a:p>
          <a:p/>
          <a:p>
            <a:r>
              <a:t>Bridge: If every cause is a design choice, the fix is a design fix.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34 (root cause): Here's the single agent again: three jobs squashed into one loop, one shared context, and finish_reason deciding everything. Let's fix it, one principle at a time.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35 — Separation of concerns: Split the three jobs. A Planner thinks, a Worker acts, a Checker checks.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36 — Isolated state: Each part keeps only its own data. The big query result never reaches the Planner.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37 — Bounded execution: Retry limits and checkpoints. A failure stops or resumes from a checkpoint; it doesn't loop forever.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38 — Maker-checker: The Checker verifies independently. The Worker can't touch the tests.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39 — Explicit hand-offs: Each step returns a structured status — {plan}, {result}, {status: fail, why} — instead of relying on finish_reason. And look what we've built: a multi-agent system.</a:t>
            </a:r>
          </a:p>
          <a:p/>
          <a:p>
            <a:r>
              <a:t>Close: None of this is new. Software engineering solved it with separation of concerns and isolated state. Operations solved it with bounded execution and checkpoints. Banking solved it with maker-checker. We don't need a smarter model or a longer prompt. This isn't an AI problem; it's a system design problem we've already solved, just not for agents yet.</a:t>
            </a:r>
          </a:p>
          <a:p/>
          <a:p>
            <a:r>
              <a:t>Bridge: So what does an agent system look like when we apply these principles everywhere? That's a multi-agent system.</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40 — Supervisor: This is what multi-agent systems look like. A supervisor hands work to specialist agents in parallel.</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41 — Pipeline: Or the agents work in sequence, each passing its result to the next.</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42 — Peer swarm: Or they work as peers, talking to each other and agreeing on an answer.</a:t>
            </a:r>
          </a:p>
          <a:p/>
          <a:p>
            <a:r>
              <a:t>Three very different shapes, but look at what stays the same. Every agent does one job, with its own tools and its own memory. Something decides who works next: a supervisor, the fixed order of a pipeline, or the peers themselves. Agents pass structured results, not their whole conversation. A small shared state holds the goal and the progress. And a human gate signs off before anything goes out.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[click] Slide 43 — Why it's better: That's the core idea: replace one agent that does everything with a team of focused agents and clear hand-offs. It's better for the same reasons a team beats one overloaded person:</a:t>
            </a:r>
          </a:p>
          <a:p>
            <a:r>
              <a:t>- Focus — small context, few tools, one job per agent</a:t>
            </a:r>
          </a:p>
          <a:p>
            <a:r>
              <a:t>- Containment — a failure stays inside one agent, not the whole run</a:t>
            </a:r>
          </a:p>
          <a:p>
            <a:r>
              <a:t>- Independent checking — the checker isn't the maker</a:t>
            </a:r>
          </a:p>
          <a:p>
            <a:r>
              <a:t>- Modular — test, swap or upgrade one agent at a time, even with a different model per agent</a:t>
            </a:r>
          </a:p>
          <a:p/>
          <a:p>
            <a:r>
              <a:t>Close: A multi-agent system is a well-run team: one job each, clear hand-offs, a shared goal, and someone who signs off.</a:t>
            </a:r>
          </a:p>
          <a:p/>
          <a:p>
            <a:r>
              <a:t>Hand-over to the next presenter: Every pattern you'll see next is these same building blocks wired differently — who coordinates, who talks to whom, and where the human sits.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1.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5.png"/><Relationship Id="rId7" Type="http://schemas.openxmlformats.org/officeDocument/2006/relationships/image" Target="../media/image-34-5.png"/><Relationship Id="rId8" Type="http://schemas.openxmlformats.org/officeDocument/2006/relationships/image" Target="../media/image-34-5.png"/><Relationship Id="rId9" Type="http://schemas.openxmlformats.org/officeDocument/2006/relationships/image" Target="../media/image-34-5.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6.png"/><Relationship Id="rId8" Type="http://schemas.openxmlformats.org/officeDocument/2006/relationships/image" Target="../media/image-35-6.png"/><Relationship Id="rId9" Type="http://schemas.openxmlformats.org/officeDocument/2006/relationships/image" Target="../media/image-35-6.png"/><Relationship Id="rId10" Type="http://schemas.openxmlformats.org/officeDocument/2006/relationships/slideLayout" Target="../slideLayouts/slideLayout1.xml"/><Relationship Id="rId1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5.png"/><Relationship Id="rId7" Type="http://schemas.openxmlformats.org/officeDocument/2006/relationships/image" Target="../media/image-36-7.png"/><Relationship Id="rId8" Type="http://schemas.openxmlformats.org/officeDocument/2006/relationships/image" Target="../media/image-36-7.png"/><Relationship Id="rId9" Type="http://schemas.openxmlformats.org/officeDocument/2006/relationships/image" Target="../media/image-36-7.png"/><Relationship Id="rId10" Type="http://schemas.openxmlformats.org/officeDocument/2006/relationships/slideLayout" Target="../slideLayouts/slideLayout1.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5.png"/><Relationship Id="rId7" Type="http://schemas.openxmlformats.org/officeDocument/2006/relationships/image" Target="../media/image-37-7.png"/><Relationship Id="rId8" Type="http://schemas.openxmlformats.org/officeDocument/2006/relationships/image" Target="../media/image-37-7.png"/><Relationship Id="rId9" Type="http://schemas.openxmlformats.org/officeDocument/2006/relationships/image" Target="../media/image-37-7.png"/><Relationship Id="rId10" Type="http://schemas.openxmlformats.org/officeDocument/2006/relationships/image" Target="../media/image-37-10.png"/><Relationship Id="rId11" Type="http://schemas.openxmlformats.org/officeDocument/2006/relationships/image" Target="../media/image-37-10.png"/><Relationship Id="rId12" Type="http://schemas.openxmlformats.org/officeDocument/2006/relationships/slideLayout" Target="../slideLayouts/slideLayout1.xml"/><Relationship Id="rId1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5.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8.png"/><Relationship Id="rId10" Type="http://schemas.openxmlformats.org/officeDocument/2006/relationships/image" Target="../media/image-38-8.png"/><Relationship Id="rId11" Type="http://schemas.openxmlformats.org/officeDocument/2006/relationships/image" Target="../media/image-38-8.png"/><Relationship Id="rId12" Type="http://schemas.openxmlformats.org/officeDocument/2006/relationships/image" Target="../media/image-38-12.png"/><Relationship Id="rId13" Type="http://schemas.openxmlformats.org/officeDocument/2006/relationships/slideLayout" Target="../slideLayouts/slideLayout1.xml"/><Relationship Id="rId1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5.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8.png"/><Relationship Id="rId10" Type="http://schemas.openxmlformats.org/officeDocument/2006/relationships/image" Target="../media/image-39-8.png"/><Relationship Id="rId11" Type="http://schemas.openxmlformats.org/officeDocument/2006/relationships/image" Target="../media/image-39-8.png"/><Relationship Id="rId12" Type="http://schemas.openxmlformats.org/officeDocument/2006/relationships/image" Target="../media/image-39-8.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1.png"/><Relationship Id="rId3" Type="http://schemas.openxmlformats.org/officeDocument/2006/relationships/image" Target="../media/image-40-1.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1.png"/><Relationship Id="rId3" Type="http://schemas.openxmlformats.org/officeDocument/2006/relationships/image" Target="../media/image-41-1.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1.png"/><Relationship Id="rId3" Type="http://schemas.openxmlformats.org/officeDocument/2006/relationships/image" Target="../media/image-42-1.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1.png"/><Relationship Id="rId3" Type="http://schemas.openxmlformats.org/officeDocument/2006/relationships/image" Target="../media/image-43-1.png"/><Relationship Id="rId4" Type="http://schemas.openxmlformats.org/officeDocument/2006/relationships/image" Target="../media/image-43-4.png"/><Relationship Id="rId5" Type="http://schemas.openxmlformats.org/officeDocument/2006/relationships/image" Target="../media/image-43-4.png"/><Relationship Id="rId6" Type="http://schemas.openxmlformats.org/officeDocument/2006/relationships/image" Target="../media/image-43-4.png"/><Relationship Id="rId7" Type="http://schemas.openxmlformats.org/officeDocument/2006/relationships/image" Target="../media/image-43-4.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Response Codes: How an Agent Knows What Just Happened</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Every LLM reply ends with a response code: the model's reason for stopping. A single agent reads it after every call to decide what to do next, and every provider names it differently.</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ext 4"/>
          <p:cNvSpPr txBox="1"/>
          <p:nvPr/>
        </p:nvSpPr>
        <p:spPr>
          <a:xfrm>
            <a:off x="411480" y="1444752"/>
            <a:ext cx="5212080" cy="274320"/>
          </a:xfrm>
          <a:prstGeom prst="rect">
            <a:avLst/>
          </a:prstGeom>
          <a:noFill/>
          <a:ln/>
        </p:spPr>
        <p:txBody>
          <a:bodyPr wrap="square" lIns="0" tIns="0" rIns="0" bIns="0" rtlCol="0" anchor="t"/>
          <a:lstStyle/>
          <a:p>
            <a:pPr algn="l" indent="0" marL="0">
              <a:buNone/>
            </a:pPr>
            <a:r>
              <a:rPr lang="en-US" sz="1300" b="1" dirty="0">
                <a:solidFill>
                  <a:srgbClr val="2C2C2A"/>
                </a:solidFill>
                <a:latin typeface="Calibri" pitchFamily="34" charset="0"/>
                <a:ea typeface="Calibri" pitchFamily="34" charset="-122"/>
                <a:cs typeface="Calibri" pitchFamily="34" charset="-120"/>
              </a:rPr>
              <a:t>One reply from a single agent (Groq · OpenAI format)</a:t>
            </a:r>
            <a:endParaRPr lang="en-US" sz="1300" dirty="0"/>
          </a:p>
        </p:txBody>
      </p:sp>
      <p:sp>
        <p:nvSpPr>
          <p:cNvPr id="7" name="!!jsonbox"/>
          <p:cNvSpPr/>
          <p:nvPr/>
        </p:nvSpPr>
        <p:spPr>
          <a:xfrm>
            <a:off x="411480" y="1783080"/>
            <a:ext cx="5257800" cy="3172968"/>
          </a:xfrm>
          <a:prstGeom prst="roundRect">
            <a:avLst>
              <a:gd name="adj" fmla="val 1441"/>
            </a:avLst>
          </a:prstGeom>
          <a:solidFill>
            <a:srgbClr val="F7F6F2"/>
          </a:solidFill>
          <a:ln w="9525">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8" name="!!jsonhi"/>
          <p:cNvSpPr/>
          <p:nvPr/>
        </p:nvSpPr>
        <p:spPr>
          <a:xfrm>
            <a:off x="502920" y="4142232"/>
            <a:ext cx="2834640" cy="192024"/>
          </a:xfrm>
          <a:prstGeom prst="roundRect">
            <a:avLst>
              <a:gd name="adj" fmla="val 14286"/>
            </a:avLst>
          </a:prstGeom>
          <a:solidFill>
            <a:srgbClr val="FAEEDA"/>
          </a:solidFill>
          <a:ln w="9525">
            <a:solidFill>
              <a:srgbClr val="854F0B"/>
            </a:solidFill>
            <a:prstDash val="solid"/>
          </a:ln>
        </p:spPr>
        <p:txBody>
          <a:bodyPr wrap="square" lIns="50800" tIns="50800" rIns="50800" bIns="50800" rtlCol="0" anchor="ctr"/>
          <a:lstStyle/>
          <a:p>
            <a:pPr algn="ctr" indent="0" marL="0">
              <a:buNone/>
            </a:pPr>
            <a:endParaRPr lang="en-US" sz="1200" dirty="0"/>
          </a:p>
        </p:txBody>
      </p:sp>
      <p:sp>
        <p:nvSpPr>
          <p:cNvPr id="9" name="!!json0"/>
          <p:cNvSpPr txBox="1"/>
          <p:nvPr/>
        </p:nvSpPr>
        <p:spPr>
          <a:xfrm>
            <a:off x="594360" y="189280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a:t>
            </a:r>
            <a:endParaRPr lang="en-US" sz="1050" dirty="0"/>
          </a:p>
        </p:txBody>
      </p:sp>
      <p:sp>
        <p:nvSpPr>
          <p:cNvPr id="10" name="!!json1"/>
          <p:cNvSpPr txBox="1"/>
          <p:nvPr/>
        </p:nvSpPr>
        <p:spPr>
          <a:xfrm>
            <a:off x="594360" y="206654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"model": "openai/gpt-oss-120b",</a:t>
            </a:r>
            <a:endParaRPr lang="en-US" sz="1050" dirty="0"/>
          </a:p>
        </p:txBody>
      </p:sp>
      <p:sp>
        <p:nvSpPr>
          <p:cNvPr id="11" name="!!json2"/>
          <p:cNvSpPr txBox="1"/>
          <p:nvPr/>
        </p:nvSpPr>
        <p:spPr>
          <a:xfrm>
            <a:off x="594360" y="2240280"/>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"choices": [{</a:t>
            </a:r>
            <a:endParaRPr lang="en-US" sz="1050" dirty="0"/>
          </a:p>
        </p:txBody>
      </p:sp>
      <p:sp>
        <p:nvSpPr>
          <p:cNvPr id="12" name="!!json3"/>
          <p:cNvSpPr txBox="1"/>
          <p:nvPr/>
        </p:nvSpPr>
        <p:spPr>
          <a:xfrm>
            <a:off x="594360" y="2414016"/>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"message": {</a:t>
            </a:r>
            <a:endParaRPr lang="en-US" sz="1050" dirty="0"/>
          </a:p>
        </p:txBody>
      </p:sp>
      <p:sp>
        <p:nvSpPr>
          <p:cNvPr id="13" name="!!json4"/>
          <p:cNvSpPr txBox="1"/>
          <p:nvPr/>
        </p:nvSpPr>
        <p:spPr>
          <a:xfrm>
            <a:off x="594360" y="2587752"/>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"role": "assistant",</a:t>
            </a:r>
            <a:endParaRPr lang="en-US" sz="1050" dirty="0"/>
          </a:p>
        </p:txBody>
      </p:sp>
      <p:sp>
        <p:nvSpPr>
          <p:cNvPr id="14" name="!!json5"/>
          <p:cNvSpPr txBox="1"/>
          <p:nvPr/>
        </p:nvSpPr>
        <p:spPr>
          <a:xfrm>
            <a:off x="594360" y="276148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"content": null,</a:t>
            </a:r>
            <a:endParaRPr lang="en-US" sz="1050" dirty="0"/>
          </a:p>
        </p:txBody>
      </p:sp>
      <p:sp>
        <p:nvSpPr>
          <p:cNvPr id="15" name="!!json6"/>
          <p:cNvSpPr txBox="1"/>
          <p:nvPr/>
        </p:nvSpPr>
        <p:spPr>
          <a:xfrm>
            <a:off x="594360" y="293522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"tool_calls": [{</a:t>
            </a:r>
            <a:endParaRPr lang="en-US" sz="1050" dirty="0"/>
          </a:p>
        </p:txBody>
      </p:sp>
      <p:sp>
        <p:nvSpPr>
          <p:cNvPr id="16" name="!!json7"/>
          <p:cNvSpPr txBox="1"/>
          <p:nvPr/>
        </p:nvSpPr>
        <p:spPr>
          <a:xfrm>
            <a:off x="594360" y="3108960"/>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"function": {</a:t>
            </a:r>
            <a:endParaRPr lang="en-US" sz="1050" dirty="0"/>
          </a:p>
        </p:txBody>
      </p:sp>
      <p:sp>
        <p:nvSpPr>
          <p:cNvPr id="17" name="!!json8"/>
          <p:cNvSpPr txBox="1"/>
          <p:nvPr/>
        </p:nvSpPr>
        <p:spPr>
          <a:xfrm>
            <a:off x="594360" y="3282696"/>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"name": "run_sql",</a:t>
            </a:r>
            <a:endParaRPr lang="en-US" sz="1050" dirty="0"/>
          </a:p>
        </p:txBody>
      </p:sp>
      <p:sp>
        <p:nvSpPr>
          <p:cNvPr id="18" name="!!json9"/>
          <p:cNvSpPr txBox="1"/>
          <p:nvPr/>
        </p:nvSpPr>
        <p:spPr>
          <a:xfrm>
            <a:off x="594360" y="3456432"/>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"arguments": "{\"ticket\": \"4521\"}"</a:t>
            </a:r>
            <a:endParaRPr lang="en-US" sz="1050" dirty="0"/>
          </a:p>
        </p:txBody>
      </p:sp>
      <p:sp>
        <p:nvSpPr>
          <p:cNvPr id="19" name="!!json10"/>
          <p:cNvSpPr txBox="1"/>
          <p:nvPr/>
        </p:nvSpPr>
        <p:spPr>
          <a:xfrm>
            <a:off x="594360" y="363016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0" name="!!json11"/>
          <p:cNvSpPr txBox="1"/>
          <p:nvPr/>
        </p:nvSpPr>
        <p:spPr>
          <a:xfrm>
            <a:off x="594360" y="380390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1" name="!!json12"/>
          <p:cNvSpPr txBox="1"/>
          <p:nvPr/>
        </p:nvSpPr>
        <p:spPr>
          <a:xfrm>
            <a:off x="594360" y="3977640"/>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2" name="!!json13"/>
          <p:cNvSpPr txBox="1"/>
          <p:nvPr/>
        </p:nvSpPr>
        <p:spPr>
          <a:xfrm>
            <a:off x="594360" y="4151376"/>
            <a:ext cx="5029200" cy="173736"/>
          </a:xfrm>
          <a:prstGeom prst="rect">
            <a:avLst/>
          </a:prstGeom>
          <a:noFill/>
          <a:ln/>
        </p:spPr>
        <p:txBody>
          <a:bodyPr wrap="square" lIns="0" tIns="0" rIns="0" bIns="0" rtlCol="0" anchor="ctr"/>
          <a:lstStyle/>
          <a:p>
            <a:pPr algn="l" indent="0" marL="0">
              <a:buNone/>
            </a:pPr>
            <a:r>
              <a:rPr lang="en-US" sz="1050" b="1" dirty="0">
                <a:solidFill>
                  <a:srgbClr val="633806"/>
                </a:solidFill>
                <a:latin typeface="Consolas" pitchFamily="34" charset="0"/>
                <a:ea typeface="Consolas" pitchFamily="34" charset="-122"/>
                <a:cs typeface="Consolas" pitchFamily="34" charset="-120"/>
              </a:rPr>
              <a:t>    "finish_reason": "tool_calls"</a:t>
            </a:r>
            <a:endParaRPr lang="en-US" sz="1050" dirty="0"/>
          </a:p>
        </p:txBody>
      </p:sp>
      <p:sp>
        <p:nvSpPr>
          <p:cNvPr id="23" name="!!json14"/>
          <p:cNvSpPr txBox="1"/>
          <p:nvPr/>
        </p:nvSpPr>
        <p:spPr>
          <a:xfrm>
            <a:off x="594360" y="4325112"/>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4" name="!!json15"/>
          <p:cNvSpPr txBox="1"/>
          <p:nvPr/>
        </p:nvSpPr>
        <p:spPr>
          <a:xfrm>
            <a:off x="594360" y="449884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"usage": {"prompt_tokens": 812, "completion_tokens": 41}</a:t>
            </a:r>
            <a:endParaRPr lang="en-US" sz="1050" dirty="0"/>
          </a:p>
        </p:txBody>
      </p:sp>
      <p:sp>
        <p:nvSpPr>
          <p:cNvPr id="25" name="!!json16"/>
          <p:cNvSpPr txBox="1"/>
          <p:nvPr/>
        </p:nvSpPr>
        <p:spPr>
          <a:xfrm>
            <a:off x="594360" y="467258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a:t>
            </a:r>
            <a:endParaRPr lang="en-US" sz="1050" dirty="0"/>
          </a:p>
        </p:txBody>
      </p:sp>
      <p:sp>
        <p:nvSpPr>
          <p:cNvPr id="26" name="!!jsonlbl"/>
          <p:cNvSpPr/>
          <p:nvPr/>
        </p:nvSpPr>
        <p:spPr>
          <a:xfrm>
            <a:off x="3520440" y="4133088"/>
            <a:ext cx="1325880" cy="210312"/>
          </a:xfrm>
          <a:prstGeom prst="roundRect">
            <a:avLst>
              <a:gd name="adj" fmla="val 43478"/>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1000" b="1" dirty="0">
                <a:solidFill>
                  <a:srgbClr val="633806"/>
                </a:solidFill>
                <a:latin typeface="Calibri" pitchFamily="34" charset="0"/>
                <a:ea typeface="Calibri" pitchFamily="34" charset="-122"/>
                <a:cs typeface="Calibri" pitchFamily="34" charset="-120"/>
              </a:rPr>
              <a:t>← response code</a:t>
            </a:r>
            <a:endParaRPr lang="en-US" sz="1000" dirty="0"/>
          </a:p>
        </p:txBody>
      </p:sp>
      <p:sp>
        <p:nvSpPr>
          <p:cNvPr id="27" name="!!jsoncap"/>
          <p:cNvSpPr txBox="1"/>
          <p:nvPr/>
        </p:nvSpPr>
        <p:spPr>
          <a:xfrm>
            <a:off x="411480" y="5065776"/>
            <a:ext cx="5257800" cy="457200"/>
          </a:xfrm>
          <a:prstGeom prst="rect">
            <a:avLst/>
          </a:prstGeom>
          <a:noFill/>
          <a:ln/>
        </p:spPr>
        <p:txBody>
          <a:bodyPr wrap="square" lIns="0" tIns="0" rIns="0" bIns="0" rtlCol="0" anchor="t"/>
          <a:lstStyle/>
          <a:p>
            <a:pPr algn="l" indent="0" marL="0">
              <a:buNone/>
            </a:pPr>
            <a:r>
              <a:rPr lang="en-US" sz="1200" dirty="0">
                <a:solidFill>
                  <a:srgbClr val="5F5E5A"/>
                </a:solidFill>
                <a:latin typeface="Consolas" pitchFamily="34" charset="0"/>
                <a:ea typeface="Consolas" pitchFamily="34" charset="-122"/>
                <a:cs typeface="Consolas" pitchFamily="34" charset="-120"/>
              </a:rPr>
              <a:t>content</a:t>
            </a:r>
            <a:pPr algn="l" indent="0" marL="0">
              <a:buNone/>
            </a:pPr>
            <a:r>
              <a:rPr lang="en-US" sz="1200" dirty="0">
                <a:solidFill>
                  <a:srgbClr val="5F5E5A"/>
                </a:solidFill>
                <a:latin typeface="Calibri" pitchFamily="34" charset="0"/>
                <a:ea typeface="Calibri" pitchFamily="34" charset="-122"/>
                <a:cs typeface="Calibri" pitchFamily="34" charset="-120"/>
              </a:rPr>
              <a:t> is empty because the model wants a tool. The response code tells the loop what to do next.</a:t>
            </a:r>
            <a:endParaRPr lang="en-US" sz="1200" dirty="0"/>
          </a:p>
        </p:txBody>
      </p:sp>
      <p:sp>
        <p:nvSpPr>
          <p:cNvPr id="28" name="Text 26"/>
          <p:cNvSpPr txBox="1"/>
          <p:nvPr/>
        </p:nvSpPr>
        <p:spPr>
          <a:xfrm>
            <a:off x="5989320" y="1444752"/>
            <a:ext cx="5788152" cy="274320"/>
          </a:xfrm>
          <a:prstGeom prst="rect">
            <a:avLst/>
          </a:prstGeom>
          <a:noFill/>
          <a:ln/>
        </p:spPr>
        <p:txBody>
          <a:bodyPr wrap="square" lIns="0" tIns="0" rIns="0" bIns="0" rtlCol="0" anchor="t"/>
          <a:lstStyle/>
          <a:p>
            <a:pPr algn="l" indent="0" marL="0">
              <a:buNone/>
            </a:pPr>
            <a:r>
              <a:rPr lang="en-US" sz="1300" b="1" dirty="0">
                <a:solidFill>
                  <a:srgbClr val="2C2C2A"/>
                </a:solidFill>
                <a:latin typeface="Calibri" pitchFamily="34" charset="0"/>
                <a:ea typeface="Calibri" pitchFamily="34" charset="-122"/>
                <a:cs typeface="Calibri" pitchFamily="34" charset="-120"/>
              </a:rPr>
              <a:t>Same idea, different names</a:t>
            </a:r>
            <a:endParaRPr lang="en-US" sz="1300" dirty="0"/>
          </a:p>
        </p:txBody>
      </p:sp>
      <p:graphicFrame>
        <p:nvGraphicFramePr>
          <p:cNvPr id="2" name="!!codes"/>
          <p:cNvGraphicFramePr>
            <a:graphicFrameLocks noGrp="1"/>
          </p:cNvGraphicFramePr>
          <p:nvPr>
            <p:extLst>
              <p:ext uri="{D42A27DB-BD31-4B8C-83A1-F6EECF244321}">
                <p14:modId xmlns:p14="http://schemas.microsoft.com/office/powerpoint/2010/main" val="1579011935"/>
              </p:ext>
            </p:extLst>
          </p:nvPr>
        </p:nvGraphicFramePr>
        <p:xfrm>
          <a:off x="5989320" y="1783080"/>
          <a:ext cx="5788152" cy="914400"/>
        </p:xfrm>
        <a:graphic>
          <a:graphicData uri="http://schemas.openxmlformats.org/drawingml/2006/table">
            <a:tbl>
              <a:tblPr/>
              <a:tblGrid>
                <a:gridCol w="1783080"/>
                <a:gridCol w="1417320"/>
                <a:gridCol w="1307592"/>
                <a:gridCol w="1280160"/>
              </a:tblGrid>
              <a:tr h="347472">
                <a:tc>
                  <a:txBody>
                    <a:bodyPr/>
                    <a:lstStyle/>
                    <a:p>
                      <a:pPr indent="0" marL="0">
                        <a:buNone/>
                      </a:pPr>
                      <a:r>
                        <a:rPr lang="en-US" sz="1150" b="1" dirty="0">
                          <a:solidFill>
                            <a:srgbClr val="2C2C2A"/>
                          </a:solidFill>
                          <a:latin typeface="Calibri" pitchFamily="34" charset="0"/>
                          <a:ea typeface="Calibri" pitchFamily="34" charset="-122"/>
                          <a:cs typeface="Calibri" pitchFamily="34" charset="-120"/>
                        </a:rPr>
                        <a:t>What happened</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150" b="1" dirty="0">
                          <a:solidFill>
                            <a:srgbClr val="085041"/>
                          </a:solidFill>
                          <a:latin typeface="Calibri" pitchFamily="34" charset="0"/>
                          <a:ea typeface="Calibri" pitchFamily="34" charset="-122"/>
                          <a:cs typeface="Calibri" pitchFamily="34" charset="-120"/>
                        </a:rPr>
                        <a:t>Groq · OpenAI</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1F5EE"/>
                    </a:solidFill>
                  </a:tcPr>
                </a:tc>
                <a:tc>
                  <a:txBody>
                    <a:bodyPr/>
                    <a:lstStyle/>
                    <a:p>
                      <a:pPr indent="0" marL="0">
                        <a:buNone/>
                      </a:pPr>
                      <a:r>
                        <a:rPr lang="en-US" sz="1150" b="1" dirty="0">
                          <a:solidFill>
                            <a:srgbClr val="712B13"/>
                          </a:solidFill>
                          <a:latin typeface="Calibri" pitchFamily="34" charset="0"/>
                          <a:ea typeface="Calibri" pitchFamily="34" charset="-122"/>
                          <a:cs typeface="Calibri" pitchFamily="34" charset="-120"/>
                        </a:rPr>
                        <a:t>Anthropic</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AECE7"/>
                    </a:solidFill>
                  </a:tcPr>
                </a:tc>
                <a:tc>
                  <a:txBody>
                    <a:bodyPr/>
                    <a:lstStyle/>
                    <a:p>
                      <a:pPr indent="0" marL="0">
                        <a:buNone/>
                      </a:pPr>
                      <a:r>
                        <a:rPr lang="en-US" sz="1150" b="1" dirty="0">
                          <a:solidFill>
                            <a:srgbClr val="3C3489"/>
                          </a:solidFill>
                          <a:latin typeface="Calibri" pitchFamily="34" charset="0"/>
                          <a:ea typeface="Calibri" pitchFamily="34" charset="-122"/>
                          <a:cs typeface="Calibri" pitchFamily="34" charset="-120"/>
                        </a:rPr>
                        <a:t>Gemini</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EEDFE"/>
                    </a:solidFill>
                  </a:tcPr>
                </a:tc>
              </a:tr>
              <a:tr h="347472">
                <a:tc>
                  <a:txBody>
                    <a:bodyPr/>
                    <a:lstStyle/>
                    <a:p>
                      <a:pPr indent="0" marL="0">
                        <a:buNone/>
                      </a:pPr>
                      <a:r>
                        <a:rPr lang="en-US" sz="1150" b="1" dirty="0">
                          <a:solidFill>
                            <a:srgbClr val="2C2C2A"/>
                          </a:solidFill>
                          <a:latin typeface="Calibri" pitchFamily="34" charset="0"/>
                          <a:ea typeface="Calibri" pitchFamily="34" charset="-122"/>
                          <a:cs typeface="Calibri" pitchFamily="34" charset="-120"/>
                        </a:rPr>
                        <a:t>Field name</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085041"/>
                          </a:solidFill>
                          <a:latin typeface="Consolas" pitchFamily="34" charset="0"/>
                          <a:ea typeface="Consolas" pitchFamily="34" charset="-122"/>
                          <a:cs typeface="Consolas" pitchFamily="34" charset="-120"/>
                        </a:rPr>
                        <a:t>finish_reason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712B13"/>
                          </a:solidFill>
                          <a:latin typeface="Consolas" pitchFamily="34" charset="0"/>
                          <a:ea typeface="Consolas" pitchFamily="34" charset="-122"/>
                          <a:cs typeface="Consolas" pitchFamily="34" charset="-120"/>
                        </a:rPr>
                        <a:t>stop_reason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3C3489"/>
                          </a:solidFill>
                          <a:latin typeface="Consolas" pitchFamily="34" charset="0"/>
                          <a:ea typeface="Consolas" pitchFamily="34" charset="-122"/>
                          <a:cs typeface="Consolas" pitchFamily="34" charset="-120"/>
                        </a:rPr>
                        <a:t>finishReason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Finished the answer</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stop</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end_turn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STOP</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Wants a tool</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tool_calls</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tool_use</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STOP *</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Cut off (token limit)</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length</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max_tokens</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MAX_TOKENS</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Blocked or refused</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content_filter</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refusal</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SAFETY</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bl>
          </a:graphicData>
        </a:graphic>
      </p:graphicFrame>
      <p:sp>
        <p:nvSpPr>
          <p:cNvPr id="30" name="!!gemnote"/>
          <p:cNvSpPr txBox="1"/>
          <p:nvPr/>
        </p:nvSpPr>
        <p:spPr>
          <a:xfrm>
            <a:off x="5989320" y="3931920"/>
            <a:ext cx="5788152" cy="228600"/>
          </a:xfrm>
          <a:prstGeom prst="rect">
            <a:avLst/>
          </a:prstGeom>
          <a:noFill/>
          <a:ln/>
        </p:spPr>
        <p:txBody>
          <a:bodyPr wrap="square" lIns="0" tIns="0" rIns="0" bIns="0" rtlCol="0" anchor="t"/>
          <a:lstStyle/>
          <a:p>
            <a:pPr algn="l" indent="0" marL="0">
              <a:buNone/>
            </a:pPr>
            <a:r>
              <a:rPr lang="en-US" sz="1000" i="1" dirty="0">
                <a:solidFill>
                  <a:srgbClr val="5F5E5A"/>
                </a:solidFill>
                <a:latin typeface="Calibri" pitchFamily="34" charset="0"/>
                <a:ea typeface="Calibri" pitchFamily="34" charset="-122"/>
                <a:cs typeface="Calibri" pitchFamily="34" charset="-120"/>
              </a:rPr>
              <a:t>* Gemini says STOP even when it wants a tool; the function call sits in the reply's content.</a:t>
            </a:r>
            <a:endParaRPr lang="en-US" sz="1000" dirty="0"/>
          </a:p>
        </p:txBody>
      </p:sp>
      <p:sp>
        <p:nvSpPr>
          <p:cNvPr id="31" name="Text 28"/>
          <p:cNvSpPr txBox="1"/>
          <p:nvPr/>
        </p:nvSpPr>
        <p:spPr>
          <a:xfrm>
            <a:off x="5989320" y="4261104"/>
            <a:ext cx="5788152" cy="274320"/>
          </a:xfrm>
          <a:prstGeom prst="rect">
            <a:avLst/>
          </a:prstGeom>
          <a:noFill/>
          <a:ln/>
        </p:spPr>
        <p:txBody>
          <a:bodyPr wrap="square" lIns="0" tIns="0" rIns="0" bIns="0" rtlCol="0" anchor="t"/>
          <a:lstStyle/>
          <a:p>
            <a:pPr algn="l" indent="0" marL="0">
              <a:buNone/>
            </a:pPr>
            <a:r>
              <a:rPr lang="en-US" sz="1300" b="1" dirty="0">
                <a:solidFill>
                  <a:srgbClr val="2C2C2A"/>
                </a:solidFill>
                <a:latin typeface="Calibri" pitchFamily="34" charset="0"/>
                <a:ea typeface="Calibri" pitchFamily="34" charset="-122"/>
                <a:cs typeface="Calibri" pitchFamily="34" charset="-120"/>
              </a:rPr>
              <a:t>What the loop does next</a:t>
            </a:r>
            <a:endParaRPr lang="en-US" sz="1300" dirty="0"/>
          </a:p>
        </p:txBody>
      </p:sp>
      <p:sp>
        <p:nvSpPr>
          <p:cNvPr id="32" name="!!act0"/>
          <p:cNvSpPr/>
          <p:nvPr/>
        </p:nvSpPr>
        <p:spPr>
          <a:xfrm>
            <a:off x="5989320" y="4590288"/>
            <a:ext cx="2848356" cy="384048"/>
          </a:xfrm>
          <a:prstGeom prst="roundRect">
            <a:avLst>
              <a:gd name="adj" fmla="val 14286"/>
            </a:avLst>
          </a:prstGeom>
          <a:solidFill>
            <a:srgbClr val="E1F5EE"/>
          </a:solidFill>
          <a:ln w="9525">
            <a:solidFill>
              <a:srgbClr val="0F6E56"/>
            </a:solidFill>
            <a:prstDash val="solid"/>
          </a:ln>
        </p:spPr>
        <p:txBody>
          <a:bodyPr wrap="square" lIns="76200" tIns="76200" rIns="76200" bIns="76200" rtlCol="0" anchor="ctr"/>
          <a:lstStyle/>
          <a:p>
            <a:pPr algn="l" indent="0" marL="0">
              <a:buNone/>
            </a:pPr>
            <a:r>
              <a:rPr lang="en-US" sz="1050" b="1" dirty="0">
                <a:solidFill>
                  <a:srgbClr val="085041"/>
                </a:solidFill>
                <a:latin typeface="Consolas" pitchFamily="34" charset="0"/>
                <a:ea typeface="Consolas" pitchFamily="34" charset="-122"/>
                <a:cs typeface="Consolas" pitchFamily="34" charset="-120"/>
              </a:rPr>
              <a:t>tool_calls  →  </a:t>
            </a:r>
            <a:pPr algn="l" indent="0" marL="0">
              <a:buNone/>
            </a:pPr>
            <a:r>
              <a:rPr lang="en-US" sz="1100" dirty="0">
                <a:solidFill>
                  <a:srgbClr val="085041"/>
                </a:solidFill>
                <a:latin typeface="Calibri" pitchFamily="34" charset="0"/>
                <a:ea typeface="Calibri" pitchFamily="34" charset="-122"/>
                <a:cs typeface="Calibri" pitchFamily="34" charset="-120"/>
              </a:rPr>
              <a:t>run the tool, call again ↻</a:t>
            </a:r>
            <a:endParaRPr lang="en-US" sz="1200" dirty="0"/>
          </a:p>
        </p:txBody>
      </p:sp>
      <p:sp>
        <p:nvSpPr>
          <p:cNvPr id="33" name="!!act1"/>
          <p:cNvSpPr/>
          <p:nvPr/>
        </p:nvSpPr>
        <p:spPr>
          <a:xfrm>
            <a:off x="8929116" y="4590288"/>
            <a:ext cx="2848356" cy="384048"/>
          </a:xfrm>
          <a:prstGeom prst="roundRect">
            <a:avLst>
              <a:gd name="adj" fmla="val 14286"/>
            </a:avLst>
          </a:prstGeom>
          <a:solidFill>
            <a:srgbClr val="F1EFE8"/>
          </a:solidFill>
          <a:ln w="9525">
            <a:solidFill>
              <a:srgbClr val="888780"/>
            </a:solidFill>
            <a:prstDash val="solid"/>
          </a:ln>
        </p:spPr>
        <p:txBody>
          <a:bodyPr wrap="square" lIns="76200" tIns="76200" rIns="76200" bIns="76200" rtlCol="0" anchor="ctr"/>
          <a:lstStyle/>
          <a:p>
            <a:pPr algn="l" indent="0" marL="0">
              <a:buNone/>
            </a:pPr>
            <a:r>
              <a:rPr lang="en-US" sz="1050" b="1" dirty="0">
                <a:solidFill>
                  <a:srgbClr val="2C2C2A"/>
                </a:solidFill>
                <a:latin typeface="Consolas" pitchFamily="34" charset="0"/>
                <a:ea typeface="Consolas" pitchFamily="34" charset="-122"/>
                <a:cs typeface="Consolas" pitchFamily="34" charset="-120"/>
              </a:rPr>
              <a:t>stop  →  </a:t>
            </a:r>
            <a:pPr algn="l" indent="0" marL="0">
              <a:buNone/>
            </a:pPr>
            <a:r>
              <a:rPr lang="en-US" sz="1100" dirty="0">
                <a:solidFill>
                  <a:srgbClr val="2C2C2A"/>
                </a:solidFill>
                <a:latin typeface="Calibri" pitchFamily="34" charset="0"/>
                <a:ea typeface="Calibri" pitchFamily="34" charset="-122"/>
                <a:cs typeface="Calibri" pitchFamily="34" charset="-120"/>
              </a:rPr>
              <a:t>return the answer, done</a:t>
            </a:r>
            <a:endParaRPr lang="en-US" sz="1200" dirty="0"/>
          </a:p>
        </p:txBody>
      </p:sp>
      <p:sp>
        <p:nvSpPr>
          <p:cNvPr id="34" name="!!act2"/>
          <p:cNvSpPr/>
          <p:nvPr/>
        </p:nvSpPr>
        <p:spPr>
          <a:xfrm>
            <a:off x="5989320" y="5047488"/>
            <a:ext cx="2848356" cy="384048"/>
          </a:xfrm>
          <a:prstGeom prst="roundRect">
            <a:avLst>
              <a:gd name="adj" fmla="val 14286"/>
            </a:avLst>
          </a:prstGeom>
          <a:solidFill>
            <a:srgbClr val="FAEEDA"/>
          </a:solidFill>
          <a:ln w="9525">
            <a:solidFill>
              <a:srgbClr val="854F0B"/>
            </a:solidFill>
            <a:prstDash val="solid"/>
          </a:ln>
        </p:spPr>
        <p:txBody>
          <a:bodyPr wrap="square" lIns="76200" tIns="76200" rIns="76200" bIns="76200" rtlCol="0" anchor="ctr"/>
          <a:lstStyle/>
          <a:p>
            <a:pPr algn="l" indent="0" marL="0">
              <a:buNone/>
            </a:pPr>
            <a:r>
              <a:rPr lang="en-US" sz="1050" b="1" dirty="0">
                <a:solidFill>
                  <a:srgbClr val="633806"/>
                </a:solidFill>
                <a:latin typeface="Consolas" pitchFamily="34" charset="0"/>
                <a:ea typeface="Consolas" pitchFamily="34" charset="-122"/>
                <a:cs typeface="Consolas" pitchFamily="34" charset="-120"/>
              </a:rPr>
              <a:t>length  →  </a:t>
            </a:r>
            <a:pPr algn="l" indent="0" marL="0">
              <a:buNone/>
            </a:pPr>
            <a:r>
              <a:rPr lang="en-US" sz="1100" dirty="0">
                <a:solidFill>
                  <a:srgbClr val="633806"/>
                </a:solidFill>
                <a:latin typeface="Calibri" pitchFamily="34" charset="0"/>
                <a:ea typeface="Calibri" pitchFamily="34" charset="-122"/>
                <a:cs typeface="Calibri" pitchFamily="34" charset="-120"/>
              </a:rPr>
              <a:t>raise the limit or continue</a:t>
            </a:r>
            <a:endParaRPr lang="en-US" sz="1200" dirty="0"/>
          </a:p>
        </p:txBody>
      </p:sp>
      <p:sp>
        <p:nvSpPr>
          <p:cNvPr id="35" name="!!act3"/>
          <p:cNvSpPr/>
          <p:nvPr/>
        </p:nvSpPr>
        <p:spPr>
          <a:xfrm>
            <a:off x="8929116" y="5047488"/>
            <a:ext cx="2848356" cy="384048"/>
          </a:xfrm>
          <a:prstGeom prst="roundRect">
            <a:avLst>
              <a:gd name="adj" fmla="val 14286"/>
            </a:avLst>
          </a:prstGeom>
          <a:solidFill>
            <a:srgbClr val="FAECE7"/>
          </a:solidFill>
          <a:ln w="9525">
            <a:solidFill>
              <a:srgbClr val="993C1D"/>
            </a:solidFill>
            <a:prstDash val="solid"/>
          </a:ln>
        </p:spPr>
        <p:txBody>
          <a:bodyPr wrap="square" lIns="76200" tIns="76200" rIns="76200" bIns="76200" rtlCol="0" anchor="ctr"/>
          <a:lstStyle/>
          <a:p>
            <a:pPr algn="l" indent="0" marL="0">
              <a:buNone/>
            </a:pPr>
            <a:r>
              <a:rPr lang="en-US" sz="1050" b="1" dirty="0">
                <a:solidFill>
                  <a:srgbClr val="712B13"/>
                </a:solidFill>
                <a:latin typeface="Consolas" pitchFamily="34" charset="0"/>
                <a:ea typeface="Consolas" pitchFamily="34" charset="-122"/>
                <a:cs typeface="Consolas" pitchFamily="34" charset="-120"/>
              </a:rPr>
              <a:t>content_filter  →  </a:t>
            </a:r>
            <a:pPr algn="l" indent="0" marL="0">
              <a:buNone/>
            </a:pPr>
            <a:r>
              <a:rPr lang="en-US" sz="1100" dirty="0">
                <a:solidFill>
                  <a:srgbClr val="712B13"/>
                </a:solidFill>
                <a:latin typeface="Calibri" pitchFamily="34" charset="0"/>
                <a:ea typeface="Calibri" pitchFamily="34" charset="-122"/>
                <a:cs typeface="Calibri" pitchFamily="34" charset="-120"/>
              </a:rPr>
              <a:t>stop and escalate</a:t>
            </a:r>
            <a:endParaRPr lang="en-US" sz="1200" dirty="0"/>
          </a:p>
        </p:txBody>
      </p:sp>
      <p:sp>
        <p:nvSpPr>
          <p:cNvPr id="36" name="!!bridge1"/>
          <p:cNvSpPr/>
          <p:nvPr/>
        </p:nvSpPr>
        <p:spPr>
          <a:xfrm>
            <a:off x="411480" y="5623560"/>
            <a:ext cx="11365992" cy="502920"/>
          </a:xfrm>
          <a:prstGeom prst="roundRect">
            <a:avLst>
              <a:gd name="adj" fmla="val 18182"/>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400" b="1" dirty="0">
                <a:solidFill>
                  <a:srgbClr val="3C3489"/>
                </a:solidFill>
                <a:latin typeface="Calibri" pitchFamily="34" charset="0"/>
                <a:ea typeface="Calibri" pitchFamily="34" charset="-122"/>
                <a:cs typeface="Calibri" pitchFamily="34" charset="-120"/>
              </a:rPr>
              <a:t>One field steers the whole loop. </a:t>
            </a:r>
            <a:pPr algn="l" indent="0" marL="0">
              <a:buNone/>
            </a:pPr>
            <a:r>
              <a:rPr lang="en-US" sz="1400" dirty="0">
                <a:solidFill>
                  <a:srgbClr val="3C3489"/>
                </a:solidFill>
                <a:latin typeface="Calibri" pitchFamily="34" charset="0"/>
                <a:ea typeface="Calibri" pitchFamily="34" charset="-122"/>
                <a:cs typeface="Calibri" pitchFamily="34" charset="-120"/>
              </a:rPr>
              <a:t>Fine for one task, fragile at scale: and that's exactly where single agents start to fail →</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15875">
            <a:solidFill>
              <a:srgbClr val="B4B2A9"/>
            </a:solidFill>
            <a:prstDash val="solid"/>
          </a:ln>
        </p:spPr>
      </p:sp>
      <p:sp>
        <p:nvSpPr>
          <p:cNvPr id="7" name="!!e_agent-sql"/>
          <p:cNvSpPr/>
          <p:nvPr/>
        </p:nvSpPr>
        <p:spPr>
          <a:xfrm flipH="1" flipV="1">
            <a:off x="2083154" y="2877342"/>
            <a:ext cx="1663394" cy="642675"/>
          </a:xfrm>
          <a:prstGeom prst="line">
            <a:avLst/>
          </a:prstGeom>
          <a:noFill/>
          <a:ln w="15875">
            <a:solidFill>
              <a:srgbClr val="B4B2A9"/>
            </a:solidFill>
            <a:prstDash val="solid"/>
          </a:ln>
        </p:spPr>
      </p:sp>
      <p:sp>
        <p:nvSpPr>
          <p:cNvPr id="8" name="!!e_agent-code"/>
          <p:cNvSpPr/>
          <p:nvPr/>
        </p:nvSpPr>
        <p:spPr>
          <a:xfrm flipV="1">
            <a:off x="4662275" y="2877342"/>
            <a:ext cx="1663394" cy="642675"/>
          </a:xfrm>
          <a:prstGeom prst="line">
            <a:avLst/>
          </a:prstGeom>
          <a:noFill/>
          <a:ln w="15875">
            <a:solidFill>
              <a:srgbClr val="B4B2A9"/>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4115166" y="2023567"/>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 we start</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Same agent, same five tools. First, one ticket.</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  # one BAU defect</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8288" cy="128016"/>
          </a:xfrm>
          <a:prstGeom prst="roundRect">
            <a:avLst>
              <a:gd name="adj" fmla="val 3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44450">
            <a:solidFill>
              <a:srgbClr val="1D9E75"/>
            </a:solidFill>
            <a:prstDash val="solid"/>
          </a:ln>
        </p:spPr>
      </p:sp>
      <p:sp>
        <p:nvSpPr>
          <p:cNvPr id="7" name="!!e_agent-sql"/>
          <p:cNvSpPr/>
          <p:nvPr/>
        </p:nvSpPr>
        <p:spPr>
          <a:xfrm flipH="1" flipV="1">
            <a:off x="2083154" y="2877342"/>
            <a:ext cx="1663394" cy="642675"/>
          </a:xfrm>
          <a:prstGeom prst="line">
            <a:avLst/>
          </a:prstGeom>
          <a:noFill/>
          <a:ln w="15875">
            <a:solidFill>
              <a:srgbClr val="B4B2A9"/>
            </a:solidFill>
            <a:prstDash val="solid"/>
          </a:ln>
        </p:spPr>
      </p:sp>
      <p:sp>
        <p:nvSpPr>
          <p:cNvPr id="8" name="!!e_agent-code"/>
          <p:cNvSpPr/>
          <p:nvPr/>
        </p:nvSpPr>
        <p:spPr>
          <a:xfrm flipV="1">
            <a:off x="4662275" y="2877342"/>
            <a:ext cx="1663394" cy="642675"/>
          </a:xfrm>
          <a:prstGeom prst="line">
            <a:avLst/>
          </a:prstGeom>
          <a:noFill/>
          <a:ln w="15875">
            <a:solidFill>
              <a:srgbClr val="B4B2A9"/>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4115166" y="3116824"/>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9</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Defect: PD is null for 120 accounts</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[ticket_4521]</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6002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1D9E75"/>
            </a:solidFill>
            <a:prstDash val="solid"/>
          </a:ln>
        </p:spPr>
      </p:sp>
      <p:sp>
        <p:nvSpPr>
          <p:cNvPr id="7" name="!!e_agent-sql"/>
          <p:cNvSpPr/>
          <p:nvPr/>
        </p:nvSpPr>
        <p:spPr>
          <a:xfrm flipH="1" flipV="1">
            <a:off x="2083154" y="2877342"/>
            <a:ext cx="1663394" cy="642675"/>
          </a:xfrm>
          <a:prstGeom prst="line">
            <a:avLst/>
          </a:prstGeom>
          <a:noFill/>
          <a:ln w="44450">
            <a:solidFill>
              <a:srgbClr val="1D9E75"/>
            </a:solidFill>
            <a:prstDash val="solid"/>
          </a:ln>
        </p:spPr>
      </p:sp>
      <p:sp>
        <p:nvSpPr>
          <p:cNvPr id="8" name="!!e_agent-code"/>
          <p:cNvSpPr/>
          <p:nvPr/>
        </p:nvSpPr>
        <p:spPr>
          <a:xfrm flipV="1">
            <a:off x="4662275" y="2877342"/>
            <a:ext cx="1663394" cy="642675"/>
          </a:xfrm>
          <a:prstGeom prst="line">
            <a:avLst/>
          </a:prstGeom>
          <a:noFill/>
          <a:ln w="15875">
            <a:solidFill>
              <a:srgbClr val="B4B2A9"/>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1993908" y="2788097"/>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9</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Find where the nulls come from</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run_sql(count nulls by source)</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32004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1D9E75"/>
            </a:solidFill>
            <a:prstDash val="solid"/>
          </a:ln>
        </p:spPr>
      </p:sp>
      <p:sp>
        <p:nvSpPr>
          <p:cNvPr id="7" name="!!e_agent-sql"/>
          <p:cNvSpPr/>
          <p:nvPr/>
        </p:nvSpPr>
        <p:spPr>
          <a:xfrm flipH="1" flipV="1">
            <a:off x="2083154" y="2877342"/>
            <a:ext cx="1663394" cy="642675"/>
          </a:xfrm>
          <a:prstGeom prst="line">
            <a:avLst/>
          </a:prstGeom>
          <a:noFill/>
          <a:ln w="44450">
            <a:solidFill>
              <a:srgbClr val="1D9E75"/>
            </a:solidFill>
            <a:prstDash val="solid"/>
          </a:ln>
        </p:spPr>
      </p:sp>
      <p:sp>
        <p:nvSpPr>
          <p:cNvPr id="8" name="!!e_agent-code"/>
          <p:cNvSpPr/>
          <p:nvPr/>
        </p:nvSpPr>
        <p:spPr>
          <a:xfrm flipV="1">
            <a:off x="4662275" y="2877342"/>
            <a:ext cx="1663394" cy="642675"/>
          </a:xfrm>
          <a:prstGeom prst="line">
            <a:avLst/>
          </a:prstGeom>
          <a:noFill/>
          <a:ln w="15875">
            <a:solidFill>
              <a:srgbClr val="B4B2A9"/>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3657302" y="3430772"/>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9</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All 120 come from one source feed</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  # 5 rows</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15%</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48006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1D9E75"/>
            </a:solidFill>
            <a:prstDash val="solid"/>
          </a:ln>
        </p:spPr>
      </p:sp>
      <p:sp>
        <p:nvSpPr>
          <p:cNvPr id="7" name="!!e_agent-sql"/>
          <p:cNvSpPr/>
          <p:nvPr/>
        </p:nvSpPr>
        <p:spPr>
          <a:xfrm flipH="1" flipV="1">
            <a:off x="2083154" y="2877342"/>
            <a:ext cx="1663394" cy="642675"/>
          </a:xfrm>
          <a:prstGeom prst="line">
            <a:avLst/>
          </a:prstGeom>
          <a:noFill/>
          <a:ln w="25400">
            <a:solidFill>
              <a:srgbClr val="1D9E75"/>
            </a:solidFill>
            <a:prstDash val="solid"/>
          </a:ln>
        </p:spPr>
      </p:sp>
      <p:sp>
        <p:nvSpPr>
          <p:cNvPr id="8" name="!!e_agent-code"/>
          <p:cNvSpPr/>
          <p:nvPr/>
        </p:nvSpPr>
        <p:spPr>
          <a:xfrm flipV="1">
            <a:off x="4662275" y="2877342"/>
            <a:ext cx="1663394" cy="642675"/>
          </a:xfrm>
          <a:prstGeom prst="line">
            <a:avLst/>
          </a:prstGeom>
          <a:noFill/>
          <a:ln w="44450">
            <a:solidFill>
              <a:srgbClr val="1D9E75"/>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6236423" y="2788097"/>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9</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Look at how that feed is joined</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search_code("pd_join")</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20%</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64008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1D9E75"/>
            </a:solidFill>
            <a:prstDash val="solid"/>
          </a:ln>
        </p:spPr>
      </p:sp>
      <p:sp>
        <p:nvSpPr>
          <p:cNvPr id="7" name="!!e_agent-sql"/>
          <p:cNvSpPr/>
          <p:nvPr/>
        </p:nvSpPr>
        <p:spPr>
          <a:xfrm flipH="1" flipV="1">
            <a:off x="2083154" y="2877342"/>
            <a:ext cx="1663394" cy="642675"/>
          </a:xfrm>
          <a:prstGeom prst="line">
            <a:avLst/>
          </a:prstGeom>
          <a:noFill/>
          <a:ln w="25400">
            <a:solidFill>
              <a:srgbClr val="1D9E75"/>
            </a:solidFill>
            <a:prstDash val="solid"/>
          </a:ln>
        </p:spPr>
      </p:sp>
      <p:sp>
        <p:nvSpPr>
          <p:cNvPr id="8" name="!!e_agent-code"/>
          <p:cNvSpPr/>
          <p:nvPr/>
        </p:nvSpPr>
        <p:spPr>
          <a:xfrm flipV="1">
            <a:off x="4662275" y="2877342"/>
            <a:ext cx="1663394" cy="642675"/>
          </a:xfrm>
          <a:prstGeom prst="line">
            <a:avLst/>
          </a:prstGeom>
          <a:noFill/>
          <a:ln w="44450">
            <a:solidFill>
              <a:srgbClr val="1D9E75"/>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4573030" y="3430772"/>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9</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Join is on the wrong key</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26%</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832104"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1D9E75"/>
            </a:solidFill>
            <a:prstDash val="solid"/>
          </a:ln>
        </p:spPr>
      </p:sp>
      <p:sp>
        <p:nvSpPr>
          <p:cNvPr id="7" name="!!e_agent-sql"/>
          <p:cNvSpPr/>
          <p:nvPr/>
        </p:nvSpPr>
        <p:spPr>
          <a:xfrm flipH="1" flipV="1">
            <a:off x="2083154" y="2877342"/>
            <a:ext cx="1663394" cy="642675"/>
          </a:xfrm>
          <a:prstGeom prst="line">
            <a:avLst/>
          </a:prstGeom>
          <a:noFill/>
          <a:ln w="25400">
            <a:solidFill>
              <a:srgbClr val="1D9E75"/>
            </a:solidFill>
            <a:prstDash val="solid"/>
          </a:ln>
        </p:spPr>
      </p:sp>
      <p:sp>
        <p:nvSpPr>
          <p:cNvPr id="8" name="!!e_agent-code"/>
          <p:cNvSpPr/>
          <p:nvPr/>
        </p:nvSpPr>
        <p:spPr>
          <a:xfrm flipV="1">
            <a:off x="4662275" y="2877342"/>
            <a:ext cx="1663394" cy="642675"/>
          </a:xfrm>
          <a:prstGeom prst="line">
            <a:avLst/>
          </a:prstGeom>
          <a:noFill/>
          <a:ln w="25400">
            <a:solidFill>
              <a:srgbClr val="1D9E75"/>
            </a:solidFill>
            <a:prstDash val="solid"/>
          </a:ln>
        </p:spPr>
      </p:sp>
      <p:sp>
        <p:nvSpPr>
          <p:cNvPr id="9" name="!!e_agent-tests"/>
          <p:cNvSpPr/>
          <p:nvPr/>
        </p:nvSpPr>
        <p:spPr>
          <a:xfrm flipH="1">
            <a:off x="2083154" y="3873821"/>
            <a:ext cx="1663394" cy="642675"/>
          </a:xfrm>
          <a:prstGeom prst="line">
            <a:avLst/>
          </a:prstGeom>
          <a:noFill/>
          <a:ln w="44450">
            <a:solidFill>
              <a:srgbClr val="1D9E75"/>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1993908" y="4427251"/>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9</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Apply fix, run reconciliation</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31%</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992124"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1D9E75"/>
            </a:solidFill>
            <a:prstDash val="solid"/>
          </a:ln>
        </p:spPr>
      </p:sp>
      <p:sp>
        <p:nvSpPr>
          <p:cNvPr id="7" name="!!e_agent-sql"/>
          <p:cNvSpPr/>
          <p:nvPr/>
        </p:nvSpPr>
        <p:spPr>
          <a:xfrm flipH="1" flipV="1">
            <a:off x="2083154" y="2877342"/>
            <a:ext cx="1663394" cy="642675"/>
          </a:xfrm>
          <a:prstGeom prst="line">
            <a:avLst/>
          </a:prstGeom>
          <a:noFill/>
          <a:ln w="25400">
            <a:solidFill>
              <a:srgbClr val="1D9E75"/>
            </a:solidFill>
            <a:prstDash val="solid"/>
          </a:ln>
        </p:spPr>
      </p:sp>
      <p:sp>
        <p:nvSpPr>
          <p:cNvPr id="8" name="!!e_agent-code"/>
          <p:cNvSpPr/>
          <p:nvPr/>
        </p:nvSpPr>
        <p:spPr>
          <a:xfrm flipV="1">
            <a:off x="4662275" y="2877342"/>
            <a:ext cx="1663394" cy="642675"/>
          </a:xfrm>
          <a:prstGeom prst="line">
            <a:avLst/>
          </a:prstGeom>
          <a:noFill/>
          <a:ln w="25400">
            <a:solidFill>
              <a:srgbClr val="1D9E75"/>
            </a:solidFill>
            <a:prstDash val="solid"/>
          </a:ln>
        </p:spPr>
      </p:sp>
      <p:sp>
        <p:nvSpPr>
          <p:cNvPr id="9" name="!!e_agent-tests"/>
          <p:cNvSpPr/>
          <p:nvPr/>
        </p:nvSpPr>
        <p:spPr>
          <a:xfrm flipH="1">
            <a:off x="2083154" y="3873821"/>
            <a:ext cx="1663394" cy="642675"/>
          </a:xfrm>
          <a:prstGeom prst="line">
            <a:avLst/>
          </a:prstGeom>
          <a:noFill/>
          <a:ln w="44450">
            <a:solidFill>
              <a:srgbClr val="1D9E75"/>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3657302" y="3784576"/>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7 of 9</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Reconciliation passes</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messages.append({"status": "pass"})</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34%</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088136"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1D9E75"/>
            </a:solidFill>
            <a:prstDash val="solid"/>
          </a:ln>
        </p:spPr>
      </p:sp>
      <p:sp>
        <p:nvSpPr>
          <p:cNvPr id="7" name="!!e_agent-sql"/>
          <p:cNvSpPr/>
          <p:nvPr/>
        </p:nvSpPr>
        <p:spPr>
          <a:xfrm flipH="1" flipV="1">
            <a:off x="2083154" y="2877342"/>
            <a:ext cx="1663394" cy="642675"/>
          </a:xfrm>
          <a:prstGeom prst="line">
            <a:avLst/>
          </a:prstGeom>
          <a:noFill/>
          <a:ln w="25400">
            <a:solidFill>
              <a:srgbClr val="1D9E75"/>
            </a:solidFill>
            <a:prstDash val="solid"/>
          </a:ln>
        </p:spPr>
      </p:sp>
      <p:sp>
        <p:nvSpPr>
          <p:cNvPr id="8" name="!!e_agent-code"/>
          <p:cNvSpPr/>
          <p:nvPr/>
        </p:nvSpPr>
        <p:spPr>
          <a:xfrm flipV="1">
            <a:off x="4662275" y="2877342"/>
            <a:ext cx="1663394" cy="642675"/>
          </a:xfrm>
          <a:prstGeom prst="line">
            <a:avLst/>
          </a:prstGeom>
          <a:noFill/>
          <a:ln w="25400">
            <a:solidFill>
              <a:srgbClr val="1D9E75"/>
            </a:solidFill>
            <a:prstDash val="solid"/>
          </a:ln>
        </p:spPr>
      </p:sp>
      <p:sp>
        <p:nvSpPr>
          <p:cNvPr id="9" name="!!e_agent-tests"/>
          <p:cNvSpPr/>
          <p:nvPr/>
        </p:nvSpPr>
        <p:spPr>
          <a:xfrm flipH="1">
            <a:off x="2083154" y="3873821"/>
            <a:ext cx="1663394" cy="642675"/>
          </a:xfrm>
          <a:prstGeom prst="line">
            <a:avLst/>
          </a:prstGeom>
          <a:noFill/>
          <a:ln w="25400">
            <a:solidFill>
              <a:srgbClr val="1D9E75"/>
            </a:solidFill>
            <a:prstDash val="solid"/>
          </a:ln>
        </p:spPr>
      </p:sp>
      <p:sp>
        <p:nvSpPr>
          <p:cNvPr id="10" name="!!e_agent-human"/>
          <p:cNvSpPr/>
          <p:nvPr/>
        </p:nvSpPr>
        <p:spPr>
          <a:xfrm>
            <a:off x="4662275" y="3873821"/>
            <a:ext cx="1663394" cy="642675"/>
          </a:xfrm>
          <a:prstGeom prst="line">
            <a:avLst/>
          </a:prstGeom>
          <a:noFill/>
          <a:ln w="44450">
            <a:solidFill>
              <a:srgbClr val="1D9E75"/>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6236423" y="4427251"/>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8 of 9</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Fix and evidence sent for sign-off</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"end_turn" → human_signoff</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37%</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184148"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1D9E75"/>
            </a:solidFill>
            <a:prstDash val="solid"/>
          </a:ln>
        </p:spPr>
      </p:sp>
      <p:sp>
        <p:nvSpPr>
          <p:cNvPr id="7" name="!!e_agent-sql"/>
          <p:cNvSpPr/>
          <p:nvPr/>
        </p:nvSpPr>
        <p:spPr>
          <a:xfrm flipH="1" flipV="1">
            <a:off x="2083154" y="2877342"/>
            <a:ext cx="1663394" cy="642675"/>
          </a:xfrm>
          <a:prstGeom prst="line">
            <a:avLst/>
          </a:prstGeom>
          <a:noFill/>
          <a:ln w="25400">
            <a:solidFill>
              <a:srgbClr val="1D9E75"/>
            </a:solidFill>
            <a:prstDash val="solid"/>
          </a:ln>
        </p:spPr>
      </p:sp>
      <p:sp>
        <p:nvSpPr>
          <p:cNvPr id="8" name="!!e_agent-code"/>
          <p:cNvSpPr/>
          <p:nvPr/>
        </p:nvSpPr>
        <p:spPr>
          <a:xfrm flipV="1">
            <a:off x="4662275" y="2877342"/>
            <a:ext cx="1663394" cy="642675"/>
          </a:xfrm>
          <a:prstGeom prst="line">
            <a:avLst/>
          </a:prstGeom>
          <a:noFill/>
          <a:ln w="25400">
            <a:solidFill>
              <a:srgbClr val="1D9E75"/>
            </a:solidFill>
            <a:prstDash val="solid"/>
          </a:ln>
        </p:spPr>
      </p:sp>
      <p:sp>
        <p:nvSpPr>
          <p:cNvPr id="9" name="!!e_agent-tests"/>
          <p:cNvSpPr/>
          <p:nvPr/>
        </p:nvSpPr>
        <p:spPr>
          <a:xfrm flipH="1">
            <a:off x="2083154" y="3873821"/>
            <a:ext cx="1663394" cy="642675"/>
          </a:xfrm>
          <a:prstGeom prst="line">
            <a:avLst/>
          </a:prstGeom>
          <a:noFill/>
          <a:ln w="25400">
            <a:solidFill>
              <a:srgbClr val="1D9E75"/>
            </a:solidFill>
            <a:prstDash val="solid"/>
          </a:ln>
        </p:spPr>
      </p:sp>
      <p:sp>
        <p:nvSpPr>
          <p:cNvPr id="10" name="!!e_agent-human"/>
          <p:cNvSpPr/>
          <p:nvPr/>
        </p:nvSpPr>
        <p:spPr>
          <a:xfrm>
            <a:off x="4662275" y="3873821"/>
            <a:ext cx="1663394" cy="642675"/>
          </a:xfrm>
          <a:prstGeom prst="line">
            <a:avLst/>
          </a:prstGeom>
          <a:noFill/>
          <a:ln w="25400">
            <a:solidFill>
              <a:srgbClr val="1D9E75"/>
            </a:solidFill>
            <a:prstDash val="solid"/>
          </a:ln>
        </p:spPr>
      </p:sp>
      <p:sp>
        <p:nvSpPr>
          <p:cNvPr id="11" name="!!e_close-human"/>
          <p:cNvSpPr/>
          <p:nvPr/>
        </p:nvSpPr>
        <p:spPr>
          <a:xfrm>
            <a:off x="6658661" y="5002134"/>
            <a:ext cx="914" cy="401604"/>
          </a:xfrm>
          <a:prstGeom prst="line">
            <a:avLst/>
          </a:prstGeom>
          <a:noFill/>
          <a:ln w="44450">
            <a:solidFill>
              <a:srgbClr val="1D9E75"/>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6569415" y="5314493"/>
            <a:ext cx="178491" cy="178491"/>
          </a:xfrm>
          <a:prstGeom prst="ellipse">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200" b="1" dirty="0">
                <a:solidFill>
                  <a:srgbClr val="085041"/>
                </a:solidFill>
                <a:latin typeface="Calibri" pitchFamily="34" charset="0"/>
                <a:ea typeface="Calibri" pitchFamily="34" charset="-122"/>
                <a:cs typeface="Calibri" pitchFamily="34" charset="-120"/>
              </a:rPr>
              <a:t>Happy flow · 1 ticket</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9 of 9</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Approved. Ticket closed.</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approved = True → close_ticket(4521)</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37%</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184148"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44" name="!!final"/>
          <p:cNvSpPr/>
          <p:nvPr/>
        </p:nvSpPr>
        <p:spPr>
          <a:xfrm>
            <a:off x="8549640" y="5349240"/>
            <a:ext cx="3200400" cy="640080"/>
          </a:xfrm>
          <a:prstGeom prst="roundRect">
            <a:avLst>
              <a:gd name="adj" fmla="val 11429"/>
            </a:avLst>
          </a:prstGeom>
          <a:solidFill>
            <a:srgbClr val="E1F5EE"/>
          </a:solidFill>
          <a:ln w="12700">
            <a:solidFill>
              <a:srgbClr val="0F6E56"/>
            </a:solidFill>
            <a:prstDash val="solid"/>
          </a:ln>
        </p:spPr>
        <p:txBody>
          <a:bodyPr wrap="square" lIns="127000" tIns="127000" rIns="127000" bIns="127000" rtlCol="0" anchor="ctr"/>
          <a:lstStyle/>
          <a:p>
            <a:pPr algn="l" indent="0" marL="0">
              <a:buNone/>
            </a:pPr>
            <a:r>
              <a:rPr lang="en-US" sz="1300" b="1" dirty="0">
                <a:solidFill>
                  <a:srgbClr val="085041"/>
                </a:solidFill>
                <a:latin typeface="Calibri" pitchFamily="34" charset="0"/>
                <a:ea typeface="Calibri" pitchFamily="34" charset="-122"/>
                <a:cs typeface="Calibri" pitchFamily="34" charset="-120"/>
              </a:rPr>
              <a:t>1 ticket, 4 LLM calls, fixed and signed off.</a:t>
            </a:r>
            <a:endParaRPr lang="en-US" sz="13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15875">
            <a:solidFill>
              <a:srgbClr val="B4B2A9"/>
            </a:solidFill>
            <a:prstDash val="solid"/>
          </a:ln>
        </p:spPr>
      </p:sp>
      <p:sp>
        <p:nvSpPr>
          <p:cNvPr id="7" name="!!e_agent-sql"/>
          <p:cNvSpPr/>
          <p:nvPr/>
        </p:nvSpPr>
        <p:spPr>
          <a:xfrm flipH="1" flipV="1">
            <a:off x="2083154" y="2877342"/>
            <a:ext cx="1663394" cy="642675"/>
          </a:xfrm>
          <a:prstGeom prst="line">
            <a:avLst/>
          </a:prstGeom>
          <a:noFill/>
          <a:ln w="15875">
            <a:solidFill>
              <a:srgbClr val="B4B2A9"/>
            </a:solidFill>
            <a:prstDash val="solid"/>
          </a:ln>
        </p:spPr>
      </p:sp>
      <p:sp>
        <p:nvSpPr>
          <p:cNvPr id="8" name="!!e_agent-code"/>
          <p:cNvSpPr/>
          <p:nvPr/>
        </p:nvSpPr>
        <p:spPr>
          <a:xfrm flipV="1">
            <a:off x="4662275" y="2877342"/>
            <a:ext cx="1663394" cy="642675"/>
          </a:xfrm>
          <a:prstGeom prst="line">
            <a:avLst/>
          </a:prstGeom>
          <a:noFill/>
          <a:ln w="15875">
            <a:solidFill>
              <a:srgbClr val="B4B2A9"/>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4115166" y="2023567"/>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 we start</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Now give the same agent three tickets in one session.</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  # three BAU defects</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8288" cy="128016"/>
          </a:xfrm>
          <a:prstGeom prst="roundRect">
            <a:avLst>
              <a:gd name="adj" fmla="val 3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44450">
            <a:solidFill>
              <a:srgbClr val="BA7517"/>
            </a:solidFill>
            <a:prstDash val="solid"/>
          </a:ln>
        </p:spPr>
      </p:sp>
      <p:sp>
        <p:nvSpPr>
          <p:cNvPr id="7" name="!!e_agent-sql"/>
          <p:cNvSpPr/>
          <p:nvPr/>
        </p:nvSpPr>
        <p:spPr>
          <a:xfrm flipH="1" flipV="1">
            <a:off x="2083154" y="2877342"/>
            <a:ext cx="1663394" cy="642675"/>
          </a:xfrm>
          <a:prstGeom prst="line">
            <a:avLst/>
          </a:prstGeom>
          <a:noFill/>
          <a:ln w="15875">
            <a:solidFill>
              <a:srgbClr val="B4B2A9"/>
            </a:solidFill>
            <a:prstDash val="solid"/>
          </a:ln>
        </p:spPr>
      </p:sp>
      <p:sp>
        <p:nvSpPr>
          <p:cNvPr id="8" name="!!e_agent-code"/>
          <p:cNvSpPr/>
          <p:nvPr/>
        </p:nvSpPr>
        <p:spPr>
          <a:xfrm flipV="1">
            <a:off x="4662275" y="2877342"/>
            <a:ext cx="1663394" cy="642675"/>
          </a:xfrm>
          <a:prstGeom prst="line">
            <a:avLst/>
          </a:prstGeom>
          <a:noFill/>
          <a:ln w="15875">
            <a:solidFill>
              <a:srgbClr val="B4B2A9"/>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4115166" y="3116824"/>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defects queued in one session</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 = [ticket_4521, ticket_4522, ticket_4523]</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32004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44450">
            <a:solidFill>
              <a:srgbClr val="BA7517"/>
            </a:solidFill>
            <a:prstDash val="solid"/>
          </a:ln>
        </p:spPr>
      </p:sp>
      <p:sp>
        <p:nvSpPr>
          <p:cNvPr id="8" name="!!e_agent-code"/>
          <p:cNvSpPr/>
          <p:nvPr/>
        </p:nvSpPr>
        <p:spPr>
          <a:xfrm flipV="1">
            <a:off x="4662275" y="2877342"/>
            <a:ext cx="1663394" cy="642675"/>
          </a:xfrm>
          <a:prstGeom prst="line">
            <a:avLst/>
          </a:prstGeom>
          <a:noFill/>
          <a:ln w="15875">
            <a:solidFill>
              <a:srgbClr val="B4B2A9"/>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1993908" y="2788097"/>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Pulls the whole table to "have a look"</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run_sql("SELECT * ...")</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Unbounded tool output</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15%</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480060"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44450">
            <a:solidFill>
              <a:srgbClr val="BA7517"/>
            </a:solidFill>
            <a:prstDash val="solid"/>
          </a:ln>
        </p:spPr>
      </p:sp>
      <p:sp>
        <p:nvSpPr>
          <p:cNvPr id="8" name="!!e_agent-code"/>
          <p:cNvSpPr/>
          <p:nvPr/>
        </p:nvSpPr>
        <p:spPr>
          <a:xfrm flipV="1">
            <a:off x="4662275" y="2877342"/>
            <a:ext cx="1663394" cy="642675"/>
          </a:xfrm>
          <a:prstGeom prst="line">
            <a:avLst/>
          </a:prstGeom>
          <a:noFill/>
          <a:ln w="15875">
            <a:solidFill>
              <a:srgbClr val="B4B2A9"/>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3657302" y="3430772"/>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50,000 rows land in the context</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  # 30k tokens</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limit on what a tool returns</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43%</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376172"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44450">
            <a:solidFill>
              <a:srgbClr val="BA7517"/>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6236423" y="2788097"/>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Finds the join bug for ticket 4521</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search_code("pd_join")</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49%</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568196" cy="128016"/>
          </a:xfrm>
          <a:prstGeom prst="roundRect">
            <a:avLst>
              <a:gd name="adj" fmla="val 50000"/>
            </a:avLst>
          </a:prstGeom>
          <a:solidFill>
            <a:srgbClr val="1D9E75"/>
          </a:solidFill>
          <a:ln w="12700">
            <a:solidFill>
              <a:srgbClr val="1D9E75"/>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44450">
            <a:solidFill>
              <a:srgbClr val="BA7517"/>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4573030" y="3430772"/>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Bug found, but it switches to ticket 4522</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Task switching inside one context</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55%</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76022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4445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534AB7.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1993908" y="2788097"/>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Queries accounts for 4522</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run_sql(accounts_4522)</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Shared state across tasks</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0</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60%</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192024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4445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15875">
            <a:solidFill>
              <a:srgbClr val="B4B2A9"/>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3657302" y="3430772"/>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7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Now two account lists sit side by side</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messages.append(tool_result)</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Shared state across tasks</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70%</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2240280"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44450">
            <a:solidFill>
              <a:srgbClr val="BA7517"/>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1993908" y="4427251"/>
            <a:ext cx="178491" cy="178491"/>
          </a:xfrm>
          <a:prstGeom prst="ellipse">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8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Tests fix 4521 using 4522 data</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 data_4522)</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Wrong state passed to step</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74%</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2368296"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44450">
            <a:solidFill>
              <a:srgbClr val="A32D2D"/>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3657302" y="3784576"/>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9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 fails</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"fail"}</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2</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78%</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2496312" cy="128016"/>
          </a:xfrm>
          <a:prstGeom prst="roundRect">
            <a:avLst>
              <a:gd name="adj" fmla="val 50000"/>
            </a:avLst>
          </a:prstGeom>
          <a:solidFill>
            <a:srgbClr val="BA7517"/>
          </a:solidFill>
          <a:ln w="12700">
            <a:solidFill>
              <a:srgbClr val="BA7517"/>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44450">
            <a:solidFill>
              <a:srgbClr val="A32D2D"/>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1993908" y="4427251"/>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10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Retries the same fix</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run_tests(fix_4521)  # again</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retry budget</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3</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82%</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2624328"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44450">
            <a:solidFill>
              <a:srgbClr val="A32D2D"/>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3657302" y="3784576"/>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11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Fails again</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"fail"}</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4</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86%</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2752344"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44450">
            <a:solidFill>
              <a:srgbClr val="A32D2D"/>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1993908" y="4427251"/>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12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Edits the test so it passes</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"tool_use" → edit_test()  # marks own homework</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Maker is also the checker</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5</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91%</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2912364"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44450">
            <a:solidFill>
              <a:srgbClr val="A32D2D"/>
            </a:solidFill>
            <a:prstDash val="solid"/>
          </a:ln>
        </p:spPr>
      </p:sp>
      <p:sp>
        <p:nvSpPr>
          <p:cNvPr id="10" name="!!e_agent-human"/>
          <p:cNvSpPr/>
          <p:nvPr/>
        </p:nvSpPr>
        <p:spPr>
          <a:xfrm>
            <a:off x="4662275" y="3873821"/>
            <a:ext cx="1663394" cy="642675"/>
          </a:xfrm>
          <a:prstGeom prst="line">
            <a:avLst/>
          </a:prstGeom>
          <a:noFill/>
          <a:ln w="15875">
            <a:solidFill>
              <a:srgbClr val="B4B2A9"/>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3657302" y="3784576"/>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13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Test "passes"</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{"status": "pass"}  # false green</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Maker is also the checker</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94%</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3008376"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25400">
            <a:solidFill>
              <a:srgbClr val="A32D2D"/>
            </a:solidFill>
            <a:prstDash val="solid"/>
          </a:ln>
        </p:spPr>
      </p:sp>
      <p:sp>
        <p:nvSpPr>
          <p:cNvPr id="10" name="!!e_agent-human"/>
          <p:cNvSpPr/>
          <p:nvPr/>
        </p:nvSpPr>
        <p:spPr>
          <a:xfrm>
            <a:off x="4662275" y="3873821"/>
            <a:ext cx="1663394" cy="642675"/>
          </a:xfrm>
          <a:prstGeom prst="line">
            <a:avLst/>
          </a:prstGeom>
          <a:noFill/>
          <a:ln w="44450">
            <a:solidFill>
              <a:srgbClr val="A32D2D"/>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6236423" y="4427251"/>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14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Sends fix for 4521 with evidence from 4522</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"end_turn" → human_signoff</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 </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6</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97%</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3104388"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25400">
            <a:solidFill>
              <a:srgbClr val="A32D2D"/>
            </a:solidFill>
            <a:prstDash val="solid"/>
          </a:ln>
        </p:spPr>
      </p:sp>
      <p:sp>
        <p:nvSpPr>
          <p:cNvPr id="10" name="!!e_agent-human"/>
          <p:cNvSpPr/>
          <p:nvPr/>
        </p:nvSpPr>
        <p:spPr>
          <a:xfrm>
            <a:off x="4662275" y="3873821"/>
            <a:ext cx="1663394" cy="642675"/>
          </a:xfrm>
          <a:prstGeom prst="line">
            <a:avLst/>
          </a:prstGeom>
          <a:noFill/>
          <a:ln w="44450">
            <a:solidFill>
              <a:srgbClr val="A32D2D"/>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FFFFF"/>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4573030" y="3784576"/>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15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Rejected: evidence does not match ticket</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messages.append(reject_feedback)</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No checkpoint to resume from</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7</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100%</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3200400"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Agents suffer from overload too: the more work one agent carries, the weaker its decisions get. Same agent, same five tools: first one BAU ticket, then three.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e_agent-ticket"/>
          <p:cNvSpPr/>
          <p:nvPr/>
        </p:nvSpPr>
        <p:spPr>
          <a:xfrm>
            <a:off x="4204411" y="2135124"/>
            <a:ext cx="914" cy="1070945"/>
          </a:xfrm>
          <a:prstGeom prst="line">
            <a:avLst/>
          </a:prstGeom>
          <a:noFill/>
          <a:ln w="25400">
            <a:solidFill>
              <a:srgbClr val="BA7517"/>
            </a:solidFill>
            <a:prstDash val="solid"/>
          </a:ln>
        </p:spPr>
      </p:sp>
      <p:sp>
        <p:nvSpPr>
          <p:cNvPr id="7" name="!!e_agent-sql"/>
          <p:cNvSpPr/>
          <p:nvPr/>
        </p:nvSpPr>
        <p:spPr>
          <a:xfrm flipH="1" flipV="1">
            <a:off x="2083154" y="2877342"/>
            <a:ext cx="1663394" cy="642675"/>
          </a:xfrm>
          <a:prstGeom prst="line">
            <a:avLst/>
          </a:prstGeom>
          <a:noFill/>
          <a:ln w="25400">
            <a:solidFill>
              <a:srgbClr val="BA7517"/>
            </a:solidFill>
            <a:prstDash val="solid"/>
          </a:ln>
        </p:spPr>
      </p:sp>
      <p:sp>
        <p:nvSpPr>
          <p:cNvPr id="8" name="!!e_agent-code"/>
          <p:cNvSpPr/>
          <p:nvPr/>
        </p:nvSpPr>
        <p:spPr>
          <a:xfrm flipV="1">
            <a:off x="4662275" y="2877342"/>
            <a:ext cx="1663394" cy="642675"/>
          </a:xfrm>
          <a:prstGeom prst="line">
            <a:avLst/>
          </a:prstGeom>
          <a:noFill/>
          <a:ln w="25400">
            <a:solidFill>
              <a:srgbClr val="BA7517"/>
            </a:solidFill>
            <a:prstDash val="solid"/>
          </a:ln>
        </p:spPr>
      </p:sp>
      <p:sp>
        <p:nvSpPr>
          <p:cNvPr id="9" name="!!e_agent-tests"/>
          <p:cNvSpPr/>
          <p:nvPr/>
        </p:nvSpPr>
        <p:spPr>
          <a:xfrm flipH="1">
            <a:off x="2083154" y="3873821"/>
            <a:ext cx="1663394" cy="642675"/>
          </a:xfrm>
          <a:prstGeom prst="line">
            <a:avLst/>
          </a:prstGeom>
          <a:noFill/>
          <a:ln w="25400">
            <a:solidFill>
              <a:srgbClr val="A32D2D"/>
            </a:solidFill>
            <a:prstDash val="solid"/>
          </a:ln>
        </p:spPr>
      </p:sp>
      <p:sp>
        <p:nvSpPr>
          <p:cNvPr id="10" name="!!e_agent-human"/>
          <p:cNvSpPr/>
          <p:nvPr/>
        </p:nvSpPr>
        <p:spPr>
          <a:xfrm>
            <a:off x="4662275" y="3873821"/>
            <a:ext cx="1663394" cy="642675"/>
          </a:xfrm>
          <a:prstGeom prst="line">
            <a:avLst/>
          </a:prstGeom>
          <a:noFill/>
          <a:ln w="25400">
            <a:solidFill>
              <a:srgbClr val="A32D2D"/>
            </a:solidFill>
            <a:prstDash val="solid"/>
          </a:ln>
        </p:spPr>
      </p:sp>
      <p:sp>
        <p:nvSpPr>
          <p:cNvPr id="11" name="!!e_close-human"/>
          <p:cNvSpPr/>
          <p:nvPr/>
        </p:nvSpPr>
        <p:spPr>
          <a:xfrm>
            <a:off x="6658661" y="5002134"/>
            <a:ext cx="914" cy="401604"/>
          </a:xfrm>
          <a:prstGeom prst="line">
            <a:avLst/>
          </a:prstGeom>
          <a:noFill/>
          <a:ln w="15875">
            <a:solidFill>
              <a:srgbClr val="B4B2A9"/>
            </a:solidFill>
            <a:prstDash val="solid"/>
          </a:ln>
        </p:spPr>
      </p:sp>
      <p:sp>
        <p:nvSpPr>
          <p:cNvPr id="12" name="!!n_ticket"/>
          <p:cNvSpPr/>
          <p:nvPr/>
        </p:nvSpPr>
        <p:spPr>
          <a:xfrm>
            <a:off x="3914364" y="1510406"/>
            <a:ext cx="580095" cy="580095"/>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3" name="!!i_ticket" descr="/tmp/deck-icons/TbTicket_2C2C2A.png">    </p:cNvPr>
          <p:cNvPicPr>
            <a:picLocks noChangeAspect="1"/>
          </p:cNvPicPr>
          <p:nvPr/>
        </p:nvPicPr>
        <p:blipFill>
          <a:blip r:embed="rId1"/>
          <a:stretch>
            <a:fillRect/>
          </a:stretch>
        </p:blipFill>
        <p:spPr>
          <a:xfrm>
            <a:off x="4052136" y="1648179"/>
            <a:ext cx="304550" cy="304550"/>
          </a:xfrm>
          <a:prstGeom prst="rect">
            <a:avLst/>
          </a:prstGeom>
        </p:spPr>
      </p:pic>
      <p:sp>
        <p:nvSpPr>
          <p:cNvPr id="14" name="!!l_ticket"/>
          <p:cNvSpPr txBox="1"/>
          <p:nvPr/>
        </p:nvSpPr>
        <p:spPr>
          <a:xfrm>
            <a:off x="4583704" y="1681582"/>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BAU ticket</a:t>
            </a:r>
            <a:endParaRPr lang="en-US" sz="1100" dirty="0"/>
          </a:p>
        </p:txBody>
      </p:sp>
      <p:sp>
        <p:nvSpPr>
          <p:cNvPr id="15" name="!!n_agent"/>
          <p:cNvSpPr/>
          <p:nvPr/>
        </p:nvSpPr>
        <p:spPr>
          <a:xfrm>
            <a:off x="3758184" y="3250692"/>
            <a:ext cx="892454" cy="892454"/>
          </a:xfrm>
          <a:prstGeom prst="ellipse">
            <a:avLst/>
          </a:prstGeom>
          <a:solidFill>
            <a:srgbClr val="FCEBEB"/>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pic>
        <p:nvPicPr>
          <p:cNvPr id="16" name="!!i_agent" descr="/tmp/deck-icons/TbRobot_A32D2D.png">    </p:cNvPr>
          <p:cNvPicPr>
            <a:picLocks noChangeAspect="1"/>
          </p:cNvPicPr>
          <p:nvPr/>
        </p:nvPicPr>
        <p:blipFill>
          <a:blip r:embed="rId2"/>
          <a:stretch>
            <a:fillRect/>
          </a:stretch>
        </p:blipFill>
        <p:spPr>
          <a:xfrm>
            <a:off x="3970142" y="3462650"/>
            <a:ext cx="468539" cy="468539"/>
          </a:xfrm>
          <a:prstGeom prst="rect">
            <a:avLst/>
          </a:prstGeom>
        </p:spPr>
      </p:pic>
      <p:sp>
        <p:nvSpPr>
          <p:cNvPr id="17" name="!!l_agent"/>
          <p:cNvSpPr txBox="1"/>
          <p:nvPr/>
        </p:nvSpPr>
        <p:spPr>
          <a:xfrm>
            <a:off x="3381451" y="42100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Single agent</a:t>
            </a:r>
            <a:endParaRPr lang="en-US" sz="1100" dirty="0"/>
          </a:p>
        </p:txBody>
      </p:sp>
      <p:sp>
        <p:nvSpPr>
          <p:cNvPr id="18" name="!!n_sql"/>
          <p:cNvSpPr/>
          <p:nvPr/>
        </p:nvSpPr>
        <p:spPr>
          <a:xfrm>
            <a:off x="1437803"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19" name="!!i_sql" descr="/tmp/deck-icons/TbDatabase_2C2C2A.png">    </p:cNvPr>
          <p:cNvPicPr>
            <a:picLocks noChangeAspect="1"/>
          </p:cNvPicPr>
          <p:nvPr/>
        </p:nvPicPr>
        <p:blipFill>
          <a:blip r:embed="rId3"/>
          <a:stretch>
            <a:fillRect/>
          </a:stretch>
        </p:blipFill>
        <p:spPr>
          <a:xfrm>
            <a:off x="1586173" y="2584698"/>
            <a:ext cx="327977" cy="327977"/>
          </a:xfrm>
          <a:prstGeom prst="rect">
            <a:avLst/>
          </a:prstGeom>
        </p:spPr>
      </p:pic>
      <p:sp>
        <p:nvSpPr>
          <p:cNvPr id="20" name="!!l_sql"/>
          <p:cNvSpPr txBox="1"/>
          <p:nvPr/>
        </p:nvSpPr>
        <p:spPr>
          <a:xfrm>
            <a:off x="927202"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SQL</a:t>
            </a:r>
            <a:endParaRPr lang="en-US" sz="1100" dirty="0"/>
          </a:p>
        </p:txBody>
      </p:sp>
      <p:sp>
        <p:nvSpPr>
          <p:cNvPr id="21" name="!!n_code"/>
          <p:cNvSpPr/>
          <p:nvPr/>
        </p:nvSpPr>
        <p:spPr>
          <a:xfrm>
            <a:off x="6346302" y="2436327"/>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2" name="!!i_code" descr="/tmp/deck-icons/TbCode_2C2C2A.png">    </p:cNvPr>
          <p:cNvPicPr>
            <a:picLocks noChangeAspect="1"/>
          </p:cNvPicPr>
          <p:nvPr/>
        </p:nvPicPr>
        <p:blipFill>
          <a:blip r:embed="rId4"/>
          <a:stretch>
            <a:fillRect/>
          </a:stretch>
        </p:blipFill>
        <p:spPr>
          <a:xfrm>
            <a:off x="6494672" y="2584698"/>
            <a:ext cx="327977" cy="327977"/>
          </a:xfrm>
          <a:prstGeom prst="rect">
            <a:avLst/>
          </a:prstGeom>
        </p:spPr>
      </p:pic>
      <p:sp>
        <p:nvSpPr>
          <p:cNvPr id="23" name="!!l_code"/>
          <p:cNvSpPr txBox="1"/>
          <p:nvPr/>
        </p:nvSpPr>
        <p:spPr>
          <a:xfrm>
            <a:off x="5835701" y="3127980"/>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24" name="!!n_tests"/>
          <p:cNvSpPr/>
          <p:nvPr/>
        </p:nvSpPr>
        <p:spPr>
          <a:xfrm>
            <a:off x="1437803"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5" name="!!i_tests" descr="/tmp/deck-icons/TbTestPipe_2C2C2A.png">    </p:cNvPr>
          <p:cNvPicPr>
            <a:picLocks noChangeAspect="1"/>
          </p:cNvPicPr>
          <p:nvPr/>
        </p:nvPicPr>
        <p:blipFill>
          <a:blip r:embed="rId5"/>
          <a:stretch>
            <a:fillRect/>
          </a:stretch>
        </p:blipFill>
        <p:spPr>
          <a:xfrm>
            <a:off x="1586173" y="4481164"/>
            <a:ext cx="327977" cy="327977"/>
          </a:xfrm>
          <a:prstGeom prst="rect">
            <a:avLst/>
          </a:prstGeom>
        </p:spPr>
      </p:pic>
      <p:sp>
        <p:nvSpPr>
          <p:cNvPr id="26" name="!!l_tests"/>
          <p:cNvSpPr txBox="1"/>
          <p:nvPr/>
        </p:nvSpPr>
        <p:spPr>
          <a:xfrm>
            <a:off x="927202" y="5024445"/>
            <a:ext cx="1645920" cy="228600"/>
          </a:xfrm>
          <a:prstGeom prst="rect">
            <a:avLst/>
          </a:prstGeom>
          <a:noFill/>
          <a:ln/>
        </p:spPr>
        <p:txBody>
          <a:bodyPr wrap="square" lIns="0" tIns="0" rIns="0" bIns="0" rtlCol="0" anchor="t"/>
          <a:lstStyle/>
          <a:p>
            <a:pPr algn="ctr" indent="0" marL="0">
              <a:buNone/>
            </a:pPr>
            <a:r>
              <a:rPr lang="en-US" sz="1100" dirty="0">
                <a:solidFill>
                  <a:srgbClr val="2C2C2A"/>
                </a:solidFill>
                <a:latin typeface="Calibri" pitchFamily="34" charset="0"/>
                <a:ea typeface="Calibri" pitchFamily="34" charset="-122"/>
                <a:cs typeface="Calibri" pitchFamily="34" charset="-120"/>
              </a:rPr>
              <a:t>Run tests</a:t>
            </a:r>
            <a:endParaRPr lang="en-US" sz="1100" dirty="0"/>
          </a:p>
        </p:txBody>
      </p:sp>
      <p:sp>
        <p:nvSpPr>
          <p:cNvPr id="27" name="!!n_human"/>
          <p:cNvSpPr/>
          <p:nvPr/>
        </p:nvSpPr>
        <p:spPr>
          <a:xfrm>
            <a:off x="6346302" y="4332793"/>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28" name="!!i_human" descr="/tmp/deck-icons/TbUserCheck_2C2C2A.png">    </p:cNvPr>
          <p:cNvPicPr>
            <a:picLocks noChangeAspect="1"/>
          </p:cNvPicPr>
          <p:nvPr/>
        </p:nvPicPr>
        <p:blipFill>
          <a:blip r:embed="rId6"/>
          <a:stretch>
            <a:fillRect/>
          </a:stretch>
        </p:blipFill>
        <p:spPr>
          <a:xfrm>
            <a:off x="6494672" y="4481164"/>
            <a:ext cx="327977" cy="327977"/>
          </a:xfrm>
          <a:prstGeom prst="rect">
            <a:avLst/>
          </a:prstGeom>
        </p:spPr>
      </p:pic>
      <p:sp>
        <p:nvSpPr>
          <p:cNvPr id="29" name="!!l_human"/>
          <p:cNvSpPr txBox="1"/>
          <p:nvPr/>
        </p:nvSpPr>
        <p:spPr>
          <a:xfrm>
            <a:off x="7060265" y="4526280"/>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sign-off</a:t>
            </a:r>
            <a:endParaRPr lang="en-US" sz="1100" dirty="0"/>
          </a:p>
        </p:txBody>
      </p:sp>
      <p:sp>
        <p:nvSpPr>
          <p:cNvPr id="30" name="!!n_close"/>
          <p:cNvSpPr/>
          <p:nvPr/>
        </p:nvSpPr>
        <p:spPr>
          <a:xfrm>
            <a:off x="6346302" y="5448361"/>
            <a:ext cx="624718" cy="624718"/>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31" name="!!i_close" descr="/tmp/deck-icons/TbCircleCheck_2C2C2A.png">    </p:cNvPr>
          <p:cNvPicPr>
            <a:picLocks noChangeAspect="1"/>
          </p:cNvPicPr>
          <p:nvPr/>
        </p:nvPicPr>
        <p:blipFill>
          <a:blip r:embed="rId7"/>
          <a:stretch>
            <a:fillRect/>
          </a:stretch>
        </p:blipFill>
        <p:spPr>
          <a:xfrm>
            <a:off x="6494672" y="5596732"/>
            <a:ext cx="327977" cy="327977"/>
          </a:xfrm>
          <a:prstGeom prst="rect">
            <a:avLst/>
          </a:prstGeom>
        </p:spPr>
      </p:pic>
      <p:sp>
        <p:nvSpPr>
          <p:cNvPr id="32" name="!!l_close"/>
          <p:cNvSpPr txBox="1"/>
          <p:nvPr/>
        </p:nvSpPr>
        <p:spPr>
          <a:xfrm>
            <a:off x="7060265" y="5641848"/>
            <a:ext cx="1463040" cy="237744"/>
          </a:xfrm>
          <a:prstGeom prst="rect">
            <a:avLst/>
          </a:prstGeom>
          <a:noFill/>
          <a:ln/>
        </p:spPr>
        <p:txBody>
          <a:bodyPr wrap="square" lIns="0" tIns="0" rIns="0" bIns="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Close ticket</a:t>
            </a:r>
            <a:endParaRPr lang="en-US" sz="1100" dirty="0"/>
          </a:p>
        </p:txBody>
      </p:sp>
      <p:sp>
        <p:nvSpPr>
          <p:cNvPr id="33" name="!!dot"/>
          <p:cNvSpPr/>
          <p:nvPr/>
        </p:nvSpPr>
        <p:spPr>
          <a:xfrm>
            <a:off x="4115166" y="3049890"/>
            <a:ext cx="178491" cy="178491"/>
          </a:xfrm>
          <a:prstGeom prst="ellipse">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34" name="!!mode"/>
          <p:cNvSpPr/>
          <p:nvPr/>
        </p:nvSpPr>
        <p:spPr>
          <a:xfrm>
            <a:off x="8549640" y="1371600"/>
            <a:ext cx="2194560" cy="329184"/>
          </a:xfrm>
          <a:prstGeom prst="roundRect">
            <a:avLst>
              <a:gd name="adj" fmla="val 50000"/>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200" b="1" dirty="0">
                <a:solidFill>
                  <a:srgbClr val="791F1F"/>
                </a:solidFill>
                <a:latin typeface="Calibri" pitchFamily="34" charset="0"/>
                <a:ea typeface="Calibri" pitchFamily="34" charset="-122"/>
                <a:cs typeface="Calibri" pitchFamily="34" charset="-120"/>
              </a:rPr>
              <a:t>Chaotic flow · 3 tickets</a:t>
            </a:r>
            <a:endParaRPr lang="en-US" sz="1200" dirty="0"/>
          </a:p>
        </p:txBody>
      </p:sp>
      <p:sp>
        <p:nvSpPr>
          <p:cNvPr id="35" name="!!stepno"/>
          <p:cNvSpPr txBox="1"/>
          <p:nvPr/>
        </p:nvSpPr>
        <p:spPr>
          <a:xfrm>
            <a:off x="8549640" y="1810512"/>
            <a:ext cx="320040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16 of 16</a:t>
            </a:r>
            <a:endParaRPr lang="en-US" sz="1200" dirty="0"/>
          </a:p>
        </p:txBody>
      </p:sp>
      <p:sp>
        <p:nvSpPr>
          <p:cNvPr id="36" name="!!cap"/>
          <p:cNvSpPr txBox="1"/>
          <p:nvPr/>
        </p:nvSpPr>
        <p:spPr>
          <a:xfrm>
            <a:off x="8549640" y="2066544"/>
            <a:ext cx="3200400" cy="86868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Context full. No ticket closed.</a:t>
            </a:r>
            <a:endParaRPr lang="en-US" sz="1800" dirty="0"/>
          </a:p>
        </p:txBody>
      </p:sp>
      <p:sp>
        <p:nvSpPr>
          <p:cNvPr id="37" name="!!code"/>
          <p:cNvSpPr/>
          <p:nvPr/>
        </p:nvSpPr>
        <p:spPr>
          <a:xfrm>
            <a:off x="8549640" y="2980944"/>
            <a:ext cx="3200400" cy="731520"/>
          </a:xfrm>
          <a:prstGeom prst="roundRect">
            <a:avLst>
              <a:gd name="adj" fmla="val 10000"/>
            </a:avLst>
          </a:prstGeom>
          <a:solidFill>
            <a:srgbClr val="F1EFE8"/>
          </a:solidFill>
          <a:ln w="12700">
            <a:solidFill>
              <a:srgbClr val="888780"/>
            </a:solidFill>
            <a:prstDash val="solid"/>
          </a:ln>
        </p:spPr>
        <p:txBody>
          <a:bodyPr wrap="square" lIns="101600" tIns="101600" rIns="101600" bIns="101600" rtlCol="0" anchor="ctr"/>
          <a:lstStyle/>
          <a:p>
            <a:pPr algn="l" indent="0" marL="0">
              <a:buNone/>
            </a:pPr>
            <a:r>
              <a:rPr lang="en-US" sz="1050" dirty="0">
                <a:solidFill>
                  <a:srgbClr val="444441"/>
                </a:solidFill>
                <a:latin typeface="Consolas" pitchFamily="34" charset="0"/>
                <a:ea typeface="Consolas" pitchFamily="34" charset="-122"/>
                <a:cs typeface="Consolas" pitchFamily="34" charset="-120"/>
              </a:rPr>
              <a:t>finish_reason = "max_tokens"  # 3 tickets, 0 fixed</a:t>
            </a:r>
            <a:endParaRPr lang="en-US" sz="1050" dirty="0"/>
          </a:p>
        </p:txBody>
      </p:sp>
      <p:sp>
        <p:nvSpPr>
          <p:cNvPr id="38" name="!!smell"/>
          <p:cNvSpPr txBox="1"/>
          <p:nvPr/>
        </p:nvSpPr>
        <p:spPr>
          <a:xfrm>
            <a:off x="8549640" y="3785616"/>
            <a:ext cx="3200400" cy="320040"/>
          </a:xfrm>
          <a:prstGeom prst="rect">
            <a:avLst/>
          </a:prstGeom>
          <a:noFill/>
          <a:ln/>
        </p:spPr>
        <p:txBody>
          <a:bodyPr wrap="square" lIns="0" tIns="0" rIns="0" bIns="0" rtlCol="0" anchor="t"/>
          <a:lstStyle/>
          <a:p>
            <a:pPr algn="l" indent="0" marL="0">
              <a:buNone/>
            </a:pPr>
            <a:r>
              <a:rPr lang="en-US" sz="1300" b="1" dirty="0">
                <a:solidFill>
                  <a:srgbClr val="A32D2D"/>
                </a:solidFill>
                <a:latin typeface="Calibri" pitchFamily="34" charset="0"/>
                <a:ea typeface="Calibri" pitchFamily="34" charset="-122"/>
                <a:cs typeface="Calibri" pitchFamily="34" charset="-120"/>
              </a:rPr>
              <a:t>Design smell: Single point of failure</a:t>
            </a:r>
            <a:endParaRPr lang="en-US" sz="1300" dirty="0"/>
          </a:p>
        </p:txBody>
      </p:sp>
      <p:sp>
        <p:nvSpPr>
          <p:cNvPr id="39" name="!!stat0"/>
          <p:cNvSpPr/>
          <p:nvPr/>
        </p:nvSpPr>
        <p:spPr>
          <a:xfrm>
            <a:off x="8549640"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LLM calls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9</a:t>
            </a:r>
            <a:endParaRPr lang="en-US" sz="1200" dirty="0"/>
          </a:p>
        </p:txBody>
      </p:sp>
      <p:sp>
        <p:nvSpPr>
          <p:cNvPr id="40" name="!!stat1"/>
          <p:cNvSpPr/>
          <p:nvPr/>
        </p:nvSpPr>
        <p:spPr>
          <a:xfrm>
            <a:off x="9637776"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Wasted loops</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8</a:t>
            </a:r>
            <a:endParaRPr lang="en-US" sz="1200" dirty="0"/>
          </a:p>
        </p:txBody>
      </p:sp>
      <p:sp>
        <p:nvSpPr>
          <p:cNvPr id="41" name="!!stat2"/>
          <p:cNvSpPr/>
          <p:nvPr/>
        </p:nvSpPr>
        <p:spPr>
          <a:xfrm>
            <a:off x="10725912" y="4187952"/>
            <a:ext cx="1005840" cy="731520"/>
          </a:xfrm>
          <a:prstGeom prst="roundRect">
            <a:avLst>
              <a:gd name="adj" fmla="val 10000"/>
            </a:avLst>
          </a:prstGeom>
          <a:solidFill>
            <a:srgbClr val="F1EFE8"/>
          </a:solidFill>
          <a:ln w="12700">
            <a:solidFill>
              <a:srgbClr val="D3D1C7"/>
            </a:solidFill>
            <a:prstDash val="solid"/>
          </a:ln>
        </p:spPr>
        <p:txBody>
          <a:bodyPr wrap="square" lIns="88900" tIns="88900" rIns="88900" bIns="88900" rtlCol="0" anchor="t"/>
          <a:lstStyle/>
          <a:p>
            <a:pPr algn="l" indent="0" marL="0">
              <a:buNone/>
            </a:pPr>
            <a:r>
              <a:rPr lang="en-US" sz="1000" dirty="0">
                <a:solidFill>
                  <a:srgbClr val="5F5E5A"/>
                </a:solidFill>
                <a:latin typeface="Calibri" pitchFamily="34" charset="0"/>
                <a:ea typeface="Calibri" pitchFamily="34" charset="-122"/>
                <a:cs typeface="Calibri" pitchFamily="34" charset="-120"/>
              </a:rPr>
              <a:t>Context used</a:t>
            </a:r>
            <a:endParaRPr lang="en-US" sz="1200" dirty="0"/>
          </a:p>
          <a:p>
            <a:pPr algn="l" indent="0" marL="0">
              <a:buNone/>
            </a:pPr>
            <a:r>
              <a:rPr lang="en-US" sz="2000" b="1" dirty="0">
                <a:solidFill>
                  <a:srgbClr val="2C2C2A"/>
                </a:solidFill>
                <a:latin typeface="Calibri" pitchFamily="34" charset="0"/>
                <a:ea typeface="Calibri" pitchFamily="34" charset="-122"/>
                <a:cs typeface="Calibri" pitchFamily="34" charset="-120"/>
              </a:rPr>
              <a:t>100%</a:t>
            </a:r>
            <a:endParaRPr lang="en-US" sz="1200" dirty="0"/>
          </a:p>
        </p:txBody>
      </p:sp>
      <p:sp>
        <p:nvSpPr>
          <p:cNvPr id="42" name="!!ctxbg"/>
          <p:cNvSpPr/>
          <p:nvPr/>
        </p:nvSpPr>
        <p:spPr>
          <a:xfrm>
            <a:off x="8549640" y="5047488"/>
            <a:ext cx="3200400" cy="128016"/>
          </a:xfrm>
          <a:prstGeom prst="roundRect">
            <a:avLst>
              <a:gd name="adj" fmla="val 50000"/>
            </a:avLst>
          </a:prstGeom>
          <a:solidFill>
            <a:srgbClr val="EEEDE6"/>
          </a:solidFill>
          <a:ln w="12700">
            <a:solidFill>
              <a:srgbClr val="EEEDE6"/>
            </a:solidFill>
            <a:prstDash val="solid"/>
          </a:ln>
        </p:spPr>
        <p:txBody>
          <a:bodyPr wrap="square" lIns="50800" tIns="50800" rIns="50800" bIns="50800" rtlCol="0" anchor="ctr"/>
          <a:lstStyle/>
          <a:p>
            <a:pPr algn="ctr" indent="0" marL="0">
              <a:buNone/>
            </a:pPr>
            <a:endParaRPr lang="en-US" sz="1200" dirty="0"/>
          </a:p>
        </p:txBody>
      </p:sp>
      <p:sp>
        <p:nvSpPr>
          <p:cNvPr id="43" name="!!ctxbar"/>
          <p:cNvSpPr/>
          <p:nvPr/>
        </p:nvSpPr>
        <p:spPr>
          <a:xfrm>
            <a:off x="8549640" y="5047488"/>
            <a:ext cx="3200400" cy="128016"/>
          </a:xfrm>
          <a:prstGeom prst="roundRect">
            <a:avLst>
              <a:gd name="adj" fmla="val 50000"/>
            </a:avLst>
          </a:prstGeom>
          <a:solidFill>
            <a:srgbClr val="A32D2D"/>
          </a:solidFill>
          <a:ln w="127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44" name="!!final"/>
          <p:cNvSpPr/>
          <p:nvPr/>
        </p:nvSpPr>
        <p:spPr>
          <a:xfrm>
            <a:off x="8549640" y="5349240"/>
            <a:ext cx="3200400" cy="640080"/>
          </a:xfrm>
          <a:prstGeom prst="roundRect">
            <a:avLst>
              <a:gd name="adj" fmla="val 11429"/>
            </a:avLst>
          </a:prstGeom>
          <a:solidFill>
            <a:srgbClr val="FCEBEB"/>
          </a:solidFill>
          <a:ln w="12700">
            <a:solidFill>
              <a:srgbClr val="A32D2D"/>
            </a:solidFill>
            <a:prstDash val="solid"/>
          </a:ln>
        </p:spPr>
        <p:txBody>
          <a:bodyPr wrap="square" lIns="127000" tIns="127000" rIns="127000" bIns="127000" rtlCol="0" anchor="ctr"/>
          <a:lstStyle/>
          <a:p>
            <a:pPr algn="l" indent="0" marL="0">
              <a:buNone/>
            </a:pPr>
            <a:r>
              <a:rPr lang="en-US" sz="1300" b="1" dirty="0">
                <a:solidFill>
                  <a:srgbClr val="791F1F"/>
                </a:solidFill>
                <a:latin typeface="Calibri" pitchFamily="34" charset="0"/>
                <a:ea typeface="Calibri" pitchFamily="34" charset="-122"/>
                <a:cs typeface="Calibri" pitchFamily="34" charset="-120"/>
              </a:rPr>
              <a:t>3 tickets, 0 fixed. The model didn't get worse; the design did.</a:t>
            </a:r>
            <a:endParaRPr lang="en-US" sz="13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 – Part 2</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Thinking, acting and checking are mixed together in one loop. Sort the same messages by job and three separate responsibilities appear.</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hdm"/>
          <p:cNvSpPr txBox="1"/>
          <p:nvPr/>
        </p:nvSpPr>
        <p:spPr>
          <a:xfrm>
            <a:off x="548640" y="1344168"/>
            <a:ext cx="694944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One agent, one context window  ·  time flows down ↓</a:t>
            </a:r>
            <a:endParaRPr lang="en-US" sz="1200" dirty="0"/>
          </a:p>
        </p:txBody>
      </p:sp>
      <p:sp>
        <p:nvSpPr>
          <p:cNvPr id="7" name="!!blk01"/>
          <p:cNvSpPr/>
          <p:nvPr/>
        </p:nvSpPr>
        <p:spPr>
          <a:xfrm>
            <a:off x="548640" y="1645920"/>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8" name="!!tag01"/>
          <p:cNvSpPr txBox="1"/>
          <p:nvPr/>
        </p:nvSpPr>
        <p:spPr>
          <a:xfrm>
            <a:off x="6035040" y="164592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9" name="!!blk02"/>
          <p:cNvSpPr/>
          <p:nvPr/>
        </p:nvSpPr>
        <p:spPr>
          <a:xfrm>
            <a:off x="548640" y="1915668"/>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10" name="!!tag02"/>
          <p:cNvSpPr txBox="1"/>
          <p:nvPr/>
        </p:nvSpPr>
        <p:spPr>
          <a:xfrm>
            <a:off x="6035040" y="1915668"/>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1" name="!!blk03"/>
          <p:cNvSpPr/>
          <p:nvPr/>
        </p:nvSpPr>
        <p:spPr>
          <a:xfrm>
            <a:off x="548640" y="2185416"/>
            <a:ext cx="6949440" cy="457200"/>
          </a:xfrm>
          <a:prstGeom prst="roundRect">
            <a:avLst>
              <a:gd name="adj" fmla="val 1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12" name="!!tag03"/>
          <p:cNvSpPr txBox="1"/>
          <p:nvPr/>
        </p:nvSpPr>
        <p:spPr>
          <a:xfrm>
            <a:off x="6035040" y="2185416"/>
            <a:ext cx="1371600" cy="4572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13" name="!!blk04"/>
          <p:cNvSpPr/>
          <p:nvPr/>
        </p:nvSpPr>
        <p:spPr>
          <a:xfrm>
            <a:off x="548640" y="2683764"/>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4" name="!!tag04"/>
          <p:cNvSpPr txBox="1"/>
          <p:nvPr/>
        </p:nvSpPr>
        <p:spPr>
          <a:xfrm>
            <a:off x="6035040" y="2683764"/>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5" name="!!blk05"/>
          <p:cNvSpPr/>
          <p:nvPr/>
        </p:nvSpPr>
        <p:spPr>
          <a:xfrm>
            <a:off x="548640" y="2953512"/>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6" name="!!tag05"/>
          <p:cNvSpPr txBox="1"/>
          <p:nvPr/>
        </p:nvSpPr>
        <p:spPr>
          <a:xfrm>
            <a:off x="6035040" y="2953512"/>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7" name="!!blk06"/>
          <p:cNvSpPr/>
          <p:nvPr/>
        </p:nvSpPr>
        <p:spPr>
          <a:xfrm>
            <a:off x="548640" y="3223260"/>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8" name="!!tag06"/>
          <p:cNvSpPr txBox="1"/>
          <p:nvPr/>
        </p:nvSpPr>
        <p:spPr>
          <a:xfrm>
            <a:off x="6035040" y="322326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9" name="!!blk07"/>
          <p:cNvSpPr/>
          <p:nvPr/>
        </p:nvSpPr>
        <p:spPr>
          <a:xfrm>
            <a:off x="548640" y="3493008"/>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20" name="!!tag07"/>
          <p:cNvSpPr txBox="1"/>
          <p:nvPr/>
        </p:nvSpPr>
        <p:spPr>
          <a:xfrm>
            <a:off x="6035040" y="3493008"/>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1" name="!!blk08"/>
          <p:cNvSpPr/>
          <p:nvPr/>
        </p:nvSpPr>
        <p:spPr>
          <a:xfrm>
            <a:off x="548640" y="3762756"/>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22" name="!!tag08"/>
          <p:cNvSpPr txBox="1"/>
          <p:nvPr/>
        </p:nvSpPr>
        <p:spPr>
          <a:xfrm>
            <a:off x="6035040" y="3762756"/>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3" name="!!blk09"/>
          <p:cNvSpPr/>
          <p:nvPr/>
        </p:nvSpPr>
        <p:spPr>
          <a:xfrm>
            <a:off x="548640" y="4032504"/>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24" name="!!tag09"/>
          <p:cNvSpPr txBox="1"/>
          <p:nvPr/>
        </p:nvSpPr>
        <p:spPr>
          <a:xfrm>
            <a:off x="6035040" y="4032504"/>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5" name="!!blk10"/>
          <p:cNvSpPr/>
          <p:nvPr/>
        </p:nvSpPr>
        <p:spPr>
          <a:xfrm>
            <a:off x="548640" y="4302252"/>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26" name="!!tag10"/>
          <p:cNvSpPr txBox="1"/>
          <p:nvPr/>
        </p:nvSpPr>
        <p:spPr>
          <a:xfrm>
            <a:off x="6035040" y="4302252"/>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7" name="!!blk11"/>
          <p:cNvSpPr/>
          <p:nvPr/>
        </p:nvSpPr>
        <p:spPr>
          <a:xfrm>
            <a:off x="548640" y="4572000"/>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28" name="!!tag11"/>
          <p:cNvSpPr txBox="1"/>
          <p:nvPr/>
        </p:nvSpPr>
        <p:spPr>
          <a:xfrm>
            <a:off x="6035040" y="457200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9" name="!!blk12"/>
          <p:cNvSpPr/>
          <p:nvPr/>
        </p:nvSpPr>
        <p:spPr>
          <a:xfrm>
            <a:off x="548640" y="4841748"/>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30" name="!!tag12"/>
          <p:cNvSpPr txBox="1"/>
          <p:nvPr/>
        </p:nvSpPr>
        <p:spPr>
          <a:xfrm>
            <a:off x="6035040" y="4841748"/>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31" name="!!blk13"/>
          <p:cNvSpPr/>
          <p:nvPr/>
        </p:nvSpPr>
        <p:spPr>
          <a:xfrm>
            <a:off x="548640" y="5111496"/>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32" name="!!tag13"/>
          <p:cNvSpPr txBox="1"/>
          <p:nvPr/>
        </p:nvSpPr>
        <p:spPr>
          <a:xfrm>
            <a:off x="6035040" y="5111496"/>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33" name="!!blk14"/>
          <p:cNvSpPr/>
          <p:nvPr/>
        </p:nvSpPr>
        <p:spPr>
          <a:xfrm>
            <a:off x="548640" y="5381244"/>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34" name="!!tag14"/>
          <p:cNvSpPr txBox="1"/>
          <p:nvPr/>
        </p:nvSpPr>
        <p:spPr>
          <a:xfrm>
            <a:off x="6035040" y="5381244"/>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end_turn</a:t>
            </a:r>
            <a:endParaRPr lang="en-US" sz="1000" dirty="0"/>
          </a:p>
        </p:txBody>
      </p:sp>
      <p:sp>
        <p:nvSpPr>
          <p:cNvPr id="35" name="!!blk15"/>
          <p:cNvSpPr/>
          <p:nvPr/>
        </p:nvSpPr>
        <p:spPr>
          <a:xfrm>
            <a:off x="548640" y="5650992"/>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36" name="!!tag15"/>
          <p:cNvSpPr txBox="1"/>
          <p:nvPr/>
        </p:nvSpPr>
        <p:spPr>
          <a:xfrm>
            <a:off x="6035040" y="5650992"/>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user</a:t>
            </a:r>
            <a:endParaRPr lang="en-US" sz="1000" dirty="0"/>
          </a:p>
        </p:txBody>
      </p:sp>
      <p:sp>
        <p:nvSpPr>
          <p:cNvPr id="37" name="!!blk16"/>
          <p:cNvSpPr/>
          <p:nvPr/>
        </p:nvSpPr>
        <p:spPr>
          <a:xfrm>
            <a:off x="548640" y="5920740"/>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38" name="!!tag16"/>
          <p:cNvSpPr txBox="1"/>
          <p:nvPr/>
        </p:nvSpPr>
        <p:spPr>
          <a:xfrm>
            <a:off x="6035040" y="592074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max_tokens</a:t>
            </a:r>
            <a:endParaRPr lang="en-US" sz="1000" dirty="0"/>
          </a:p>
        </p:txBody>
      </p:sp>
      <p:sp>
        <p:nvSpPr>
          <p:cNvPr id="39" name="Text 37"/>
          <p:cNvSpPr txBox="1"/>
          <p:nvPr/>
        </p:nvSpPr>
        <p:spPr>
          <a:xfrm>
            <a:off x="7955280" y="164592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40" name="Text 38"/>
          <p:cNvSpPr/>
          <p:nvPr/>
        </p:nvSpPr>
        <p:spPr>
          <a:xfrm>
            <a:off x="7955280" y="217627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41" name="Text 39"/>
          <p:cNvSpPr txBox="1"/>
          <p:nvPr/>
        </p:nvSpPr>
        <p:spPr>
          <a:xfrm>
            <a:off x="8275320" y="212140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42" name="Text 40"/>
          <p:cNvSpPr/>
          <p:nvPr/>
        </p:nvSpPr>
        <p:spPr>
          <a:xfrm>
            <a:off x="7955280" y="274320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43" name="Text 41"/>
          <p:cNvSpPr txBox="1"/>
          <p:nvPr/>
        </p:nvSpPr>
        <p:spPr>
          <a:xfrm>
            <a:off x="8275320" y="268833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44" name="Text 42"/>
          <p:cNvSpPr/>
          <p:nvPr/>
        </p:nvSpPr>
        <p:spPr>
          <a:xfrm>
            <a:off x="7955280" y="331012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45" name="Text 43"/>
          <p:cNvSpPr txBox="1"/>
          <p:nvPr/>
        </p:nvSpPr>
        <p:spPr>
          <a:xfrm>
            <a:off x="8275320" y="325526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46" name="Text 44"/>
          <p:cNvSpPr txBox="1"/>
          <p:nvPr/>
        </p:nvSpPr>
        <p:spPr>
          <a:xfrm>
            <a:off x="7955280" y="393192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 – Part 2</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Thinking, acting and checking are mixed together in one loop. Sort the same messages by job and three separate responsibilities appear.</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lh0"/>
          <p:cNvSpPr txBox="1"/>
          <p:nvPr/>
        </p:nvSpPr>
        <p:spPr>
          <a:xfrm>
            <a:off x="548640" y="1344168"/>
            <a:ext cx="2258568" cy="274320"/>
          </a:xfrm>
          <a:prstGeom prst="rect">
            <a:avLst/>
          </a:prstGeom>
          <a:noFill/>
          <a:ln/>
        </p:spPr>
        <p:txBody>
          <a:bodyPr wrap="square" lIns="0" tIns="0" rIns="0" bIns="0" rtlCol="0" anchor="t"/>
          <a:lstStyle/>
          <a:p>
            <a:pPr algn="ctr" indent="0" marL="0">
              <a:buNone/>
            </a:pPr>
            <a:r>
              <a:rPr lang="en-US" sz="1300" b="1" dirty="0">
                <a:solidFill>
                  <a:srgbClr val="3C3489"/>
                </a:solidFill>
                <a:latin typeface="Calibri" pitchFamily="34" charset="0"/>
                <a:ea typeface="Calibri" pitchFamily="34" charset="-122"/>
                <a:cs typeface="Calibri" pitchFamily="34" charset="-120"/>
              </a:rPr>
              <a:t>Thinking</a:t>
            </a:r>
            <a:endParaRPr lang="en-US" sz="1300" dirty="0"/>
          </a:p>
        </p:txBody>
      </p:sp>
      <p:sp>
        <p:nvSpPr>
          <p:cNvPr id="7" name="!!lh1"/>
          <p:cNvSpPr txBox="1"/>
          <p:nvPr/>
        </p:nvSpPr>
        <p:spPr>
          <a:xfrm>
            <a:off x="2898648" y="1344168"/>
            <a:ext cx="2258568" cy="274320"/>
          </a:xfrm>
          <a:prstGeom prst="rect">
            <a:avLst/>
          </a:prstGeom>
          <a:noFill/>
          <a:ln/>
        </p:spPr>
        <p:txBody>
          <a:bodyPr wrap="square" lIns="0" tIns="0" rIns="0" bIns="0" rtlCol="0" anchor="t"/>
          <a:lstStyle/>
          <a:p>
            <a:pPr algn="ctr" indent="0" marL="0">
              <a:buNone/>
            </a:pPr>
            <a:r>
              <a:rPr lang="en-US" sz="1300" b="1" dirty="0">
                <a:solidFill>
                  <a:srgbClr val="085041"/>
                </a:solidFill>
                <a:latin typeface="Calibri" pitchFamily="34" charset="0"/>
                <a:ea typeface="Calibri" pitchFamily="34" charset="-122"/>
                <a:cs typeface="Calibri" pitchFamily="34" charset="-120"/>
              </a:rPr>
              <a:t>Acting</a:t>
            </a:r>
            <a:endParaRPr lang="en-US" sz="1300" dirty="0"/>
          </a:p>
        </p:txBody>
      </p:sp>
      <p:sp>
        <p:nvSpPr>
          <p:cNvPr id="8" name="!!lh2"/>
          <p:cNvSpPr txBox="1"/>
          <p:nvPr/>
        </p:nvSpPr>
        <p:spPr>
          <a:xfrm>
            <a:off x="5248656" y="1344168"/>
            <a:ext cx="2258568" cy="274320"/>
          </a:xfrm>
          <a:prstGeom prst="rect">
            <a:avLst/>
          </a:prstGeom>
          <a:noFill/>
          <a:ln/>
        </p:spPr>
        <p:txBody>
          <a:bodyPr wrap="square" lIns="0" tIns="0" rIns="0" bIns="0" rtlCol="0" anchor="t"/>
          <a:lstStyle/>
          <a:p>
            <a:pPr algn="ctr" indent="0" marL="0">
              <a:buNone/>
            </a:pPr>
            <a:r>
              <a:rPr lang="en-US" sz="1300" b="1" dirty="0">
                <a:solidFill>
                  <a:srgbClr val="712B13"/>
                </a:solidFill>
                <a:latin typeface="Calibri" pitchFamily="34" charset="0"/>
                <a:ea typeface="Calibri" pitchFamily="34" charset="-122"/>
                <a:cs typeface="Calibri" pitchFamily="34" charset="-120"/>
              </a:rPr>
              <a:t>Checking</a:t>
            </a:r>
            <a:endParaRPr lang="en-US" sz="1300" dirty="0"/>
          </a:p>
        </p:txBody>
      </p:sp>
      <p:sp>
        <p:nvSpPr>
          <p:cNvPr id="9" name="!!blk01"/>
          <p:cNvSpPr/>
          <p:nvPr/>
        </p:nvSpPr>
        <p:spPr>
          <a:xfrm>
            <a:off x="548640" y="1645920"/>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10" name="!!blk02"/>
          <p:cNvSpPr/>
          <p:nvPr/>
        </p:nvSpPr>
        <p:spPr>
          <a:xfrm>
            <a:off x="2898648" y="1915668"/>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11" name="!!blk03"/>
          <p:cNvSpPr/>
          <p:nvPr/>
        </p:nvSpPr>
        <p:spPr>
          <a:xfrm>
            <a:off x="2898648" y="2185416"/>
            <a:ext cx="2258568" cy="457200"/>
          </a:xfrm>
          <a:prstGeom prst="roundRect">
            <a:avLst>
              <a:gd name="adj" fmla="val 1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12" name="!!blk04"/>
          <p:cNvSpPr/>
          <p:nvPr/>
        </p:nvSpPr>
        <p:spPr>
          <a:xfrm>
            <a:off x="548640" y="2683764"/>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3" name="!!blk05"/>
          <p:cNvSpPr/>
          <p:nvPr/>
        </p:nvSpPr>
        <p:spPr>
          <a:xfrm>
            <a:off x="2898648" y="2953512"/>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4" name="!!blk06"/>
          <p:cNvSpPr/>
          <p:nvPr/>
        </p:nvSpPr>
        <p:spPr>
          <a:xfrm>
            <a:off x="548640" y="3223260"/>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5" name="!!blk07"/>
          <p:cNvSpPr/>
          <p:nvPr/>
        </p:nvSpPr>
        <p:spPr>
          <a:xfrm>
            <a:off x="2898648" y="3493008"/>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6" name="!!blk08"/>
          <p:cNvSpPr/>
          <p:nvPr/>
        </p:nvSpPr>
        <p:spPr>
          <a:xfrm>
            <a:off x="2898648" y="3762756"/>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17" name="!!blk09"/>
          <p:cNvSpPr/>
          <p:nvPr/>
        </p:nvSpPr>
        <p:spPr>
          <a:xfrm>
            <a:off x="5248656" y="4032504"/>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18" name="!!blk10"/>
          <p:cNvSpPr/>
          <p:nvPr/>
        </p:nvSpPr>
        <p:spPr>
          <a:xfrm>
            <a:off x="2898648" y="4302252"/>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19" name="!!blk11"/>
          <p:cNvSpPr/>
          <p:nvPr/>
        </p:nvSpPr>
        <p:spPr>
          <a:xfrm>
            <a:off x="5248656" y="4572000"/>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20" name="!!blk12"/>
          <p:cNvSpPr/>
          <p:nvPr/>
        </p:nvSpPr>
        <p:spPr>
          <a:xfrm>
            <a:off x="2898648" y="4841748"/>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21" name="!!blk13"/>
          <p:cNvSpPr/>
          <p:nvPr/>
        </p:nvSpPr>
        <p:spPr>
          <a:xfrm>
            <a:off x="5248656" y="5111496"/>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22" name="!!blk14"/>
          <p:cNvSpPr/>
          <p:nvPr/>
        </p:nvSpPr>
        <p:spPr>
          <a:xfrm>
            <a:off x="548640" y="5381244"/>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23" name="!!blk15"/>
          <p:cNvSpPr/>
          <p:nvPr/>
        </p:nvSpPr>
        <p:spPr>
          <a:xfrm>
            <a:off x="5248656" y="5650992"/>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24" name="!!blk16"/>
          <p:cNvSpPr/>
          <p:nvPr/>
        </p:nvSpPr>
        <p:spPr>
          <a:xfrm>
            <a:off x="548640" y="5920740"/>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25" name="Text 23"/>
          <p:cNvSpPr txBox="1"/>
          <p:nvPr/>
        </p:nvSpPr>
        <p:spPr>
          <a:xfrm>
            <a:off x="7955280" y="164592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26" name="Text 24"/>
          <p:cNvSpPr/>
          <p:nvPr/>
        </p:nvSpPr>
        <p:spPr>
          <a:xfrm>
            <a:off x="7955280" y="217627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27" name="Text 25"/>
          <p:cNvSpPr txBox="1"/>
          <p:nvPr/>
        </p:nvSpPr>
        <p:spPr>
          <a:xfrm>
            <a:off x="8275320" y="212140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28" name="Text 26"/>
          <p:cNvSpPr/>
          <p:nvPr/>
        </p:nvSpPr>
        <p:spPr>
          <a:xfrm>
            <a:off x="7955280" y="274320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29" name="Text 27"/>
          <p:cNvSpPr txBox="1"/>
          <p:nvPr/>
        </p:nvSpPr>
        <p:spPr>
          <a:xfrm>
            <a:off x="8275320" y="268833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30" name="Text 28"/>
          <p:cNvSpPr/>
          <p:nvPr/>
        </p:nvSpPr>
        <p:spPr>
          <a:xfrm>
            <a:off x="7955280" y="331012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31" name="Text 29"/>
          <p:cNvSpPr txBox="1"/>
          <p:nvPr/>
        </p:nvSpPr>
        <p:spPr>
          <a:xfrm>
            <a:off x="8275320" y="325526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32" name="Text 30"/>
          <p:cNvSpPr txBox="1"/>
          <p:nvPr/>
        </p:nvSpPr>
        <p:spPr>
          <a:xfrm>
            <a:off x="7955280" y="393192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
        <p:nvSpPr>
          <p:cNvPr id="33" name="!!take3"/>
          <p:cNvSpPr/>
          <p:nvPr/>
        </p:nvSpPr>
        <p:spPr>
          <a:xfrm>
            <a:off x="7955280" y="4983480"/>
            <a:ext cx="3749040" cy="1005840"/>
          </a:xfrm>
          <a:prstGeom prst="roundRect">
            <a:avLst>
              <a:gd name="adj" fmla="val 10909"/>
            </a:avLst>
          </a:prstGeom>
          <a:solidFill>
            <a:srgbClr val="FAECE7"/>
          </a:solidFill>
          <a:ln w="12700">
            <a:solidFill>
              <a:srgbClr val="993C1D"/>
            </a:solidFill>
            <a:prstDash val="solid"/>
          </a:ln>
        </p:spPr>
        <p:txBody>
          <a:bodyPr wrap="square" lIns="152400" tIns="152400" rIns="152400" bIns="152400" rtlCol="0" anchor="ctr"/>
          <a:lstStyle/>
          <a:p>
            <a:pPr algn="l" indent="0" marL="0">
              <a:buNone/>
            </a:pPr>
            <a:r>
              <a:rPr lang="en-US" sz="1400" b="1" dirty="0">
                <a:solidFill>
                  <a:srgbClr val="712B13"/>
                </a:solidFill>
                <a:latin typeface="Calibri" pitchFamily="34" charset="0"/>
                <a:ea typeface="Calibri" pitchFamily="34" charset="-122"/>
                <a:cs typeface="Calibri" pitchFamily="34" charset="-120"/>
              </a:rPr>
              <a:t>One loop, three jobs, one exit signal. We'd never let the maker check their own work. Why let an agent?</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Failure Modes: What You Observe</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Too much work in one loop shows up as recognisable errors, like picking the wrong tool. They fall into three families: thinking, acting and checking.</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pic>
        <p:nvPicPr>
          <p:cNvPr id="6" name="!!fi0" descr="/tmp/deck-icons/TbBrain_534AB7.png">    </p:cNvPr>
          <p:cNvPicPr>
            <a:picLocks noChangeAspect="1"/>
          </p:cNvPicPr>
          <p:nvPr/>
        </p:nvPicPr>
        <p:blipFill>
          <a:blip r:embed="rId1"/>
          <a:stretch>
            <a:fillRect/>
          </a:stretch>
        </p:blipFill>
        <p:spPr>
          <a:xfrm>
            <a:off x="548640" y="1371600"/>
            <a:ext cx="292608" cy="292608"/>
          </a:xfrm>
          <a:prstGeom prst="rect">
            <a:avLst/>
          </a:prstGeom>
        </p:spPr>
      </p:pic>
      <p:sp>
        <p:nvSpPr>
          <p:cNvPr id="7" name="!!fh0"/>
          <p:cNvSpPr txBox="1"/>
          <p:nvPr/>
        </p:nvSpPr>
        <p:spPr>
          <a:xfrm>
            <a:off x="932688" y="13716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8" name="!!card00"/>
          <p:cNvSpPr/>
          <p:nvPr/>
        </p:nvSpPr>
        <p:spPr>
          <a:xfrm>
            <a:off x="548640" y="182880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9" name="!!ci00" descr="/tmp/deck-icons/TbRouteOff_534AB7.png">    </p:cNvPr>
          <p:cNvPicPr>
            <a:picLocks noChangeAspect="1"/>
          </p:cNvPicPr>
          <p:nvPr/>
        </p:nvPicPr>
        <p:blipFill>
          <a:blip r:embed="rId2"/>
          <a:stretch>
            <a:fillRect/>
          </a:stretch>
        </p:blipFill>
        <p:spPr>
          <a:xfrm>
            <a:off x="731520" y="2011680"/>
            <a:ext cx="274320" cy="274320"/>
          </a:xfrm>
          <a:prstGeom prst="rect">
            <a:avLst/>
          </a:prstGeom>
        </p:spPr>
      </p:pic>
      <p:sp>
        <p:nvSpPr>
          <p:cNvPr id="10" name="!!cn00"/>
          <p:cNvSpPr txBox="1"/>
          <p:nvPr/>
        </p:nvSpPr>
        <p:spPr>
          <a:xfrm>
            <a:off x="1097280" y="199339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11" name="!!cb00"/>
          <p:cNvSpPr txBox="1"/>
          <p:nvPr/>
        </p:nvSpPr>
        <p:spPr>
          <a:xfrm>
            <a:off x="73152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12" name="!!card01"/>
          <p:cNvSpPr/>
          <p:nvPr/>
        </p:nvSpPr>
        <p:spPr>
          <a:xfrm>
            <a:off x="548640" y="384048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ci01" descr="/tmp/deck-icons/TbTool_534AB7.png">    </p:cNvPr>
          <p:cNvPicPr>
            <a:picLocks noChangeAspect="1"/>
          </p:cNvPicPr>
          <p:nvPr/>
        </p:nvPicPr>
        <p:blipFill>
          <a:blip r:embed="rId3"/>
          <a:stretch>
            <a:fillRect/>
          </a:stretch>
        </p:blipFill>
        <p:spPr>
          <a:xfrm>
            <a:off x="731520" y="4023360"/>
            <a:ext cx="274320" cy="274320"/>
          </a:xfrm>
          <a:prstGeom prst="rect">
            <a:avLst/>
          </a:prstGeom>
        </p:spPr>
      </p:pic>
      <p:sp>
        <p:nvSpPr>
          <p:cNvPr id="14" name="!!cn01"/>
          <p:cNvSpPr txBox="1"/>
          <p:nvPr/>
        </p:nvSpPr>
        <p:spPr>
          <a:xfrm>
            <a:off x="1097280" y="400507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5" name="!!cb01"/>
          <p:cNvSpPr txBox="1"/>
          <p:nvPr/>
        </p:nvSpPr>
        <p:spPr>
          <a:xfrm>
            <a:off x="73152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Failure Modes: What You Observe</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Too much work in one loop shows up as recognisable errors, like picking the wrong tool. They fall into three families: thinking, acting and checking.</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pic>
        <p:nvPicPr>
          <p:cNvPr id="6" name="!!fi0" descr="/tmp/deck-icons/TbBrain_534AB7.png">    </p:cNvPr>
          <p:cNvPicPr>
            <a:picLocks noChangeAspect="1"/>
          </p:cNvPicPr>
          <p:nvPr/>
        </p:nvPicPr>
        <p:blipFill>
          <a:blip r:embed="rId1"/>
          <a:stretch>
            <a:fillRect/>
          </a:stretch>
        </p:blipFill>
        <p:spPr>
          <a:xfrm>
            <a:off x="548640" y="1371600"/>
            <a:ext cx="292608" cy="292608"/>
          </a:xfrm>
          <a:prstGeom prst="rect">
            <a:avLst/>
          </a:prstGeom>
        </p:spPr>
      </p:pic>
      <p:sp>
        <p:nvSpPr>
          <p:cNvPr id="7" name="!!fh0"/>
          <p:cNvSpPr txBox="1"/>
          <p:nvPr/>
        </p:nvSpPr>
        <p:spPr>
          <a:xfrm>
            <a:off x="932688" y="13716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8" name="!!card00"/>
          <p:cNvSpPr/>
          <p:nvPr/>
        </p:nvSpPr>
        <p:spPr>
          <a:xfrm>
            <a:off x="548640" y="182880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9" name="!!ci00" descr="/tmp/deck-icons/TbRouteOff_534AB7.png">    </p:cNvPr>
          <p:cNvPicPr>
            <a:picLocks noChangeAspect="1"/>
          </p:cNvPicPr>
          <p:nvPr/>
        </p:nvPicPr>
        <p:blipFill>
          <a:blip r:embed="rId2"/>
          <a:stretch>
            <a:fillRect/>
          </a:stretch>
        </p:blipFill>
        <p:spPr>
          <a:xfrm>
            <a:off x="731520" y="2011680"/>
            <a:ext cx="274320" cy="274320"/>
          </a:xfrm>
          <a:prstGeom prst="rect">
            <a:avLst/>
          </a:prstGeom>
        </p:spPr>
      </p:pic>
      <p:sp>
        <p:nvSpPr>
          <p:cNvPr id="10" name="!!cn00"/>
          <p:cNvSpPr txBox="1"/>
          <p:nvPr/>
        </p:nvSpPr>
        <p:spPr>
          <a:xfrm>
            <a:off x="1097280" y="199339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11" name="!!cb00"/>
          <p:cNvSpPr txBox="1"/>
          <p:nvPr/>
        </p:nvSpPr>
        <p:spPr>
          <a:xfrm>
            <a:off x="73152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12" name="!!card01"/>
          <p:cNvSpPr/>
          <p:nvPr/>
        </p:nvSpPr>
        <p:spPr>
          <a:xfrm>
            <a:off x="548640" y="384048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ci01" descr="/tmp/deck-icons/TbTool_534AB7.png">    </p:cNvPr>
          <p:cNvPicPr>
            <a:picLocks noChangeAspect="1"/>
          </p:cNvPicPr>
          <p:nvPr/>
        </p:nvPicPr>
        <p:blipFill>
          <a:blip r:embed="rId3"/>
          <a:stretch>
            <a:fillRect/>
          </a:stretch>
        </p:blipFill>
        <p:spPr>
          <a:xfrm>
            <a:off x="731520" y="4023360"/>
            <a:ext cx="274320" cy="274320"/>
          </a:xfrm>
          <a:prstGeom prst="rect">
            <a:avLst/>
          </a:prstGeom>
        </p:spPr>
      </p:pic>
      <p:sp>
        <p:nvSpPr>
          <p:cNvPr id="14" name="!!cn01"/>
          <p:cNvSpPr txBox="1"/>
          <p:nvPr/>
        </p:nvSpPr>
        <p:spPr>
          <a:xfrm>
            <a:off x="1097280" y="400507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5" name="!!cb01"/>
          <p:cNvSpPr txBox="1"/>
          <p:nvPr/>
        </p:nvSpPr>
        <p:spPr>
          <a:xfrm>
            <a:off x="73152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6" name="!!fi1" descr="/tmp/deck-icons/TbPlayerPlay_0F6E56.png">    </p:cNvPr>
          <p:cNvPicPr>
            <a:picLocks noChangeAspect="1"/>
          </p:cNvPicPr>
          <p:nvPr/>
        </p:nvPicPr>
        <p:blipFill>
          <a:blip r:embed="rId4"/>
          <a:stretch>
            <a:fillRect/>
          </a:stretch>
        </p:blipFill>
        <p:spPr>
          <a:xfrm>
            <a:off x="4297680" y="1371600"/>
            <a:ext cx="292608" cy="292608"/>
          </a:xfrm>
          <a:prstGeom prst="rect">
            <a:avLst/>
          </a:prstGeom>
        </p:spPr>
      </p:pic>
      <p:sp>
        <p:nvSpPr>
          <p:cNvPr id="17" name="!!fh1"/>
          <p:cNvSpPr txBox="1"/>
          <p:nvPr/>
        </p:nvSpPr>
        <p:spPr>
          <a:xfrm>
            <a:off x="4681728" y="13716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8" name="!!card10"/>
          <p:cNvSpPr/>
          <p:nvPr/>
        </p:nvSpPr>
        <p:spPr>
          <a:xfrm>
            <a:off x="4297680" y="182880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9" name="!!ci10" descr="/tmp/deck-icons/TbRepeat_0F6E56.png">    </p:cNvPr>
          <p:cNvPicPr>
            <a:picLocks noChangeAspect="1"/>
          </p:cNvPicPr>
          <p:nvPr/>
        </p:nvPicPr>
        <p:blipFill>
          <a:blip r:embed="rId5"/>
          <a:stretch>
            <a:fillRect/>
          </a:stretch>
        </p:blipFill>
        <p:spPr>
          <a:xfrm>
            <a:off x="4480560" y="2011680"/>
            <a:ext cx="274320" cy="274320"/>
          </a:xfrm>
          <a:prstGeom prst="rect">
            <a:avLst/>
          </a:prstGeom>
        </p:spPr>
      </p:pic>
      <p:sp>
        <p:nvSpPr>
          <p:cNvPr id="20" name="!!cn10"/>
          <p:cNvSpPr txBox="1"/>
          <p:nvPr/>
        </p:nvSpPr>
        <p:spPr>
          <a:xfrm>
            <a:off x="4846320" y="199339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21" name="!!cb10"/>
          <p:cNvSpPr txBox="1"/>
          <p:nvPr/>
        </p:nvSpPr>
        <p:spPr>
          <a:xfrm>
            <a:off x="448056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22" name="!!card11"/>
          <p:cNvSpPr/>
          <p:nvPr/>
        </p:nvSpPr>
        <p:spPr>
          <a:xfrm>
            <a:off x="4297680" y="384048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3" name="!!ci11" descr="/tmp/deck-icons/TbStack2_0F6E56.png">    </p:cNvPr>
          <p:cNvPicPr>
            <a:picLocks noChangeAspect="1"/>
          </p:cNvPicPr>
          <p:nvPr/>
        </p:nvPicPr>
        <p:blipFill>
          <a:blip r:embed="rId6"/>
          <a:stretch>
            <a:fillRect/>
          </a:stretch>
        </p:blipFill>
        <p:spPr>
          <a:xfrm>
            <a:off x="4480560" y="4023360"/>
            <a:ext cx="274320" cy="274320"/>
          </a:xfrm>
          <a:prstGeom prst="rect">
            <a:avLst/>
          </a:prstGeom>
        </p:spPr>
      </p:pic>
      <p:sp>
        <p:nvSpPr>
          <p:cNvPr id="24" name="!!cn11"/>
          <p:cNvSpPr txBox="1"/>
          <p:nvPr/>
        </p:nvSpPr>
        <p:spPr>
          <a:xfrm>
            <a:off x="4846320" y="400507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5" name="!!cb11"/>
          <p:cNvSpPr txBox="1"/>
          <p:nvPr/>
        </p:nvSpPr>
        <p:spPr>
          <a:xfrm>
            <a:off x="448056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Failure Modes: What You Observe</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Too much work in one loop shows up as recognisable errors, like picking the wrong tool. They fall into three families: thinking, acting and checking.</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pic>
        <p:nvPicPr>
          <p:cNvPr id="6" name="!!fi0" descr="/tmp/deck-icons/TbBrain_534AB7.png">    </p:cNvPr>
          <p:cNvPicPr>
            <a:picLocks noChangeAspect="1"/>
          </p:cNvPicPr>
          <p:nvPr/>
        </p:nvPicPr>
        <p:blipFill>
          <a:blip r:embed="rId1"/>
          <a:stretch>
            <a:fillRect/>
          </a:stretch>
        </p:blipFill>
        <p:spPr>
          <a:xfrm>
            <a:off x="548640" y="1371600"/>
            <a:ext cx="292608" cy="292608"/>
          </a:xfrm>
          <a:prstGeom prst="rect">
            <a:avLst/>
          </a:prstGeom>
        </p:spPr>
      </p:pic>
      <p:sp>
        <p:nvSpPr>
          <p:cNvPr id="7" name="!!fh0"/>
          <p:cNvSpPr txBox="1"/>
          <p:nvPr/>
        </p:nvSpPr>
        <p:spPr>
          <a:xfrm>
            <a:off x="932688" y="13716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8" name="!!card00"/>
          <p:cNvSpPr/>
          <p:nvPr/>
        </p:nvSpPr>
        <p:spPr>
          <a:xfrm>
            <a:off x="548640" y="182880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9" name="!!ci00" descr="/tmp/deck-icons/TbRouteOff_534AB7.png">    </p:cNvPr>
          <p:cNvPicPr>
            <a:picLocks noChangeAspect="1"/>
          </p:cNvPicPr>
          <p:nvPr/>
        </p:nvPicPr>
        <p:blipFill>
          <a:blip r:embed="rId2"/>
          <a:stretch>
            <a:fillRect/>
          </a:stretch>
        </p:blipFill>
        <p:spPr>
          <a:xfrm>
            <a:off x="731520" y="2011680"/>
            <a:ext cx="274320" cy="274320"/>
          </a:xfrm>
          <a:prstGeom prst="rect">
            <a:avLst/>
          </a:prstGeom>
        </p:spPr>
      </p:pic>
      <p:sp>
        <p:nvSpPr>
          <p:cNvPr id="10" name="!!cn00"/>
          <p:cNvSpPr txBox="1"/>
          <p:nvPr/>
        </p:nvSpPr>
        <p:spPr>
          <a:xfrm>
            <a:off x="1097280" y="199339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11" name="!!cb00"/>
          <p:cNvSpPr txBox="1"/>
          <p:nvPr/>
        </p:nvSpPr>
        <p:spPr>
          <a:xfrm>
            <a:off x="73152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12" name="!!card01"/>
          <p:cNvSpPr/>
          <p:nvPr/>
        </p:nvSpPr>
        <p:spPr>
          <a:xfrm>
            <a:off x="548640" y="384048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ci01" descr="/tmp/deck-icons/TbTool_534AB7.png">    </p:cNvPr>
          <p:cNvPicPr>
            <a:picLocks noChangeAspect="1"/>
          </p:cNvPicPr>
          <p:nvPr/>
        </p:nvPicPr>
        <p:blipFill>
          <a:blip r:embed="rId3"/>
          <a:stretch>
            <a:fillRect/>
          </a:stretch>
        </p:blipFill>
        <p:spPr>
          <a:xfrm>
            <a:off x="731520" y="4023360"/>
            <a:ext cx="274320" cy="274320"/>
          </a:xfrm>
          <a:prstGeom prst="rect">
            <a:avLst/>
          </a:prstGeom>
        </p:spPr>
      </p:pic>
      <p:sp>
        <p:nvSpPr>
          <p:cNvPr id="14" name="!!cn01"/>
          <p:cNvSpPr txBox="1"/>
          <p:nvPr/>
        </p:nvSpPr>
        <p:spPr>
          <a:xfrm>
            <a:off x="1097280" y="400507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5" name="!!cb01"/>
          <p:cNvSpPr txBox="1"/>
          <p:nvPr/>
        </p:nvSpPr>
        <p:spPr>
          <a:xfrm>
            <a:off x="73152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6" name="!!fi1" descr="/tmp/deck-icons/TbPlayerPlay_0F6E56.png">    </p:cNvPr>
          <p:cNvPicPr>
            <a:picLocks noChangeAspect="1"/>
          </p:cNvPicPr>
          <p:nvPr/>
        </p:nvPicPr>
        <p:blipFill>
          <a:blip r:embed="rId4"/>
          <a:stretch>
            <a:fillRect/>
          </a:stretch>
        </p:blipFill>
        <p:spPr>
          <a:xfrm>
            <a:off x="4297680" y="1371600"/>
            <a:ext cx="292608" cy="292608"/>
          </a:xfrm>
          <a:prstGeom prst="rect">
            <a:avLst/>
          </a:prstGeom>
        </p:spPr>
      </p:pic>
      <p:sp>
        <p:nvSpPr>
          <p:cNvPr id="17" name="!!fh1"/>
          <p:cNvSpPr txBox="1"/>
          <p:nvPr/>
        </p:nvSpPr>
        <p:spPr>
          <a:xfrm>
            <a:off x="4681728" y="13716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8" name="!!card10"/>
          <p:cNvSpPr/>
          <p:nvPr/>
        </p:nvSpPr>
        <p:spPr>
          <a:xfrm>
            <a:off x="4297680" y="182880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9" name="!!ci10" descr="/tmp/deck-icons/TbRepeat_0F6E56.png">    </p:cNvPr>
          <p:cNvPicPr>
            <a:picLocks noChangeAspect="1"/>
          </p:cNvPicPr>
          <p:nvPr/>
        </p:nvPicPr>
        <p:blipFill>
          <a:blip r:embed="rId5"/>
          <a:stretch>
            <a:fillRect/>
          </a:stretch>
        </p:blipFill>
        <p:spPr>
          <a:xfrm>
            <a:off x="4480560" y="2011680"/>
            <a:ext cx="274320" cy="274320"/>
          </a:xfrm>
          <a:prstGeom prst="rect">
            <a:avLst/>
          </a:prstGeom>
        </p:spPr>
      </p:pic>
      <p:sp>
        <p:nvSpPr>
          <p:cNvPr id="20" name="!!cn10"/>
          <p:cNvSpPr txBox="1"/>
          <p:nvPr/>
        </p:nvSpPr>
        <p:spPr>
          <a:xfrm>
            <a:off x="4846320" y="199339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21" name="!!cb10"/>
          <p:cNvSpPr txBox="1"/>
          <p:nvPr/>
        </p:nvSpPr>
        <p:spPr>
          <a:xfrm>
            <a:off x="448056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22" name="!!card11"/>
          <p:cNvSpPr/>
          <p:nvPr/>
        </p:nvSpPr>
        <p:spPr>
          <a:xfrm>
            <a:off x="4297680" y="384048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3" name="!!ci11" descr="/tmp/deck-icons/TbStack2_0F6E56.png">    </p:cNvPr>
          <p:cNvPicPr>
            <a:picLocks noChangeAspect="1"/>
          </p:cNvPicPr>
          <p:nvPr/>
        </p:nvPicPr>
        <p:blipFill>
          <a:blip r:embed="rId6"/>
          <a:stretch>
            <a:fillRect/>
          </a:stretch>
        </p:blipFill>
        <p:spPr>
          <a:xfrm>
            <a:off x="4480560" y="4023360"/>
            <a:ext cx="274320" cy="274320"/>
          </a:xfrm>
          <a:prstGeom prst="rect">
            <a:avLst/>
          </a:prstGeom>
        </p:spPr>
      </p:pic>
      <p:sp>
        <p:nvSpPr>
          <p:cNvPr id="24" name="!!cn11"/>
          <p:cNvSpPr txBox="1"/>
          <p:nvPr/>
        </p:nvSpPr>
        <p:spPr>
          <a:xfrm>
            <a:off x="4846320" y="400507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5" name="!!cb11"/>
          <p:cNvSpPr txBox="1"/>
          <p:nvPr/>
        </p:nvSpPr>
        <p:spPr>
          <a:xfrm>
            <a:off x="448056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pic>
        <p:nvPicPr>
          <p:cNvPr id="26" name="!!fi2" descr="/tmp/deck-icons/TbChecklist_993C1D.png">    </p:cNvPr>
          <p:cNvPicPr>
            <a:picLocks noChangeAspect="1"/>
          </p:cNvPicPr>
          <p:nvPr/>
        </p:nvPicPr>
        <p:blipFill>
          <a:blip r:embed="rId7"/>
          <a:stretch>
            <a:fillRect/>
          </a:stretch>
        </p:blipFill>
        <p:spPr>
          <a:xfrm>
            <a:off x="8046720" y="1371600"/>
            <a:ext cx="292608" cy="292608"/>
          </a:xfrm>
          <a:prstGeom prst="rect">
            <a:avLst/>
          </a:prstGeom>
        </p:spPr>
      </p:pic>
      <p:sp>
        <p:nvSpPr>
          <p:cNvPr id="27" name="!!fh2"/>
          <p:cNvSpPr txBox="1"/>
          <p:nvPr/>
        </p:nvSpPr>
        <p:spPr>
          <a:xfrm>
            <a:off x="8430768" y="1371600"/>
            <a:ext cx="3182112" cy="310896"/>
          </a:xfrm>
          <a:prstGeom prst="rect">
            <a:avLst/>
          </a:prstGeom>
          <a:noFill/>
          <a:ln/>
        </p:spPr>
        <p:txBody>
          <a:bodyPr wrap="square" lIns="0" tIns="0" rIns="0" bIns="0" rtlCol="0" anchor="ctr"/>
          <a:lstStyle/>
          <a:p>
            <a:pPr algn="l" indent="0" marL="0">
              <a:buNone/>
            </a:pPr>
            <a:r>
              <a:rPr lang="en-US" sz="1700" b="1" dirty="0">
                <a:solidFill>
                  <a:srgbClr val="712B13"/>
                </a:solidFill>
                <a:latin typeface="Calibri" pitchFamily="34" charset="0"/>
                <a:ea typeface="Calibri" pitchFamily="34" charset="-122"/>
                <a:cs typeface="Calibri" pitchFamily="34" charset="-120"/>
              </a:rPr>
              <a:t>Checking failures</a:t>
            </a:r>
            <a:endParaRPr lang="en-US" sz="1700" dirty="0"/>
          </a:p>
        </p:txBody>
      </p:sp>
      <p:sp>
        <p:nvSpPr>
          <p:cNvPr id="28" name="!!card20"/>
          <p:cNvSpPr/>
          <p:nvPr/>
        </p:nvSpPr>
        <p:spPr>
          <a:xfrm>
            <a:off x="8046720" y="1828800"/>
            <a:ext cx="3566160" cy="1874520"/>
          </a:xfrm>
          <a:prstGeom prst="roundRect">
            <a:avLst>
              <a:gd name="adj" fmla="val 68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9" name="!!ci20" descr="/tmp/deck-icons/TbMoodCheck_993C1D.png">    </p:cNvPr>
          <p:cNvPicPr>
            <a:picLocks noChangeAspect="1"/>
          </p:cNvPicPr>
          <p:nvPr/>
        </p:nvPicPr>
        <p:blipFill>
          <a:blip r:embed="rId8"/>
          <a:stretch>
            <a:fillRect/>
          </a:stretch>
        </p:blipFill>
        <p:spPr>
          <a:xfrm>
            <a:off x="8229600" y="2011680"/>
            <a:ext cx="274320" cy="274320"/>
          </a:xfrm>
          <a:prstGeom prst="rect">
            <a:avLst/>
          </a:prstGeom>
        </p:spPr>
      </p:pic>
      <p:sp>
        <p:nvSpPr>
          <p:cNvPr id="30" name="!!cn20"/>
          <p:cNvSpPr txBox="1"/>
          <p:nvPr/>
        </p:nvSpPr>
        <p:spPr>
          <a:xfrm>
            <a:off x="8595360" y="199339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False success</a:t>
            </a:r>
            <a:endParaRPr lang="en-US" sz="1600" dirty="0"/>
          </a:p>
        </p:txBody>
      </p:sp>
      <p:sp>
        <p:nvSpPr>
          <p:cNvPr id="31" name="!!cb20"/>
          <p:cNvSpPr txBox="1"/>
          <p:nvPr/>
        </p:nvSpPr>
        <p:spPr>
          <a:xfrm>
            <a:off x="822960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says "done" when it isn't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grades its own work</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"report sent" but the attachment is empty</a:t>
            </a:r>
            <a:endParaRPr lang="en-US" sz="1400" dirty="0"/>
          </a:p>
        </p:txBody>
      </p:sp>
      <p:sp>
        <p:nvSpPr>
          <p:cNvPr id="32" name="!!card21"/>
          <p:cNvSpPr/>
          <p:nvPr/>
        </p:nvSpPr>
        <p:spPr>
          <a:xfrm>
            <a:off x="8046720" y="3840480"/>
            <a:ext cx="3566160" cy="1874520"/>
          </a:xfrm>
          <a:prstGeom prst="roundRect">
            <a:avLst>
              <a:gd name="adj" fmla="val 68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3" name="!!ci21" descr="/tmp/deck-icons/TbPlayerStop_993C1D.png">    </p:cNvPr>
          <p:cNvPicPr>
            <a:picLocks noChangeAspect="1"/>
          </p:cNvPicPr>
          <p:nvPr/>
        </p:nvPicPr>
        <p:blipFill>
          <a:blip r:embed="rId9"/>
          <a:stretch>
            <a:fillRect/>
          </a:stretch>
        </p:blipFill>
        <p:spPr>
          <a:xfrm>
            <a:off x="8229600" y="4023360"/>
            <a:ext cx="274320" cy="274320"/>
          </a:xfrm>
          <a:prstGeom prst="rect">
            <a:avLst/>
          </a:prstGeom>
        </p:spPr>
      </p:pic>
      <p:sp>
        <p:nvSpPr>
          <p:cNvPr id="34" name="!!cn21"/>
          <p:cNvSpPr txBox="1"/>
          <p:nvPr/>
        </p:nvSpPr>
        <p:spPr>
          <a:xfrm>
            <a:off x="8595360" y="400507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Premature stop</a:t>
            </a:r>
            <a:endParaRPr lang="en-US" sz="1600" dirty="0"/>
          </a:p>
        </p:txBody>
      </p:sp>
      <p:sp>
        <p:nvSpPr>
          <p:cNvPr id="35" name="!!cb21"/>
          <p:cNvSpPr txBox="1"/>
          <p:nvPr/>
        </p:nvSpPr>
        <p:spPr>
          <a:xfrm>
            <a:off x="822960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quits halfway, sounds confident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"stopped talking" read as "finished"</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answers 2 of 5 questions</a:t>
            </a:r>
            <a:endParaRPr lang="en-US" sz="1400" dirty="0"/>
          </a:p>
        </p:txBody>
      </p:sp>
      <p:sp>
        <p:nvSpPr>
          <p:cNvPr id="36" name="!!take4"/>
          <p:cNvSpPr txBox="1"/>
          <p:nvPr/>
        </p:nvSpPr>
        <p:spPr>
          <a:xfrm>
            <a:off x="548640" y="5852160"/>
            <a:ext cx="11064240" cy="411480"/>
          </a:xfrm>
          <a:prstGeom prst="rect">
            <a:avLst/>
          </a:prstGeom>
          <a:noFill/>
          <a:ln/>
        </p:spPr>
        <p:txBody>
          <a:bodyPr wrap="square" lIns="0" tIns="0" rIns="0" bIns="0" rtlCol="0" anchor="t"/>
          <a:lstStyle/>
          <a:p>
            <a:pPr algn="ctr" indent="0" marL="0">
              <a:buNone/>
            </a:pPr>
            <a:r>
              <a:rPr lang="en-US" sz="1700" b="1" i="1" dirty="0">
                <a:solidFill>
                  <a:srgbClr val="2C2C2A"/>
                </a:solidFill>
                <a:latin typeface="Calibri" pitchFamily="34" charset="0"/>
                <a:ea typeface="Calibri" pitchFamily="34" charset="-122"/>
                <a:cs typeface="Calibri" pitchFamily="34" charset="-120"/>
              </a:rPr>
              <a:t>Every failure is one of three jobs going wrong, and every cause is a design choice.</a:t>
            </a:r>
            <a:endParaRPr lang="en-US" sz="17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7"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8"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9" name="!!big"/>
          <p:cNvSpPr/>
          <p:nvPr/>
        </p:nvSpPr>
        <p:spPr>
          <a:xfrm>
            <a:off x="3324758" y="2558491"/>
            <a:ext cx="1510589" cy="1510589"/>
          </a:xfrm>
          <a:prstGeom prst="ellipse">
            <a:avLst/>
          </a:prstGeom>
          <a:solidFill>
            <a:srgbClr val="FFFFFF">
              <a:alpha val="0"/>
            </a:srgbClr>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10" name="!!bigl"/>
          <p:cNvSpPr txBox="1"/>
          <p:nvPr/>
        </p:nvSpPr>
        <p:spPr>
          <a:xfrm>
            <a:off x="4921667" y="2558491"/>
            <a:ext cx="1828800" cy="228600"/>
          </a:xfrm>
          <a:prstGeom prst="rect">
            <a:avLst/>
          </a:prstGeom>
          <a:noFill/>
          <a:ln/>
        </p:spPr>
        <p:txBody>
          <a:bodyPr wrap="square" lIns="0" tIns="0" rIns="0" bIns="0" rtlCol="0" anchor="t"/>
          <a:lstStyle/>
          <a:p>
            <a:pPr algn="l" indent="0" marL="0">
              <a:buNone/>
            </a:pPr>
            <a:r>
              <a:rPr lang="en-US" sz="1100" b="1" dirty="0">
                <a:solidFill>
                  <a:srgbClr val="A32D2D"/>
                </a:solidFill>
                <a:latin typeface="Calibri" pitchFamily="34" charset="0"/>
                <a:ea typeface="Calibri" pitchFamily="34" charset="-122"/>
                <a:cs typeface="Calibri" pitchFamily="34" charset="-120"/>
              </a:rPr>
              <a:t>↻ one loop, one agent</a:t>
            </a:r>
            <a:endParaRPr lang="en-US" sz="1100" dirty="0"/>
          </a:p>
        </p:txBody>
      </p:sp>
      <p:sp>
        <p:nvSpPr>
          <p:cNvPr id="11" name="!!lt0"/>
          <p:cNvSpPr/>
          <p:nvPr/>
        </p:nvSpPr>
        <p:spPr>
          <a:xfrm>
            <a:off x="4080053" y="2083735"/>
            <a:ext cx="914" cy="431597"/>
          </a:xfrm>
          <a:prstGeom prst="line">
            <a:avLst/>
          </a:prstGeom>
          <a:noFill/>
          <a:ln w="15875">
            <a:solidFill>
              <a:srgbClr val="5F5E5A"/>
            </a:solidFill>
            <a:prstDash val="solid"/>
            <a:tailEnd type="triangle"/>
          </a:ln>
        </p:spPr>
      </p:sp>
      <p:sp>
        <p:nvSpPr>
          <p:cNvPr id="12" name="!!fr"/>
          <p:cNvSpPr/>
          <p:nvPr/>
        </p:nvSpPr>
        <p:spPr>
          <a:xfrm>
            <a:off x="5067330" y="3810122"/>
            <a:ext cx="2125614"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finish_reason decides all</a:t>
            </a:r>
            <a:endParaRPr lang="en-US" sz="900" dirty="0"/>
          </a:p>
        </p:txBody>
      </p:sp>
      <p:sp>
        <p:nvSpPr>
          <p:cNvPr id="13" name="!!j0"/>
          <p:cNvSpPr/>
          <p:nvPr/>
        </p:nvSpPr>
        <p:spPr>
          <a:xfrm>
            <a:off x="3515524" y="2911106"/>
            <a:ext cx="481662" cy="481662"/>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tmp/deck-icons/TbBrain_534AB7.png">    </p:cNvPr>
          <p:cNvPicPr>
            <a:picLocks noChangeAspect="1"/>
          </p:cNvPicPr>
          <p:nvPr/>
        </p:nvPicPr>
        <p:blipFill>
          <a:blip r:embed="rId2"/>
          <a:stretch>
            <a:fillRect/>
          </a:stretch>
        </p:blipFill>
        <p:spPr>
          <a:xfrm>
            <a:off x="3611857" y="3007438"/>
            <a:ext cx="288997" cy="288997"/>
          </a:xfrm>
          <a:prstGeom prst="rect">
            <a:avLst/>
          </a:prstGeom>
        </p:spPr>
      </p:pic>
      <p:sp>
        <p:nvSpPr>
          <p:cNvPr id="15" name="!!j1"/>
          <p:cNvSpPr/>
          <p:nvPr/>
        </p:nvSpPr>
        <p:spPr>
          <a:xfrm>
            <a:off x="4162919" y="2911106"/>
            <a:ext cx="481662" cy="481662"/>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6" name="!!ji1" descr="/tmp/deck-icons/TbTool_0F6E56.png">    </p:cNvPr>
          <p:cNvPicPr>
            <a:picLocks noChangeAspect="1"/>
          </p:cNvPicPr>
          <p:nvPr/>
        </p:nvPicPr>
        <p:blipFill>
          <a:blip r:embed="rId3"/>
          <a:stretch>
            <a:fillRect/>
          </a:stretch>
        </p:blipFill>
        <p:spPr>
          <a:xfrm>
            <a:off x="4259252" y="3007438"/>
            <a:ext cx="288997" cy="288997"/>
          </a:xfrm>
          <a:prstGeom prst="rect">
            <a:avLst/>
          </a:prstGeom>
        </p:spPr>
      </p:pic>
      <p:sp>
        <p:nvSpPr>
          <p:cNvPr id="17" name="!!j2"/>
          <p:cNvSpPr/>
          <p:nvPr/>
        </p:nvSpPr>
        <p:spPr>
          <a:xfrm>
            <a:off x="3839222" y="3375072"/>
            <a:ext cx="481662" cy="481662"/>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8" name="!!ji2" descr="/tmp/deck-icons/TbChecklist_993C1D.png">    </p:cNvPr>
          <p:cNvPicPr>
            <a:picLocks noChangeAspect="1"/>
          </p:cNvPicPr>
          <p:nvPr/>
        </p:nvPicPr>
        <p:blipFill>
          <a:blip r:embed="rId4"/>
          <a:stretch>
            <a:fillRect/>
          </a:stretch>
        </p:blipFill>
        <p:spPr>
          <a:xfrm>
            <a:off x="3935554" y="3471405"/>
            <a:ext cx="288997" cy="288997"/>
          </a:xfrm>
          <a:prstGeom prst="rect">
            <a:avLst/>
          </a:prstGeom>
        </p:spPr>
      </p:pic>
      <p:sp>
        <p:nvSpPr>
          <p:cNvPr id="19" name="!!shm"/>
          <p:cNvSpPr/>
          <p:nvPr/>
        </p:nvSpPr>
        <p:spPr>
          <a:xfrm>
            <a:off x="2461565" y="450067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20" name="!!sm0"/>
          <p:cNvSpPr/>
          <p:nvPr/>
        </p:nvSpPr>
        <p:spPr>
          <a:xfrm>
            <a:off x="4080053" y="4090660"/>
            <a:ext cx="914" cy="388437"/>
          </a:xfrm>
          <a:prstGeom prst="line">
            <a:avLst/>
          </a:prstGeom>
          <a:noFill/>
          <a:ln w="15875">
            <a:solidFill>
              <a:srgbClr val="5F5E5A"/>
            </a:solidFill>
            <a:prstDash val="solid"/>
            <a:tailEnd type="triangle"/>
          </a:ln>
        </p:spPr>
      </p:sp>
      <p:sp>
        <p:nvSpPr>
          <p:cNvPr id="21"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1 of 6</a:t>
            </a:r>
            <a:endParaRPr lang="en-US" sz="1200" dirty="0"/>
          </a:p>
        </p:txBody>
      </p:sp>
      <p:sp>
        <p:nvSpPr>
          <p:cNvPr id="22"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A32D2D"/>
                </a:solidFill>
                <a:latin typeface="Calibri" pitchFamily="34" charset="0"/>
                <a:ea typeface="Calibri" pitchFamily="34" charset="-122"/>
                <a:cs typeface="Calibri" pitchFamily="34" charset="-120"/>
              </a:rPr>
              <a:t>Root cause</a:t>
            </a:r>
            <a:endParaRPr lang="en-US" sz="2200" dirty="0"/>
          </a:p>
        </p:txBody>
      </p:sp>
      <p:sp>
        <p:nvSpPr>
          <p:cNvPr id="23"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One agent does thinking, acting and checking, shares one context, and only stops when finish_reason says so.</a:t>
            </a:r>
            <a:endParaRPr lang="en-US" sz="1400" dirty="0"/>
          </a:p>
        </p:txBody>
      </p:sp>
      <p:pic>
        <p:nvPicPr>
          <p:cNvPr id="24" name="!!cki0" descr="/tmp/deck-icons/TbCircle_B4B2A9.png">    </p:cNvPr>
          <p:cNvPicPr>
            <a:picLocks noChangeAspect="1"/>
          </p:cNvPicPr>
          <p:nvPr/>
        </p:nvPicPr>
        <p:blipFill>
          <a:blip r:embed="rId5"/>
          <a:stretch>
            <a:fillRect/>
          </a:stretch>
        </p:blipFill>
        <p:spPr>
          <a:xfrm>
            <a:off x="8092440" y="3419856"/>
            <a:ext cx="256032" cy="256032"/>
          </a:xfrm>
          <a:prstGeom prst="rect">
            <a:avLst/>
          </a:prstGeom>
        </p:spPr>
      </p:pic>
      <p:sp>
        <p:nvSpPr>
          <p:cNvPr id="25"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Separation of concerns</a:t>
            </a:r>
            <a:endParaRPr lang="en-US" sz="1400" dirty="0"/>
          </a:p>
        </p:txBody>
      </p:sp>
      <p:pic>
        <p:nvPicPr>
          <p:cNvPr id="26" name="!!cki1" descr="/tmp/deck-icons/TbCircle_B4B2A9.png">    </p:cNvPr>
          <p:cNvPicPr>
            <a:picLocks noChangeAspect="1"/>
          </p:cNvPicPr>
          <p:nvPr/>
        </p:nvPicPr>
        <p:blipFill>
          <a:blip r:embed="rId6"/>
          <a:stretch>
            <a:fillRect/>
          </a:stretch>
        </p:blipFill>
        <p:spPr>
          <a:xfrm>
            <a:off x="8092440" y="3877056"/>
            <a:ext cx="256032" cy="256032"/>
          </a:xfrm>
          <a:prstGeom prst="rect">
            <a:avLst/>
          </a:prstGeom>
        </p:spPr>
      </p:pic>
      <p:sp>
        <p:nvSpPr>
          <p:cNvPr id="27"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28" name="!!cki2" descr="/tmp/deck-icons/TbCircle_B4B2A9.png">    </p:cNvPr>
          <p:cNvPicPr>
            <a:picLocks noChangeAspect="1"/>
          </p:cNvPicPr>
          <p:nvPr/>
        </p:nvPicPr>
        <p:blipFill>
          <a:blip r:embed="rId7"/>
          <a:stretch>
            <a:fillRect/>
          </a:stretch>
        </p:blipFill>
        <p:spPr>
          <a:xfrm>
            <a:off x="8092440" y="4334256"/>
            <a:ext cx="256032" cy="256032"/>
          </a:xfrm>
          <a:prstGeom prst="rect">
            <a:avLst/>
          </a:prstGeom>
        </p:spPr>
      </p:pic>
      <p:sp>
        <p:nvSpPr>
          <p:cNvPr id="29"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30" name="!!cki3" descr="/tmp/deck-icons/TbCircle_B4B2A9.png">    </p:cNvPr>
          <p:cNvPicPr>
            <a:picLocks noChangeAspect="1"/>
          </p:cNvPicPr>
          <p:nvPr/>
        </p:nvPicPr>
        <p:blipFill>
          <a:blip r:embed="rId8"/>
          <a:stretch>
            <a:fillRect/>
          </a:stretch>
        </p:blipFill>
        <p:spPr>
          <a:xfrm>
            <a:off x="8092440" y="4791456"/>
            <a:ext cx="256032" cy="256032"/>
          </a:xfrm>
          <a:prstGeom prst="rect">
            <a:avLst/>
          </a:prstGeom>
        </p:spPr>
      </p:pic>
      <p:sp>
        <p:nvSpPr>
          <p:cNvPr id="31"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32" name="!!cki4" descr="/tmp/deck-icons/TbCircle_B4B2A9.png">    </p:cNvPr>
          <p:cNvPicPr>
            <a:picLocks noChangeAspect="1"/>
          </p:cNvPicPr>
          <p:nvPr/>
        </p:nvPicPr>
        <p:blipFill>
          <a:blip r:embed="rId9"/>
          <a:stretch>
            <a:fillRect/>
          </a:stretch>
        </p:blipFill>
        <p:spPr>
          <a:xfrm>
            <a:off x="8092440" y="5248656"/>
            <a:ext cx="256032" cy="256032"/>
          </a:xfrm>
          <a:prstGeom prst="rect">
            <a:avLst/>
          </a:prstGeom>
        </p:spPr>
      </p:pic>
      <p:sp>
        <p:nvSpPr>
          <p:cNvPr id="33"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7"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8"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9" name="!!lt1a"/>
          <p:cNvSpPr/>
          <p:nvPr/>
        </p:nvSpPr>
        <p:spPr>
          <a:xfrm flipH="1">
            <a:off x="1727850" y="1803197"/>
            <a:ext cx="2093244" cy="914"/>
          </a:xfrm>
          <a:prstGeom prst="line">
            <a:avLst/>
          </a:prstGeom>
          <a:noFill/>
          <a:ln w="15875">
            <a:solidFill>
              <a:srgbClr val="5F5E5A"/>
            </a:solidFill>
            <a:prstDash val="solid"/>
          </a:ln>
        </p:spPr>
      </p:sp>
      <p:sp>
        <p:nvSpPr>
          <p:cNvPr id="10" name="!!lt1b"/>
          <p:cNvSpPr/>
          <p:nvPr/>
        </p:nvSpPr>
        <p:spPr>
          <a:xfrm>
            <a:off x="1727850" y="1803197"/>
            <a:ext cx="914" cy="1143732"/>
          </a:xfrm>
          <a:prstGeom prst="line">
            <a:avLst/>
          </a:prstGeom>
          <a:noFill/>
          <a:ln w="15875">
            <a:solidFill>
              <a:srgbClr val="5F5E5A"/>
            </a:solidFill>
            <a:prstDash val="solid"/>
            <a:tailEnd type="triangle"/>
          </a:ln>
        </p:spPr>
      </p:sp>
      <p:sp>
        <p:nvSpPr>
          <p:cNvPr id="11" name="!!lpw"/>
          <p:cNvSpPr/>
          <p:nvPr/>
        </p:nvSpPr>
        <p:spPr>
          <a:xfrm>
            <a:off x="2332086" y="3313786"/>
            <a:ext cx="1316370" cy="914"/>
          </a:xfrm>
          <a:prstGeom prst="line">
            <a:avLst/>
          </a:prstGeom>
          <a:noFill/>
          <a:ln w="15875">
            <a:solidFill>
              <a:srgbClr val="5F5E5A"/>
            </a:solidFill>
            <a:prstDash val="solid"/>
            <a:tailEnd type="triangle"/>
          </a:ln>
        </p:spPr>
      </p:sp>
      <p:sp>
        <p:nvSpPr>
          <p:cNvPr id="12" name="!!lwc"/>
          <p:cNvSpPr/>
          <p:nvPr/>
        </p:nvSpPr>
        <p:spPr>
          <a:xfrm>
            <a:off x="4490070" y="3313786"/>
            <a:ext cx="1316370" cy="914"/>
          </a:xfrm>
          <a:prstGeom prst="line">
            <a:avLst/>
          </a:prstGeom>
          <a:noFill/>
          <a:ln w="15875">
            <a:solidFill>
              <a:srgbClr val="5F5E5A"/>
            </a:solidFill>
            <a:prstDash val="solid"/>
            <a:tailEnd type="triangle"/>
          </a:ln>
        </p:spPr>
      </p:sp>
      <p:sp>
        <p:nvSpPr>
          <p:cNvPr id="13" name="!!fb1"/>
          <p:cNvSpPr/>
          <p:nvPr/>
        </p:nvSpPr>
        <p:spPr>
          <a:xfrm flipV="1">
            <a:off x="6238037" y="2644811"/>
            <a:ext cx="914" cy="280538"/>
          </a:xfrm>
          <a:prstGeom prst="line">
            <a:avLst/>
          </a:prstGeom>
          <a:noFill/>
          <a:ln w="15875">
            <a:solidFill>
              <a:srgbClr val="5F5E5A"/>
            </a:solidFill>
            <a:prstDash val="dash"/>
          </a:ln>
        </p:spPr>
      </p:sp>
      <p:sp>
        <p:nvSpPr>
          <p:cNvPr id="14" name="!!fb2"/>
          <p:cNvSpPr/>
          <p:nvPr/>
        </p:nvSpPr>
        <p:spPr>
          <a:xfrm flipH="1">
            <a:off x="2137867" y="2644811"/>
            <a:ext cx="4100170" cy="914"/>
          </a:xfrm>
          <a:prstGeom prst="line">
            <a:avLst/>
          </a:prstGeom>
          <a:noFill/>
          <a:ln w="15875">
            <a:solidFill>
              <a:srgbClr val="5F5E5A"/>
            </a:solidFill>
            <a:prstDash val="dash"/>
          </a:ln>
        </p:spPr>
      </p:sp>
      <p:sp>
        <p:nvSpPr>
          <p:cNvPr id="15" name="!!fb3"/>
          <p:cNvSpPr/>
          <p:nvPr/>
        </p:nvSpPr>
        <p:spPr>
          <a:xfrm>
            <a:off x="2137867" y="2644811"/>
            <a:ext cx="914" cy="302118"/>
          </a:xfrm>
          <a:prstGeom prst="line">
            <a:avLst/>
          </a:prstGeom>
          <a:noFill/>
          <a:ln w="15875">
            <a:solidFill>
              <a:srgbClr val="5F5E5A"/>
            </a:solidFill>
            <a:prstDash val="dash"/>
            <a:tailEnd type="triangle"/>
          </a:ln>
        </p:spPr>
      </p:sp>
      <p:sp>
        <p:nvSpPr>
          <p:cNvPr id="16"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7"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8"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9"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1"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2" name="!!j2"/>
          <p:cNvSpPr/>
          <p:nvPr/>
        </p:nvSpPr>
        <p:spPr>
          <a:xfrm>
            <a:off x="5849600" y="292534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3"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4"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5" name="!!shm"/>
          <p:cNvSpPr/>
          <p:nvPr/>
        </p:nvSpPr>
        <p:spPr>
          <a:xfrm>
            <a:off x="2461565" y="450067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26" name="!!sm10"/>
          <p:cNvSpPr/>
          <p:nvPr/>
        </p:nvSpPr>
        <p:spPr>
          <a:xfrm>
            <a:off x="1922069" y="3961181"/>
            <a:ext cx="1186891" cy="517916"/>
          </a:xfrm>
          <a:prstGeom prst="line">
            <a:avLst/>
          </a:prstGeom>
          <a:noFill/>
          <a:ln w="15875">
            <a:solidFill>
              <a:srgbClr val="5F5E5A"/>
            </a:solidFill>
            <a:prstDash val="solid"/>
            <a:tailEnd type="triangle"/>
          </a:ln>
        </p:spPr>
      </p:sp>
      <p:sp>
        <p:nvSpPr>
          <p:cNvPr id="27" name="!!sm11"/>
          <p:cNvSpPr/>
          <p:nvPr/>
        </p:nvSpPr>
        <p:spPr>
          <a:xfrm>
            <a:off x="4080053" y="3961181"/>
            <a:ext cx="914" cy="517916"/>
          </a:xfrm>
          <a:prstGeom prst="line">
            <a:avLst/>
          </a:prstGeom>
          <a:noFill/>
          <a:ln w="15875">
            <a:solidFill>
              <a:srgbClr val="5F5E5A"/>
            </a:solidFill>
            <a:prstDash val="solid"/>
            <a:tailEnd type="triangle"/>
          </a:ln>
        </p:spPr>
      </p:sp>
      <p:sp>
        <p:nvSpPr>
          <p:cNvPr id="28" name="!!sm12"/>
          <p:cNvSpPr/>
          <p:nvPr/>
        </p:nvSpPr>
        <p:spPr>
          <a:xfrm flipH="1">
            <a:off x="5051146" y="3961181"/>
            <a:ext cx="1186891" cy="517916"/>
          </a:xfrm>
          <a:prstGeom prst="line">
            <a:avLst/>
          </a:prstGeom>
          <a:noFill/>
          <a:ln w="15875">
            <a:solidFill>
              <a:srgbClr val="5F5E5A"/>
            </a:solidFill>
            <a:prstDash val="solid"/>
            <a:tailEnd type="triangle"/>
          </a:ln>
        </p:spPr>
      </p:sp>
      <p:sp>
        <p:nvSpPr>
          <p:cNvPr id="29"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2 of 6</a:t>
            </a:r>
            <a:endParaRPr lang="en-US" sz="1200" dirty="0"/>
          </a:p>
        </p:txBody>
      </p:sp>
      <p:sp>
        <p:nvSpPr>
          <p:cNvPr id="30"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Separation of concerns</a:t>
            </a:r>
            <a:endParaRPr lang="en-US" sz="2200" dirty="0"/>
          </a:p>
        </p:txBody>
      </p:sp>
      <p:sp>
        <p:nvSpPr>
          <p:cNvPr id="31"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Split the three jobs: a Planner thinks, a Worker acts, a Checker checks.</a:t>
            </a:r>
            <a:endParaRPr lang="en-US" sz="1400" dirty="0"/>
          </a:p>
        </p:txBody>
      </p:sp>
      <p:pic>
        <p:nvPicPr>
          <p:cNvPr id="32" name="!!cki0" descr="/tmp/deck-icons/TbCircleCheck_1D9E75.png">    </p:cNvPr>
          <p:cNvPicPr>
            <a:picLocks noChangeAspect="1"/>
          </p:cNvPicPr>
          <p:nvPr/>
        </p:nvPicPr>
        <p:blipFill>
          <a:blip r:embed="rId5"/>
          <a:stretch>
            <a:fillRect/>
          </a:stretch>
        </p:blipFill>
        <p:spPr>
          <a:xfrm>
            <a:off x="8092440" y="3419856"/>
            <a:ext cx="256032" cy="256032"/>
          </a:xfrm>
          <a:prstGeom prst="rect">
            <a:avLst/>
          </a:prstGeom>
        </p:spPr>
      </p:pic>
      <p:sp>
        <p:nvSpPr>
          <p:cNvPr id="33"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4" name="!!cki1" descr="/tmp/deck-icons/TbCircle_B4B2A9.png">    </p:cNvPr>
          <p:cNvPicPr>
            <a:picLocks noChangeAspect="1"/>
          </p:cNvPicPr>
          <p:nvPr/>
        </p:nvPicPr>
        <p:blipFill>
          <a:blip r:embed="rId6"/>
          <a:stretch>
            <a:fillRect/>
          </a:stretch>
        </p:blipFill>
        <p:spPr>
          <a:xfrm>
            <a:off x="8092440" y="3877056"/>
            <a:ext cx="256032" cy="256032"/>
          </a:xfrm>
          <a:prstGeom prst="rect">
            <a:avLst/>
          </a:prstGeom>
        </p:spPr>
      </p:pic>
      <p:sp>
        <p:nvSpPr>
          <p:cNvPr id="35"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36" name="!!cki2" descr="/tmp/deck-icons/TbCircle_B4B2A9.png">    </p:cNvPr>
          <p:cNvPicPr>
            <a:picLocks noChangeAspect="1"/>
          </p:cNvPicPr>
          <p:nvPr/>
        </p:nvPicPr>
        <p:blipFill>
          <a:blip r:embed="rId7"/>
          <a:stretch>
            <a:fillRect/>
          </a:stretch>
        </p:blipFill>
        <p:spPr>
          <a:xfrm>
            <a:off x="8092440" y="4334256"/>
            <a:ext cx="256032" cy="256032"/>
          </a:xfrm>
          <a:prstGeom prst="rect">
            <a:avLst/>
          </a:prstGeom>
        </p:spPr>
      </p:pic>
      <p:sp>
        <p:nvSpPr>
          <p:cNvPr id="37"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38" name="!!cki3" descr="/tmp/deck-icons/TbCircle_B4B2A9.png">    </p:cNvPr>
          <p:cNvPicPr>
            <a:picLocks noChangeAspect="1"/>
          </p:cNvPicPr>
          <p:nvPr/>
        </p:nvPicPr>
        <p:blipFill>
          <a:blip r:embed="rId8"/>
          <a:stretch>
            <a:fillRect/>
          </a:stretch>
        </p:blipFill>
        <p:spPr>
          <a:xfrm>
            <a:off x="8092440" y="4791456"/>
            <a:ext cx="256032" cy="256032"/>
          </a:xfrm>
          <a:prstGeom prst="rect">
            <a:avLst/>
          </a:prstGeom>
        </p:spPr>
      </p:pic>
      <p:sp>
        <p:nvSpPr>
          <p:cNvPr id="39"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40" name="!!cki4" descr="/tmp/deck-icons/TbCircle_B4B2A9.png">    </p:cNvPr>
          <p:cNvPicPr>
            <a:picLocks noChangeAspect="1"/>
          </p:cNvPicPr>
          <p:nvPr/>
        </p:nvPicPr>
        <p:blipFill>
          <a:blip r:embed="rId9"/>
          <a:stretch>
            <a:fillRect/>
          </a:stretch>
        </p:blipFill>
        <p:spPr>
          <a:xfrm>
            <a:off x="8092440" y="5248656"/>
            <a:ext cx="256032" cy="256032"/>
          </a:xfrm>
          <a:prstGeom prst="rect">
            <a:avLst/>
          </a:prstGeom>
        </p:spPr>
      </p:pic>
      <p:sp>
        <p:nvSpPr>
          <p:cNvPr id="41"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7"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8"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9" name="!!lt1a"/>
          <p:cNvSpPr/>
          <p:nvPr/>
        </p:nvSpPr>
        <p:spPr>
          <a:xfrm flipH="1">
            <a:off x="1727850" y="1803197"/>
            <a:ext cx="2093244" cy="914"/>
          </a:xfrm>
          <a:prstGeom prst="line">
            <a:avLst/>
          </a:prstGeom>
          <a:noFill/>
          <a:ln w="15875">
            <a:solidFill>
              <a:srgbClr val="5F5E5A"/>
            </a:solidFill>
            <a:prstDash val="solid"/>
          </a:ln>
        </p:spPr>
      </p:sp>
      <p:sp>
        <p:nvSpPr>
          <p:cNvPr id="10" name="!!lt1b"/>
          <p:cNvSpPr/>
          <p:nvPr/>
        </p:nvSpPr>
        <p:spPr>
          <a:xfrm>
            <a:off x="1727850" y="1803197"/>
            <a:ext cx="914" cy="1143732"/>
          </a:xfrm>
          <a:prstGeom prst="line">
            <a:avLst/>
          </a:prstGeom>
          <a:noFill/>
          <a:ln w="15875">
            <a:solidFill>
              <a:srgbClr val="5F5E5A"/>
            </a:solidFill>
            <a:prstDash val="solid"/>
            <a:tailEnd type="triangle"/>
          </a:ln>
        </p:spPr>
      </p:sp>
      <p:sp>
        <p:nvSpPr>
          <p:cNvPr id="11" name="!!lpw"/>
          <p:cNvSpPr/>
          <p:nvPr/>
        </p:nvSpPr>
        <p:spPr>
          <a:xfrm>
            <a:off x="2332086" y="3313786"/>
            <a:ext cx="1316370" cy="914"/>
          </a:xfrm>
          <a:prstGeom prst="line">
            <a:avLst/>
          </a:prstGeom>
          <a:noFill/>
          <a:ln w="15875">
            <a:solidFill>
              <a:srgbClr val="5F5E5A"/>
            </a:solidFill>
            <a:prstDash val="solid"/>
            <a:tailEnd type="triangle"/>
          </a:ln>
        </p:spPr>
      </p:sp>
      <p:sp>
        <p:nvSpPr>
          <p:cNvPr id="12" name="!!lwc"/>
          <p:cNvSpPr/>
          <p:nvPr/>
        </p:nvSpPr>
        <p:spPr>
          <a:xfrm>
            <a:off x="4490070" y="3313786"/>
            <a:ext cx="1316370" cy="914"/>
          </a:xfrm>
          <a:prstGeom prst="line">
            <a:avLst/>
          </a:prstGeom>
          <a:noFill/>
          <a:ln w="15875">
            <a:solidFill>
              <a:srgbClr val="5F5E5A"/>
            </a:solidFill>
            <a:prstDash val="solid"/>
            <a:tailEnd type="triangle"/>
          </a:ln>
        </p:spPr>
      </p:sp>
      <p:sp>
        <p:nvSpPr>
          <p:cNvPr id="13" name="!!fb1"/>
          <p:cNvSpPr/>
          <p:nvPr/>
        </p:nvSpPr>
        <p:spPr>
          <a:xfrm flipV="1">
            <a:off x="6238037" y="2644811"/>
            <a:ext cx="914" cy="280538"/>
          </a:xfrm>
          <a:prstGeom prst="line">
            <a:avLst/>
          </a:prstGeom>
          <a:noFill/>
          <a:ln w="15875">
            <a:solidFill>
              <a:srgbClr val="5F5E5A"/>
            </a:solidFill>
            <a:prstDash val="dash"/>
          </a:ln>
        </p:spPr>
      </p:sp>
      <p:sp>
        <p:nvSpPr>
          <p:cNvPr id="14" name="!!fb2"/>
          <p:cNvSpPr/>
          <p:nvPr/>
        </p:nvSpPr>
        <p:spPr>
          <a:xfrm flipH="1">
            <a:off x="2137867" y="2644811"/>
            <a:ext cx="4100170" cy="914"/>
          </a:xfrm>
          <a:prstGeom prst="line">
            <a:avLst/>
          </a:prstGeom>
          <a:noFill/>
          <a:ln w="15875">
            <a:solidFill>
              <a:srgbClr val="5F5E5A"/>
            </a:solidFill>
            <a:prstDash val="dash"/>
          </a:ln>
        </p:spPr>
      </p:sp>
      <p:sp>
        <p:nvSpPr>
          <p:cNvPr id="15" name="!!fb3"/>
          <p:cNvSpPr/>
          <p:nvPr/>
        </p:nvSpPr>
        <p:spPr>
          <a:xfrm>
            <a:off x="2137867" y="2644811"/>
            <a:ext cx="914" cy="302118"/>
          </a:xfrm>
          <a:prstGeom prst="line">
            <a:avLst/>
          </a:prstGeom>
          <a:noFill/>
          <a:ln w="15875">
            <a:solidFill>
              <a:srgbClr val="5F5E5A"/>
            </a:solidFill>
            <a:prstDash val="dash"/>
            <a:tailEnd type="triangle"/>
          </a:ln>
        </p:spPr>
      </p:sp>
      <p:sp>
        <p:nvSpPr>
          <p:cNvPr id="16"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7"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8"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9"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1"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2" name="!!j2"/>
          <p:cNvSpPr/>
          <p:nvPr/>
        </p:nvSpPr>
        <p:spPr>
          <a:xfrm>
            <a:off x="5849600" y="292534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3"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4"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5" name="!!own0"/>
          <p:cNvSpPr/>
          <p:nvPr/>
        </p:nvSpPr>
        <p:spPr>
          <a:xfrm>
            <a:off x="1220724" y="452225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6" name="!!owl0"/>
          <p:cNvSpPr/>
          <p:nvPr/>
        </p:nvSpPr>
        <p:spPr>
          <a:xfrm>
            <a:off x="1922069" y="3961181"/>
            <a:ext cx="914" cy="539496"/>
          </a:xfrm>
          <a:prstGeom prst="line">
            <a:avLst/>
          </a:prstGeom>
          <a:noFill/>
          <a:ln w="15875">
            <a:solidFill>
              <a:srgbClr val="5F5E5A"/>
            </a:solidFill>
            <a:prstDash val="solid"/>
            <a:tailEnd type="triangle"/>
          </a:ln>
        </p:spPr>
      </p:sp>
      <p:sp>
        <p:nvSpPr>
          <p:cNvPr id="27" name="!!own1"/>
          <p:cNvSpPr/>
          <p:nvPr/>
        </p:nvSpPr>
        <p:spPr>
          <a:xfrm>
            <a:off x="3378708" y="452225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8" name="!!owl1"/>
          <p:cNvSpPr/>
          <p:nvPr/>
        </p:nvSpPr>
        <p:spPr>
          <a:xfrm>
            <a:off x="4080053" y="3961181"/>
            <a:ext cx="914" cy="539496"/>
          </a:xfrm>
          <a:prstGeom prst="line">
            <a:avLst/>
          </a:prstGeom>
          <a:noFill/>
          <a:ln w="15875">
            <a:solidFill>
              <a:srgbClr val="5F5E5A"/>
            </a:solidFill>
            <a:prstDash val="solid"/>
            <a:tailEnd type="triangle"/>
          </a:ln>
        </p:spPr>
      </p:sp>
      <p:sp>
        <p:nvSpPr>
          <p:cNvPr id="29" name="!!own2"/>
          <p:cNvSpPr/>
          <p:nvPr/>
        </p:nvSpPr>
        <p:spPr>
          <a:xfrm>
            <a:off x="5536692" y="452225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30" name="!!owl2"/>
          <p:cNvSpPr/>
          <p:nvPr/>
        </p:nvSpPr>
        <p:spPr>
          <a:xfrm>
            <a:off x="6238037" y="3961181"/>
            <a:ext cx="914" cy="539496"/>
          </a:xfrm>
          <a:prstGeom prst="line">
            <a:avLst/>
          </a:prstGeom>
          <a:noFill/>
          <a:ln w="15875">
            <a:solidFill>
              <a:srgbClr val="5F5E5A"/>
            </a:solidFill>
            <a:prstDash val="solid"/>
            <a:tailEnd type="triangle"/>
          </a:ln>
        </p:spPr>
      </p:sp>
      <p:sp>
        <p:nvSpPr>
          <p:cNvPr id="31"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3 of 6</a:t>
            </a:r>
            <a:endParaRPr lang="en-US" sz="1200" dirty="0"/>
          </a:p>
        </p:txBody>
      </p:sp>
      <p:sp>
        <p:nvSpPr>
          <p:cNvPr id="32"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Isolated state</a:t>
            </a:r>
            <a:endParaRPr lang="en-US" sz="2200" dirty="0"/>
          </a:p>
        </p:txBody>
      </p:sp>
      <p:sp>
        <p:nvSpPr>
          <p:cNvPr id="33"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part keeps only its own data. The big query result never reaches the Planner.</a:t>
            </a:r>
            <a:endParaRPr lang="en-US" sz="1400" dirty="0"/>
          </a:p>
        </p:txBody>
      </p:sp>
      <p:pic>
        <p:nvPicPr>
          <p:cNvPr id="34" name="!!cki0" descr="/tmp/deck-icons/TbCircleCheck_1D9E75.png">    </p:cNvPr>
          <p:cNvPicPr>
            <a:picLocks noChangeAspect="1"/>
          </p:cNvPicPr>
          <p:nvPr/>
        </p:nvPicPr>
        <p:blipFill>
          <a:blip r:embed="rId5"/>
          <a:stretch>
            <a:fillRect/>
          </a:stretch>
        </p:blipFill>
        <p:spPr>
          <a:xfrm>
            <a:off x="8092440" y="3419856"/>
            <a:ext cx="256032" cy="256032"/>
          </a:xfrm>
          <a:prstGeom prst="rect">
            <a:avLst/>
          </a:prstGeom>
        </p:spPr>
      </p:pic>
      <p:sp>
        <p:nvSpPr>
          <p:cNvPr id="35"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6" name="!!cki1" descr="/tmp/deck-icons/TbCircleCheck_1D9E75.png">    </p:cNvPr>
          <p:cNvPicPr>
            <a:picLocks noChangeAspect="1"/>
          </p:cNvPicPr>
          <p:nvPr/>
        </p:nvPicPr>
        <p:blipFill>
          <a:blip r:embed="rId6"/>
          <a:stretch>
            <a:fillRect/>
          </a:stretch>
        </p:blipFill>
        <p:spPr>
          <a:xfrm>
            <a:off x="8092440" y="3877056"/>
            <a:ext cx="256032" cy="256032"/>
          </a:xfrm>
          <a:prstGeom prst="rect">
            <a:avLst/>
          </a:prstGeom>
        </p:spPr>
      </p:pic>
      <p:sp>
        <p:nvSpPr>
          <p:cNvPr id="37"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38" name="!!cki2" descr="/tmp/deck-icons/TbCircle_B4B2A9.png">    </p:cNvPr>
          <p:cNvPicPr>
            <a:picLocks noChangeAspect="1"/>
          </p:cNvPicPr>
          <p:nvPr/>
        </p:nvPicPr>
        <p:blipFill>
          <a:blip r:embed="rId7"/>
          <a:stretch>
            <a:fillRect/>
          </a:stretch>
        </p:blipFill>
        <p:spPr>
          <a:xfrm>
            <a:off x="8092440" y="4334256"/>
            <a:ext cx="256032" cy="256032"/>
          </a:xfrm>
          <a:prstGeom prst="rect">
            <a:avLst/>
          </a:prstGeom>
        </p:spPr>
      </p:pic>
      <p:sp>
        <p:nvSpPr>
          <p:cNvPr id="39"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40" name="!!cki3" descr="/tmp/deck-icons/TbCircle_B4B2A9.png">    </p:cNvPr>
          <p:cNvPicPr>
            <a:picLocks noChangeAspect="1"/>
          </p:cNvPicPr>
          <p:nvPr/>
        </p:nvPicPr>
        <p:blipFill>
          <a:blip r:embed="rId8"/>
          <a:stretch>
            <a:fillRect/>
          </a:stretch>
        </p:blipFill>
        <p:spPr>
          <a:xfrm>
            <a:off x="8092440" y="4791456"/>
            <a:ext cx="256032" cy="256032"/>
          </a:xfrm>
          <a:prstGeom prst="rect">
            <a:avLst/>
          </a:prstGeom>
        </p:spPr>
      </p:pic>
      <p:sp>
        <p:nvSpPr>
          <p:cNvPr id="41"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42" name="!!cki4" descr="/tmp/deck-icons/TbCircle_B4B2A9.png">    </p:cNvPr>
          <p:cNvPicPr>
            <a:picLocks noChangeAspect="1"/>
          </p:cNvPicPr>
          <p:nvPr/>
        </p:nvPicPr>
        <p:blipFill>
          <a:blip r:embed="rId9"/>
          <a:stretch>
            <a:fillRect/>
          </a:stretch>
        </p:blipFill>
        <p:spPr>
          <a:xfrm>
            <a:off x="8092440" y="5248656"/>
            <a:ext cx="256032" cy="256032"/>
          </a:xfrm>
          <a:prstGeom prst="rect">
            <a:avLst/>
          </a:prstGeom>
        </p:spPr>
      </p:pic>
      <p:sp>
        <p:nvSpPr>
          <p:cNvPr id="43"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7"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8"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9" name="!!lt1a"/>
          <p:cNvSpPr/>
          <p:nvPr/>
        </p:nvSpPr>
        <p:spPr>
          <a:xfrm flipH="1">
            <a:off x="1727850" y="1803197"/>
            <a:ext cx="2093244" cy="914"/>
          </a:xfrm>
          <a:prstGeom prst="line">
            <a:avLst/>
          </a:prstGeom>
          <a:noFill/>
          <a:ln w="15875">
            <a:solidFill>
              <a:srgbClr val="5F5E5A"/>
            </a:solidFill>
            <a:prstDash val="solid"/>
          </a:ln>
        </p:spPr>
      </p:sp>
      <p:sp>
        <p:nvSpPr>
          <p:cNvPr id="10" name="!!lt1b"/>
          <p:cNvSpPr/>
          <p:nvPr/>
        </p:nvSpPr>
        <p:spPr>
          <a:xfrm>
            <a:off x="1727850" y="1803197"/>
            <a:ext cx="914" cy="1143732"/>
          </a:xfrm>
          <a:prstGeom prst="line">
            <a:avLst/>
          </a:prstGeom>
          <a:noFill/>
          <a:ln w="15875">
            <a:solidFill>
              <a:srgbClr val="5F5E5A"/>
            </a:solidFill>
            <a:prstDash val="solid"/>
            <a:tailEnd type="triangle"/>
          </a:ln>
        </p:spPr>
      </p:sp>
      <p:sp>
        <p:nvSpPr>
          <p:cNvPr id="11" name="!!lpw"/>
          <p:cNvSpPr/>
          <p:nvPr/>
        </p:nvSpPr>
        <p:spPr>
          <a:xfrm>
            <a:off x="2332086" y="3313786"/>
            <a:ext cx="1316370" cy="914"/>
          </a:xfrm>
          <a:prstGeom prst="line">
            <a:avLst/>
          </a:prstGeom>
          <a:noFill/>
          <a:ln w="15875">
            <a:solidFill>
              <a:srgbClr val="5F5E5A"/>
            </a:solidFill>
            <a:prstDash val="solid"/>
            <a:tailEnd type="triangle"/>
          </a:ln>
        </p:spPr>
      </p:sp>
      <p:sp>
        <p:nvSpPr>
          <p:cNvPr id="12" name="!!lwc"/>
          <p:cNvSpPr/>
          <p:nvPr/>
        </p:nvSpPr>
        <p:spPr>
          <a:xfrm>
            <a:off x="4490070" y="3313786"/>
            <a:ext cx="1316370" cy="914"/>
          </a:xfrm>
          <a:prstGeom prst="line">
            <a:avLst/>
          </a:prstGeom>
          <a:noFill/>
          <a:ln w="15875">
            <a:solidFill>
              <a:srgbClr val="5F5E5A"/>
            </a:solidFill>
            <a:prstDash val="solid"/>
            <a:tailEnd type="triangle"/>
          </a:ln>
        </p:spPr>
      </p:sp>
      <p:sp>
        <p:nvSpPr>
          <p:cNvPr id="13" name="!!fb1"/>
          <p:cNvSpPr/>
          <p:nvPr/>
        </p:nvSpPr>
        <p:spPr>
          <a:xfrm flipV="1">
            <a:off x="6238037" y="2644811"/>
            <a:ext cx="914" cy="280538"/>
          </a:xfrm>
          <a:prstGeom prst="line">
            <a:avLst/>
          </a:prstGeom>
          <a:noFill/>
          <a:ln w="15875">
            <a:solidFill>
              <a:srgbClr val="5F5E5A"/>
            </a:solidFill>
            <a:prstDash val="dash"/>
          </a:ln>
        </p:spPr>
      </p:sp>
      <p:sp>
        <p:nvSpPr>
          <p:cNvPr id="14" name="!!fb2"/>
          <p:cNvSpPr/>
          <p:nvPr/>
        </p:nvSpPr>
        <p:spPr>
          <a:xfrm flipH="1">
            <a:off x="2137867" y="2644811"/>
            <a:ext cx="4100170" cy="914"/>
          </a:xfrm>
          <a:prstGeom prst="line">
            <a:avLst/>
          </a:prstGeom>
          <a:noFill/>
          <a:ln w="15875">
            <a:solidFill>
              <a:srgbClr val="5F5E5A"/>
            </a:solidFill>
            <a:prstDash val="dash"/>
          </a:ln>
        </p:spPr>
      </p:sp>
      <p:sp>
        <p:nvSpPr>
          <p:cNvPr id="15" name="!!fb3"/>
          <p:cNvSpPr/>
          <p:nvPr/>
        </p:nvSpPr>
        <p:spPr>
          <a:xfrm>
            <a:off x="2137867" y="2644811"/>
            <a:ext cx="914" cy="302118"/>
          </a:xfrm>
          <a:prstGeom prst="line">
            <a:avLst/>
          </a:prstGeom>
          <a:noFill/>
          <a:ln w="15875">
            <a:solidFill>
              <a:srgbClr val="5F5E5A"/>
            </a:solidFill>
            <a:prstDash val="dash"/>
            <a:tailEnd type="triangle"/>
          </a:ln>
        </p:spPr>
      </p:sp>
      <p:sp>
        <p:nvSpPr>
          <p:cNvPr id="16"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7"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8"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9"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1"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2" name="!!j2"/>
          <p:cNvSpPr/>
          <p:nvPr/>
        </p:nvSpPr>
        <p:spPr>
          <a:xfrm>
            <a:off x="5849600" y="2925348"/>
            <a:ext cx="776874" cy="776874"/>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3"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4"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5" name="!!own0"/>
          <p:cNvSpPr/>
          <p:nvPr/>
        </p:nvSpPr>
        <p:spPr>
          <a:xfrm>
            <a:off x="1220724" y="452225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6" name="!!owl0"/>
          <p:cNvSpPr/>
          <p:nvPr/>
        </p:nvSpPr>
        <p:spPr>
          <a:xfrm>
            <a:off x="1922069" y="3961181"/>
            <a:ext cx="914" cy="539496"/>
          </a:xfrm>
          <a:prstGeom prst="line">
            <a:avLst/>
          </a:prstGeom>
          <a:noFill/>
          <a:ln w="15875">
            <a:solidFill>
              <a:srgbClr val="5F5E5A"/>
            </a:solidFill>
            <a:prstDash val="solid"/>
            <a:tailEnd type="triangle"/>
          </a:ln>
        </p:spPr>
      </p:sp>
      <p:sp>
        <p:nvSpPr>
          <p:cNvPr id="27" name="!!own1"/>
          <p:cNvSpPr/>
          <p:nvPr/>
        </p:nvSpPr>
        <p:spPr>
          <a:xfrm>
            <a:off x="3378708" y="452225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8" name="!!owl1"/>
          <p:cNvSpPr/>
          <p:nvPr/>
        </p:nvSpPr>
        <p:spPr>
          <a:xfrm>
            <a:off x="4080053" y="3961181"/>
            <a:ext cx="914" cy="539496"/>
          </a:xfrm>
          <a:prstGeom prst="line">
            <a:avLst/>
          </a:prstGeom>
          <a:noFill/>
          <a:ln w="15875">
            <a:solidFill>
              <a:srgbClr val="5F5E5A"/>
            </a:solidFill>
            <a:prstDash val="solid"/>
            <a:tailEnd type="triangle"/>
          </a:ln>
        </p:spPr>
      </p:sp>
      <p:sp>
        <p:nvSpPr>
          <p:cNvPr id="29" name="!!own2"/>
          <p:cNvSpPr/>
          <p:nvPr/>
        </p:nvSpPr>
        <p:spPr>
          <a:xfrm>
            <a:off x="5536692" y="452225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30" name="!!owl2"/>
          <p:cNvSpPr/>
          <p:nvPr/>
        </p:nvSpPr>
        <p:spPr>
          <a:xfrm>
            <a:off x="6238037" y="3961181"/>
            <a:ext cx="914" cy="539496"/>
          </a:xfrm>
          <a:prstGeom prst="line">
            <a:avLst/>
          </a:prstGeom>
          <a:noFill/>
          <a:ln w="15875">
            <a:solidFill>
              <a:srgbClr val="5F5E5A"/>
            </a:solidFill>
            <a:prstDash val="solid"/>
            <a:tailEnd type="triangle"/>
          </a:ln>
        </p:spPr>
      </p:sp>
      <p:sp>
        <p:nvSpPr>
          <p:cNvPr id="31" name="!!retry"/>
          <p:cNvSpPr/>
          <p:nvPr/>
        </p:nvSpPr>
        <p:spPr>
          <a:xfrm>
            <a:off x="4603364" y="404750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32" name="!!flag0" descr="/tmp/deck-icons/TbFlag_5F5E5A.png">    </p:cNvPr>
          <p:cNvPicPr>
            <a:picLocks noChangeAspect="1"/>
          </p:cNvPicPr>
          <p:nvPr/>
        </p:nvPicPr>
        <p:blipFill>
          <a:blip r:embed="rId5"/>
          <a:stretch>
            <a:fillRect/>
          </a:stretch>
        </p:blipFill>
        <p:spPr>
          <a:xfrm>
            <a:off x="2903952" y="3486424"/>
            <a:ext cx="194219" cy="194219"/>
          </a:xfrm>
          <a:prstGeom prst="rect">
            <a:avLst/>
          </a:prstGeom>
        </p:spPr>
      </p:pic>
      <p:pic>
        <p:nvPicPr>
          <p:cNvPr id="33" name="!!flag1" descr="/tmp/deck-icons/TbFlag_5F5E5A.png">    </p:cNvPr>
          <p:cNvPicPr>
            <a:picLocks noChangeAspect="1"/>
          </p:cNvPicPr>
          <p:nvPr/>
        </p:nvPicPr>
        <p:blipFill>
          <a:blip r:embed="rId6"/>
          <a:stretch>
            <a:fillRect/>
          </a:stretch>
        </p:blipFill>
        <p:spPr>
          <a:xfrm>
            <a:off x="5061936" y="3486424"/>
            <a:ext cx="194219" cy="194219"/>
          </a:xfrm>
          <a:prstGeom prst="rect">
            <a:avLst/>
          </a:prstGeom>
        </p:spPr>
      </p:pic>
      <p:sp>
        <p:nvSpPr>
          <p:cNvPr id="34"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4 of 6</a:t>
            </a:r>
            <a:endParaRPr lang="en-US" sz="1200" dirty="0"/>
          </a:p>
        </p:txBody>
      </p:sp>
      <p:sp>
        <p:nvSpPr>
          <p:cNvPr id="35"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Bounded execution</a:t>
            </a:r>
            <a:endParaRPr lang="en-US" sz="2200" dirty="0"/>
          </a:p>
        </p:txBody>
      </p:sp>
      <p:sp>
        <p:nvSpPr>
          <p:cNvPr id="36"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Retry limits and checkpoints. A failure stops or resumes from a checkpoint; it doesn't loop.</a:t>
            </a:r>
            <a:endParaRPr lang="en-US" sz="1400" dirty="0"/>
          </a:p>
        </p:txBody>
      </p:sp>
      <p:pic>
        <p:nvPicPr>
          <p:cNvPr id="37" name="!!cki0" descr="/tmp/deck-icons/TbCircleCheck_1D9E75.png">    </p:cNvPr>
          <p:cNvPicPr>
            <a:picLocks noChangeAspect="1"/>
          </p:cNvPicPr>
          <p:nvPr/>
        </p:nvPicPr>
        <p:blipFill>
          <a:blip r:embed="rId7"/>
          <a:stretch>
            <a:fillRect/>
          </a:stretch>
        </p:blipFill>
        <p:spPr>
          <a:xfrm>
            <a:off x="8092440" y="3419856"/>
            <a:ext cx="256032" cy="256032"/>
          </a:xfrm>
          <a:prstGeom prst="rect">
            <a:avLst/>
          </a:prstGeom>
        </p:spPr>
      </p:pic>
      <p:sp>
        <p:nvSpPr>
          <p:cNvPr id="38"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39" name="!!cki1" descr="/tmp/deck-icons/TbCircleCheck_1D9E75.png">    </p:cNvPr>
          <p:cNvPicPr>
            <a:picLocks noChangeAspect="1"/>
          </p:cNvPicPr>
          <p:nvPr/>
        </p:nvPicPr>
        <p:blipFill>
          <a:blip r:embed="rId8"/>
          <a:stretch>
            <a:fillRect/>
          </a:stretch>
        </p:blipFill>
        <p:spPr>
          <a:xfrm>
            <a:off x="8092440" y="3877056"/>
            <a:ext cx="256032" cy="256032"/>
          </a:xfrm>
          <a:prstGeom prst="rect">
            <a:avLst/>
          </a:prstGeom>
        </p:spPr>
      </p:pic>
      <p:sp>
        <p:nvSpPr>
          <p:cNvPr id="40"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1" name="!!cki2" descr="/tmp/deck-icons/TbCircleCheck_1D9E75.png">    </p:cNvPr>
          <p:cNvPicPr>
            <a:picLocks noChangeAspect="1"/>
          </p:cNvPicPr>
          <p:nvPr/>
        </p:nvPicPr>
        <p:blipFill>
          <a:blip r:embed="rId9"/>
          <a:stretch>
            <a:fillRect/>
          </a:stretch>
        </p:blipFill>
        <p:spPr>
          <a:xfrm>
            <a:off x="8092440" y="4334256"/>
            <a:ext cx="256032" cy="256032"/>
          </a:xfrm>
          <a:prstGeom prst="rect">
            <a:avLst/>
          </a:prstGeom>
        </p:spPr>
      </p:pic>
      <p:sp>
        <p:nvSpPr>
          <p:cNvPr id="42"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3" name="!!cki3" descr="/tmp/deck-icons/TbCircle_B4B2A9.png">    </p:cNvPr>
          <p:cNvPicPr>
            <a:picLocks noChangeAspect="1"/>
          </p:cNvPicPr>
          <p:nvPr/>
        </p:nvPicPr>
        <p:blipFill>
          <a:blip r:embed="rId10"/>
          <a:stretch>
            <a:fillRect/>
          </a:stretch>
        </p:blipFill>
        <p:spPr>
          <a:xfrm>
            <a:off x="8092440" y="4791456"/>
            <a:ext cx="256032" cy="256032"/>
          </a:xfrm>
          <a:prstGeom prst="rect">
            <a:avLst/>
          </a:prstGeom>
        </p:spPr>
      </p:pic>
      <p:sp>
        <p:nvSpPr>
          <p:cNvPr id="44"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45" name="!!cki4" descr="/tmp/deck-icons/TbCircle_B4B2A9.png">    </p:cNvPr>
          <p:cNvPicPr>
            <a:picLocks noChangeAspect="1"/>
          </p:cNvPicPr>
          <p:nvPr/>
        </p:nvPicPr>
        <p:blipFill>
          <a:blip r:embed="rId11"/>
          <a:stretch>
            <a:fillRect/>
          </a:stretch>
        </p:blipFill>
        <p:spPr>
          <a:xfrm>
            <a:off x="8092440" y="5248656"/>
            <a:ext cx="256032" cy="256032"/>
          </a:xfrm>
          <a:prstGeom prst="rect">
            <a:avLst/>
          </a:prstGeom>
        </p:spPr>
      </p:pic>
      <p:sp>
        <p:nvSpPr>
          <p:cNvPr id="46"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7"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8"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9" name="!!lt1a"/>
          <p:cNvSpPr/>
          <p:nvPr/>
        </p:nvSpPr>
        <p:spPr>
          <a:xfrm flipH="1">
            <a:off x="1727850" y="1803197"/>
            <a:ext cx="2093244" cy="914"/>
          </a:xfrm>
          <a:prstGeom prst="line">
            <a:avLst/>
          </a:prstGeom>
          <a:noFill/>
          <a:ln w="15875">
            <a:solidFill>
              <a:srgbClr val="5F5E5A"/>
            </a:solidFill>
            <a:prstDash val="solid"/>
          </a:ln>
        </p:spPr>
      </p:sp>
      <p:sp>
        <p:nvSpPr>
          <p:cNvPr id="10" name="!!lt1b"/>
          <p:cNvSpPr/>
          <p:nvPr/>
        </p:nvSpPr>
        <p:spPr>
          <a:xfrm>
            <a:off x="1727850" y="1803197"/>
            <a:ext cx="914" cy="1143732"/>
          </a:xfrm>
          <a:prstGeom prst="line">
            <a:avLst/>
          </a:prstGeom>
          <a:noFill/>
          <a:ln w="15875">
            <a:solidFill>
              <a:srgbClr val="5F5E5A"/>
            </a:solidFill>
            <a:prstDash val="solid"/>
            <a:tailEnd type="triangle"/>
          </a:ln>
        </p:spPr>
      </p:sp>
      <p:sp>
        <p:nvSpPr>
          <p:cNvPr id="11" name="!!lpw"/>
          <p:cNvSpPr/>
          <p:nvPr/>
        </p:nvSpPr>
        <p:spPr>
          <a:xfrm>
            <a:off x="2332086" y="3313786"/>
            <a:ext cx="1316370" cy="914"/>
          </a:xfrm>
          <a:prstGeom prst="line">
            <a:avLst/>
          </a:prstGeom>
          <a:noFill/>
          <a:ln w="15875">
            <a:solidFill>
              <a:srgbClr val="5F5E5A"/>
            </a:solidFill>
            <a:prstDash val="solid"/>
            <a:tailEnd type="triangle"/>
          </a:ln>
        </p:spPr>
      </p:sp>
      <p:sp>
        <p:nvSpPr>
          <p:cNvPr id="12" name="!!lwc"/>
          <p:cNvSpPr/>
          <p:nvPr/>
        </p:nvSpPr>
        <p:spPr>
          <a:xfrm>
            <a:off x="4490070" y="3313786"/>
            <a:ext cx="1316370" cy="914"/>
          </a:xfrm>
          <a:prstGeom prst="line">
            <a:avLst/>
          </a:prstGeom>
          <a:noFill/>
          <a:ln w="15875">
            <a:solidFill>
              <a:srgbClr val="5F5E5A"/>
            </a:solidFill>
            <a:prstDash val="solid"/>
            <a:tailEnd type="triangle"/>
          </a:ln>
        </p:spPr>
      </p:sp>
      <p:sp>
        <p:nvSpPr>
          <p:cNvPr id="13" name="!!fb1"/>
          <p:cNvSpPr/>
          <p:nvPr/>
        </p:nvSpPr>
        <p:spPr>
          <a:xfrm flipV="1">
            <a:off x="6238037" y="2644811"/>
            <a:ext cx="914" cy="280538"/>
          </a:xfrm>
          <a:prstGeom prst="line">
            <a:avLst/>
          </a:prstGeom>
          <a:noFill/>
          <a:ln w="15875">
            <a:solidFill>
              <a:srgbClr val="5F5E5A"/>
            </a:solidFill>
            <a:prstDash val="dash"/>
          </a:ln>
        </p:spPr>
      </p:sp>
      <p:sp>
        <p:nvSpPr>
          <p:cNvPr id="14" name="!!fb2"/>
          <p:cNvSpPr/>
          <p:nvPr/>
        </p:nvSpPr>
        <p:spPr>
          <a:xfrm flipH="1">
            <a:off x="2137867" y="2644811"/>
            <a:ext cx="4100170" cy="914"/>
          </a:xfrm>
          <a:prstGeom prst="line">
            <a:avLst/>
          </a:prstGeom>
          <a:noFill/>
          <a:ln w="15875">
            <a:solidFill>
              <a:srgbClr val="5F5E5A"/>
            </a:solidFill>
            <a:prstDash val="dash"/>
          </a:ln>
        </p:spPr>
      </p:sp>
      <p:sp>
        <p:nvSpPr>
          <p:cNvPr id="15" name="!!fb3"/>
          <p:cNvSpPr/>
          <p:nvPr/>
        </p:nvSpPr>
        <p:spPr>
          <a:xfrm>
            <a:off x="2137867" y="2644811"/>
            <a:ext cx="914" cy="302118"/>
          </a:xfrm>
          <a:prstGeom prst="line">
            <a:avLst/>
          </a:prstGeom>
          <a:noFill/>
          <a:ln w="15875">
            <a:solidFill>
              <a:srgbClr val="5F5E5A"/>
            </a:solidFill>
            <a:prstDash val="dash"/>
            <a:tailEnd type="triangle"/>
          </a:ln>
        </p:spPr>
      </p:sp>
      <p:sp>
        <p:nvSpPr>
          <p:cNvPr id="16"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7"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8"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9"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1"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2" name="!!j2"/>
          <p:cNvSpPr/>
          <p:nvPr/>
        </p:nvSpPr>
        <p:spPr>
          <a:xfrm>
            <a:off x="5849600" y="292534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3"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4"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5" name="!!own0"/>
          <p:cNvSpPr/>
          <p:nvPr/>
        </p:nvSpPr>
        <p:spPr>
          <a:xfrm>
            <a:off x="1220724" y="452225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6" name="!!owl0"/>
          <p:cNvSpPr/>
          <p:nvPr/>
        </p:nvSpPr>
        <p:spPr>
          <a:xfrm>
            <a:off x="1922069" y="3961181"/>
            <a:ext cx="914" cy="539496"/>
          </a:xfrm>
          <a:prstGeom prst="line">
            <a:avLst/>
          </a:prstGeom>
          <a:noFill/>
          <a:ln w="15875">
            <a:solidFill>
              <a:srgbClr val="5F5E5A"/>
            </a:solidFill>
            <a:prstDash val="solid"/>
            <a:tailEnd type="triangle"/>
          </a:ln>
        </p:spPr>
      </p:sp>
      <p:sp>
        <p:nvSpPr>
          <p:cNvPr id="27" name="!!own1"/>
          <p:cNvSpPr/>
          <p:nvPr/>
        </p:nvSpPr>
        <p:spPr>
          <a:xfrm>
            <a:off x="3378708" y="452225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8" name="!!owl1"/>
          <p:cNvSpPr/>
          <p:nvPr/>
        </p:nvSpPr>
        <p:spPr>
          <a:xfrm>
            <a:off x="4080053" y="3961181"/>
            <a:ext cx="914" cy="539496"/>
          </a:xfrm>
          <a:prstGeom prst="line">
            <a:avLst/>
          </a:prstGeom>
          <a:noFill/>
          <a:ln w="15875">
            <a:solidFill>
              <a:srgbClr val="5F5E5A"/>
            </a:solidFill>
            <a:prstDash val="solid"/>
            <a:tailEnd type="triangle"/>
          </a:ln>
        </p:spPr>
      </p:sp>
      <p:sp>
        <p:nvSpPr>
          <p:cNvPr id="29" name="!!own2"/>
          <p:cNvSpPr/>
          <p:nvPr/>
        </p:nvSpPr>
        <p:spPr>
          <a:xfrm>
            <a:off x="5536692" y="452225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30" name="!!owl2"/>
          <p:cNvSpPr/>
          <p:nvPr/>
        </p:nvSpPr>
        <p:spPr>
          <a:xfrm>
            <a:off x="6238037" y="3961181"/>
            <a:ext cx="914" cy="539496"/>
          </a:xfrm>
          <a:prstGeom prst="line">
            <a:avLst/>
          </a:prstGeom>
          <a:noFill/>
          <a:ln w="15875">
            <a:solidFill>
              <a:srgbClr val="5F5E5A"/>
            </a:solidFill>
            <a:prstDash val="solid"/>
            <a:tailEnd type="triangle"/>
          </a:ln>
        </p:spPr>
      </p:sp>
      <p:sp>
        <p:nvSpPr>
          <p:cNvPr id="31" name="!!retry"/>
          <p:cNvSpPr/>
          <p:nvPr/>
        </p:nvSpPr>
        <p:spPr>
          <a:xfrm>
            <a:off x="4603364" y="404750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32" name="!!flag0" descr="/tmp/deck-icons/TbFlag_5F5E5A.png">    </p:cNvPr>
          <p:cNvPicPr>
            <a:picLocks noChangeAspect="1"/>
          </p:cNvPicPr>
          <p:nvPr/>
        </p:nvPicPr>
        <p:blipFill>
          <a:blip r:embed="rId5"/>
          <a:stretch>
            <a:fillRect/>
          </a:stretch>
        </p:blipFill>
        <p:spPr>
          <a:xfrm>
            <a:off x="2903952" y="3486424"/>
            <a:ext cx="194219" cy="194219"/>
          </a:xfrm>
          <a:prstGeom prst="rect">
            <a:avLst/>
          </a:prstGeom>
        </p:spPr>
      </p:pic>
      <p:pic>
        <p:nvPicPr>
          <p:cNvPr id="33" name="!!flag1" descr="/tmp/deck-icons/TbFlag_5F5E5A.png">    </p:cNvPr>
          <p:cNvPicPr>
            <a:picLocks noChangeAspect="1"/>
          </p:cNvPicPr>
          <p:nvPr/>
        </p:nvPicPr>
        <p:blipFill>
          <a:blip r:embed="rId6"/>
          <a:stretch>
            <a:fillRect/>
          </a:stretch>
        </p:blipFill>
        <p:spPr>
          <a:xfrm>
            <a:off x="5061936" y="3486424"/>
            <a:ext cx="194219" cy="194219"/>
          </a:xfrm>
          <a:prstGeom prst="rect">
            <a:avLst/>
          </a:prstGeom>
        </p:spPr>
      </p:pic>
      <p:sp>
        <p:nvSpPr>
          <p:cNvPr id="34" name="!!lockc"/>
          <p:cNvSpPr/>
          <p:nvPr/>
        </p:nvSpPr>
        <p:spPr>
          <a:xfrm>
            <a:off x="6410676" y="281744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5" name="!!locki" descr="/tmp/deck-icons/TbLock_993C1D.png">    </p:cNvPr>
          <p:cNvPicPr>
            <a:picLocks noChangeAspect="1"/>
          </p:cNvPicPr>
          <p:nvPr/>
        </p:nvPicPr>
        <p:blipFill>
          <a:blip r:embed="rId7"/>
          <a:stretch>
            <a:fillRect/>
          </a:stretch>
        </p:blipFill>
        <p:spPr>
          <a:xfrm>
            <a:off x="6464625" y="2871399"/>
            <a:ext cx="172639" cy="172639"/>
          </a:xfrm>
          <a:prstGeom prst="rect">
            <a:avLst/>
          </a:prstGeom>
        </p:spPr>
      </p:pic>
      <p:sp>
        <p:nvSpPr>
          <p:cNvPr id="36"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5 of 6</a:t>
            </a:r>
            <a:endParaRPr lang="en-US" sz="1200" dirty="0"/>
          </a:p>
        </p:txBody>
      </p:sp>
      <p:sp>
        <p:nvSpPr>
          <p:cNvPr id="37"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Maker-checker</a:t>
            </a:r>
            <a:endParaRPr lang="en-US" sz="2200" dirty="0"/>
          </a:p>
        </p:txBody>
      </p:sp>
      <p:sp>
        <p:nvSpPr>
          <p:cNvPr id="38"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The Checker verifies independently. The Worker can't touch the tests.</a:t>
            </a:r>
            <a:endParaRPr lang="en-US" sz="1400" dirty="0"/>
          </a:p>
        </p:txBody>
      </p:sp>
      <p:pic>
        <p:nvPicPr>
          <p:cNvPr id="39" name="!!cki0" descr="/tmp/deck-icons/TbCircleCheck_1D9E75.png">    </p:cNvPr>
          <p:cNvPicPr>
            <a:picLocks noChangeAspect="1"/>
          </p:cNvPicPr>
          <p:nvPr/>
        </p:nvPicPr>
        <p:blipFill>
          <a:blip r:embed="rId8"/>
          <a:stretch>
            <a:fillRect/>
          </a:stretch>
        </p:blipFill>
        <p:spPr>
          <a:xfrm>
            <a:off x="8092440" y="3419856"/>
            <a:ext cx="256032" cy="256032"/>
          </a:xfrm>
          <a:prstGeom prst="rect">
            <a:avLst/>
          </a:prstGeom>
        </p:spPr>
      </p:pic>
      <p:sp>
        <p:nvSpPr>
          <p:cNvPr id="40"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41" name="!!cki1" descr="/tmp/deck-icons/TbCircleCheck_1D9E75.png">    </p:cNvPr>
          <p:cNvPicPr>
            <a:picLocks noChangeAspect="1"/>
          </p:cNvPicPr>
          <p:nvPr/>
        </p:nvPicPr>
        <p:blipFill>
          <a:blip r:embed="rId9"/>
          <a:stretch>
            <a:fillRect/>
          </a:stretch>
        </p:blipFill>
        <p:spPr>
          <a:xfrm>
            <a:off x="8092440" y="3877056"/>
            <a:ext cx="256032" cy="256032"/>
          </a:xfrm>
          <a:prstGeom prst="rect">
            <a:avLst/>
          </a:prstGeom>
        </p:spPr>
      </p:pic>
      <p:sp>
        <p:nvSpPr>
          <p:cNvPr id="42"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3" name="!!cki2" descr="/tmp/deck-icons/TbCircleCheck_1D9E75.png">    </p:cNvPr>
          <p:cNvPicPr>
            <a:picLocks noChangeAspect="1"/>
          </p:cNvPicPr>
          <p:nvPr/>
        </p:nvPicPr>
        <p:blipFill>
          <a:blip r:embed="rId10"/>
          <a:stretch>
            <a:fillRect/>
          </a:stretch>
        </p:blipFill>
        <p:spPr>
          <a:xfrm>
            <a:off x="8092440" y="4334256"/>
            <a:ext cx="256032" cy="256032"/>
          </a:xfrm>
          <a:prstGeom prst="rect">
            <a:avLst/>
          </a:prstGeom>
        </p:spPr>
      </p:pic>
      <p:sp>
        <p:nvSpPr>
          <p:cNvPr id="44"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5" name="!!cki3" descr="/tmp/deck-icons/TbCircleCheck_1D9E75.png">    </p:cNvPr>
          <p:cNvPicPr>
            <a:picLocks noChangeAspect="1"/>
          </p:cNvPicPr>
          <p:nvPr/>
        </p:nvPicPr>
        <p:blipFill>
          <a:blip r:embed="rId11"/>
          <a:stretch>
            <a:fillRect/>
          </a:stretch>
        </p:blipFill>
        <p:spPr>
          <a:xfrm>
            <a:off x="8092440" y="4791456"/>
            <a:ext cx="256032" cy="256032"/>
          </a:xfrm>
          <a:prstGeom prst="rect">
            <a:avLst/>
          </a:prstGeom>
        </p:spPr>
      </p:pic>
      <p:sp>
        <p:nvSpPr>
          <p:cNvPr id="46"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47" name="!!cki4" descr="/tmp/deck-icons/TbCircle_B4B2A9.png">    </p:cNvPr>
          <p:cNvPicPr>
            <a:picLocks noChangeAspect="1"/>
          </p:cNvPicPr>
          <p:nvPr/>
        </p:nvPicPr>
        <p:blipFill>
          <a:blip r:embed="rId12"/>
          <a:stretch>
            <a:fillRect/>
          </a:stretch>
        </p:blipFill>
        <p:spPr>
          <a:xfrm>
            <a:off x="8092440" y="5248656"/>
            <a:ext cx="256032" cy="256032"/>
          </a:xfrm>
          <a:prstGeom prst="rect">
            <a:avLst/>
          </a:prstGeom>
        </p:spPr>
      </p:pic>
      <p:sp>
        <p:nvSpPr>
          <p:cNvPr id="48"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7"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8"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9" name="!!lt1a"/>
          <p:cNvSpPr/>
          <p:nvPr/>
        </p:nvSpPr>
        <p:spPr>
          <a:xfrm flipH="1">
            <a:off x="1727850" y="1803197"/>
            <a:ext cx="2093244" cy="914"/>
          </a:xfrm>
          <a:prstGeom prst="line">
            <a:avLst/>
          </a:prstGeom>
          <a:noFill/>
          <a:ln w="15875">
            <a:solidFill>
              <a:srgbClr val="5F5E5A"/>
            </a:solidFill>
            <a:prstDash val="solid"/>
          </a:ln>
        </p:spPr>
      </p:sp>
      <p:sp>
        <p:nvSpPr>
          <p:cNvPr id="10" name="!!lt1b"/>
          <p:cNvSpPr/>
          <p:nvPr/>
        </p:nvSpPr>
        <p:spPr>
          <a:xfrm>
            <a:off x="1727850" y="1803197"/>
            <a:ext cx="914" cy="1143732"/>
          </a:xfrm>
          <a:prstGeom prst="line">
            <a:avLst/>
          </a:prstGeom>
          <a:noFill/>
          <a:ln w="15875">
            <a:solidFill>
              <a:srgbClr val="5F5E5A"/>
            </a:solidFill>
            <a:prstDash val="solid"/>
            <a:tailEnd type="triangle"/>
          </a:ln>
        </p:spPr>
      </p:sp>
      <p:sp>
        <p:nvSpPr>
          <p:cNvPr id="11" name="!!lpw"/>
          <p:cNvSpPr/>
          <p:nvPr/>
        </p:nvSpPr>
        <p:spPr>
          <a:xfrm>
            <a:off x="2332086" y="3313786"/>
            <a:ext cx="1316370" cy="914"/>
          </a:xfrm>
          <a:prstGeom prst="line">
            <a:avLst/>
          </a:prstGeom>
          <a:noFill/>
          <a:ln w="15875">
            <a:solidFill>
              <a:srgbClr val="5F5E5A"/>
            </a:solidFill>
            <a:prstDash val="solid"/>
            <a:tailEnd type="triangle"/>
          </a:ln>
        </p:spPr>
      </p:sp>
      <p:sp>
        <p:nvSpPr>
          <p:cNvPr id="12" name="!!lwc"/>
          <p:cNvSpPr/>
          <p:nvPr/>
        </p:nvSpPr>
        <p:spPr>
          <a:xfrm>
            <a:off x="4490070" y="3313786"/>
            <a:ext cx="1316370" cy="914"/>
          </a:xfrm>
          <a:prstGeom prst="line">
            <a:avLst/>
          </a:prstGeom>
          <a:noFill/>
          <a:ln w="15875">
            <a:solidFill>
              <a:srgbClr val="5F5E5A"/>
            </a:solidFill>
            <a:prstDash val="solid"/>
            <a:tailEnd type="triangle"/>
          </a:ln>
        </p:spPr>
      </p:sp>
      <p:sp>
        <p:nvSpPr>
          <p:cNvPr id="13" name="!!fb1"/>
          <p:cNvSpPr/>
          <p:nvPr/>
        </p:nvSpPr>
        <p:spPr>
          <a:xfrm flipV="1">
            <a:off x="6238037" y="2644811"/>
            <a:ext cx="914" cy="280538"/>
          </a:xfrm>
          <a:prstGeom prst="line">
            <a:avLst/>
          </a:prstGeom>
          <a:noFill/>
          <a:ln w="15875">
            <a:solidFill>
              <a:srgbClr val="5F5E5A"/>
            </a:solidFill>
            <a:prstDash val="dash"/>
          </a:ln>
        </p:spPr>
      </p:sp>
      <p:sp>
        <p:nvSpPr>
          <p:cNvPr id="14" name="!!fb2"/>
          <p:cNvSpPr/>
          <p:nvPr/>
        </p:nvSpPr>
        <p:spPr>
          <a:xfrm flipH="1">
            <a:off x="2137867" y="2644811"/>
            <a:ext cx="4100170" cy="914"/>
          </a:xfrm>
          <a:prstGeom prst="line">
            <a:avLst/>
          </a:prstGeom>
          <a:noFill/>
          <a:ln w="15875">
            <a:solidFill>
              <a:srgbClr val="5F5E5A"/>
            </a:solidFill>
            <a:prstDash val="dash"/>
          </a:ln>
        </p:spPr>
      </p:sp>
      <p:sp>
        <p:nvSpPr>
          <p:cNvPr id="15" name="!!fb3"/>
          <p:cNvSpPr/>
          <p:nvPr/>
        </p:nvSpPr>
        <p:spPr>
          <a:xfrm>
            <a:off x="2137867" y="2644811"/>
            <a:ext cx="914" cy="302118"/>
          </a:xfrm>
          <a:prstGeom prst="line">
            <a:avLst/>
          </a:prstGeom>
          <a:noFill/>
          <a:ln w="15875">
            <a:solidFill>
              <a:srgbClr val="5F5E5A"/>
            </a:solidFill>
            <a:prstDash val="dash"/>
            <a:tailEnd type="triangle"/>
          </a:ln>
        </p:spPr>
      </p:sp>
      <p:sp>
        <p:nvSpPr>
          <p:cNvPr id="16"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7"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8"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9"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1"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2" name="!!j2"/>
          <p:cNvSpPr/>
          <p:nvPr/>
        </p:nvSpPr>
        <p:spPr>
          <a:xfrm>
            <a:off x="5849600" y="292534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3"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4"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5" name="!!own0"/>
          <p:cNvSpPr/>
          <p:nvPr/>
        </p:nvSpPr>
        <p:spPr>
          <a:xfrm>
            <a:off x="1220724" y="452225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6" name="!!owl0"/>
          <p:cNvSpPr/>
          <p:nvPr/>
        </p:nvSpPr>
        <p:spPr>
          <a:xfrm>
            <a:off x="1922069" y="3961181"/>
            <a:ext cx="914" cy="539496"/>
          </a:xfrm>
          <a:prstGeom prst="line">
            <a:avLst/>
          </a:prstGeom>
          <a:noFill/>
          <a:ln w="15875">
            <a:solidFill>
              <a:srgbClr val="5F5E5A"/>
            </a:solidFill>
            <a:prstDash val="solid"/>
            <a:tailEnd type="triangle"/>
          </a:ln>
        </p:spPr>
      </p:sp>
      <p:sp>
        <p:nvSpPr>
          <p:cNvPr id="27" name="!!own1"/>
          <p:cNvSpPr/>
          <p:nvPr/>
        </p:nvSpPr>
        <p:spPr>
          <a:xfrm>
            <a:off x="3378708" y="452225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8" name="!!owl1"/>
          <p:cNvSpPr/>
          <p:nvPr/>
        </p:nvSpPr>
        <p:spPr>
          <a:xfrm>
            <a:off x="4080053" y="3961181"/>
            <a:ext cx="914" cy="539496"/>
          </a:xfrm>
          <a:prstGeom prst="line">
            <a:avLst/>
          </a:prstGeom>
          <a:noFill/>
          <a:ln w="15875">
            <a:solidFill>
              <a:srgbClr val="5F5E5A"/>
            </a:solidFill>
            <a:prstDash val="solid"/>
            <a:tailEnd type="triangle"/>
          </a:ln>
        </p:spPr>
      </p:sp>
      <p:sp>
        <p:nvSpPr>
          <p:cNvPr id="29" name="!!own2"/>
          <p:cNvSpPr/>
          <p:nvPr/>
        </p:nvSpPr>
        <p:spPr>
          <a:xfrm>
            <a:off x="5536692" y="452225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30" name="!!owl2"/>
          <p:cNvSpPr/>
          <p:nvPr/>
        </p:nvSpPr>
        <p:spPr>
          <a:xfrm>
            <a:off x="6238037" y="3961181"/>
            <a:ext cx="914" cy="539496"/>
          </a:xfrm>
          <a:prstGeom prst="line">
            <a:avLst/>
          </a:prstGeom>
          <a:noFill/>
          <a:ln w="15875">
            <a:solidFill>
              <a:srgbClr val="5F5E5A"/>
            </a:solidFill>
            <a:prstDash val="solid"/>
            <a:tailEnd type="triangle"/>
          </a:ln>
        </p:spPr>
      </p:sp>
      <p:sp>
        <p:nvSpPr>
          <p:cNvPr id="31" name="!!retry"/>
          <p:cNvSpPr/>
          <p:nvPr/>
        </p:nvSpPr>
        <p:spPr>
          <a:xfrm>
            <a:off x="4603364" y="404750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32" name="!!flag0" descr="/tmp/deck-icons/TbFlag_5F5E5A.png">    </p:cNvPr>
          <p:cNvPicPr>
            <a:picLocks noChangeAspect="1"/>
          </p:cNvPicPr>
          <p:nvPr/>
        </p:nvPicPr>
        <p:blipFill>
          <a:blip r:embed="rId5"/>
          <a:stretch>
            <a:fillRect/>
          </a:stretch>
        </p:blipFill>
        <p:spPr>
          <a:xfrm>
            <a:off x="2903952" y="3486424"/>
            <a:ext cx="194219" cy="194219"/>
          </a:xfrm>
          <a:prstGeom prst="rect">
            <a:avLst/>
          </a:prstGeom>
        </p:spPr>
      </p:pic>
      <p:pic>
        <p:nvPicPr>
          <p:cNvPr id="33" name="!!flag1" descr="/tmp/deck-icons/TbFlag_5F5E5A.png">    </p:cNvPr>
          <p:cNvPicPr>
            <a:picLocks noChangeAspect="1"/>
          </p:cNvPicPr>
          <p:nvPr/>
        </p:nvPicPr>
        <p:blipFill>
          <a:blip r:embed="rId6"/>
          <a:stretch>
            <a:fillRect/>
          </a:stretch>
        </p:blipFill>
        <p:spPr>
          <a:xfrm>
            <a:off x="5061936" y="3486424"/>
            <a:ext cx="194219" cy="194219"/>
          </a:xfrm>
          <a:prstGeom prst="rect">
            <a:avLst/>
          </a:prstGeom>
        </p:spPr>
      </p:pic>
      <p:sp>
        <p:nvSpPr>
          <p:cNvPr id="34" name="!!lockc"/>
          <p:cNvSpPr/>
          <p:nvPr/>
        </p:nvSpPr>
        <p:spPr>
          <a:xfrm>
            <a:off x="6410676" y="281744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5" name="!!locki" descr="/tmp/deck-icons/TbLock_993C1D.png">    </p:cNvPr>
          <p:cNvPicPr>
            <a:picLocks noChangeAspect="1"/>
          </p:cNvPicPr>
          <p:nvPr/>
        </p:nvPicPr>
        <p:blipFill>
          <a:blip r:embed="rId7"/>
          <a:stretch>
            <a:fillRect/>
          </a:stretch>
        </p:blipFill>
        <p:spPr>
          <a:xfrm>
            <a:off x="6464625" y="2871399"/>
            <a:ext cx="172639" cy="172639"/>
          </a:xfrm>
          <a:prstGeom prst="rect">
            <a:avLst/>
          </a:prstGeom>
        </p:spPr>
      </p:pic>
      <p:sp>
        <p:nvSpPr>
          <p:cNvPr id="36" name="!!pP"/>
          <p:cNvSpPr/>
          <p:nvPr/>
        </p:nvSpPr>
        <p:spPr>
          <a:xfrm>
            <a:off x="2655783" y="2990088"/>
            <a:ext cx="690555" cy="215798"/>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{plan}</a:t>
            </a:r>
            <a:endParaRPr lang="en-US" sz="900" dirty="0"/>
          </a:p>
        </p:txBody>
      </p:sp>
      <p:sp>
        <p:nvSpPr>
          <p:cNvPr id="37" name="!!pW"/>
          <p:cNvSpPr/>
          <p:nvPr/>
        </p:nvSpPr>
        <p:spPr>
          <a:xfrm>
            <a:off x="4738238" y="2990088"/>
            <a:ext cx="841614" cy="215798"/>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{result}</a:t>
            </a:r>
            <a:endParaRPr lang="en-US" sz="900" dirty="0"/>
          </a:p>
        </p:txBody>
      </p:sp>
      <p:sp>
        <p:nvSpPr>
          <p:cNvPr id="38" name="!!pF"/>
          <p:cNvSpPr/>
          <p:nvPr/>
        </p:nvSpPr>
        <p:spPr>
          <a:xfrm>
            <a:off x="3351733" y="2364273"/>
            <a:ext cx="1672438" cy="215798"/>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{status: fail, why}</a:t>
            </a:r>
            <a:endParaRPr lang="en-US" sz="900" dirty="0"/>
          </a:p>
        </p:txBody>
      </p:sp>
      <p:sp>
        <p:nvSpPr>
          <p:cNvPr id="39"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Step 6 of 6</a:t>
            </a:r>
            <a:endParaRPr lang="en-US" sz="1200" dirty="0"/>
          </a:p>
        </p:txBody>
      </p:sp>
      <p:sp>
        <p:nvSpPr>
          <p:cNvPr id="40"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Explicit hand-offs</a:t>
            </a:r>
            <a:endParaRPr lang="en-US" sz="2200" dirty="0"/>
          </a:p>
        </p:txBody>
      </p:sp>
      <p:sp>
        <p:nvSpPr>
          <p:cNvPr id="41"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step returns a structured status instead of relying on finish_reason. This is a multi-agent system.</a:t>
            </a:r>
            <a:endParaRPr lang="en-US" sz="1400" dirty="0"/>
          </a:p>
        </p:txBody>
      </p:sp>
      <p:pic>
        <p:nvPicPr>
          <p:cNvPr id="42" name="!!cki0" descr="/tmp/deck-icons/TbCircleCheck_1D9E75.png">    </p:cNvPr>
          <p:cNvPicPr>
            <a:picLocks noChangeAspect="1"/>
          </p:cNvPicPr>
          <p:nvPr/>
        </p:nvPicPr>
        <p:blipFill>
          <a:blip r:embed="rId8"/>
          <a:stretch>
            <a:fillRect/>
          </a:stretch>
        </p:blipFill>
        <p:spPr>
          <a:xfrm>
            <a:off x="8092440" y="3419856"/>
            <a:ext cx="256032" cy="256032"/>
          </a:xfrm>
          <a:prstGeom prst="rect">
            <a:avLst/>
          </a:prstGeom>
        </p:spPr>
      </p:pic>
      <p:sp>
        <p:nvSpPr>
          <p:cNvPr id="43"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44" name="!!cki1" descr="/tmp/deck-icons/TbCircleCheck_1D9E75.png">    </p:cNvPr>
          <p:cNvPicPr>
            <a:picLocks noChangeAspect="1"/>
          </p:cNvPicPr>
          <p:nvPr/>
        </p:nvPicPr>
        <p:blipFill>
          <a:blip r:embed="rId9"/>
          <a:stretch>
            <a:fillRect/>
          </a:stretch>
        </p:blipFill>
        <p:spPr>
          <a:xfrm>
            <a:off x="8092440" y="3877056"/>
            <a:ext cx="256032" cy="256032"/>
          </a:xfrm>
          <a:prstGeom prst="rect">
            <a:avLst/>
          </a:prstGeom>
        </p:spPr>
      </p:pic>
      <p:sp>
        <p:nvSpPr>
          <p:cNvPr id="45"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6" name="!!cki2" descr="/tmp/deck-icons/TbCircleCheck_1D9E75.png">    </p:cNvPr>
          <p:cNvPicPr>
            <a:picLocks noChangeAspect="1"/>
          </p:cNvPicPr>
          <p:nvPr/>
        </p:nvPicPr>
        <p:blipFill>
          <a:blip r:embed="rId10"/>
          <a:stretch>
            <a:fillRect/>
          </a:stretch>
        </p:blipFill>
        <p:spPr>
          <a:xfrm>
            <a:off x="8092440" y="4334256"/>
            <a:ext cx="256032" cy="256032"/>
          </a:xfrm>
          <a:prstGeom prst="rect">
            <a:avLst/>
          </a:prstGeom>
        </p:spPr>
      </p:pic>
      <p:sp>
        <p:nvSpPr>
          <p:cNvPr id="47"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8" name="!!cki3" descr="/tmp/deck-icons/TbCircleCheck_1D9E75.png">    </p:cNvPr>
          <p:cNvPicPr>
            <a:picLocks noChangeAspect="1"/>
          </p:cNvPicPr>
          <p:nvPr/>
        </p:nvPicPr>
        <p:blipFill>
          <a:blip r:embed="rId11"/>
          <a:stretch>
            <a:fillRect/>
          </a:stretch>
        </p:blipFill>
        <p:spPr>
          <a:xfrm>
            <a:off x="8092440" y="4791456"/>
            <a:ext cx="256032" cy="256032"/>
          </a:xfrm>
          <a:prstGeom prst="rect">
            <a:avLst/>
          </a:prstGeom>
        </p:spPr>
      </p:pic>
      <p:sp>
        <p:nvSpPr>
          <p:cNvPr id="49"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50" name="!!cki4" descr="/tmp/deck-icons/TbCircleCheck_1D9E75.png">    </p:cNvPr>
          <p:cNvPicPr>
            <a:picLocks noChangeAspect="1"/>
          </p:cNvPicPr>
          <p:nvPr/>
        </p:nvPicPr>
        <p:blipFill>
          <a:blip r:embed="rId12"/>
          <a:stretch>
            <a:fillRect/>
          </a:stretch>
        </p:blipFill>
        <p:spPr>
          <a:xfrm>
            <a:off x="8092440" y="5248656"/>
            <a:ext cx="256032" cy="256032"/>
          </a:xfrm>
          <a:prstGeom prst="rect">
            <a:avLst/>
          </a:prstGeom>
        </p:spPr>
      </p:pic>
      <p:sp>
        <p:nvSpPr>
          <p:cNvPr id="51"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Explicit hand-offs</a:t>
            </a:r>
            <a:endParaRPr lang="en-US" sz="1400" dirty="0"/>
          </a:p>
        </p:txBody>
      </p:sp>
      <p:sp>
        <p:nvSpPr>
          <p:cNvPr id="52" name="!!take5"/>
          <p:cNvSpPr txBox="1"/>
          <p:nvPr/>
        </p:nvSpPr>
        <p:spPr>
          <a:xfrm>
            <a:off x="548640" y="5760720"/>
            <a:ext cx="11064240" cy="45720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This isn't an AI problem. It's a system design problem we've already solved, just not for agents yet.</a:t>
            </a:r>
            <a:endParaRPr lang="en-US" sz="16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The Core Idea of Multi-Agent Systems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Give each agent one job and connect them with clear hand-offs. The shape can change (supervisor, pipeline, swarm); the building blocks stay the same.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b0"/>
          <p:cNvSpPr/>
          <p:nvPr/>
        </p:nvSpPr>
        <p:spPr>
          <a:xfrm>
            <a:off x="548640" y="137160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1 · Supervisor</a:t>
            </a:r>
            <a:endParaRPr lang="en-US" sz="1200" dirty="0"/>
          </a:p>
        </p:txBody>
      </p:sp>
      <p:sp>
        <p:nvSpPr>
          <p:cNvPr id="7" name="!!tab1"/>
          <p:cNvSpPr/>
          <p:nvPr/>
        </p:nvSpPr>
        <p:spPr>
          <a:xfrm>
            <a:off x="21488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2 · Pipeline</a:t>
            </a:r>
            <a:endParaRPr lang="en-US" sz="1200" dirty="0"/>
          </a:p>
        </p:txBody>
      </p:sp>
      <p:sp>
        <p:nvSpPr>
          <p:cNvPr id="8" name="!!tab2"/>
          <p:cNvSpPr/>
          <p:nvPr/>
        </p:nvSpPr>
        <p:spPr>
          <a:xfrm>
            <a:off x="37490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3 · Peer swarm</a:t>
            </a:r>
            <a:endParaRPr lang="en-US" sz="1200" dirty="0"/>
          </a:p>
        </p:txBody>
      </p:sp>
      <p:sp>
        <p:nvSpPr>
          <p:cNvPr id="9" name="!!m0e0"/>
          <p:cNvSpPr/>
          <p:nvPr/>
        </p:nvSpPr>
        <p:spPr>
          <a:xfrm>
            <a:off x="7331659" y="2505456"/>
            <a:ext cx="588874" cy="914"/>
          </a:xfrm>
          <a:prstGeom prst="line">
            <a:avLst/>
          </a:prstGeom>
          <a:noFill/>
          <a:ln w="15875">
            <a:solidFill>
              <a:srgbClr val="5F5E5A"/>
            </a:solidFill>
            <a:prstDash val="solid"/>
            <a:headEnd type="triangle"/>
            <a:tailEnd type="triangle"/>
          </a:ln>
        </p:spPr>
      </p:sp>
      <p:sp>
        <p:nvSpPr>
          <p:cNvPr id="10" name="!!m0e1"/>
          <p:cNvSpPr/>
          <p:nvPr/>
        </p:nvSpPr>
        <p:spPr>
          <a:xfrm flipH="1">
            <a:off x="3721608" y="2838298"/>
            <a:ext cx="1792224" cy="921715"/>
          </a:xfrm>
          <a:prstGeom prst="line">
            <a:avLst/>
          </a:prstGeom>
          <a:noFill/>
          <a:ln w="15875">
            <a:solidFill>
              <a:srgbClr val="5F5E5A"/>
            </a:solidFill>
            <a:prstDash val="solid"/>
            <a:headEnd type="triangle"/>
            <a:tailEnd type="triangle"/>
          </a:ln>
        </p:spPr>
      </p:sp>
      <p:sp>
        <p:nvSpPr>
          <p:cNvPr id="11" name="!!m0e2"/>
          <p:cNvSpPr/>
          <p:nvPr/>
        </p:nvSpPr>
        <p:spPr>
          <a:xfrm>
            <a:off x="6025896" y="2838298"/>
            <a:ext cx="914" cy="844906"/>
          </a:xfrm>
          <a:prstGeom prst="line">
            <a:avLst/>
          </a:prstGeom>
          <a:noFill/>
          <a:ln w="15875">
            <a:solidFill>
              <a:srgbClr val="5F5E5A"/>
            </a:solidFill>
            <a:prstDash val="solid"/>
            <a:headEnd type="triangle"/>
            <a:tailEnd type="triangle"/>
          </a:ln>
        </p:spPr>
      </p:sp>
      <p:sp>
        <p:nvSpPr>
          <p:cNvPr id="12" name="!!m0e3"/>
          <p:cNvSpPr/>
          <p:nvPr/>
        </p:nvSpPr>
        <p:spPr>
          <a:xfrm>
            <a:off x="6537960" y="2838298"/>
            <a:ext cx="1792224" cy="921715"/>
          </a:xfrm>
          <a:prstGeom prst="line">
            <a:avLst/>
          </a:prstGeom>
          <a:noFill/>
          <a:ln w="15875">
            <a:solidFill>
              <a:srgbClr val="5F5E5A"/>
            </a:solidFill>
            <a:prstDash val="solid"/>
            <a:headEnd type="triangle"/>
            <a:tailEnd type="triangle"/>
          </a:ln>
        </p:spPr>
      </p:sp>
      <p:sp>
        <p:nvSpPr>
          <p:cNvPr id="13" name="!!m0e4"/>
          <p:cNvSpPr/>
          <p:nvPr/>
        </p:nvSpPr>
        <p:spPr>
          <a:xfrm>
            <a:off x="3465576" y="4963363"/>
            <a:ext cx="914" cy="537667"/>
          </a:xfrm>
          <a:prstGeom prst="line">
            <a:avLst/>
          </a:prstGeom>
          <a:noFill/>
          <a:ln w="15875">
            <a:solidFill>
              <a:srgbClr val="5F5E5A"/>
            </a:solidFill>
            <a:prstDash val="solid"/>
            <a:tailEnd type="triangle"/>
          </a:ln>
        </p:spPr>
      </p:sp>
      <p:sp>
        <p:nvSpPr>
          <p:cNvPr id="14" name="!!m0e5"/>
          <p:cNvSpPr/>
          <p:nvPr/>
        </p:nvSpPr>
        <p:spPr>
          <a:xfrm>
            <a:off x="6025896" y="4963363"/>
            <a:ext cx="914" cy="537667"/>
          </a:xfrm>
          <a:prstGeom prst="line">
            <a:avLst/>
          </a:prstGeom>
          <a:noFill/>
          <a:ln w="15875">
            <a:solidFill>
              <a:srgbClr val="5F5E5A"/>
            </a:solidFill>
            <a:prstDash val="solid"/>
            <a:tailEnd type="triangle"/>
          </a:ln>
        </p:spPr>
      </p:sp>
      <p:sp>
        <p:nvSpPr>
          <p:cNvPr id="15" name="!!m0e6"/>
          <p:cNvSpPr/>
          <p:nvPr/>
        </p:nvSpPr>
        <p:spPr>
          <a:xfrm>
            <a:off x="8586216" y="4963363"/>
            <a:ext cx="914" cy="537667"/>
          </a:xfrm>
          <a:prstGeom prst="line">
            <a:avLst/>
          </a:prstGeom>
          <a:noFill/>
          <a:ln w="15875">
            <a:solidFill>
              <a:srgbClr val="5F5E5A"/>
            </a:solidFill>
            <a:prstDash val="solid"/>
            <a:tailEnd type="triangle"/>
          </a:ln>
        </p:spPr>
      </p:sp>
      <p:sp>
        <p:nvSpPr>
          <p:cNvPr id="16" name="!!coord"/>
          <p:cNvSpPr/>
          <p:nvPr/>
        </p:nvSpPr>
        <p:spPr>
          <a:xfrm>
            <a:off x="4745736" y="2185416"/>
            <a:ext cx="2560320" cy="640080"/>
          </a:xfrm>
          <a:prstGeom prst="roundRect">
            <a:avLst>
              <a:gd name="adj" fmla="val 114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Supervisor</a:t>
            </a:r>
            <a:endParaRPr lang="en-US" sz="1400" dirty="0"/>
          </a:p>
        </p:txBody>
      </p:sp>
      <p:sp>
        <p:nvSpPr>
          <p:cNvPr id="17" name="!!guard"/>
          <p:cNvSpPr/>
          <p:nvPr/>
        </p:nvSpPr>
        <p:spPr>
          <a:xfrm>
            <a:off x="7946136" y="2185416"/>
            <a:ext cx="1920240" cy="640080"/>
          </a:xfrm>
          <a:prstGeom prst="roundRect">
            <a:avLst>
              <a:gd name="adj" fmla="val 114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8" name="!!ag0"/>
          <p:cNvSpPr/>
          <p:nvPr/>
        </p:nvSpPr>
        <p:spPr>
          <a:xfrm>
            <a:off x="303032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0" descr="/tmp/deck-icons/TbRobot_1D9E75.png">    </p:cNvPr>
          <p:cNvPicPr>
            <a:picLocks noChangeAspect="1"/>
          </p:cNvPicPr>
          <p:nvPr/>
        </p:nvPicPr>
        <p:blipFill>
          <a:blip r:embed="rId1"/>
          <a:stretch>
            <a:fillRect/>
          </a:stretch>
        </p:blipFill>
        <p:spPr>
          <a:xfrm>
            <a:off x="3273552" y="3977640"/>
            <a:ext cx="384048" cy="384048"/>
          </a:xfrm>
          <a:prstGeom prst="rect">
            <a:avLst/>
          </a:prstGeom>
        </p:spPr>
      </p:pic>
      <p:sp>
        <p:nvSpPr>
          <p:cNvPr id="20" name="!!agl0"/>
          <p:cNvSpPr txBox="1"/>
          <p:nvPr/>
        </p:nvSpPr>
        <p:spPr>
          <a:xfrm>
            <a:off x="273405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21" name="!!ag1"/>
          <p:cNvSpPr/>
          <p:nvPr/>
        </p:nvSpPr>
        <p:spPr>
          <a:xfrm>
            <a:off x="559064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2" name="!!agi1" descr="/tmp/deck-icons/TbRobot_1D9E75.png">    </p:cNvPr>
          <p:cNvPicPr>
            <a:picLocks noChangeAspect="1"/>
          </p:cNvPicPr>
          <p:nvPr/>
        </p:nvPicPr>
        <p:blipFill>
          <a:blip r:embed="rId2"/>
          <a:stretch>
            <a:fillRect/>
          </a:stretch>
        </p:blipFill>
        <p:spPr>
          <a:xfrm>
            <a:off x="5833872" y="3977640"/>
            <a:ext cx="384048" cy="384048"/>
          </a:xfrm>
          <a:prstGeom prst="rect">
            <a:avLst/>
          </a:prstGeom>
        </p:spPr>
      </p:pic>
      <p:sp>
        <p:nvSpPr>
          <p:cNvPr id="23" name="!!agl1"/>
          <p:cNvSpPr txBox="1"/>
          <p:nvPr/>
        </p:nvSpPr>
        <p:spPr>
          <a:xfrm>
            <a:off x="529437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4" name="!!ag2"/>
          <p:cNvSpPr/>
          <p:nvPr/>
        </p:nvSpPr>
        <p:spPr>
          <a:xfrm>
            <a:off x="815096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5" name="!!agi2" descr="/tmp/deck-icons/TbRobot_1D9E75.png">    </p:cNvPr>
          <p:cNvPicPr>
            <a:picLocks noChangeAspect="1"/>
          </p:cNvPicPr>
          <p:nvPr/>
        </p:nvPicPr>
        <p:blipFill>
          <a:blip r:embed="rId3"/>
          <a:stretch>
            <a:fillRect/>
          </a:stretch>
        </p:blipFill>
        <p:spPr>
          <a:xfrm>
            <a:off x="8394192" y="3977640"/>
            <a:ext cx="384048" cy="384048"/>
          </a:xfrm>
          <a:prstGeom prst="rect">
            <a:avLst/>
          </a:prstGeom>
        </p:spPr>
      </p:pic>
      <p:sp>
        <p:nvSpPr>
          <p:cNvPr id="26" name="!!agl2"/>
          <p:cNvSpPr txBox="1"/>
          <p:nvPr/>
        </p:nvSpPr>
        <p:spPr>
          <a:xfrm>
            <a:off x="785469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7" name="!!shared"/>
          <p:cNvSpPr/>
          <p:nvPr/>
        </p:nvSpPr>
        <p:spPr>
          <a:xfrm>
            <a:off x="2313432" y="5552237"/>
            <a:ext cx="7424928" cy="563270"/>
          </a:xfrm>
          <a:prstGeom prst="roundRect">
            <a:avLst>
              <a:gd name="adj" fmla="val 12987"/>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state</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The Core Idea of Multi-Agent Systems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Give each agent one job and connect them with clear hand-offs. The shape can change (supervisor, pipeline, swarm); the building blocks stay the same.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b0"/>
          <p:cNvSpPr/>
          <p:nvPr/>
        </p:nvSpPr>
        <p:spPr>
          <a:xfrm>
            <a:off x="5486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1 · Supervisor</a:t>
            </a:r>
            <a:endParaRPr lang="en-US" sz="1200" dirty="0"/>
          </a:p>
        </p:txBody>
      </p:sp>
      <p:sp>
        <p:nvSpPr>
          <p:cNvPr id="7" name="!!tab1"/>
          <p:cNvSpPr/>
          <p:nvPr/>
        </p:nvSpPr>
        <p:spPr>
          <a:xfrm>
            <a:off x="2148840" y="137160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2 · Pipeline</a:t>
            </a:r>
            <a:endParaRPr lang="en-US" sz="1200" dirty="0"/>
          </a:p>
        </p:txBody>
      </p:sp>
      <p:sp>
        <p:nvSpPr>
          <p:cNvPr id="8" name="!!tab2"/>
          <p:cNvSpPr/>
          <p:nvPr/>
        </p:nvSpPr>
        <p:spPr>
          <a:xfrm>
            <a:off x="37490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3 · Peer swarm</a:t>
            </a:r>
            <a:endParaRPr lang="en-US" sz="1200" dirty="0"/>
          </a:p>
        </p:txBody>
      </p:sp>
      <p:sp>
        <p:nvSpPr>
          <p:cNvPr id="9" name="!!m1e0"/>
          <p:cNvSpPr/>
          <p:nvPr/>
        </p:nvSpPr>
        <p:spPr>
          <a:xfrm>
            <a:off x="3465576" y="2838298"/>
            <a:ext cx="914" cy="844906"/>
          </a:xfrm>
          <a:prstGeom prst="line">
            <a:avLst/>
          </a:prstGeom>
          <a:noFill/>
          <a:ln w="15875">
            <a:solidFill>
              <a:srgbClr val="5F5E5A"/>
            </a:solidFill>
            <a:prstDash val="solid"/>
            <a:tailEnd type="triangle"/>
          </a:ln>
        </p:spPr>
      </p:sp>
      <p:sp>
        <p:nvSpPr>
          <p:cNvPr id="10" name="!!m1e1"/>
          <p:cNvSpPr/>
          <p:nvPr/>
        </p:nvSpPr>
        <p:spPr>
          <a:xfrm>
            <a:off x="3926434" y="4169664"/>
            <a:ext cx="1613002" cy="914"/>
          </a:xfrm>
          <a:prstGeom prst="line">
            <a:avLst/>
          </a:prstGeom>
          <a:noFill/>
          <a:ln w="15875">
            <a:solidFill>
              <a:srgbClr val="5F5E5A"/>
            </a:solidFill>
            <a:prstDash val="solid"/>
            <a:tailEnd type="triangle"/>
          </a:ln>
        </p:spPr>
      </p:sp>
      <p:sp>
        <p:nvSpPr>
          <p:cNvPr id="11" name="!!m1e2"/>
          <p:cNvSpPr/>
          <p:nvPr/>
        </p:nvSpPr>
        <p:spPr>
          <a:xfrm>
            <a:off x="6486754" y="4169664"/>
            <a:ext cx="1613002" cy="914"/>
          </a:xfrm>
          <a:prstGeom prst="line">
            <a:avLst/>
          </a:prstGeom>
          <a:noFill/>
          <a:ln w="15875">
            <a:solidFill>
              <a:srgbClr val="5F5E5A"/>
            </a:solidFill>
            <a:prstDash val="solid"/>
            <a:tailEnd type="triangle"/>
          </a:ln>
        </p:spPr>
      </p:sp>
      <p:sp>
        <p:nvSpPr>
          <p:cNvPr id="12" name="!!m1e3"/>
          <p:cNvSpPr/>
          <p:nvPr/>
        </p:nvSpPr>
        <p:spPr>
          <a:xfrm flipV="1">
            <a:off x="8791042" y="2863901"/>
            <a:ext cx="76810" cy="921715"/>
          </a:xfrm>
          <a:prstGeom prst="line">
            <a:avLst/>
          </a:prstGeom>
          <a:noFill/>
          <a:ln w="15875">
            <a:solidFill>
              <a:srgbClr val="5F5E5A"/>
            </a:solidFill>
            <a:prstDash val="solid"/>
            <a:tailEnd type="triangle"/>
          </a:ln>
        </p:spPr>
      </p:sp>
      <p:sp>
        <p:nvSpPr>
          <p:cNvPr id="13" name="!!m1e4"/>
          <p:cNvSpPr/>
          <p:nvPr/>
        </p:nvSpPr>
        <p:spPr>
          <a:xfrm>
            <a:off x="3465576" y="4963363"/>
            <a:ext cx="914" cy="537667"/>
          </a:xfrm>
          <a:prstGeom prst="line">
            <a:avLst/>
          </a:prstGeom>
          <a:noFill/>
          <a:ln w="15875">
            <a:solidFill>
              <a:srgbClr val="5F5E5A"/>
            </a:solidFill>
            <a:prstDash val="dash"/>
            <a:tailEnd type="triangle"/>
          </a:ln>
        </p:spPr>
      </p:sp>
      <p:sp>
        <p:nvSpPr>
          <p:cNvPr id="14" name="!!m1e5"/>
          <p:cNvSpPr/>
          <p:nvPr/>
        </p:nvSpPr>
        <p:spPr>
          <a:xfrm>
            <a:off x="6025896" y="4963363"/>
            <a:ext cx="914" cy="537667"/>
          </a:xfrm>
          <a:prstGeom prst="line">
            <a:avLst/>
          </a:prstGeom>
          <a:noFill/>
          <a:ln w="15875">
            <a:solidFill>
              <a:srgbClr val="5F5E5A"/>
            </a:solidFill>
            <a:prstDash val="dash"/>
            <a:tailEnd type="triangle"/>
          </a:ln>
        </p:spPr>
      </p:sp>
      <p:sp>
        <p:nvSpPr>
          <p:cNvPr id="15" name="!!m1e6"/>
          <p:cNvSpPr/>
          <p:nvPr/>
        </p:nvSpPr>
        <p:spPr>
          <a:xfrm>
            <a:off x="8586216" y="4963363"/>
            <a:ext cx="914" cy="537667"/>
          </a:xfrm>
          <a:prstGeom prst="line">
            <a:avLst/>
          </a:prstGeom>
          <a:noFill/>
          <a:ln w="15875">
            <a:solidFill>
              <a:srgbClr val="5F5E5A"/>
            </a:solidFill>
            <a:prstDash val="dash"/>
            <a:tailEnd type="triangle"/>
          </a:ln>
        </p:spPr>
      </p:sp>
      <p:sp>
        <p:nvSpPr>
          <p:cNvPr id="16" name="!!coord"/>
          <p:cNvSpPr/>
          <p:nvPr/>
        </p:nvSpPr>
        <p:spPr>
          <a:xfrm>
            <a:off x="2185416" y="2185416"/>
            <a:ext cx="2560320" cy="640080"/>
          </a:xfrm>
          <a:prstGeom prst="roundRect">
            <a:avLst>
              <a:gd name="adj" fmla="val 114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Input</a:t>
            </a:r>
            <a:endParaRPr lang="en-US" sz="1400" dirty="0"/>
          </a:p>
        </p:txBody>
      </p:sp>
      <p:sp>
        <p:nvSpPr>
          <p:cNvPr id="17" name="!!guard"/>
          <p:cNvSpPr/>
          <p:nvPr/>
        </p:nvSpPr>
        <p:spPr>
          <a:xfrm>
            <a:off x="7946136" y="2185416"/>
            <a:ext cx="1920240" cy="640080"/>
          </a:xfrm>
          <a:prstGeom prst="roundRect">
            <a:avLst>
              <a:gd name="adj" fmla="val 114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8" name="!!ag0"/>
          <p:cNvSpPr/>
          <p:nvPr/>
        </p:nvSpPr>
        <p:spPr>
          <a:xfrm>
            <a:off x="303032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0" descr="/tmp/deck-icons/TbRobot_1D9E75.png">    </p:cNvPr>
          <p:cNvPicPr>
            <a:picLocks noChangeAspect="1"/>
          </p:cNvPicPr>
          <p:nvPr/>
        </p:nvPicPr>
        <p:blipFill>
          <a:blip r:embed="rId1"/>
          <a:stretch>
            <a:fillRect/>
          </a:stretch>
        </p:blipFill>
        <p:spPr>
          <a:xfrm>
            <a:off x="3273552" y="3977640"/>
            <a:ext cx="384048" cy="384048"/>
          </a:xfrm>
          <a:prstGeom prst="rect">
            <a:avLst/>
          </a:prstGeom>
        </p:spPr>
      </p:pic>
      <p:sp>
        <p:nvSpPr>
          <p:cNvPr id="20" name="!!agl0"/>
          <p:cNvSpPr txBox="1"/>
          <p:nvPr/>
        </p:nvSpPr>
        <p:spPr>
          <a:xfrm>
            <a:off x="273405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21" name="!!ag1"/>
          <p:cNvSpPr/>
          <p:nvPr/>
        </p:nvSpPr>
        <p:spPr>
          <a:xfrm>
            <a:off x="559064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2" name="!!agi1" descr="/tmp/deck-icons/TbRobot_1D9E75.png">    </p:cNvPr>
          <p:cNvPicPr>
            <a:picLocks noChangeAspect="1"/>
          </p:cNvPicPr>
          <p:nvPr/>
        </p:nvPicPr>
        <p:blipFill>
          <a:blip r:embed="rId2"/>
          <a:stretch>
            <a:fillRect/>
          </a:stretch>
        </p:blipFill>
        <p:spPr>
          <a:xfrm>
            <a:off x="5833872" y="3977640"/>
            <a:ext cx="384048" cy="384048"/>
          </a:xfrm>
          <a:prstGeom prst="rect">
            <a:avLst/>
          </a:prstGeom>
        </p:spPr>
      </p:pic>
      <p:sp>
        <p:nvSpPr>
          <p:cNvPr id="23" name="!!agl1"/>
          <p:cNvSpPr txBox="1"/>
          <p:nvPr/>
        </p:nvSpPr>
        <p:spPr>
          <a:xfrm>
            <a:off x="529437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4" name="!!ag2"/>
          <p:cNvSpPr/>
          <p:nvPr/>
        </p:nvSpPr>
        <p:spPr>
          <a:xfrm>
            <a:off x="8150962" y="373441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5" name="!!agi2" descr="/tmp/deck-icons/TbRobot_1D9E75.png">    </p:cNvPr>
          <p:cNvPicPr>
            <a:picLocks noChangeAspect="1"/>
          </p:cNvPicPr>
          <p:nvPr/>
        </p:nvPicPr>
        <p:blipFill>
          <a:blip r:embed="rId3"/>
          <a:stretch>
            <a:fillRect/>
          </a:stretch>
        </p:blipFill>
        <p:spPr>
          <a:xfrm>
            <a:off x="8394192" y="3977640"/>
            <a:ext cx="384048" cy="384048"/>
          </a:xfrm>
          <a:prstGeom prst="rect">
            <a:avLst/>
          </a:prstGeom>
        </p:spPr>
      </p:pic>
      <p:sp>
        <p:nvSpPr>
          <p:cNvPr id="26" name="!!agl2"/>
          <p:cNvSpPr txBox="1"/>
          <p:nvPr/>
        </p:nvSpPr>
        <p:spPr>
          <a:xfrm>
            <a:off x="7854696" y="468172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7" name="!!shared"/>
          <p:cNvSpPr/>
          <p:nvPr/>
        </p:nvSpPr>
        <p:spPr>
          <a:xfrm>
            <a:off x="2313432" y="5552237"/>
            <a:ext cx="7424928" cy="563270"/>
          </a:xfrm>
          <a:prstGeom prst="roundRect">
            <a:avLst>
              <a:gd name="adj" fmla="val 12987"/>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state</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The Core Idea of Multi-Agent Systems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Give each agent one job and connect them with clear hand-offs. The shape can change (supervisor, pipeline, swarm); the building blocks stay the same.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b0"/>
          <p:cNvSpPr/>
          <p:nvPr/>
        </p:nvSpPr>
        <p:spPr>
          <a:xfrm>
            <a:off x="5486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1 · Supervisor</a:t>
            </a:r>
            <a:endParaRPr lang="en-US" sz="1200" dirty="0"/>
          </a:p>
        </p:txBody>
      </p:sp>
      <p:sp>
        <p:nvSpPr>
          <p:cNvPr id="7" name="!!tab1"/>
          <p:cNvSpPr/>
          <p:nvPr/>
        </p:nvSpPr>
        <p:spPr>
          <a:xfrm>
            <a:off x="2148840" y="1371600"/>
            <a:ext cx="1463040" cy="310896"/>
          </a:xfrm>
          <a:prstGeom prst="roundRect">
            <a:avLst>
              <a:gd name="adj" fmla="val 50000"/>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200" dirty="0">
                <a:solidFill>
                  <a:srgbClr val="5F5E5A"/>
                </a:solidFill>
                <a:latin typeface="Calibri" pitchFamily="34" charset="0"/>
                <a:ea typeface="Calibri" pitchFamily="34" charset="-122"/>
                <a:cs typeface="Calibri" pitchFamily="34" charset="-120"/>
              </a:rPr>
              <a:t>2 · Pipeline</a:t>
            </a:r>
            <a:endParaRPr lang="en-US" sz="1200" dirty="0"/>
          </a:p>
        </p:txBody>
      </p:sp>
      <p:sp>
        <p:nvSpPr>
          <p:cNvPr id="8" name="!!tab2"/>
          <p:cNvSpPr/>
          <p:nvPr/>
        </p:nvSpPr>
        <p:spPr>
          <a:xfrm>
            <a:off x="3749040" y="1371600"/>
            <a:ext cx="1463040" cy="310896"/>
          </a:xfrm>
          <a:prstGeom prst="roundRect">
            <a:avLst>
              <a:gd name="adj" fmla="val 50000"/>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200" b="1" dirty="0">
                <a:solidFill>
                  <a:srgbClr val="3C3489"/>
                </a:solidFill>
                <a:latin typeface="Calibri" pitchFamily="34" charset="0"/>
                <a:ea typeface="Calibri" pitchFamily="34" charset="-122"/>
                <a:cs typeface="Calibri" pitchFamily="34" charset="-120"/>
              </a:rPr>
              <a:t>3 · Peer swarm</a:t>
            </a:r>
            <a:endParaRPr lang="en-US" sz="1200" dirty="0"/>
          </a:p>
        </p:txBody>
      </p:sp>
      <p:sp>
        <p:nvSpPr>
          <p:cNvPr id="9" name="!!m2e0"/>
          <p:cNvSpPr/>
          <p:nvPr/>
        </p:nvSpPr>
        <p:spPr>
          <a:xfrm>
            <a:off x="7331659" y="2377440"/>
            <a:ext cx="588874" cy="914"/>
          </a:xfrm>
          <a:prstGeom prst="line">
            <a:avLst/>
          </a:prstGeom>
          <a:noFill/>
          <a:ln w="15875">
            <a:solidFill>
              <a:srgbClr val="5F5E5A"/>
            </a:solidFill>
            <a:prstDash val="solid"/>
            <a:headEnd type="triangle"/>
            <a:tailEnd type="triangle"/>
          </a:ln>
        </p:spPr>
      </p:sp>
      <p:sp>
        <p:nvSpPr>
          <p:cNvPr id="10" name="!!m2e1"/>
          <p:cNvSpPr/>
          <p:nvPr/>
        </p:nvSpPr>
        <p:spPr>
          <a:xfrm>
            <a:off x="6025896" y="2710282"/>
            <a:ext cx="914" cy="332842"/>
          </a:xfrm>
          <a:prstGeom prst="line">
            <a:avLst/>
          </a:prstGeom>
          <a:noFill/>
          <a:ln w="15875">
            <a:solidFill>
              <a:srgbClr val="5F5E5A"/>
            </a:solidFill>
            <a:prstDash val="solid"/>
            <a:tailEnd type="triangle"/>
          </a:ln>
        </p:spPr>
      </p:sp>
      <p:sp>
        <p:nvSpPr>
          <p:cNvPr id="11" name="!!m2e2"/>
          <p:cNvSpPr/>
          <p:nvPr/>
        </p:nvSpPr>
        <p:spPr>
          <a:xfrm flipV="1">
            <a:off x="4233672" y="3747211"/>
            <a:ext cx="1408176" cy="729691"/>
          </a:xfrm>
          <a:prstGeom prst="line">
            <a:avLst/>
          </a:prstGeom>
          <a:noFill/>
          <a:ln w="15875">
            <a:solidFill>
              <a:srgbClr val="5F5E5A"/>
            </a:solidFill>
            <a:prstDash val="solid"/>
            <a:headEnd type="triangle"/>
            <a:tailEnd type="triangle"/>
          </a:ln>
        </p:spPr>
      </p:sp>
      <p:sp>
        <p:nvSpPr>
          <p:cNvPr id="12" name="!!m2e3"/>
          <p:cNvSpPr/>
          <p:nvPr/>
        </p:nvSpPr>
        <p:spPr>
          <a:xfrm>
            <a:off x="6409944" y="3747211"/>
            <a:ext cx="1408176" cy="729691"/>
          </a:xfrm>
          <a:prstGeom prst="line">
            <a:avLst/>
          </a:prstGeom>
          <a:noFill/>
          <a:ln w="15875">
            <a:solidFill>
              <a:srgbClr val="5F5E5A"/>
            </a:solidFill>
            <a:prstDash val="solid"/>
            <a:headEnd type="triangle"/>
            <a:tailEnd type="triangle"/>
          </a:ln>
        </p:spPr>
      </p:sp>
      <p:sp>
        <p:nvSpPr>
          <p:cNvPr id="13" name="!!m2e4"/>
          <p:cNvSpPr/>
          <p:nvPr/>
        </p:nvSpPr>
        <p:spPr>
          <a:xfrm>
            <a:off x="4310482" y="4681728"/>
            <a:ext cx="3430829" cy="914"/>
          </a:xfrm>
          <a:prstGeom prst="line">
            <a:avLst/>
          </a:prstGeom>
          <a:noFill/>
          <a:ln w="15875">
            <a:solidFill>
              <a:srgbClr val="5F5E5A"/>
            </a:solidFill>
            <a:prstDash val="solid"/>
            <a:headEnd type="triangle"/>
            <a:tailEnd type="triangle"/>
          </a:ln>
        </p:spPr>
      </p:sp>
      <p:sp>
        <p:nvSpPr>
          <p:cNvPr id="14" name="!!coord"/>
          <p:cNvSpPr/>
          <p:nvPr/>
        </p:nvSpPr>
        <p:spPr>
          <a:xfrm>
            <a:off x="4745736" y="2057400"/>
            <a:ext cx="2560320" cy="640080"/>
          </a:xfrm>
          <a:prstGeom prst="roundRect">
            <a:avLst>
              <a:gd name="adj" fmla="val 114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400" b="1" dirty="0">
                <a:solidFill>
                  <a:srgbClr val="3C3489"/>
                </a:solidFill>
                <a:latin typeface="Calibri" pitchFamily="34" charset="0"/>
                <a:ea typeface="Calibri" pitchFamily="34" charset="-122"/>
                <a:cs typeface="Calibri" pitchFamily="34" charset="-120"/>
              </a:rPr>
              <a:t>Task</a:t>
            </a:r>
            <a:endParaRPr lang="en-US" sz="1400" dirty="0"/>
          </a:p>
        </p:txBody>
      </p:sp>
      <p:sp>
        <p:nvSpPr>
          <p:cNvPr id="15" name="!!guard"/>
          <p:cNvSpPr/>
          <p:nvPr/>
        </p:nvSpPr>
        <p:spPr>
          <a:xfrm>
            <a:off x="7946136" y="2057400"/>
            <a:ext cx="1920240" cy="640080"/>
          </a:xfrm>
          <a:prstGeom prst="roundRect">
            <a:avLst>
              <a:gd name="adj" fmla="val 114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400" b="1" dirty="0">
                <a:solidFill>
                  <a:srgbClr val="712B13"/>
                </a:solidFill>
                <a:latin typeface="Calibri" pitchFamily="34" charset="0"/>
                <a:ea typeface="Calibri" pitchFamily="34" charset="-122"/>
                <a:cs typeface="Calibri" pitchFamily="34" charset="-120"/>
              </a:rPr>
              <a:t>Human gate</a:t>
            </a:r>
            <a:endParaRPr lang="en-US" sz="1400" dirty="0"/>
          </a:p>
        </p:txBody>
      </p:sp>
      <p:sp>
        <p:nvSpPr>
          <p:cNvPr id="16" name="!!ag0"/>
          <p:cNvSpPr/>
          <p:nvPr/>
        </p:nvSpPr>
        <p:spPr>
          <a:xfrm>
            <a:off x="3414370" y="4246474"/>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7" name="!!agi0" descr="/tmp/deck-icons/TbRobot_1D9E75.png">    </p:cNvPr>
          <p:cNvPicPr>
            <a:picLocks noChangeAspect="1"/>
          </p:cNvPicPr>
          <p:nvPr/>
        </p:nvPicPr>
        <p:blipFill>
          <a:blip r:embed="rId1"/>
          <a:stretch>
            <a:fillRect/>
          </a:stretch>
        </p:blipFill>
        <p:spPr>
          <a:xfrm>
            <a:off x="3657600" y="4489704"/>
            <a:ext cx="384048" cy="384048"/>
          </a:xfrm>
          <a:prstGeom prst="rect">
            <a:avLst/>
          </a:prstGeom>
        </p:spPr>
      </p:pic>
      <p:sp>
        <p:nvSpPr>
          <p:cNvPr id="18" name="!!agl0"/>
          <p:cNvSpPr txBox="1"/>
          <p:nvPr/>
        </p:nvSpPr>
        <p:spPr>
          <a:xfrm>
            <a:off x="3118104" y="519379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A</a:t>
            </a:r>
            <a:endParaRPr lang="en-US" sz="1400" dirty="0"/>
          </a:p>
        </p:txBody>
      </p:sp>
      <p:sp>
        <p:nvSpPr>
          <p:cNvPr id="19" name="!!ag1"/>
          <p:cNvSpPr/>
          <p:nvPr/>
        </p:nvSpPr>
        <p:spPr>
          <a:xfrm>
            <a:off x="5590642" y="3094330"/>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0" name="!!agi1" descr="/tmp/deck-icons/TbRobot_1D9E75.png">    </p:cNvPr>
          <p:cNvPicPr>
            <a:picLocks noChangeAspect="1"/>
          </p:cNvPicPr>
          <p:nvPr/>
        </p:nvPicPr>
        <p:blipFill>
          <a:blip r:embed="rId2"/>
          <a:stretch>
            <a:fillRect/>
          </a:stretch>
        </p:blipFill>
        <p:spPr>
          <a:xfrm>
            <a:off x="5833872" y="3337560"/>
            <a:ext cx="384048" cy="384048"/>
          </a:xfrm>
          <a:prstGeom prst="rect">
            <a:avLst/>
          </a:prstGeom>
        </p:spPr>
      </p:pic>
      <p:sp>
        <p:nvSpPr>
          <p:cNvPr id="21" name="!!agl1"/>
          <p:cNvSpPr txBox="1"/>
          <p:nvPr/>
        </p:nvSpPr>
        <p:spPr>
          <a:xfrm>
            <a:off x="5294376" y="4041648"/>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B</a:t>
            </a:r>
            <a:endParaRPr lang="en-US" sz="1400" dirty="0"/>
          </a:p>
        </p:txBody>
      </p:sp>
      <p:sp>
        <p:nvSpPr>
          <p:cNvPr id="22" name="!!ag2"/>
          <p:cNvSpPr/>
          <p:nvPr/>
        </p:nvSpPr>
        <p:spPr>
          <a:xfrm>
            <a:off x="7766914" y="4246474"/>
            <a:ext cx="870509" cy="870509"/>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3" name="!!agi2" descr="/tmp/deck-icons/TbRobot_1D9E75.png">    </p:cNvPr>
          <p:cNvPicPr>
            <a:picLocks noChangeAspect="1"/>
          </p:cNvPicPr>
          <p:nvPr/>
        </p:nvPicPr>
        <p:blipFill>
          <a:blip r:embed="rId3"/>
          <a:stretch>
            <a:fillRect/>
          </a:stretch>
        </p:blipFill>
        <p:spPr>
          <a:xfrm>
            <a:off x="8010144" y="4489704"/>
            <a:ext cx="384048" cy="384048"/>
          </a:xfrm>
          <a:prstGeom prst="rect">
            <a:avLst/>
          </a:prstGeom>
        </p:spPr>
      </p:pic>
      <p:sp>
        <p:nvSpPr>
          <p:cNvPr id="24" name="!!agl2"/>
          <p:cNvSpPr txBox="1"/>
          <p:nvPr/>
        </p:nvSpPr>
        <p:spPr>
          <a:xfrm>
            <a:off x="7470648" y="5193792"/>
            <a:ext cx="1463040" cy="274320"/>
          </a:xfrm>
          <a:prstGeom prst="rect">
            <a:avLst/>
          </a:prstGeom>
          <a:noFill/>
          <a:ln/>
        </p:spPr>
        <p:txBody>
          <a:bodyPr wrap="square" lIns="0" tIns="0" rIns="0" bIns="0" rtlCol="0" anchor="t"/>
          <a:lstStyle/>
          <a:p>
            <a:pPr algn="ctr" indent="0" marL="0">
              <a:buNone/>
            </a:pPr>
            <a:r>
              <a:rPr lang="en-US" sz="1400" b="1" dirty="0">
                <a:solidFill>
                  <a:srgbClr val="085041"/>
                </a:solidFill>
                <a:latin typeface="Calibri" pitchFamily="34" charset="0"/>
                <a:ea typeface="Calibri" pitchFamily="34" charset="-122"/>
                <a:cs typeface="Calibri" pitchFamily="34" charset="-120"/>
              </a:rPr>
              <a:t>Agent C</a:t>
            </a:r>
            <a:endParaRPr lang="en-US" sz="1400" dirty="0"/>
          </a:p>
        </p:txBody>
      </p:sp>
      <p:sp>
        <p:nvSpPr>
          <p:cNvPr id="25" name="!!shared"/>
          <p:cNvSpPr/>
          <p:nvPr/>
        </p:nvSpPr>
        <p:spPr>
          <a:xfrm>
            <a:off x="2313432" y="5552237"/>
            <a:ext cx="7424928" cy="563270"/>
          </a:xfrm>
          <a:prstGeom prst="roundRect">
            <a:avLst>
              <a:gd name="adj" fmla="val 12987"/>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400" b="1" dirty="0">
                <a:solidFill>
                  <a:srgbClr val="2C2C2A"/>
                </a:solidFill>
                <a:latin typeface="Calibri" pitchFamily="34" charset="0"/>
                <a:ea typeface="Calibri" pitchFamily="34" charset="-122"/>
                <a:cs typeface="Calibri" pitchFamily="34" charset="-120"/>
              </a:rPr>
              <a:t>Shared board</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The Core Idea of Multi-Agent Systems</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Give each agent one job and connect them with clear hand-offs. The shape can change (supervisor, pipeline, swarm); the building blocks stay the same.</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m0e0"/>
          <p:cNvSpPr/>
          <p:nvPr/>
        </p:nvSpPr>
        <p:spPr>
          <a:xfrm>
            <a:off x="4296766" y="2304288"/>
            <a:ext cx="399593" cy="914"/>
          </a:xfrm>
          <a:prstGeom prst="line">
            <a:avLst/>
          </a:prstGeom>
          <a:noFill/>
          <a:ln w="15875">
            <a:solidFill>
              <a:srgbClr val="5F5E5A"/>
            </a:solidFill>
            <a:prstDash val="solid"/>
            <a:headEnd type="triangle"/>
            <a:tailEnd type="triangle"/>
          </a:ln>
        </p:spPr>
      </p:sp>
      <p:sp>
        <p:nvSpPr>
          <p:cNvPr id="7" name="!!m0e1"/>
          <p:cNvSpPr/>
          <p:nvPr/>
        </p:nvSpPr>
        <p:spPr>
          <a:xfrm flipH="1">
            <a:off x="1847088" y="2530145"/>
            <a:ext cx="1216152" cy="625450"/>
          </a:xfrm>
          <a:prstGeom prst="line">
            <a:avLst/>
          </a:prstGeom>
          <a:noFill/>
          <a:ln w="15875">
            <a:solidFill>
              <a:srgbClr val="5F5E5A"/>
            </a:solidFill>
            <a:prstDash val="solid"/>
            <a:headEnd type="triangle"/>
            <a:tailEnd type="triangle"/>
          </a:ln>
        </p:spPr>
      </p:sp>
      <p:sp>
        <p:nvSpPr>
          <p:cNvPr id="8" name="!!m0e2"/>
          <p:cNvSpPr/>
          <p:nvPr/>
        </p:nvSpPr>
        <p:spPr>
          <a:xfrm>
            <a:off x="3410712" y="2530145"/>
            <a:ext cx="914" cy="573329"/>
          </a:xfrm>
          <a:prstGeom prst="line">
            <a:avLst/>
          </a:prstGeom>
          <a:noFill/>
          <a:ln w="15875">
            <a:solidFill>
              <a:srgbClr val="5F5E5A"/>
            </a:solidFill>
            <a:prstDash val="solid"/>
            <a:headEnd type="triangle"/>
            <a:tailEnd type="triangle"/>
          </a:ln>
        </p:spPr>
      </p:sp>
      <p:sp>
        <p:nvSpPr>
          <p:cNvPr id="9" name="!!m0e3"/>
          <p:cNvSpPr/>
          <p:nvPr/>
        </p:nvSpPr>
        <p:spPr>
          <a:xfrm>
            <a:off x="3758184" y="2530145"/>
            <a:ext cx="1216152" cy="625450"/>
          </a:xfrm>
          <a:prstGeom prst="line">
            <a:avLst/>
          </a:prstGeom>
          <a:noFill/>
          <a:ln w="15875">
            <a:solidFill>
              <a:srgbClr val="5F5E5A"/>
            </a:solidFill>
            <a:prstDash val="solid"/>
            <a:headEnd type="triangle"/>
            <a:tailEnd type="triangle"/>
          </a:ln>
        </p:spPr>
      </p:sp>
      <p:sp>
        <p:nvSpPr>
          <p:cNvPr id="10" name="!!m0e4"/>
          <p:cNvSpPr/>
          <p:nvPr/>
        </p:nvSpPr>
        <p:spPr>
          <a:xfrm>
            <a:off x="1673352" y="3972154"/>
            <a:ext cx="914" cy="364846"/>
          </a:xfrm>
          <a:prstGeom prst="line">
            <a:avLst/>
          </a:prstGeom>
          <a:noFill/>
          <a:ln w="15875">
            <a:solidFill>
              <a:srgbClr val="5F5E5A"/>
            </a:solidFill>
            <a:prstDash val="solid"/>
            <a:tailEnd type="triangle"/>
          </a:ln>
        </p:spPr>
      </p:sp>
      <p:sp>
        <p:nvSpPr>
          <p:cNvPr id="11" name="!!m0e5"/>
          <p:cNvSpPr/>
          <p:nvPr/>
        </p:nvSpPr>
        <p:spPr>
          <a:xfrm>
            <a:off x="3410712" y="3972154"/>
            <a:ext cx="914" cy="364846"/>
          </a:xfrm>
          <a:prstGeom prst="line">
            <a:avLst/>
          </a:prstGeom>
          <a:noFill/>
          <a:ln w="15875">
            <a:solidFill>
              <a:srgbClr val="5F5E5A"/>
            </a:solidFill>
            <a:prstDash val="solid"/>
            <a:tailEnd type="triangle"/>
          </a:ln>
        </p:spPr>
      </p:sp>
      <p:sp>
        <p:nvSpPr>
          <p:cNvPr id="12" name="!!m0e6"/>
          <p:cNvSpPr/>
          <p:nvPr/>
        </p:nvSpPr>
        <p:spPr>
          <a:xfrm>
            <a:off x="5148072" y="3972154"/>
            <a:ext cx="914" cy="364846"/>
          </a:xfrm>
          <a:prstGeom prst="line">
            <a:avLst/>
          </a:prstGeom>
          <a:noFill/>
          <a:ln w="15875">
            <a:solidFill>
              <a:srgbClr val="5F5E5A"/>
            </a:solidFill>
            <a:prstDash val="solid"/>
            <a:tailEnd type="triangle"/>
          </a:ln>
        </p:spPr>
      </p:sp>
      <p:sp>
        <p:nvSpPr>
          <p:cNvPr id="13" name="!!coord"/>
          <p:cNvSpPr/>
          <p:nvPr/>
        </p:nvSpPr>
        <p:spPr>
          <a:xfrm>
            <a:off x="2542032" y="2087118"/>
            <a:ext cx="1737360" cy="434340"/>
          </a:xfrm>
          <a:prstGeom prst="roundRect">
            <a:avLst>
              <a:gd name="adj" fmla="val 168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b="1" dirty="0">
                <a:solidFill>
                  <a:srgbClr val="3C3489"/>
                </a:solidFill>
                <a:latin typeface="Calibri" pitchFamily="34" charset="0"/>
                <a:ea typeface="Calibri" pitchFamily="34" charset="-122"/>
                <a:cs typeface="Calibri" pitchFamily="34" charset="-120"/>
              </a:rPr>
              <a:t>Supervisor</a:t>
            </a:r>
            <a:endParaRPr lang="en-US" sz="1100" dirty="0"/>
          </a:p>
        </p:txBody>
      </p:sp>
      <p:sp>
        <p:nvSpPr>
          <p:cNvPr id="14" name="!!guard"/>
          <p:cNvSpPr/>
          <p:nvPr/>
        </p:nvSpPr>
        <p:spPr>
          <a:xfrm>
            <a:off x="4713732" y="2087118"/>
            <a:ext cx="1303020" cy="434340"/>
          </a:xfrm>
          <a:prstGeom prst="roundRect">
            <a:avLst>
              <a:gd name="adj" fmla="val 168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b="1" dirty="0">
                <a:solidFill>
                  <a:srgbClr val="712B13"/>
                </a:solidFill>
                <a:latin typeface="Calibri" pitchFamily="34" charset="0"/>
                <a:ea typeface="Calibri" pitchFamily="34" charset="-122"/>
                <a:cs typeface="Calibri" pitchFamily="34" charset="-120"/>
              </a:rPr>
              <a:t>Human gate</a:t>
            </a:r>
            <a:endParaRPr lang="en-US" sz="1100" dirty="0"/>
          </a:p>
        </p:txBody>
      </p:sp>
      <p:sp>
        <p:nvSpPr>
          <p:cNvPr id="15" name="!!ag0"/>
          <p:cNvSpPr/>
          <p:nvPr/>
        </p:nvSpPr>
        <p:spPr>
          <a:xfrm>
            <a:off x="1378001" y="313822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6" name="!!agi0" descr="/tmp/deck-icons/TbRobot_1D9E75.png">    </p:cNvPr>
          <p:cNvPicPr>
            <a:picLocks noChangeAspect="1"/>
          </p:cNvPicPr>
          <p:nvPr/>
        </p:nvPicPr>
        <p:blipFill>
          <a:blip r:embed="rId1"/>
          <a:stretch>
            <a:fillRect/>
          </a:stretch>
        </p:blipFill>
        <p:spPr>
          <a:xfrm>
            <a:off x="1543050" y="3303270"/>
            <a:ext cx="260604" cy="260604"/>
          </a:xfrm>
          <a:prstGeom prst="rect">
            <a:avLst/>
          </a:prstGeom>
        </p:spPr>
      </p:pic>
      <p:sp>
        <p:nvSpPr>
          <p:cNvPr id="17" name="!!agl0"/>
          <p:cNvSpPr txBox="1"/>
          <p:nvPr/>
        </p:nvSpPr>
        <p:spPr>
          <a:xfrm>
            <a:off x="941832" y="378104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A</a:t>
            </a:r>
            <a:endParaRPr lang="en-US" sz="1100" dirty="0"/>
          </a:p>
        </p:txBody>
      </p:sp>
      <p:sp>
        <p:nvSpPr>
          <p:cNvPr id="18" name="!!ag1"/>
          <p:cNvSpPr/>
          <p:nvPr/>
        </p:nvSpPr>
        <p:spPr>
          <a:xfrm>
            <a:off x="3115361" y="313822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19" name="!!agi1" descr="/tmp/deck-icons/TbRobot_1D9E75.png">    </p:cNvPr>
          <p:cNvPicPr>
            <a:picLocks noChangeAspect="1"/>
          </p:cNvPicPr>
          <p:nvPr/>
        </p:nvPicPr>
        <p:blipFill>
          <a:blip r:embed="rId2"/>
          <a:stretch>
            <a:fillRect/>
          </a:stretch>
        </p:blipFill>
        <p:spPr>
          <a:xfrm>
            <a:off x="3280410" y="3303270"/>
            <a:ext cx="260604" cy="260604"/>
          </a:xfrm>
          <a:prstGeom prst="rect">
            <a:avLst/>
          </a:prstGeom>
        </p:spPr>
      </p:pic>
      <p:sp>
        <p:nvSpPr>
          <p:cNvPr id="20" name="!!agl1"/>
          <p:cNvSpPr txBox="1"/>
          <p:nvPr/>
        </p:nvSpPr>
        <p:spPr>
          <a:xfrm>
            <a:off x="2679192" y="378104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B</a:t>
            </a:r>
            <a:endParaRPr lang="en-US" sz="1100" dirty="0"/>
          </a:p>
        </p:txBody>
      </p:sp>
      <p:sp>
        <p:nvSpPr>
          <p:cNvPr id="21" name="!!ag2"/>
          <p:cNvSpPr/>
          <p:nvPr/>
        </p:nvSpPr>
        <p:spPr>
          <a:xfrm>
            <a:off x="4852721" y="3138221"/>
            <a:ext cx="590702" cy="590702"/>
          </a:xfrm>
          <a:prstGeom prst="ellipse">
            <a:avLst/>
          </a:prstGeom>
          <a:solidFill>
            <a:srgbClr val="E1F5EE"/>
          </a:solidFill>
          <a:ln w="12700">
            <a:solidFill>
              <a:srgbClr val="0F6E56"/>
            </a:solidFill>
            <a:prstDash val="dash"/>
          </a:ln>
        </p:spPr>
        <p:txBody>
          <a:bodyPr wrap="square" lIns="50800" tIns="50800" rIns="50800" bIns="50800" rtlCol="0" anchor="ctr"/>
          <a:lstStyle/>
          <a:p>
            <a:pPr algn="ctr" indent="0" marL="0">
              <a:buNone/>
            </a:pPr>
            <a:endParaRPr lang="en-US" sz="1200" dirty="0"/>
          </a:p>
        </p:txBody>
      </p:sp>
      <p:pic>
        <p:nvPicPr>
          <p:cNvPr id="22" name="!!agi2" descr="/tmp/deck-icons/TbRobot_1D9E75.png">    </p:cNvPr>
          <p:cNvPicPr>
            <a:picLocks noChangeAspect="1"/>
          </p:cNvPicPr>
          <p:nvPr/>
        </p:nvPicPr>
        <p:blipFill>
          <a:blip r:embed="rId3"/>
          <a:stretch>
            <a:fillRect/>
          </a:stretch>
        </p:blipFill>
        <p:spPr>
          <a:xfrm>
            <a:off x="5017770" y="3303270"/>
            <a:ext cx="260604" cy="260604"/>
          </a:xfrm>
          <a:prstGeom prst="rect">
            <a:avLst/>
          </a:prstGeom>
        </p:spPr>
      </p:pic>
      <p:sp>
        <p:nvSpPr>
          <p:cNvPr id="23" name="!!agl2"/>
          <p:cNvSpPr txBox="1"/>
          <p:nvPr/>
        </p:nvSpPr>
        <p:spPr>
          <a:xfrm>
            <a:off x="4416552" y="3781044"/>
            <a:ext cx="1463040" cy="274320"/>
          </a:xfrm>
          <a:prstGeom prst="rect">
            <a:avLst/>
          </a:prstGeom>
          <a:noFill/>
          <a:ln/>
        </p:spPr>
        <p:txBody>
          <a:bodyPr wrap="square" lIns="0" tIns="0" rIns="0" bIns="0" rtlCol="0" anchor="t"/>
          <a:lstStyle/>
          <a:p>
            <a:pPr algn="ctr" indent="0" marL="0">
              <a:buNone/>
            </a:pPr>
            <a:r>
              <a:rPr lang="en-US" sz="1100" b="1" dirty="0">
                <a:solidFill>
                  <a:srgbClr val="085041"/>
                </a:solidFill>
                <a:latin typeface="Calibri" pitchFamily="34" charset="0"/>
                <a:ea typeface="Calibri" pitchFamily="34" charset="-122"/>
                <a:cs typeface="Calibri" pitchFamily="34" charset="-120"/>
              </a:rPr>
              <a:t>Agent C</a:t>
            </a:r>
            <a:endParaRPr lang="en-US" sz="1100" dirty="0"/>
          </a:p>
        </p:txBody>
      </p:sp>
      <p:sp>
        <p:nvSpPr>
          <p:cNvPr id="24" name="!!shared"/>
          <p:cNvSpPr/>
          <p:nvPr/>
        </p:nvSpPr>
        <p:spPr>
          <a:xfrm>
            <a:off x="891540" y="4371746"/>
            <a:ext cx="5038344" cy="382219"/>
          </a:xfrm>
          <a:prstGeom prst="roundRect">
            <a:avLst>
              <a:gd name="adj" fmla="val 19139"/>
            </a:avLst>
          </a:prstGeom>
          <a:solidFill>
            <a:srgbClr val="F1EFE8"/>
          </a:solidFill>
          <a:ln w="12700">
            <a:solidFill>
              <a:srgbClr val="888780"/>
            </a:solidFill>
            <a:prstDash val="solid"/>
          </a:ln>
        </p:spPr>
        <p:txBody>
          <a:bodyPr wrap="square" lIns="50800" tIns="50800" rIns="50800" bIns="50800" rtlCol="0" anchor="ctr"/>
          <a:lstStyle/>
          <a:p>
            <a:pPr algn="ctr" indent="0" marL="0">
              <a:buNone/>
            </a:pPr>
            <a:r>
              <a:rPr lang="en-US" sz="1100" b="1" dirty="0">
                <a:solidFill>
                  <a:srgbClr val="2C2C2A"/>
                </a:solidFill>
                <a:latin typeface="Calibri" pitchFamily="34" charset="0"/>
                <a:ea typeface="Calibri" pitchFamily="34" charset="-122"/>
                <a:cs typeface="Calibri" pitchFamily="34" charset="-120"/>
              </a:rPr>
              <a:t>Shared state</a:t>
            </a:r>
            <a:endParaRPr lang="en-US" sz="1100" dirty="0"/>
          </a:p>
        </p:txBody>
      </p:sp>
      <p:sp>
        <p:nvSpPr>
          <p:cNvPr id="25" name="!!core"/>
          <p:cNvSpPr/>
          <p:nvPr/>
        </p:nvSpPr>
        <p:spPr>
          <a:xfrm>
            <a:off x="6675120" y="1417320"/>
            <a:ext cx="5029200" cy="1051560"/>
          </a:xfrm>
          <a:prstGeom prst="roundRect">
            <a:avLst>
              <a:gd name="adj" fmla="val 10435"/>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500" b="1" dirty="0">
                <a:solidFill>
                  <a:srgbClr val="3C3489"/>
                </a:solidFill>
                <a:latin typeface="Calibri" pitchFamily="34" charset="0"/>
                <a:ea typeface="Calibri" pitchFamily="34" charset="-122"/>
                <a:cs typeface="Calibri" pitchFamily="34" charset="-120"/>
              </a:rPr>
              <a:t>Replace one agent that does everything with a team of focused agents, each owning one job, coordinated through clear hand-offs.</a:t>
            </a:r>
            <a:endParaRPr lang="en-US" sz="1500" dirty="0"/>
          </a:p>
        </p:txBody>
      </p:sp>
      <p:pic>
        <p:nvPicPr>
          <p:cNvPr id="26" name="!!wi0" descr="/tmp/deck-icons/TbCircleCheck_1D9E75.png">    </p:cNvPr>
          <p:cNvPicPr>
            <a:picLocks noChangeAspect="1"/>
          </p:cNvPicPr>
          <p:nvPr/>
        </p:nvPicPr>
        <p:blipFill>
          <a:blip r:embed="rId4"/>
          <a:stretch>
            <a:fillRect/>
          </a:stretch>
        </p:blipFill>
        <p:spPr>
          <a:xfrm>
            <a:off x="6675120" y="2743200"/>
            <a:ext cx="274320" cy="274320"/>
          </a:xfrm>
          <a:prstGeom prst="rect">
            <a:avLst/>
          </a:prstGeom>
        </p:spPr>
      </p:pic>
      <p:sp>
        <p:nvSpPr>
          <p:cNvPr id="27" name="!!wt0"/>
          <p:cNvSpPr txBox="1"/>
          <p:nvPr/>
        </p:nvSpPr>
        <p:spPr>
          <a:xfrm>
            <a:off x="7086600" y="269748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Focus</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small context, few tools, one job per agent</a:t>
            </a:r>
            <a:endParaRPr lang="en-US" sz="1400" dirty="0"/>
          </a:p>
        </p:txBody>
      </p:sp>
      <p:pic>
        <p:nvPicPr>
          <p:cNvPr id="28" name="!!wi1" descr="/tmp/deck-icons/TbCircleCheck_1D9E75.png">    </p:cNvPr>
          <p:cNvPicPr>
            <a:picLocks noChangeAspect="1"/>
          </p:cNvPicPr>
          <p:nvPr/>
        </p:nvPicPr>
        <p:blipFill>
          <a:blip r:embed="rId5"/>
          <a:stretch>
            <a:fillRect/>
          </a:stretch>
        </p:blipFill>
        <p:spPr>
          <a:xfrm>
            <a:off x="6675120" y="3474720"/>
            <a:ext cx="274320" cy="274320"/>
          </a:xfrm>
          <a:prstGeom prst="rect">
            <a:avLst/>
          </a:prstGeom>
        </p:spPr>
      </p:pic>
      <p:sp>
        <p:nvSpPr>
          <p:cNvPr id="29" name="!!wt1"/>
          <p:cNvSpPr txBox="1"/>
          <p:nvPr/>
        </p:nvSpPr>
        <p:spPr>
          <a:xfrm>
            <a:off x="7086600" y="342900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Containment</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a failure stays inside one agent, not the whole run</a:t>
            </a:r>
            <a:endParaRPr lang="en-US" sz="1400" dirty="0"/>
          </a:p>
        </p:txBody>
      </p:sp>
      <p:pic>
        <p:nvPicPr>
          <p:cNvPr id="30" name="!!wi2" descr="/tmp/deck-icons/TbCircleCheck_1D9E75.png">    </p:cNvPr>
          <p:cNvPicPr>
            <a:picLocks noChangeAspect="1"/>
          </p:cNvPicPr>
          <p:nvPr/>
        </p:nvPicPr>
        <p:blipFill>
          <a:blip r:embed="rId6"/>
          <a:stretch>
            <a:fillRect/>
          </a:stretch>
        </p:blipFill>
        <p:spPr>
          <a:xfrm>
            <a:off x="6675120" y="4206240"/>
            <a:ext cx="274320" cy="274320"/>
          </a:xfrm>
          <a:prstGeom prst="rect">
            <a:avLst/>
          </a:prstGeom>
        </p:spPr>
      </p:pic>
      <p:sp>
        <p:nvSpPr>
          <p:cNvPr id="31" name="!!wt2"/>
          <p:cNvSpPr txBox="1"/>
          <p:nvPr/>
        </p:nvSpPr>
        <p:spPr>
          <a:xfrm>
            <a:off x="7086600" y="416052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Independent checking</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the checker isn't the maker</a:t>
            </a:r>
            <a:endParaRPr lang="en-US" sz="1400" dirty="0"/>
          </a:p>
        </p:txBody>
      </p:sp>
      <p:pic>
        <p:nvPicPr>
          <p:cNvPr id="32" name="!!wi3" descr="/tmp/deck-icons/TbCircleCheck_1D9E75.png">    </p:cNvPr>
          <p:cNvPicPr>
            <a:picLocks noChangeAspect="1"/>
          </p:cNvPicPr>
          <p:nvPr/>
        </p:nvPicPr>
        <p:blipFill>
          <a:blip r:embed="rId7"/>
          <a:stretch>
            <a:fillRect/>
          </a:stretch>
        </p:blipFill>
        <p:spPr>
          <a:xfrm>
            <a:off x="6675120" y="4937760"/>
            <a:ext cx="274320" cy="274320"/>
          </a:xfrm>
          <a:prstGeom prst="rect">
            <a:avLst/>
          </a:prstGeom>
        </p:spPr>
      </p:pic>
      <p:sp>
        <p:nvSpPr>
          <p:cNvPr id="33" name="!!wt3"/>
          <p:cNvSpPr txBox="1"/>
          <p:nvPr/>
        </p:nvSpPr>
        <p:spPr>
          <a:xfrm>
            <a:off x="7086600" y="4892040"/>
            <a:ext cx="4617720" cy="658368"/>
          </a:xfrm>
          <a:prstGeom prst="rect">
            <a:avLst/>
          </a:prstGeom>
          <a:noFill/>
          <a:ln/>
        </p:spPr>
        <p:txBody>
          <a:bodyPr wrap="square" lIns="0" tIns="0" rIns="0" bIns="0" rtlCol="0" anchor="t"/>
          <a:lstStyle/>
          <a:p>
            <a:pPr algn="l" indent="0" marL="0">
              <a:buNone/>
            </a:pPr>
            <a:r>
              <a:rPr lang="en-US" sz="1400" b="1" dirty="0">
                <a:solidFill>
                  <a:srgbClr val="2C2C2A"/>
                </a:solidFill>
                <a:latin typeface="Calibri" pitchFamily="34" charset="0"/>
                <a:ea typeface="Calibri" pitchFamily="34" charset="-122"/>
                <a:cs typeface="Calibri" pitchFamily="34" charset="-120"/>
              </a:rPr>
              <a:t>Modular</a:t>
            </a:r>
            <a:endParaRPr lang="en-US" sz="1400" dirty="0"/>
          </a:p>
          <a:p>
            <a:pPr algn="l" indent="0" marL="0">
              <a:buNone/>
            </a:pPr>
            <a:r>
              <a:rPr lang="en-US" sz="1400" dirty="0">
                <a:solidFill>
                  <a:srgbClr val="5F5E5A"/>
                </a:solidFill>
                <a:latin typeface="Calibri" pitchFamily="34" charset="0"/>
                <a:ea typeface="Calibri" pitchFamily="34" charset="-122"/>
                <a:cs typeface="Calibri" pitchFamily="34" charset="-120"/>
              </a:rPr>
              <a:t>test, swap or upgrade one agent at a time, even a different model per agent</a:t>
            </a:r>
            <a:endParaRPr lang="en-US" sz="1400" dirty="0"/>
          </a:p>
        </p:txBody>
      </p:sp>
      <p:sp>
        <p:nvSpPr>
          <p:cNvPr id="34" name="!!take6"/>
          <p:cNvSpPr txBox="1"/>
          <p:nvPr/>
        </p:nvSpPr>
        <p:spPr>
          <a:xfrm>
            <a:off x="548640" y="5760720"/>
            <a:ext cx="11064240" cy="45720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A multi-agent system is a well-run team: one job each, clear hand-offs, a shared goal, and someone who signs off.</a:t>
            </a:r>
            <a:endParaRPr lang="en-US" sz="16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43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&amp; Subgraph Architecture</dc:title>
  <dc:subject>PptxGenJS Presentation</dc:subject>
  <dc:creator>Amitkumar</dc:creator>
  <cp:lastModifiedBy>Amitkumar</cp:lastModifiedBy>
  <cp:revision>1</cp:revision>
  <dcterms:created xsi:type="dcterms:W3CDTF">2026-10-29T02:54:45Z</dcterms:created>
  <dcterms:modified xsi:type="dcterms:W3CDTF">2026-10-29T02:54:45Z</dcterms:modified>
</cp:coreProperties>
</file>