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9.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9.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9" r:id="rId50"/>
    <p:sldId id="300" r:id="rId51"/>
    <p:sldId id="284" r:id="rId30"/>
    <p:sldId id="285" r:id="rId31"/>
    <p:sldId id="288" r:id="rId34"/>
    <p:sldId id="289" r:id="rId35"/>
    <p:sldId id="294" r:id="rId40"/>
    <p:sldId id="301" r:id="rId52"/>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Title" id="{BDEE4B56-C3AB-4070-8CC2-A0DB2BD45A87}">
          <p14:sldIdLst>
            <p14:sldId id="256"/>
          </p14:sldIdLst>
        </p14:section>
        <p14:section name="2 · Why Single Agents Fail" id="{28A5C257-5D9F-410E-9EBD-6A98768D74A1}">
          <p14:sldIdLst>
            <p14:sldId id="299"/>
            <p14:sldId id="300"/>
          </p14:sldIdLst>
        </p14:section>
        <p14:section name="3 · Thinking + Acting + Checking" id="{A6ACD8CE-B9A1-4274-B98D-C090E2A07E03}">
          <p14:sldIdLst>
            <p14:sldId id="284"/>
            <p14:sldId id="285"/>
          </p14:sldIdLst>
        </p14:section>
        <p14:section name="4 · Failure Modes" id="{03BD9FCD-7AC0-4B90-B278-BA824C3B51CE}">
          <p14:sldIdLst>
            <p14:sldId id="288"/>
          </p14:sldIdLst>
        </p14:section>
        <p14:section name="5 · Root Cause" id="{4B5412C8-6EE0-4FE3-8725-3E256FA84754}">
          <p14:sldIdLst>
            <p14:sldId id="289"/>
            <p14:sldId id="294"/>
          </p14:sldIdLst>
        </p14:section>
        <p14:section name="6 · Core Idea" id="{7E38564B-4DDC-483F-8D0D-3246D6969B93}">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0" Type="http://schemas.openxmlformats.org/officeDocument/2006/relationships/slide" Target="slides/slide29.xml"/><Relationship Id="rId31" Type="http://schemas.openxmlformats.org/officeDocument/2006/relationships/slide" Target="slides/slide30.xml"/><Relationship Id="rId34" Type="http://schemas.openxmlformats.org/officeDocument/2006/relationships/slide" Target="slides/slide33.xml"/><Relationship Id="rId35" Type="http://schemas.openxmlformats.org/officeDocument/2006/relationships/slide" Target="slides/slide34.xml"/><Relationship Id="rId40" Type="http://schemas.openxmlformats.org/officeDocument/2006/relationships/slide" Target="slides/slide39.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multi-agent system is a parent graph that coordinates smaller graphs. Each agent is a subgraph: its own LLM, its own few tools, its own loop and state. The supervisor decides who works, the subgraphs do the work in isolation, and the checker verifies before anything leaves.</a:t>
            </a:r>
          </a:p>
          <a:p/>
          <a:p>
            <a:r>
              <a:t>Every single-agent loop is steered by one field, finish_reason, and that's where the problems start. The rest of this section explains why we need this architecture, then the later slides walk through six ways to wire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Mixed: This is every message from the chaotic run, top to bottom, coloured by job. Purple is thinking, teal is acting, coral is checking. Look how they take turns in the same window. The 50k-row result sits right where the agent plans from, so the plan drifts. And look at the right-hand tags: every thinking block says "no signal". The loop only ever sees tool_use or end_turn. There's no signal for "plan ready" or "check passed".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Sorted: Same messages, sorted by job. Three clean lanes. The checking lane is all fails, a false pass and a rejection — the same brain that wrote the fix graded it. These are three responsibilities that never needed to share a brain.</a:t>
            </a:r>
          </a:p>
          <a:p/>
          <a:p>
            <a:r>
              <a:t>Close: One loop, three jobs, one exit signal. In banking we'd never let the maker check their own work. Why do we let an agent?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back from our example. Agent failures aren't random; they fall into the same three jobs. Thinking failures are when the agent loses the plot: it drifts from the goal, or picks the wrong tool.</a:t>
            </a:r>
          </a:p>
          <a:p/>
          <a:p>
            <a:r>
              <a:t>[click] Acting failures are when it can't stop doing: it loops on the same step, or one bad step poisons everything after it.</a:t>
            </a:r>
          </a:p>
          <a:p/>
          <a:p>
            <a:r>
              <a:t>[click] Checking failures are the most dangerous, because they look like success: it says "done" when it isn't, or stops halfway and sounds confident.</a:t>
            </a:r>
          </a:p>
          <a:p/>
          <a:p>
            <a:r>
              <a:t>Close: Notice the causes: crowded context, too many tools, no limits, no checkpoints, and grading its own work. None of these are model problems. Every failure is one of three jobs going wrong, and every cause is a design choice.</a:t>
            </a:r>
          </a:p>
          <a:p/>
          <a:p>
            <a:r>
              <a:t>Bridge: If every cause is a design choice, the fix is a design fix.</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Root cause: Here's the single agent again: three jobs squashed into one loop, one shared context, and finish_reason deciding everything. Let's fix it, one principle at a time.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five principles applied: separation of concerns, isolated state, bounded execution, maker-checker, and explicit hand-offs. Look what we've built: a multi-agent system.</a:t>
            </a:r>
          </a:p>
          <a:p/>
          <a:p>
            <a:r>
              <a:t>None of this is new. We don't need a smarter model or a longer prompt. This isn't an AI problem; it's a system design problem we've already solved, just not for agents yet.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Here's a BAU defect-fix agent. One agent, five tools: run SQL, search code, run tests, human sign-off, close ticket. First, one ticket.</a:t>
            </a:r>
          </a:p>
          <a:p/>
          <a:p>
            <a:r>
              <a:t>Happy flow: It queries the right rows, finds the nulls come from one feed, spots the join on the wrong key, applies the fix, runs reconciliation and sends it for sign-off. Approved and closed in four LLM calls. Every step is driven by finish_reason: tool_use means "run a tool", end_turn means "I'm done talking".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Chaotic flow: Now give the same agent three tickets in one session.</a:t>
            </a:r>
          </a:p>
          <a:p/>
          <a:p>
            <a:r>
              <a:t>It pulls the whole table into its context. It switches tickets halfway. It tests one ticket's fix with another ticket's data. The test fails, so it retries the same fix. It fails again, so it edits the test until it passes. The human rejects it, there's nothing to resume from, and the context fills up.</a:t>
            </a:r>
          </a:p>
          <a:p/>
          <a:p>
            <a:r>
              <a:t>Close: Three tickets, zero fixed. The model didn't get worse. We just asked one loop to carry three jobs' worth of state. A single agent is a monolith: it works for one task and fails like a monolith when you scale the work.</a:t>
            </a:r>
          </a:p>
          <a:p/>
          <a:p>
            <a:r>
              <a:t>Bridge: It's not that the agent is dumb. It's doing thinking, acting and checking in one loop.</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Supervisor: This is what multi-agent systems look like. A supervisor hands work to specialist agents in parallel.</a:t>
            </a:r>
          </a:p>
          <a:p/>
          <a:p>
            <a:r>
              <a:t>Pipeline: Or the agents work in sequence, each passing its result to the next.</a:t>
            </a:r>
          </a:p>
          <a:p/>
          <a:p>
            <a:r>
              <a:t>Peer swarm: Or they work as peers, talking to each other and agreeing on an answer.</a:t>
            </a:r>
          </a:p>
          <a:p/>
          <a:p>
            <a:r>
              <a:t>Three very different shapes, but look at what stays the same. Every agent does one job, with its own tools and its own memory. Something decides who works next: a supervisor, the fixed order of a pipeline, or the peers themselves. Agents pass structured results, not their whole conversation. A small shared state holds the goal and the progress. And a human gate signs off before anything goes out.</a:t>
            </a:r>
          </a:p>
          <a:p/>
          <a:p>
            <a:r>
              <a:t>Why it's better: That's the core idea: replace one agent that does everything with a team of focused agents and clear hand-offs. It's better for the same reasons a team beats one overloaded person:</a:t>
            </a:r>
          </a:p>
          <a:p>
            <a:r>
              <a:t>- Focus — small context, few tools, one job per agent</a:t>
            </a:r>
          </a:p>
          <a:p>
            <a:r>
              <a:t>- Containment — a failure stays inside one agent, not the whole run</a:t>
            </a:r>
          </a:p>
          <a:p>
            <a:r>
              <a:t>- Independent checking — the checker isn't the maker</a:t>
            </a:r>
          </a:p>
          <a:p>
            <a:r>
              <a:t>- Modular — test, swap or upgrade one agent at a time, even with a different model per agent</a:t>
            </a:r>
          </a:p>
          <a:p/>
          <a:p>
            <a:r>
              <a:t>Close: A multi-agent system is a well-run team: one job each, clear hand-offs, a shared goal, and someone who signs off.</a:t>
            </a:r>
          </a:p>
          <a:p/>
          <a:p>
            <a:r>
              <a:t>Hand-over to the next presenter: Every pattern you'll see next is these same building blocks wired differently — who coordinates, who talks to whom, and where the human sits.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5.png"/><Relationship Id="rId7" Type="http://schemas.openxmlformats.org/officeDocument/2006/relationships/image" Target="../media/image-34-5.png"/><Relationship Id="rId8" Type="http://schemas.openxmlformats.org/officeDocument/2006/relationships/image" Target="../media/image-34-5.png"/><Relationship Id="rId9" Type="http://schemas.openxmlformats.org/officeDocument/2006/relationships/image" Target="../media/image-34-5.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5.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8.png"/><Relationship Id="rId10" Type="http://schemas.openxmlformats.org/officeDocument/2006/relationships/image" Target="../media/image-39-8.png"/><Relationship Id="rId11" Type="http://schemas.openxmlformats.org/officeDocument/2006/relationships/image" Target="../media/image-39-8.png"/><Relationship Id="rId12" Type="http://schemas.openxmlformats.org/officeDocument/2006/relationships/image" Target="../media/image-39-8.png"/><Relationship Id="rId13" Type="http://schemas.openxmlformats.org/officeDocument/2006/relationships/slideLayout" Target="../slideLayouts/slideLayout1.xml"/><Relationship Id="rId14"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gif"/><Relationship Id="rId3" Type="http://schemas.openxmlformats.org/officeDocument/2006/relationships/hyperlink" Target="gifs/2-why-single-agents-fail-happy-path.gif" TargetMode="Externa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gif"/><Relationship Id="rId3" Type="http://schemas.openxmlformats.org/officeDocument/2006/relationships/hyperlink" Target="gifs/2-why-single-agents-fail-chaotic-path.gif" TargetMode="Externa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gif"/><Relationship Id="rId3" Type="http://schemas.openxmlformats.org/officeDocument/2006/relationships/hyperlink" Target="gifs/6-core-idea.gif" TargetMode="External"/><Relationship Id="rId4"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371600"/>
            <a:ext cx="4846320" cy="1828800"/>
          </a:xfrm>
          <a:prstGeom prst="rect">
            <a:avLst/>
          </a:prstGeom>
          <a:noFill/>
          <a:ln/>
        </p:spPr>
        <p:txBody>
          <a:bodyPr wrap="square" lIns="0" tIns="0" rIns="0" bIns="0" rtlCol="0" anchor="b"/>
          <a:lstStyle/>
          <a:p>
            <a:pPr algn="l" indent="0" marL="0">
              <a:buNone/>
            </a:pPr>
            <a:r>
              <a:rPr lang="en-US" sz="3600" b="1" dirty="0">
                <a:solidFill>
                  <a:srgbClr val="2C2C2A"/>
                </a:solidFill>
                <a:latin typeface="Calibri" pitchFamily="34" charset="0"/>
                <a:ea typeface="Calibri" pitchFamily="34" charset="-122"/>
                <a:cs typeface="Calibri" pitchFamily="34" charset="-120"/>
              </a:rPr>
              <a:t>Multi-Agent Systems &amp; Subgraph Architecture</a:t>
            </a:r>
            <a:endParaRPr lang="en-US" sz="3600" dirty="0"/>
          </a:p>
        </p:txBody>
      </p:sp>
      <p:sp>
        <p:nvSpPr>
          <p:cNvPr id="3" name="Text 1"/>
          <p:cNvSpPr txBox="1"/>
          <p:nvPr/>
        </p:nvSpPr>
        <p:spPr>
          <a:xfrm>
            <a:off x="548640" y="3383280"/>
            <a:ext cx="4846320" cy="640080"/>
          </a:xfrm>
          <a:prstGeom prst="rect">
            <a:avLst/>
          </a:prstGeom>
          <a:noFill/>
          <a:ln/>
        </p:spPr>
        <p:txBody>
          <a:bodyPr wrap="square" lIns="0" tIns="0" rIns="0" bIns="0" rtlCol="0" anchor="t"/>
          <a:lstStyle/>
          <a:p>
            <a:pPr algn="l" indent="0" marL="0">
              <a:buNone/>
            </a:pPr>
            <a:r>
              <a:rPr lang="en-US" sz="1800" dirty="0">
                <a:solidFill>
                  <a:srgbClr val="5F5E5A"/>
                </a:solidFill>
                <a:latin typeface="Calibri" pitchFamily="34" charset="0"/>
                <a:ea typeface="Calibri" pitchFamily="34" charset="-122"/>
                <a:cs typeface="Calibri" pitchFamily="34" charset="-120"/>
              </a:rPr>
              <a:t>From one overloaded agent to a team of focused ones.</a:t>
            </a:r>
            <a:endParaRPr lang="en-US" sz="1800" dirty="0"/>
          </a:p>
        </p:txBody>
      </p:sp>
      <p:sp>
        <p:nvSpPr>
          <p:cNvPr id="4" name="Text 2"/>
          <p:cNvSpPr/>
          <p:nvPr/>
        </p:nvSpPr>
        <p:spPr>
          <a:xfrm>
            <a:off x="548640" y="4206240"/>
            <a:ext cx="4846320" cy="1005840"/>
          </a:xfrm>
          <a:prstGeom prst="roundRect">
            <a:avLst>
              <a:gd name="adj" fmla="val 10909"/>
            </a:avLst>
          </a:prstGeom>
          <a:solidFill>
            <a:srgbClr val="EEEDFE"/>
          </a:solidFill>
          <a:ln w="12700">
            <a:solidFill>
              <a:srgbClr val="534AB7"/>
            </a:solidFill>
            <a:prstDash val="solid"/>
          </a:ln>
        </p:spPr>
        <p:txBody>
          <a:bodyPr wrap="square" lIns="152400" tIns="152400" rIns="152400" bIns="152400" rtlCol="0" anchor="ctr"/>
          <a:lstStyle/>
          <a:p>
            <a:pPr algn="l" indent="0" marL="0">
              <a:buNone/>
            </a:pPr>
            <a:r>
              <a:rPr lang="en-US" sz="1500" dirty="0">
                <a:solidFill>
                  <a:srgbClr val="3C3489"/>
                </a:solidFill>
                <a:latin typeface="Calibri" pitchFamily="34" charset="0"/>
                <a:ea typeface="Calibri" pitchFamily="34" charset="-122"/>
                <a:cs typeface="Calibri" pitchFamily="34" charset="-120"/>
              </a:rPr>
              <a:t>Every single-agent loop is steered by one field, </a:t>
            </a:r>
            <a:pPr algn="l" indent="0" marL="0">
              <a:buNone/>
            </a:pPr>
            <a:r>
              <a:rPr lang="en-US" sz="1500" b="1" dirty="0">
                <a:solidFill>
                  <a:srgbClr val="3C3489"/>
                </a:solidFill>
                <a:latin typeface="Consolas" pitchFamily="34" charset="0"/>
                <a:ea typeface="Consolas" pitchFamily="34" charset="-122"/>
                <a:cs typeface="Consolas" pitchFamily="34" charset="-120"/>
              </a:rPr>
              <a:t>finish_reason</a:t>
            </a:r>
            <a:pPr algn="l" indent="0" marL="0">
              <a:buNone/>
            </a:pPr>
            <a:r>
              <a:rPr lang="en-US" sz="1500" dirty="0">
                <a:solidFill>
                  <a:srgbClr val="3C3489"/>
                </a:solidFill>
                <a:latin typeface="Calibri" pitchFamily="34" charset="0"/>
                <a:ea typeface="Calibri" pitchFamily="34" charset="-122"/>
                <a:cs typeface="Calibri" pitchFamily="34" charset="-120"/>
              </a:rPr>
              <a:t>, and that's where the problems start.</a:t>
            </a:r>
            <a:endParaRPr lang="en-US" sz="1500" dirty="0"/>
          </a:p>
        </p:txBody>
      </p:sp>
      <p:sp>
        <p:nvSpPr>
          <p:cNvPr id="5" name="Text 3"/>
          <p:cNvSpPr/>
          <p:nvPr/>
        </p:nvSpPr>
        <p:spPr>
          <a:xfrm>
            <a:off x="5892394" y="910742"/>
            <a:ext cx="5555894" cy="3405226"/>
          </a:xfrm>
          <a:prstGeom prst="roundRect">
            <a:avLst>
              <a:gd name="adj" fmla="val 5371"/>
            </a:avLst>
          </a:prstGeom>
          <a:solidFill>
            <a:srgbClr val="FFFFFF">
              <a:alpha val="0"/>
            </a:srgbClr>
          </a:solidFill>
          <a:ln w="9525">
            <a:solidFill>
              <a:srgbClr val="5F5E5A"/>
            </a:solidFill>
            <a:prstDash val="dash"/>
          </a:ln>
        </p:spPr>
        <p:txBody>
          <a:bodyPr wrap="square" lIns="50800" tIns="50800" rIns="50800" bIns="50800" rtlCol="0" anchor="ctr"/>
          <a:lstStyle/>
          <a:p>
            <a:pPr algn="ctr" indent="0" marL="0">
              <a:buNone/>
            </a:pPr>
            <a:endParaRPr lang="en-US" sz="1200" dirty="0"/>
          </a:p>
        </p:txBody>
      </p:sp>
      <p:sp>
        <p:nvSpPr>
          <p:cNvPr id="6" name="Text 4"/>
          <p:cNvSpPr txBox="1"/>
          <p:nvPr/>
        </p:nvSpPr>
        <p:spPr>
          <a:xfrm>
            <a:off x="6071616" y="1018276"/>
            <a:ext cx="1371600" cy="228600"/>
          </a:xfrm>
          <a:prstGeom prst="rect">
            <a:avLst/>
          </a:prstGeom>
          <a:noFill/>
          <a:ln/>
        </p:spPr>
        <p:txBody>
          <a:bodyPr wrap="square" lIns="0" tIns="0" rIns="0" bIns="0" rtlCol="0" anchor="t"/>
          <a:lstStyle/>
          <a:p>
            <a:pPr algn="l" indent="0" marL="0">
              <a:buNone/>
            </a:pPr>
            <a:r>
              <a:rPr lang="en-US" sz="1100" b="1" dirty="0">
                <a:solidFill>
                  <a:srgbClr val="2C2C2A"/>
                </a:solidFill>
                <a:latin typeface="Calibri" pitchFamily="34" charset="0"/>
                <a:ea typeface="Calibri" pitchFamily="34" charset="-122"/>
                <a:cs typeface="Calibri" pitchFamily="34" charset="-120"/>
              </a:rPr>
              <a:t>Parent graph</a:t>
            </a:r>
            <a:endParaRPr lang="en-US" sz="1100" dirty="0"/>
          </a:p>
        </p:txBody>
      </p:sp>
      <p:sp>
        <p:nvSpPr>
          <p:cNvPr id="7" name="Text 5"/>
          <p:cNvSpPr/>
          <p:nvPr/>
        </p:nvSpPr>
        <p:spPr>
          <a:xfrm>
            <a:off x="7684618" y="1287109"/>
            <a:ext cx="1971446" cy="483900"/>
          </a:xfrm>
          <a:prstGeom prst="roundRect">
            <a:avLst>
              <a:gd name="adj" fmla="val 1511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b="1" dirty="0">
                <a:solidFill>
                  <a:srgbClr val="3C3489"/>
                </a:solidFill>
                <a:latin typeface="Calibri" pitchFamily="34" charset="0"/>
                <a:ea typeface="Calibri" pitchFamily="34" charset="-122"/>
                <a:cs typeface="Calibri" pitchFamily="34" charset="-120"/>
              </a:rPr>
              <a:t>Supervisor</a:t>
            </a:r>
            <a:endParaRPr lang="en-US" sz="1200" dirty="0"/>
          </a:p>
          <a:p>
            <a:pPr algn="ctr" indent="0" marL="0">
              <a:buNone/>
            </a:pPr>
            <a:r>
              <a:rPr lang="en-US" sz="1000" dirty="0">
                <a:solidFill>
                  <a:srgbClr val="534AB7"/>
                </a:solidFill>
                <a:latin typeface="Calibri" pitchFamily="34" charset="0"/>
                <a:ea typeface="Calibri" pitchFamily="34" charset="-122"/>
                <a:cs typeface="Calibri" pitchFamily="34" charset="-120"/>
              </a:rPr>
              <a:t>Routes the task</a:t>
            </a:r>
            <a:endParaRPr lang="en-US" sz="1200" dirty="0"/>
          </a:p>
        </p:txBody>
      </p:sp>
      <p:sp>
        <p:nvSpPr>
          <p:cNvPr id="8" name="Shape 6"/>
          <p:cNvSpPr/>
          <p:nvPr/>
        </p:nvSpPr>
        <p:spPr>
          <a:xfrm flipH="1">
            <a:off x="7057339" y="1771010"/>
            <a:ext cx="1209751" cy="286756"/>
          </a:xfrm>
          <a:prstGeom prst="line">
            <a:avLst/>
          </a:prstGeom>
          <a:noFill/>
          <a:ln w="15875">
            <a:solidFill>
              <a:srgbClr val="5F5E5A"/>
            </a:solidFill>
            <a:prstDash val="solid"/>
            <a:tailEnd type="triangle"/>
          </a:ln>
        </p:spPr>
      </p:sp>
      <p:sp>
        <p:nvSpPr>
          <p:cNvPr id="9" name="Shape 7"/>
          <p:cNvSpPr/>
          <p:nvPr/>
        </p:nvSpPr>
        <p:spPr>
          <a:xfrm>
            <a:off x="8670341" y="1771010"/>
            <a:ext cx="914" cy="286756"/>
          </a:xfrm>
          <a:prstGeom prst="line">
            <a:avLst/>
          </a:prstGeom>
          <a:noFill/>
          <a:ln w="15875">
            <a:solidFill>
              <a:srgbClr val="5F5E5A"/>
            </a:solidFill>
            <a:prstDash val="solid"/>
            <a:tailEnd type="triangle"/>
          </a:ln>
        </p:spPr>
      </p:sp>
      <p:sp>
        <p:nvSpPr>
          <p:cNvPr id="10" name="Shape 8"/>
          <p:cNvSpPr/>
          <p:nvPr/>
        </p:nvSpPr>
        <p:spPr>
          <a:xfrm>
            <a:off x="9073591" y="1771010"/>
            <a:ext cx="1209751" cy="286756"/>
          </a:xfrm>
          <a:prstGeom prst="line">
            <a:avLst/>
          </a:prstGeom>
          <a:noFill/>
          <a:ln w="15875">
            <a:solidFill>
              <a:srgbClr val="5F5E5A"/>
            </a:solidFill>
            <a:prstDash val="solid"/>
            <a:tailEnd type="triangle"/>
          </a:ln>
        </p:spPr>
      </p:sp>
      <p:sp>
        <p:nvSpPr>
          <p:cNvPr id="11" name="Text 9"/>
          <p:cNvSpPr/>
          <p:nvPr/>
        </p:nvSpPr>
        <p:spPr>
          <a:xfrm>
            <a:off x="6116422" y="2075688"/>
            <a:ext cx="1613002" cy="1344168"/>
          </a:xfrm>
          <a:prstGeom prst="roundRect">
            <a:avLst>
              <a:gd name="adj" fmla="val 8163"/>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sp>
        <p:nvSpPr>
          <p:cNvPr id="12" name="Text 10"/>
          <p:cNvSpPr txBox="1"/>
          <p:nvPr/>
        </p:nvSpPr>
        <p:spPr>
          <a:xfrm>
            <a:off x="6116422" y="2147377"/>
            <a:ext cx="1613002" cy="358445"/>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Research</a:t>
            </a:r>
            <a:endParaRPr lang="en-US" sz="1400" dirty="0"/>
          </a:p>
          <a:p>
            <a:pPr algn="ctr" indent="0" marL="0">
              <a:buNone/>
            </a:pPr>
            <a:r>
              <a:rPr lang="en-US" sz="1000" dirty="0">
                <a:solidFill>
                  <a:srgbClr val="0F6E56"/>
                </a:solidFill>
                <a:latin typeface="Calibri" pitchFamily="34" charset="0"/>
                <a:ea typeface="Calibri" pitchFamily="34" charset="-122"/>
                <a:cs typeface="Calibri" pitchFamily="34" charset="-120"/>
              </a:rPr>
              <a:t>subgraph</a:t>
            </a:r>
            <a:endParaRPr lang="en-US" sz="1400" dirty="0"/>
          </a:p>
        </p:txBody>
      </p:sp>
      <p:sp>
        <p:nvSpPr>
          <p:cNvPr id="13" name="Text 11"/>
          <p:cNvSpPr/>
          <p:nvPr/>
        </p:nvSpPr>
        <p:spPr>
          <a:xfrm>
            <a:off x="6250838"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LLM</a:t>
            </a:r>
            <a:endParaRPr lang="en-US" sz="1000" dirty="0"/>
          </a:p>
        </p:txBody>
      </p:sp>
      <p:sp>
        <p:nvSpPr>
          <p:cNvPr id="14" name="Text 12"/>
          <p:cNvSpPr/>
          <p:nvPr/>
        </p:nvSpPr>
        <p:spPr>
          <a:xfrm>
            <a:off x="7003572"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Tools</a:t>
            </a:r>
            <a:endParaRPr lang="en-US" sz="1000" dirty="0"/>
          </a:p>
        </p:txBody>
      </p:sp>
      <p:sp>
        <p:nvSpPr>
          <p:cNvPr id="15" name="Shape 13"/>
          <p:cNvSpPr/>
          <p:nvPr/>
        </p:nvSpPr>
        <p:spPr>
          <a:xfrm>
            <a:off x="6851233" y="2756733"/>
            <a:ext cx="143378" cy="914"/>
          </a:xfrm>
          <a:prstGeom prst="line">
            <a:avLst/>
          </a:prstGeom>
          <a:noFill/>
          <a:ln w="12700">
            <a:solidFill>
              <a:srgbClr val="5F5E5A"/>
            </a:solidFill>
            <a:prstDash val="solid"/>
            <a:headEnd type="triangle"/>
            <a:tailEnd type="triangle"/>
          </a:ln>
        </p:spPr>
      </p:sp>
      <p:sp>
        <p:nvSpPr>
          <p:cNvPr id="16" name="Text 14"/>
          <p:cNvSpPr txBox="1"/>
          <p:nvPr/>
        </p:nvSpPr>
        <p:spPr>
          <a:xfrm>
            <a:off x="6116422" y="3097256"/>
            <a:ext cx="1613002" cy="201168"/>
          </a:xfrm>
          <a:prstGeom prst="rect">
            <a:avLst/>
          </a:prstGeom>
          <a:noFill/>
          <a:ln/>
        </p:spPr>
        <p:txBody>
          <a:bodyPr wrap="square" lIns="0" tIns="0" rIns="0" bIns="0" rtlCol="0" anchor="t"/>
          <a:lstStyle/>
          <a:p>
            <a:pPr algn="ctr" indent="0" marL="0">
              <a:buNone/>
            </a:pPr>
            <a:r>
              <a:rPr lang="en-US" sz="1000" dirty="0">
                <a:solidFill>
                  <a:srgbClr val="0F6E56"/>
                </a:solidFill>
                <a:latin typeface="Calibri" pitchFamily="34" charset="0"/>
                <a:ea typeface="Calibri" pitchFamily="34" charset="-122"/>
                <a:cs typeface="Calibri" pitchFamily="34" charset="-120"/>
              </a:rPr>
              <a:t>Own loop + state</a:t>
            </a:r>
            <a:endParaRPr lang="en-US" sz="1000" dirty="0"/>
          </a:p>
        </p:txBody>
      </p:sp>
      <p:sp>
        <p:nvSpPr>
          <p:cNvPr id="17" name="Text 15"/>
          <p:cNvSpPr/>
          <p:nvPr/>
        </p:nvSpPr>
        <p:spPr>
          <a:xfrm>
            <a:off x="7863840" y="2075688"/>
            <a:ext cx="1613002" cy="1344168"/>
          </a:xfrm>
          <a:prstGeom prst="roundRect">
            <a:avLst>
              <a:gd name="adj" fmla="val 8163"/>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sp>
        <p:nvSpPr>
          <p:cNvPr id="18" name="Text 16"/>
          <p:cNvSpPr txBox="1"/>
          <p:nvPr/>
        </p:nvSpPr>
        <p:spPr>
          <a:xfrm>
            <a:off x="7863840" y="2147377"/>
            <a:ext cx="1613002" cy="358445"/>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Data</a:t>
            </a:r>
            <a:endParaRPr lang="en-US" sz="1400" dirty="0"/>
          </a:p>
          <a:p>
            <a:pPr algn="ctr" indent="0" marL="0">
              <a:buNone/>
            </a:pPr>
            <a:r>
              <a:rPr lang="en-US" sz="1000" dirty="0">
                <a:solidFill>
                  <a:srgbClr val="0F6E56"/>
                </a:solidFill>
                <a:latin typeface="Calibri" pitchFamily="34" charset="0"/>
                <a:ea typeface="Calibri" pitchFamily="34" charset="-122"/>
                <a:cs typeface="Calibri" pitchFamily="34" charset="-120"/>
              </a:rPr>
              <a:t>subgraph</a:t>
            </a:r>
            <a:endParaRPr lang="en-US" sz="1400" dirty="0"/>
          </a:p>
        </p:txBody>
      </p:sp>
      <p:sp>
        <p:nvSpPr>
          <p:cNvPr id="19" name="Text 17"/>
          <p:cNvSpPr/>
          <p:nvPr/>
        </p:nvSpPr>
        <p:spPr>
          <a:xfrm>
            <a:off x="7998257"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LLM</a:t>
            </a:r>
            <a:endParaRPr lang="en-US" sz="1000" dirty="0"/>
          </a:p>
        </p:txBody>
      </p:sp>
      <p:sp>
        <p:nvSpPr>
          <p:cNvPr id="20" name="Text 18"/>
          <p:cNvSpPr/>
          <p:nvPr/>
        </p:nvSpPr>
        <p:spPr>
          <a:xfrm>
            <a:off x="8750991"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Tools</a:t>
            </a:r>
            <a:endParaRPr lang="en-US" sz="1000" dirty="0"/>
          </a:p>
        </p:txBody>
      </p:sp>
      <p:sp>
        <p:nvSpPr>
          <p:cNvPr id="21" name="Shape 19"/>
          <p:cNvSpPr/>
          <p:nvPr/>
        </p:nvSpPr>
        <p:spPr>
          <a:xfrm>
            <a:off x="8598652" y="2756733"/>
            <a:ext cx="143378" cy="914"/>
          </a:xfrm>
          <a:prstGeom prst="line">
            <a:avLst/>
          </a:prstGeom>
          <a:noFill/>
          <a:ln w="12700">
            <a:solidFill>
              <a:srgbClr val="5F5E5A"/>
            </a:solidFill>
            <a:prstDash val="solid"/>
            <a:headEnd type="triangle"/>
            <a:tailEnd type="triangle"/>
          </a:ln>
        </p:spPr>
      </p:sp>
      <p:sp>
        <p:nvSpPr>
          <p:cNvPr id="22" name="Text 20"/>
          <p:cNvSpPr txBox="1"/>
          <p:nvPr/>
        </p:nvSpPr>
        <p:spPr>
          <a:xfrm>
            <a:off x="7863840" y="3097256"/>
            <a:ext cx="1613002" cy="201168"/>
          </a:xfrm>
          <a:prstGeom prst="rect">
            <a:avLst/>
          </a:prstGeom>
          <a:noFill/>
          <a:ln/>
        </p:spPr>
        <p:txBody>
          <a:bodyPr wrap="square" lIns="0" tIns="0" rIns="0" bIns="0" rtlCol="0" anchor="t"/>
          <a:lstStyle/>
          <a:p>
            <a:pPr algn="ctr" indent="0" marL="0">
              <a:buNone/>
            </a:pPr>
            <a:r>
              <a:rPr lang="en-US" sz="1000" dirty="0">
                <a:solidFill>
                  <a:srgbClr val="0F6E56"/>
                </a:solidFill>
                <a:latin typeface="Calibri" pitchFamily="34" charset="0"/>
                <a:ea typeface="Calibri" pitchFamily="34" charset="-122"/>
                <a:cs typeface="Calibri" pitchFamily="34" charset="-120"/>
              </a:rPr>
              <a:t>Own loop + state</a:t>
            </a:r>
            <a:endParaRPr lang="en-US" sz="1000" dirty="0"/>
          </a:p>
        </p:txBody>
      </p:sp>
      <p:sp>
        <p:nvSpPr>
          <p:cNvPr id="23" name="Text 21"/>
          <p:cNvSpPr/>
          <p:nvPr/>
        </p:nvSpPr>
        <p:spPr>
          <a:xfrm>
            <a:off x="9611258" y="2075688"/>
            <a:ext cx="1613002" cy="1344168"/>
          </a:xfrm>
          <a:prstGeom prst="roundRect">
            <a:avLst>
              <a:gd name="adj" fmla="val 8163"/>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sp>
        <p:nvSpPr>
          <p:cNvPr id="24" name="Text 22"/>
          <p:cNvSpPr txBox="1"/>
          <p:nvPr/>
        </p:nvSpPr>
        <p:spPr>
          <a:xfrm>
            <a:off x="9611258" y="2147377"/>
            <a:ext cx="1613002" cy="358445"/>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Action</a:t>
            </a:r>
            <a:endParaRPr lang="en-US" sz="1400" dirty="0"/>
          </a:p>
          <a:p>
            <a:pPr algn="ctr" indent="0" marL="0">
              <a:buNone/>
            </a:pPr>
            <a:r>
              <a:rPr lang="en-US" sz="1000" dirty="0">
                <a:solidFill>
                  <a:srgbClr val="0F6E56"/>
                </a:solidFill>
                <a:latin typeface="Calibri" pitchFamily="34" charset="0"/>
                <a:ea typeface="Calibri" pitchFamily="34" charset="-122"/>
                <a:cs typeface="Calibri" pitchFamily="34" charset="-120"/>
              </a:rPr>
              <a:t>subgraph</a:t>
            </a:r>
            <a:endParaRPr lang="en-US" sz="1400" dirty="0"/>
          </a:p>
        </p:txBody>
      </p:sp>
      <p:sp>
        <p:nvSpPr>
          <p:cNvPr id="25" name="Text 23"/>
          <p:cNvSpPr/>
          <p:nvPr/>
        </p:nvSpPr>
        <p:spPr>
          <a:xfrm>
            <a:off x="9745675"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LLM</a:t>
            </a:r>
            <a:endParaRPr lang="en-US" sz="1000" dirty="0"/>
          </a:p>
        </p:txBody>
      </p:sp>
      <p:sp>
        <p:nvSpPr>
          <p:cNvPr id="26" name="Text 24"/>
          <p:cNvSpPr/>
          <p:nvPr/>
        </p:nvSpPr>
        <p:spPr>
          <a:xfrm>
            <a:off x="10498409"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Tools</a:t>
            </a:r>
            <a:endParaRPr lang="en-US" sz="1000" dirty="0"/>
          </a:p>
        </p:txBody>
      </p:sp>
      <p:sp>
        <p:nvSpPr>
          <p:cNvPr id="27" name="Shape 25"/>
          <p:cNvSpPr/>
          <p:nvPr/>
        </p:nvSpPr>
        <p:spPr>
          <a:xfrm>
            <a:off x="10346070" y="2756733"/>
            <a:ext cx="143378" cy="914"/>
          </a:xfrm>
          <a:prstGeom prst="line">
            <a:avLst/>
          </a:prstGeom>
          <a:noFill/>
          <a:ln w="12700">
            <a:solidFill>
              <a:srgbClr val="5F5E5A"/>
            </a:solidFill>
            <a:prstDash val="solid"/>
            <a:headEnd type="triangle"/>
            <a:tailEnd type="triangle"/>
          </a:ln>
        </p:spPr>
      </p:sp>
      <p:sp>
        <p:nvSpPr>
          <p:cNvPr id="28" name="Text 26"/>
          <p:cNvSpPr txBox="1"/>
          <p:nvPr/>
        </p:nvSpPr>
        <p:spPr>
          <a:xfrm>
            <a:off x="9611258" y="3097256"/>
            <a:ext cx="1613002" cy="201168"/>
          </a:xfrm>
          <a:prstGeom prst="rect">
            <a:avLst/>
          </a:prstGeom>
          <a:noFill/>
          <a:ln/>
        </p:spPr>
        <p:txBody>
          <a:bodyPr wrap="square" lIns="0" tIns="0" rIns="0" bIns="0" rtlCol="0" anchor="t"/>
          <a:lstStyle/>
          <a:p>
            <a:pPr algn="ctr" indent="0" marL="0">
              <a:buNone/>
            </a:pPr>
            <a:r>
              <a:rPr lang="en-US" sz="1000" dirty="0">
                <a:solidFill>
                  <a:srgbClr val="0F6E56"/>
                </a:solidFill>
                <a:latin typeface="Calibri" pitchFamily="34" charset="0"/>
                <a:ea typeface="Calibri" pitchFamily="34" charset="-122"/>
                <a:cs typeface="Calibri" pitchFamily="34" charset="-120"/>
              </a:rPr>
              <a:t>Own loop + state</a:t>
            </a:r>
            <a:endParaRPr lang="en-US" sz="1000" dirty="0"/>
          </a:p>
        </p:txBody>
      </p:sp>
      <p:sp>
        <p:nvSpPr>
          <p:cNvPr id="29" name="Shape 27"/>
          <p:cNvSpPr/>
          <p:nvPr/>
        </p:nvSpPr>
        <p:spPr>
          <a:xfrm>
            <a:off x="7057339" y="3419856"/>
            <a:ext cx="1164946" cy="250911"/>
          </a:xfrm>
          <a:prstGeom prst="line">
            <a:avLst/>
          </a:prstGeom>
          <a:noFill/>
          <a:ln w="15875">
            <a:solidFill>
              <a:srgbClr val="5F5E5A"/>
            </a:solidFill>
            <a:prstDash val="solid"/>
            <a:tailEnd type="triangle"/>
          </a:ln>
        </p:spPr>
      </p:sp>
      <p:sp>
        <p:nvSpPr>
          <p:cNvPr id="30" name="Shape 28"/>
          <p:cNvSpPr/>
          <p:nvPr/>
        </p:nvSpPr>
        <p:spPr>
          <a:xfrm>
            <a:off x="8670341" y="3419856"/>
            <a:ext cx="914" cy="250911"/>
          </a:xfrm>
          <a:prstGeom prst="line">
            <a:avLst/>
          </a:prstGeom>
          <a:noFill/>
          <a:ln w="15875">
            <a:solidFill>
              <a:srgbClr val="5F5E5A"/>
            </a:solidFill>
            <a:prstDash val="solid"/>
            <a:tailEnd type="triangle"/>
          </a:ln>
        </p:spPr>
      </p:sp>
      <p:sp>
        <p:nvSpPr>
          <p:cNvPr id="31" name="Shape 29"/>
          <p:cNvSpPr/>
          <p:nvPr/>
        </p:nvSpPr>
        <p:spPr>
          <a:xfrm flipH="1">
            <a:off x="9118397" y="3419856"/>
            <a:ext cx="1164946" cy="250911"/>
          </a:xfrm>
          <a:prstGeom prst="line">
            <a:avLst/>
          </a:prstGeom>
          <a:noFill/>
          <a:ln w="15875">
            <a:solidFill>
              <a:srgbClr val="5F5E5A"/>
            </a:solidFill>
            <a:prstDash val="solid"/>
            <a:tailEnd type="triangle"/>
          </a:ln>
        </p:spPr>
      </p:sp>
      <p:sp>
        <p:nvSpPr>
          <p:cNvPr id="32" name="Text 30"/>
          <p:cNvSpPr/>
          <p:nvPr/>
        </p:nvSpPr>
        <p:spPr>
          <a:xfrm>
            <a:off x="7684618" y="3688690"/>
            <a:ext cx="1971446" cy="483900"/>
          </a:xfrm>
          <a:prstGeom prst="roundRect">
            <a:avLst>
              <a:gd name="adj" fmla="val 1511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b="1" dirty="0">
                <a:solidFill>
                  <a:srgbClr val="3C3489"/>
                </a:solidFill>
                <a:latin typeface="Calibri" pitchFamily="34" charset="0"/>
                <a:ea typeface="Calibri" pitchFamily="34" charset="-122"/>
                <a:cs typeface="Calibri" pitchFamily="34" charset="-120"/>
              </a:rPr>
              <a:t>Checker</a:t>
            </a:r>
            <a:endParaRPr lang="en-US" sz="1200" dirty="0"/>
          </a:p>
          <a:p>
            <a:pPr algn="ctr" indent="0" marL="0">
              <a:buNone/>
            </a:pPr>
            <a:r>
              <a:rPr lang="en-US" sz="1000" dirty="0">
                <a:solidFill>
                  <a:srgbClr val="534AB7"/>
                </a:solidFill>
                <a:latin typeface="Calibri" pitchFamily="34" charset="0"/>
                <a:ea typeface="Calibri" pitchFamily="34" charset="-122"/>
                <a:cs typeface="Calibri" pitchFamily="34" charset="-120"/>
              </a:rPr>
              <a:t>Verifies the result</a:t>
            </a:r>
            <a:endParaRPr lang="en-US" sz="1200" dirty="0"/>
          </a:p>
        </p:txBody>
      </p:sp>
      <p:sp>
        <p:nvSpPr>
          <p:cNvPr id="33" name="Shape 31"/>
          <p:cNvSpPr/>
          <p:nvPr/>
        </p:nvSpPr>
        <p:spPr>
          <a:xfrm>
            <a:off x="8670341" y="4172590"/>
            <a:ext cx="914" cy="394289"/>
          </a:xfrm>
          <a:prstGeom prst="line">
            <a:avLst/>
          </a:prstGeom>
          <a:noFill/>
          <a:ln w="15875">
            <a:solidFill>
              <a:srgbClr val="5F5E5A"/>
            </a:solidFill>
            <a:prstDash val="solid"/>
            <a:tailEnd type="triangle"/>
          </a:ln>
        </p:spPr>
      </p:sp>
      <p:sp>
        <p:nvSpPr>
          <p:cNvPr id="34" name="Text 32"/>
          <p:cNvSpPr/>
          <p:nvPr/>
        </p:nvSpPr>
        <p:spPr>
          <a:xfrm>
            <a:off x="7953451" y="4584802"/>
            <a:ext cx="1433779" cy="394289"/>
          </a:xfrm>
          <a:prstGeom prst="roundRect">
            <a:avLst>
              <a:gd name="adj" fmla="val 18553"/>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alibri" pitchFamily="34" charset="0"/>
                <a:ea typeface="Calibri" pitchFamily="34" charset="-122"/>
                <a:cs typeface="Calibri" pitchFamily="34" charset="-120"/>
              </a:rPr>
              <a:t>Final answer</a:t>
            </a:r>
            <a:endParaRPr lang="en-US" sz="1100" dirty="0"/>
          </a:p>
        </p:txBody>
      </p:sp>
      <p:sp>
        <p:nvSpPr>
          <p:cNvPr id="35" name="Text 33"/>
          <p:cNvSpPr txBox="1"/>
          <p:nvPr/>
        </p:nvSpPr>
        <p:spPr>
          <a:xfrm>
            <a:off x="5892394" y="5122469"/>
            <a:ext cx="5555894" cy="228600"/>
          </a:xfrm>
          <a:prstGeom prst="rect">
            <a:avLst/>
          </a:prstGeom>
          <a:noFill/>
          <a:ln/>
        </p:spPr>
        <p:txBody>
          <a:bodyPr wrap="square" lIns="0" tIns="0" rIns="0" bIns="0" rtlCol="0" anchor="t"/>
          <a:lstStyle/>
          <a:p>
            <a:pPr algn="ctr" indent="0" marL="0">
              <a:buNone/>
            </a:pPr>
            <a:r>
              <a:rPr lang="en-US" sz="1000" dirty="0">
                <a:solidFill>
                  <a:srgbClr val="5F5E5A"/>
                </a:solidFill>
                <a:latin typeface="Calibri" pitchFamily="34" charset="0"/>
                <a:ea typeface="Calibri" pitchFamily="34" charset="-122"/>
                <a:cs typeface="Calibri" pitchFamily="34" charset="-120"/>
              </a:rPr>
              <a:t>Purple: control nodes  ·  Dashed teal: subgraphs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Thinking + Acting + Checking Are Mixed Together</a:t>
            </a:r>
            <a:endParaRPr lang="en-US" sz="3000" dirty="0"/>
          </a:p>
        </p:txBody>
      </p:sp>
      <p:sp>
        <p:nvSpPr>
          <p:cNvPr id="3" name="!!hdm"/>
          <p:cNvSpPr txBox="1"/>
          <p:nvPr/>
        </p:nvSpPr>
        <p:spPr>
          <a:xfrm>
            <a:off x="548640" y="1024128"/>
            <a:ext cx="694944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One agent, one context window  ·  time flows down ↓</a:t>
            </a:r>
            <a:endParaRPr lang="en-US" sz="1200" dirty="0"/>
          </a:p>
        </p:txBody>
      </p:sp>
      <p:sp>
        <p:nvSpPr>
          <p:cNvPr id="4" name="!!blk01"/>
          <p:cNvSpPr/>
          <p:nvPr/>
        </p:nvSpPr>
        <p:spPr>
          <a:xfrm>
            <a:off x="548640" y="1371600"/>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5" name="!!tag01"/>
          <p:cNvSpPr txBox="1"/>
          <p:nvPr/>
        </p:nvSpPr>
        <p:spPr>
          <a:xfrm>
            <a:off x="6035040" y="1371600"/>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6" name="!!blk02"/>
          <p:cNvSpPr/>
          <p:nvPr/>
        </p:nvSpPr>
        <p:spPr>
          <a:xfrm>
            <a:off x="548640" y="1668780"/>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7" name="!!tag02"/>
          <p:cNvSpPr txBox="1"/>
          <p:nvPr/>
        </p:nvSpPr>
        <p:spPr>
          <a:xfrm>
            <a:off x="6035040" y="1668780"/>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8" name="!!blk03"/>
          <p:cNvSpPr/>
          <p:nvPr/>
        </p:nvSpPr>
        <p:spPr>
          <a:xfrm>
            <a:off x="548640" y="1965960"/>
            <a:ext cx="6949440" cy="548640"/>
          </a:xfrm>
          <a:prstGeom prst="roundRect">
            <a:avLst>
              <a:gd name="adj" fmla="val 8333"/>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9" name="!!tag03"/>
          <p:cNvSpPr txBox="1"/>
          <p:nvPr/>
        </p:nvSpPr>
        <p:spPr>
          <a:xfrm>
            <a:off x="6035040" y="1965960"/>
            <a:ext cx="1371600" cy="54864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10" name="!!blk04"/>
          <p:cNvSpPr/>
          <p:nvPr/>
        </p:nvSpPr>
        <p:spPr>
          <a:xfrm>
            <a:off x="548640" y="256489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1" name="!!tag04"/>
          <p:cNvSpPr txBox="1"/>
          <p:nvPr/>
        </p:nvSpPr>
        <p:spPr>
          <a:xfrm>
            <a:off x="6035040" y="256489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2" name="!!blk05"/>
          <p:cNvSpPr/>
          <p:nvPr/>
        </p:nvSpPr>
        <p:spPr>
          <a:xfrm>
            <a:off x="548640" y="286207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3" name="!!tag05"/>
          <p:cNvSpPr txBox="1"/>
          <p:nvPr/>
        </p:nvSpPr>
        <p:spPr>
          <a:xfrm>
            <a:off x="6035040" y="286207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4" name="!!blk06"/>
          <p:cNvSpPr/>
          <p:nvPr/>
        </p:nvSpPr>
        <p:spPr>
          <a:xfrm>
            <a:off x="548640" y="315925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5" name="!!tag06"/>
          <p:cNvSpPr txBox="1"/>
          <p:nvPr/>
        </p:nvSpPr>
        <p:spPr>
          <a:xfrm>
            <a:off x="6035040" y="315925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6" name="!!blk07"/>
          <p:cNvSpPr/>
          <p:nvPr/>
        </p:nvSpPr>
        <p:spPr>
          <a:xfrm>
            <a:off x="548640" y="345643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17" name="!!tag07"/>
          <p:cNvSpPr txBox="1"/>
          <p:nvPr/>
        </p:nvSpPr>
        <p:spPr>
          <a:xfrm>
            <a:off x="6035040" y="345643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8" name="!!blk08"/>
          <p:cNvSpPr/>
          <p:nvPr/>
        </p:nvSpPr>
        <p:spPr>
          <a:xfrm>
            <a:off x="548640" y="375361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19" name="!!tag08"/>
          <p:cNvSpPr txBox="1"/>
          <p:nvPr/>
        </p:nvSpPr>
        <p:spPr>
          <a:xfrm>
            <a:off x="6035040" y="375361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0" name="!!blk09"/>
          <p:cNvSpPr/>
          <p:nvPr/>
        </p:nvSpPr>
        <p:spPr>
          <a:xfrm>
            <a:off x="548640" y="405079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21" name="!!tag09"/>
          <p:cNvSpPr txBox="1"/>
          <p:nvPr/>
        </p:nvSpPr>
        <p:spPr>
          <a:xfrm>
            <a:off x="6035040" y="405079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2" name="!!blk10"/>
          <p:cNvSpPr/>
          <p:nvPr/>
        </p:nvSpPr>
        <p:spPr>
          <a:xfrm>
            <a:off x="548640" y="434797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23" name="!!tag10"/>
          <p:cNvSpPr txBox="1"/>
          <p:nvPr/>
        </p:nvSpPr>
        <p:spPr>
          <a:xfrm>
            <a:off x="6035040" y="434797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4" name="!!blk11"/>
          <p:cNvSpPr/>
          <p:nvPr/>
        </p:nvSpPr>
        <p:spPr>
          <a:xfrm>
            <a:off x="548640" y="464515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25" name="!!tag11"/>
          <p:cNvSpPr txBox="1"/>
          <p:nvPr/>
        </p:nvSpPr>
        <p:spPr>
          <a:xfrm>
            <a:off x="6035040" y="464515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6" name="!!blk12"/>
          <p:cNvSpPr/>
          <p:nvPr/>
        </p:nvSpPr>
        <p:spPr>
          <a:xfrm>
            <a:off x="548640" y="494233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27" name="!!tag12"/>
          <p:cNvSpPr txBox="1"/>
          <p:nvPr/>
        </p:nvSpPr>
        <p:spPr>
          <a:xfrm>
            <a:off x="6035040" y="494233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8" name="!!blk13"/>
          <p:cNvSpPr/>
          <p:nvPr/>
        </p:nvSpPr>
        <p:spPr>
          <a:xfrm>
            <a:off x="548640" y="523951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29" name="!!tag13"/>
          <p:cNvSpPr txBox="1"/>
          <p:nvPr/>
        </p:nvSpPr>
        <p:spPr>
          <a:xfrm>
            <a:off x="6035040" y="523951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30" name="!!blk14"/>
          <p:cNvSpPr/>
          <p:nvPr/>
        </p:nvSpPr>
        <p:spPr>
          <a:xfrm>
            <a:off x="548640" y="553669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31" name="!!tag14"/>
          <p:cNvSpPr txBox="1"/>
          <p:nvPr/>
        </p:nvSpPr>
        <p:spPr>
          <a:xfrm>
            <a:off x="6035040" y="553669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end_turn</a:t>
            </a:r>
            <a:endParaRPr lang="en-US" sz="1000" dirty="0"/>
          </a:p>
        </p:txBody>
      </p:sp>
      <p:sp>
        <p:nvSpPr>
          <p:cNvPr id="32" name="!!blk15"/>
          <p:cNvSpPr/>
          <p:nvPr/>
        </p:nvSpPr>
        <p:spPr>
          <a:xfrm>
            <a:off x="548640" y="583387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33" name="!!tag15"/>
          <p:cNvSpPr txBox="1"/>
          <p:nvPr/>
        </p:nvSpPr>
        <p:spPr>
          <a:xfrm>
            <a:off x="6035040" y="583387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user</a:t>
            </a:r>
            <a:endParaRPr lang="en-US" sz="1000" dirty="0"/>
          </a:p>
        </p:txBody>
      </p:sp>
      <p:sp>
        <p:nvSpPr>
          <p:cNvPr id="34" name="!!blk16"/>
          <p:cNvSpPr/>
          <p:nvPr/>
        </p:nvSpPr>
        <p:spPr>
          <a:xfrm>
            <a:off x="548640" y="613105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35" name="!!tag16"/>
          <p:cNvSpPr txBox="1"/>
          <p:nvPr/>
        </p:nvSpPr>
        <p:spPr>
          <a:xfrm>
            <a:off x="6035040" y="613105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max_tokens</a:t>
            </a:r>
            <a:endParaRPr lang="en-US" sz="1000" dirty="0"/>
          </a:p>
        </p:txBody>
      </p:sp>
      <p:sp>
        <p:nvSpPr>
          <p:cNvPr id="36" name="Text 34"/>
          <p:cNvSpPr txBox="1"/>
          <p:nvPr/>
        </p:nvSpPr>
        <p:spPr>
          <a:xfrm>
            <a:off x="7955280" y="137160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37" name="Text 35"/>
          <p:cNvSpPr/>
          <p:nvPr/>
        </p:nvSpPr>
        <p:spPr>
          <a:xfrm>
            <a:off x="7955280" y="190195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38" name="Text 36"/>
          <p:cNvSpPr txBox="1"/>
          <p:nvPr/>
        </p:nvSpPr>
        <p:spPr>
          <a:xfrm>
            <a:off x="8275320" y="184708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39" name="Text 37"/>
          <p:cNvSpPr/>
          <p:nvPr/>
        </p:nvSpPr>
        <p:spPr>
          <a:xfrm>
            <a:off x="7955280" y="246888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40" name="Text 38"/>
          <p:cNvSpPr txBox="1"/>
          <p:nvPr/>
        </p:nvSpPr>
        <p:spPr>
          <a:xfrm>
            <a:off x="8275320" y="241401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41" name="Text 39"/>
          <p:cNvSpPr/>
          <p:nvPr/>
        </p:nvSpPr>
        <p:spPr>
          <a:xfrm>
            <a:off x="7955280" y="303580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42" name="Text 40"/>
          <p:cNvSpPr txBox="1"/>
          <p:nvPr/>
        </p:nvSpPr>
        <p:spPr>
          <a:xfrm>
            <a:off x="8275320" y="298094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43" name="Text 41"/>
          <p:cNvSpPr txBox="1"/>
          <p:nvPr/>
        </p:nvSpPr>
        <p:spPr>
          <a:xfrm>
            <a:off x="7955280" y="365760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Thinking + Acting + Checking Are Mixed Together</a:t>
            </a:r>
            <a:endParaRPr lang="en-US" sz="3000" dirty="0"/>
          </a:p>
        </p:txBody>
      </p:sp>
      <p:sp>
        <p:nvSpPr>
          <p:cNvPr id="3" name="!!lh0"/>
          <p:cNvSpPr txBox="1"/>
          <p:nvPr/>
        </p:nvSpPr>
        <p:spPr>
          <a:xfrm>
            <a:off x="548640" y="1024128"/>
            <a:ext cx="2258568" cy="274320"/>
          </a:xfrm>
          <a:prstGeom prst="rect">
            <a:avLst/>
          </a:prstGeom>
          <a:noFill/>
          <a:ln/>
        </p:spPr>
        <p:txBody>
          <a:bodyPr wrap="square" lIns="0" tIns="0" rIns="0" bIns="0" rtlCol="0" anchor="t"/>
          <a:lstStyle/>
          <a:p>
            <a:pPr algn="ctr" indent="0" marL="0">
              <a:buNone/>
            </a:pPr>
            <a:r>
              <a:rPr lang="en-US" sz="1300" b="1" dirty="0">
                <a:solidFill>
                  <a:srgbClr val="3C3489"/>
                </a:solidFill>
                <a:latin typeface="Calibri" pitchFamily="34" charset="0"/>
                <a:ea typeface="Calibri" pitchFamily="34" charset="-122"/>
                <a:cs typeface="Calibri" pitchFamily="34" charset="-120"/>
              </a:rPr>
              <a:t>Thinking</a:t>
            </a:r>
            <a:endParaRPr lang="en-US" sz="1300" dirty="0"/>
          </a:p>
        </p:txBody>
      </p:sp>
      <p:sp>
        <p:nvSpPr>
          <p:cNvPr id="4" name="!!lh1"/>
          <p:cNvSpPr txBox="1"/>
          <p:nvPr/>
        </p:nvSpPr>
        <p:spPr>
          <a:xfrm>
            <a:off x="2898648" y="1024128"/>
            <a:ext cx="2258568" cy="274320"/>
          </a:xfrm>
          <a:prstGeom prst="rect">
            <a:avLst/>
          </a:prstGeom>
          <a:noFill/>
          <a:ln/>
        </p:spPr>
        <p:txBody>
          <a:bodyPr wrap="square" lIns="0" tIns="0" rIns="0" bIns="0" rtlCol="0" anchor="t"/>
          <a:lstStyle/>
          <a:p>
            <a:pPr algn="ctr" indent="0" marL="0">
              <a:buNone/>
            </a:pPr>
            <a:r>
              <a:rPr lang="en-US" sz="1300" b="1" dirty="0">
                <a:solidFill>
                  <a:srgbClr val="085041"/>
                </a:solidFill>
                <a:latin typeface="Calibri" pitchFamily="34" charset="0"/>
                <a:ea typeface="Calibri" pitchFamily="34" charset="-122"/>
                <a:cs typeface="Calibri" pitchFamily="34" charset="-120"/>
              </a:rPr>
              <a:t>Acting</a:t>
            </a:r>
            <a:endParaRPr lang="en-US" sz="1300" dirty="0"/>
          </a:p>
        </p:txBody>
      </p:sp>
      <p:sp>
        <p:nvSpPr>
          <p:cNvPr id="5" name="!!lh2"/>
          <p:cNvSpPr txBox="1"/>
          <p:nvPr/>
        </p:nvSpPr>
        <p:spPr>
          <a:xfrm>
            <a:off x="5248656" y="1024128"/>
            <a:ext cx="2258568" cy="274320"/>
          </a:xfrm>
          <a:prstGeom prst="rect">
            <a:avLst/>
          </a:prstGeom>
          <a:noFill/>
          <a:ln/>
        </p:spPr>
        <p:txBody>
          <a:bodyPr wrap="square" lIns="0" tIns="0" rIns="0" bIns="0" rtlCol="0" anchor="t"/>
          <a:lstStyle/>
          <a:p>
            <a:pPr algn="ctr" indent="0" marL="0">
              <a:buNone/>
            </a:pPr>
            <a:r>
              <a:rPr lang="en-US" sz="1300" b="1" dirty="0">
                <a:solidFill>
                  <a:srgbClr val="712B13"/>
                </a:solidFill>
                <a:latin typeface="Calibri" pitchFamily="34" charset="0"/>
                <a:ea typeface="Calibri" pitchFamily="34" charset="-122"/>
                <a:cs typeface="Calibri" pitchFamily="34" charset="-120"/>
              </a:rPr>
              <a:t>Checking</a:t>
            </a:r>
            <a:endParaRPr lang="en-US" sz="1300" dirty="0"/>
          </a:p>
        </p:txBody>
      </p:sp>
      <p:sp>
        <p:nvSpPr>
          <p:cNvPr id="6" name="!!blk01"/>
          <p:cNvSpPr/>
          <p:nvPr/>
        </p:nvSpPr>
        <p:spPr>
          <a:xfrm>
            <a:off x="548640" y="1371600"/>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7" name="!!blk02"/>
          <p:cNvSpPr/>
          <p:nvPr/>
        </p:nvSpPr>
        <p:spPr>
          <a:xfrm>
            <a:off x="2898648" y="1668780"/>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8" name="!!blk03"/>
          <p:cNvSpPr/>
          <p:nvPr/>
        </p:nvSpPr>
        <p:spPr>
          <a:xfrm>
            <a:off x="2898648" y="1965960"/>
            <a:ext cx="2258568" cy="548640"/>
          </a:xfrm>
          <a:prstGeom prst="roundRect">
            <a:avLst>
              <a:gd name="adj" fmla="val 8333"/>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9" name="!!blk04"/>
          <p:cNvSpPr/>
          <p:nvPr/>
        </p:nvSpPr>
        <p:spPr>
          <a:xfrm>
            <a:off x="548640" y="256489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0" name="!!blk05"/>
          <p:cNvSpPr/>
          <p:nvPr/>
        </p:nvSpPr>
        <p:spPr>
          <a:xfrm>
            <a:off x="2898648" y="286207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1" name="!!blk06"/>
          <p:cNvSpPr/>
          <p:nvPr/>
        </p:nvSpPr>
        <p:spPr>
          <a:xfrm>
            <a:off x="548640" y="315925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2" name="!!blk07"/>
          <p:cNvSpPr/>
          <p:nvPr/>
        </p:nvSpPr>
        <p:spPr>
          <a:xfrm>
            <a:off x="2898648" y="345643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13" name="!!blk08"/>
          <p:cNvSpPr/>
          <p:nvPr/>
        </p:nvSpPr>
        <p:spPr>
          <a:xfrm>
            <a:off x="2898648" y="375361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14" name="!!blk09"/>
          <p:cNvSpPr/>
          <p:nvPr/>
        </p:nvSpPr>
        <p:spPr>
          <a:xfrm>
            <a:off x="5248656" y="405079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15" name="!!blk10"/>
          <p:cNvSpPr/>
          <p:nvPr/>
        </p:nvSpPr>
        <p:spPr>
          <a:xfrm>
            <a:off x="2898648" y="434797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16" name="!!blk11"/>
          <p:cNvSpPr/>
          <p:nvPr/>
        </p:nvSpPr>
        <p:spPr>
          <a:xfrm>
            <a:off x="5248656" y="464515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17" name="!!blk12"/>
          <p:cNvSpPr/>
          <p:nvPr/>
        </p:nvSpPr>
        <p:spPr>
          <a:xfrm>
            <a:off x="2898648" y="494233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18" name="!!blk13"/>
          <p:cNvSpPr/>
          <p:nvPr/>
        </p:nvSpPr>
        <p:spPr>
          <a:xfrm>
            <a:off x="5248656" y="523951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19" name="!!blk14"/>
          <p:cNvSpPr/>
          <p:nvPr/>
        </p:nvSpPr>
        <p:spPr>
          <a:xfrm>
            <a:off x="548640" y="553669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20" name="!!blk15"/>
          <p:cNvSpPr/>
          <p:nvPr/>
        </p:nvSpPr>
        <p:spPr>
          <a:xfrm>
            <a:off x="5248656" y="583387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21" name="!!blk16"/>
          <p:cNvSpPr/>
          <p:nvPr/>
        </p:nvSpPr>
        <p:spPr>
          <a:xfrm>
            <a:off x="548640" y="613105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22" name="Text 20"/>
          <p:cNvSpPr txBox="1"/>
          <p:nvPr/>
        </p:nvSpPr>
        <p:spPr>
          <a:xfrm>
            <a:off x="7955280" y="137160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23" name="Text 21"/>
          <p:cNvSpPr/>
          <p:nvPr/>
        </p:nvSpPr>
        <p:spPr>
          <a:xfrm>
            <a:off x="7955280" y="190195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24" name="Text 22"/>
          <p:cNvSpPr txBox="1"/>
          <p:nvPr/>
        </p:nvSpPr>
        <p:spPr>
          <a:xfrm>
            <a:off x="8275320" y="184708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25" name="Text 23"/>
          <p:cNvSpPr/>
          <p:nvPr/>
        </p:nvSpPr>
        <p:spPr>
          <a:xfrm>
            <a:off x="7955280" y="246888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26" name="Text 24"/>
          <p:cNvSpPr txBox="1"/>
          <p:nvPr/>
        </p:nvSpPr>
        <p:spPr>
          <a:xfrm>
            <a:off x="8275320" y="241401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27" name="Text 25"/>
          <p:cNvSpPr/>
          <p:nvPr/>
        </p:nvSpPr>
        <p:spPr>
          <a:xfrm>
            <a:off x="7955280" y="303580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28" name="Text 26"/>
          <p:cNvSpPr txBox="1"/>
          <p:nvPr/>
        </p:nvSpPr>
        <p:spPr>
          <a:xfrm>
            <a:off x="8275320" y="298094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29" name="Text 27"/>
          <p:cNvSpPr txBox="1"/>
          <p:nvPr/>
        </p:nvSpPr>
        <p:spPr>
          <a:xfrm>
            <a:off x="7955280" y="365760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
        <p:nvSpPr>
          <p:cNvPr id="30" name="!!take3"/>
          <p:cNvSpPr/>
          <p:nvPr/>
        </p:nvSpPr>
        <p:spPr>
          <a:xfrm>
            <a:off x="7955280" y="4709160"/>
            <a:ext cx="3749040" cy="1051560"/>
          </a:xfrm>
          <a:prstGeom prst="roundRect">
            <a:avLst>
              <a:gd name="adj" fmla="val 10435"/>
            </a:avLst>
          </a:prstGeom>
          <a:solidFill>
            <a:srgbClr val="FAECE7"/>
          </a:solidFill>
          <a:ln w="12700">
            <a:solidFill>
              <a:srgbClr val="993C1D"/>
            </a:solidFill>
            <a:prstDash val="solid"/>
          </a:ln>
        </p:spPr>
        <p:txBody>
          <a:bodyPr wrap="square" lIns="152400" tIns="152400" rIns="152400" bIns="152400" rtlCol="0" anchor="ctr"/>
          <a:lstStyle/>
          <a:p>
            <a:pPr algn="l" indent="0" marL="0">
              <a:buNone/>
            </a:pPr>
            <a:r>
              <a:rPr lang="en-US" sz="1400" b="1" dirty="0">
                <a:solidFill>
                  <a:srgbClr val="712B13"/>
                </a:solidFill>
                <a:latin typeface="Calibri" pitchFamily="34" charset="0"/>
                <a:ea typeface="Calibri" pitchFamily="34" charset="-122"/>
                <a:cs typeface="Calibri" pitchFamily="34" charset="-120"/>
              </a:rPr>
              <a:t>One loop, three jobs, one exit signal. We'd never let the maker check their own work. Why let an agent?</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Failure Modes: What You Observe</a:t>
            </a:r>
            <a:endParaRPr lang="en-US" sz="3000" dirty="0"/>
          </a:p>
        </p:txBody>
      </p:sp>
      <p:pic>
        <p:nvPicPr>
          <p:cNvPr id="3" name="!!fi0" descr="/home/claude/multi-agent-deck/assets/icons/TbBrain_534AB7.png">    </p:cNvPr>
          <p:cNvPicPr>
            <a:picLocks noChangeAspect="1"/>
          </p:cNvPicPr>
          <p:nvPr/>
        </p:nvPicPr>
        <p:blipFill>
          <a:blip r:embed="rId1"/>
          <a:stretch>
            <a:fillRect/>
          </a:stretch>
        </p:blipFill>
        <p:spPr>
          <a:xfrm>
            <a:off x="548640" y="1143000"/>
            <a:ext cx="292608" cy="292608"/>
          </a:xfrm>
          <a:prstGeom prst="rect">
            <a:avLst/>
          </a:prstGeom>
        </p:spPr>
      </p:pic>
      <p:sp>
        <p:nvSpPr>
          <p:cNvPr id="4" name="!!fh0"/>
          <p:cNvSpPr txBox="1"/>
          <p:nvPr/>
        </p:nvSpPr>
        <p:spPr>
          <a:xfrm>
            <a:off x="932688" y="11430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5" name="!!card00"/>
          <p:cNvSpPr/>
          <p:nvPr/>
        </p:nvSpPr>
        <p:spPr>
          <a:xfrm>
            <a:off x="548640" y="164592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6" name="!!ci00" descr="/home/claude/multi-agent-deck/assets/icons/TbRouteOff_534AB7.png">    </p:cNvPr>
          <p:cNvPicPr>
            <a:picLocks noChangeAspect="1"/>
          </p:cNvPicPr>
          <p:nvPr/>
        </p:nvPicPr>
        <p:blipFill>
          <a:blip r:embed="rId2"/>
          <a:stretch>
            <a:fillRect/>
          </a:stretch>
        </p:blipFill>
        <p:spPr>
          <a:xfrm>
            <a:off x="731520" y="1828800"/>
            <a:ext cx="274320" cy="274320"/>
          </a:xfrm>
          <a:prstGeom prst="rect">
            <a:avLst/>
          </a:prstGeom>
        </p:spPr>
      </p:pic>
      <p:sp>
        <p:nvSpPr>
          <p:cNvPr id="7" name="!!cn00"/>
          <p:cNvSpPr txBox="1"/>
          <p:nvPr/>
        </p:nvSpPr>
        <p:spPr>
          <a:xfrm>
            <a:off x="1097280" y="181051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8" name="!!cb00"/>
          <p:cNvSpPr txBox="1"/>
          <p:nvPr/>
        </p:nvSpPr>
        <p:spPr>
          <a:xfrm>
            <a:off x="73152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9" name="!!card01"/>
          <p:cNvSpPr/>
          <p:nvPr/>
        </p:nvSpPr>
        <p:spPr>
          <a:xfrm>
            <a:off x="548640" y="374904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0" name="!!ci01" descr="/home/claude/multi-agent-deck/assets/icons/TbTool_534AB7.png">    </p:cNvPr>
          <p:cNvPicPr>
            <a:picLocks noChangeAspect="1"/>
          </p:cNvPicPr>
          <p:nvPr/>
        </p:nvPicPr>
        <p:blipFill>
          <a:blip r:embed="rId3"/>
          <a:stretch>
            <a:fillRect/>
          </a:stretch>
        </p:blipFill>
        <p:spPr>
          <a:xfrm>
            <a:off x="731520" y="3931920"/>
            <a:ext cx="274320" cy="274320"/>
          </a:xfrm>
          <a:prstGeom prst="rect">
            <a:avLst/>
          </a:prstGeom>
        </p:spPr>
      </p:pic>
      <p:sp>
        <p:nvSpPr>
          <p:cNvPr id="11" name="!!cn01"/>
          <p:cNvSpPr txBox="1"/>
          <p:nvPr/>
        </p:nvSpPr>
        <p:spPr>
          <a:xfrm>
            <a:off x="1097280" y="391363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2" name="!!cb01"/>
          <p:cNvSpPr txBox="1"/>
          <p:nvPr/>
        </p:nvSpPr>
        <p:spPr>
          <a:xfrm>
            <a:off x="73152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pic>
        <p:nvPicPr>
          <p:cNvPr id="13" name="!!fi1" descr="/home/claude/multi-agent-deck/assets/icons/TbPlayerPlay_0F6E56.png">    </p:cNvPr>
          <p:cNvPicPr>
            <a:picLocks noChangeAspect="1"/>
          </p:cNvPicPr>
          <p:nvPr/>
        </p:nvPicPr>
        <p:blipFill>
          <a:blip r:embed="rId4"/>
          <a:stretch>
            <a:fillRect/>
          </a:stretch>
        </p:blipFill>
        <p:spPr>
          <a:xfrm>
            <a:off x="4297680" y="1143000"/>
            <a:ext cx="292608" cy="292608"/>
          </a:xfrm>
          <a:prstGeom prst="rect">
            <a:avLst/>
          </a:prstGeom>
        </p:spPr>
      </p:pic>
      <p:sp>
        <p:nvSpPr>
          <p:cNvPr id="14" name="!!fh1"/>
          <p:cNvSpPr txBox="1"/>
          <p:nvPr/>
        </p:nvSpPr>
        <p:spPr>
          <a:xfrm>
            <a:off x="4681728" y="1143000"/>
            <a:ext cx="3182112" cy="310896"/>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Acting failures</a:t>
            </a:r>
            <a:endParaRPr lang="en-US" sz="1700" dirty="0"/>
          </a:p>
        </p:txBody>
      </p:sp>
      <p:sp>
        <p:nvSpPr>
          <p:cNvPr id="15" name="!!card10"/>
          <p:cNvSpPr/>
          <p:nvPr/>
        </p:nvSpPr>
        <p:spPr>
          <a:xfrm>
            <a:off x="4297680" y="1645920"/>
            <a:ext cx="3566160" cy="1920240"/>
          </a:xfrm>
          <a:prstGeom prst="roundRect">
            <a:avLst>
              <a:gd name="adj" fmla="val 6667"/>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6" name="!!ci10" descr="/home/claude/multi-agent-deck/assets/icons/TbRepeat_0F6E56.png">    </p:cNvPr>
          <p:cNvPicPr>
            <a:picLocks noChangeAspect="1"/>
          </p:cNvPicPr>
          <p:nvPr/>
        </p:nvPicPr>
        <p:blipFill>
          <a:blip r:embed="rId5"/>
          <a:stretch>
            <a:fillRect/>
          </a:stretch>
        </p:blipFill>
        <p:spPr>
          <a:xfrm>
            <a:off x="4480560" y="1828800"/>
            <a:ext cx="274320" cy="274320"/>
          </a:xfrm>
          <a:prstGeom prst="rect">
            <a:avLst/>
          </a:prstGeom>
        </p:spPr>
      </p:pic>
      <p:sp>
        <p:nvSpPr>
          <p:cNvPr id="17" name="!!cn10"/>
          <p:cNvSpPr txBox="1"/>
          <p:nvPr/>
        </p:nvSpPr>
        <p:spPr>
          <a:xfrm>
            <a:off x="4846320" y="181051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Infinite loop</a:t>
            </a:r>
            <a:endParaRPr lang="en-US" sz="1600" dirty="0"/>
          </a:p>
        </p:txBody>
      </p:sp>
      <p:sp>
        <p:nvSpPr>
          <p:cNvPr id="18" name="!!cb10"/>
          <p:cNvSpPr txBox="1"/>
          <p:nvPr/>
        </p:nvSpPr>
        <p:spPr>
          <a:xfrm>
            <a:off x="448056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same step again and again</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step limit, no memory of failures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keeps re-searching the same flight</a:t>
            </a:r>
            <a:endParaRPr lang="en-US" sz="1400" dirty="0"/>
          </a:p>
        </p:txBody>
      </p:sp>
      <p:sp>
        <p:nvSpPr>
          <p:cNvPr id="19" name="!!card11"/>
          <p:cNvSpPr/>
          <p:nvPr/>
        </p:nvSpPr>
        <p:spPr>
          <a:xfrm>
            <a:off x="4297680" y="3749040"/>
            <a:ext cx="3566160" cy="1920240"/>
          </a:xfrm>
          <a:prstGeom prst="roundRect">
            <a:avLst>
              <a:gd name="adj" fmla="val 6667"/>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0" name="!!ci11" descr="/home/claude/multi-agent-deck/assets/icons/TbStack2_0F6E56.png">    </p:cNvPr>
          <p:cNvPicPr>
            <a:picLocks noChangeAspect="1"/>
          </p:cNvPicPr>
          <p:nvPr/>
        </p:nvPicPr>
        <p:blipFill>
          <a:blip r:embed="rId6"/>
          <a:stretch>
            <a:fillRect/>
          </a:stretch>
        </p:blipFill>
        <p:spPr>
          <a:xfrm>
            <a:off x="4480560" y="3931920"/>
            <a:ext cx="274320" cy="274320"/>
          </a:xfrm>
          <a:prstGeom prst="rect">
            <a:avLst/>
          </a:prstGeom>
        </p:spPr>
      </p:pic>
      <p:sp>
        <p:nvSpPr>
          <p:cNvPr id="21" name="!!cn11"/>
          <p:cNvSpPr txBox="1"/>
          <p:nvPr/>
        </p:nvSpPr>
        <p:spPr>
          <a:xfrm>
            <a:off x="4846320" y="391363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Error cascade</a:t>
            </a:r>
            <a:endParaRPr lang="en-US" sz="1600" dirty="0"/>
          </a:p>
        </p:txBody>
      </p:sp>
      <p:sp>
        <p:nvSpPr>
          <p:cNvPr id="22" name="!!cb11"/>
          <p:cNvSpPr txBox="1"/>
          <p:nvPr/>
        </p:nvSpPr>
        <p:spPr>
          <a:xfrm>
            <a:off x="448056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one bad step spoils the rest</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isolation or checkpoints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wrong customer ID used in every later step</a:t>
            </a:r>
            <a:endParaRPr lang="en-US" sz="1400" dirty="0"/>
          </a:p>
        </p:txBody>
      </p:sp>
      <p:pic>
        <p:nvPicPr>
          <p:cNvPr id="23" name="!!fi2" descr="/home/claude/multi-agent-deck/assets/icons/TbChecklist_993C1D.png">    </p:cNvPr>
          <p:cNvPicPr>
            <a:picLocks noChangeAspect="1"/>
          </p:cNvPicPr>
          <p:nvPr/>
        </p:nvPicPr>
        <p:blipFill>
          <a:blip r:embed="rId7"/>
          <a:stretch>
            <a:fillRect/>
          </a:stretch>
        </p:blipFill>
        <p:spPr>
          <a:xfrm>
            <a:off x="8046720" y="1143000"/>
            <a:ext cx="292608" cy="292608"/>
          </a:xfrm>
          <a:prstGeom prst="rect">
            <a:avLst/>
          </a:prstGeom>
        </p:spPr>
      </p:pic>
      <p:sp>
        <p:nvSpPr>
          <p:cNvPr id="24" name="!!fh2"/>
          <p:cNvSpPr txBox="1"/>
          <p:nvPr/>
        </p:nvSpPr>
        <p:spPr>
          <a:xfrm>
            <a:off x="8430768" y="1143000"/>
            <a:ext cx="3182112" cy="310896"/>
          </a:xfrm>
          <a:prstGeom prst="rect">
            <a:avLst/>
          </a:prstGeom>
          <a:noFill/>
          <a:ln/>
        </p:spPr>
        <p:txBody>
          <a:bodyPr wrap="square" lIns="0" tIns="0" rIns="0" bIns="0" rtlCol="0" anchor="ctr"/>
          <a:lstStyle/>
          <a:p>
            <a:pPr algn="l" indent="0" marL="0">
              <a:buNone/>
            </a:pPr>
            <a:r>
              <a:rPr lang="en-US" sz="1700" b="1" dirty="0">
                <a:solidFill>
                  <a:srgbClr val="712B13"/>
                </a:solidFill>
                <a:latin typeface="Calibri" pitchFamily="34" charset="0"/>
                <a:ea typeface="Calibri" pitchFamily="34" charset="-122"/>
                <a:cs typeface="Calibri" pitchFamily="34" charset="-120"/>
              </a:rPr>
              <a:t>Checking failures</a:t>
            </a:r>
            <a:endParaRPr lang="en-US" sz="1700" dirty="0"/>
          </a:p>
        </p:txBody>
      </p:sp>
      <p:sp>
        <p:nvSpPr>
          <p:cNvPr id="25" name="!!card20"/>
          <p:cNvSpPr/>
          <p:nvPr/>
        </p:nvSpPr>
        <p:spPr>
          <a:xfrm>
            <a:off x="8046720" y="1645920"/>
            <a:ext cx="3566160" cy="1920240"/>
          </a:xfrm>
          <a:prstGeom prst="roundRect">
            <a:avLst>
              <a:gd name="adj" fmla="val 6667"/>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6" name="!!ci20" descr="/home/claude/multi-agent-deck/assets/icons/TbMoodCheck_993C1D.png">    </p:cNvPr>
          <p:cNvPicPr>
            <a:picLocks noChangeAspect="1"/>
          </p:cNvPicPr>
          <p:nvPr/>
        </p:nvPicPr>
        <p:blipFill>
          <a:blip r:embed="rId8"/>
          <a:stretch>
            <a:fillRect/>
          </a:stretch>
        </p:blipFill>
        <p:spPr>
          <a:xfrm>
            <a:off x="8229600" y="1828800"/>
            <a:ext cx="274320" cy="274320"/>
          </a:xfrm>
          <a:prstGeom prst="rect">
            <a:avLst/>
          </a:prstGeom>
        </p:spPr>
      </p:pic>
      <p:sp>
        <p:nvSpPr>
          <p:cNvPr id="27" name="!!cn20"/>
          <p:cNvSpPr txBox="1"/>
          <p:nvPr/>
        </p:nvSpPr>
        <p:spPr>
          <a:xfrm>
            <a:off x="8595360" y="181051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False success</a:t>
            </a:r>
            <a:endParaRPr lang="en-US" sz="1600" dirty="0"/>
          </a:p>
        </p:txBody>
      </p:sp>
      <p:sp>
        <p:nvSpPr>
          <p:cNvPr id="28" name="!!cb20"/>
          <p:cNvSpPr txBox="1"/>
          <p:nvPr/>
        </p:nvSpPr>
        <p:spPr>
          <a:xfrm>
            <a:off x="822960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says "done" when it isn't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grades its own work</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"report sent" but the attachment is empty</a:t>
            </a:r>
            <a:endParaRPr lang="en-US" sz="1400" dirty="0"/>
          </a:p>
        </p:txBody>
      </p:sp>
      <p:sp>
        <p:nvSpPr>
          <p:cNvPr id="29" name="!!card21"/>
          <p:cNvSpPr/>
          <p:nvPr/>
        </p:nvSpPr>
        <p:spPr>
          <a:xfrm>
            <a:off x="8046720" y="3749040"/>
            <a:ext cx="3566160" cy="1920240"/>
          </a:xfrm>
          <a:prstGeom prst="roundRect">
            <a:avLst>
              <a:gd name="adj" fmla="val 6667"/>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0" name="!!ci21" descr="/home/claude/multi-agent-deck/assets/icons/TbPlayerStop_993C1D.png">    </p:cNvPr>
          <p:cNvPicPr>
            <a:picLocks noChangeAspect="1"/>
          </p:cNvPicPr>
          <p:nvPr/>
        </p:nvPicPr>
        <p:blipFill>
          <a:blip r:embed="rId9"/>
          <a:stretch>
            <a:fillRect/>
          </a:stretch>
        </p:blipFill>
        <p:spPr>
          <a:xfrm>
            <a:off x="8229600" y="3931920"/>
            <a:ext cx="274320" cy="274320"/>
          </a:xfrm>
          <a:prstGeom prst="rect">
            <a:avLst/>
          </a:prstGeom>
        </p:spPr>
      </p:pic>
      <p:sp>
        <p:nvSpPr>
          <p:cNvPr id="31" name="!!cn21"/>
          <p:cNvSpPr txBox="1"/>
          <p:nvPr/>
        </p:nvSpPr>
        <p:spPr>
          <a:xfrm>
            <a:off x="8595360" y="391363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Premature stop</a:t>
            </a:r>
            <a:endParaRPr lang="en-US" sz="1600" dirty="0"/>
          </a:p>
        </p:txBody>
      </p:sp>
      <p:sp>
        <p:nvSpPr>
          <p:cNvPr id="32" name="!!cb21"/>
          <p:cNvSpPr txBox="1"/>
          <p:nvPr/>
        </p:nvSpPr>
        <p:spPr>
          <a:xfrm>
            <a:off x="822960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quits halfway, sounds confident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"stopped talking" read as "finished"</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answers 2 of 5 questions</a:t>
            </a:r>
            <a:endParaRPr lang="en-US" sz="1400" dirty="0"/>
          </a:p>
        </p:txBody>
      </p:sp>
      <p:sp>
        <p:nvSpPr>
          <p:cNvPr id="33" name="!!take4"/>
          <p:cNvSpPr txBox="1"/>
          <p:nvPr/>
        </p:nvSpPr>
        <p:spPr>
          <a:xfrm>
            <a:off x="548640" y="5989320"/>
            <a:ext cx="11064240" cy="411480"/>
          </a:xfrm>
          <a:prstGeom prst="rect">
            <a:avLst/>
          </a:prstGeom>
          <a:noFill/>
          <a:ln/>
        </p:spPr>
        <p:txBody>
          <a:bodyPr wrap="square" lIns="0" tIns="0" rIns="0" bIns="0" rtlCol="0" anchor="t"/>
          <a:lstStyle/>
          <a:p>
            <a:pPr algn="ctr" indent="0" marL="0">
              <a:buNone/>
            </a:pPr>
            <a:r>
              <a:rPr lang="en-US" sz="1700" b="1" i="1" dirty="0">
                <a:solidFill>
                  <a:srgbClr val="2C2C2A"/>
                </a:solidFill>
                <a:latin typeface="Calibri" pitchFamily="34" charset="0"/>
                <a:ea typeface="Calibri" pitchFamily="34" charset="-122"/>
                <a:cs typeface="Calibri" pitchFamily="34" charset="-120"/>
              </a:rPr>
              <a:t>Every failure is one of three jobs going wrong, and every cause is a design choice.</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500"/>
                                        <p:tgtEl>
                                          <p:spTgt spid="3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19" grpId="0" animBg="1"/>
      <p:bldP spid="21" grpId="0" animBg="1"/>
      <p:bldP spid="22" grpId="0" animBg="1"/>
      <p:bldP spid="24" grpId="0" animBg="1"/>
      <p:bldP spid="25" grpId="0" animBg="1"/>
      <p:bldP spid="27" grpId="0" animBg="1"/>
      <p:bldP spid="28" grpId="0" animBg="1"/>
      <p:bldP spid="29" grpId="0" animBg="1"/>
      <p:bldP spid="31" grpId="0" animBg="1"/>
      <p:bldP spid="32" grpId="0" animBg="1"/>
      <p:bldP spid="3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big"/>
          <p:cNvSpPr/>
          <p:nvPr/>
        </p:nvSpPr>
        <p:spPr>
          <a:xfrm>
            <a:off x="3324758" y="2284171"/>
            <a:ext cx="1510589" cy="1510589"/>
          </a:xfrm>
          <a:prstGeom prst="ellipse">
            <a:avLst/>
          </a:prstGeom>
          <a:solidFill>
            <a:srgbClr val="FFFFFF">
              <a:alpha val="0"/>
            </a:srgbClr>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7" name="!!bigl"/>
          <p:cNvSpPr txBox="1"/>
          <p:nvPr/>
        </p:nvSpPr>
        <p:spPr>
          <a:xfrm>
            <a:off x="4921667" y="2284171"/>
            <a:ext cx="1828800" cy="228600"/>
          </a:xfrm>
          <a:prstGeom prst="rect">
            <a:avLst/>
          </a:prstGeom>
          <a:noFill/>
          <a:ln/>
        </p:spPr>
        <p:txBody>
          <a:bodyPr wrap="square" lIns="0" tIns="0" rIns="0" bIns="0" rtlCol="0" anchor="t"/>
          <a:lstStyle/>
          <a:p>
            <a:pPr algn="l" indent="0" marL="0">
              <a:buNone/>
            </a:pPr>
            <a:r>
              <a:rPr lang="en-US" sz="1100" b="1" dirty="0">
                <a:solidFill>
                  <a:srgbClr val="A32D2D"/>
                </a:solidFill>
                <a:latin typeface="Calibri" pitchFamily="34" charset="0"/>
                <a:ea typeface="Calibri" pitchFamily="34" charset="-122"/>
                <a:cs typeface="Calibri" pitchFamily="34" charset="-120"/>
              </a:rPr>
              <a:t>↻ one loop, one agent</a:t>
            </a:r>
            <a:endParaRPr lang="en-US" sz="1100" dirty="0"/>
          </a:p>
        </p:txBody>
      </p:sp>
      <p:sp>
        <p:nvSpPr>
          <p:cNvPr id="8" name="!!lt0"/>
          <p:cNvSpPr/>
          <p:nvPr/>
        </p:nvSpPr>
        <p:spPr>
          <a:xfrm>
            <a:off x="4080053" y="1809415"/>
            <a:ext cx="914" cy="431597"/>
          </a:xfrm>
          <a:prstGeom prst="line">
            <a:avLst/>
          </a:prstGeom>
          <a:noFill/>
          <a:ln w="15875">
            <a:solidFill>
              <a:srgbClr val="5F5E5A"/>
            </a:solidFill>
            <a:prstDash val="solid"/>
            <a:tailEnd type="triangle"/>
          </a:ln>
        </p:spPr>
      </p:sp>
      <p:sp>
        <p:nvSpPr>
          <p:cNvPr id="9" name="!!fr"/>
          <p:cNvSpPr/>
          <p:nvPr/>
        </p:nvSpPr>
        <p:spPr>
          <a:xfrm>
            <a:off x="5067330" y="3535802"/>
            <a:ext cx="2125614"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finish_reason decides all</a:t>
            </a:r>
            <a:endParaRPr lang="en-US" sz="900" dirty="0"/>
          </a:p>
        </p:txBody>
      </p:sp>
      <p:sp>
        <p:nvSpPr>
          <p:cNvPr id="10" name="!!j0"/>
          <p:cNvSpPr/>
          <p:nvPr/>
        </p:nvSpPr>
        <p:spPr>
          <a:xfrm>
            <a:off x="3515524" y="2636786"/>
            <a:ext cx="481662" cy="481662"/>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1" name="!!ji0" descr="/home/claude/multi-agent-deck/assets/icons/TbBrain_534AB7.png">    </p:cNvPr>
          <p:cNvPicPr>
            <a:picLocks noChangeAspect="1"/>
          </p:cNvPicPr>
          <p:nvPr/>
        </p:nvPicPr>
        <p:blipFill>
          <a:blip r:embed="rId2"/>
          <a:stretch>
            <a:fillRect/>
          </a:stretch>
        </p:blipFill>
        <p:spPr>
          <a:xfrm>
            <a:off x="3611857" y="2733118"/>
            <a:ext cx="288997" cy="288997"/>
          </a:xfrm>
          <a:prstGeom prst="rect">
            <a:avLst/>
          </a:prstGeom>
        </p:spPr>
      </p:pic>
      <p:sp>
        <p:nvSpPr>
          <p:cNvPr id="12" name="!!j1"/>
          <p:cNvSpPr/>
          <p:nvPr/>
        </p:nvSpPr>
        <p:spPr>
          <a:xfrm>
            <a:off x="4162919" y="2636786"/>
            <a:ext cx="481662" cy="481662"/>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3" name="!!ji1" descr="/home/claude/multi-agent-deck/assets/icons/TbTool_0F6E56.png">    </p:cNvPr>
          <p:cNvPicPr>
            <a:picLocks noChangeAspect="1"/>
          </p:cNvPicPr>
          <p:nvPr/>
        </p:nvPicPr>
        <p:blipFill>
          <a:blip r:embed="rId3"/>
          <a:stretch>
            <a:fillRect/>
          </a:stretch>
        </p:blipFill>
        <p:spPr>
          <a:xfrm>
            <a:off x="4259252" y="2733118"/>
            <a:ext cx="288997" cy="288997"/>
          </a:xfrm>
          <a:prstGeom prst="rect">
            <a:avLst/>
          </a:prstGeom>
        </p:spPr>
      </p:pic>
      <p:sp>
        <p:nvSpPr>
          <p:cNvPr id="14" name="!!j2"/>
          <p:cNvSpPr/>
          <p:nvPr/>
        </p:nvSpPr>
        <p:spPr>
          <a:xfrm>
            <a:off x="3839222" y="3100752"/>
            <a:ext cx="481662" cy="481662"/>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5" name="!!ji2" descr="/home/claude/multi-agent-deck/assets/icons/TbChecklist_993C1D.png">    </p:cNvPr>
          <p:cNvPicPr>
            <a:picLocks noChangeAspect="1"/>
          </p:cNvPicPr>
          <p:nvPr/>
        </p:nvPicPr>
        <p:blipFill>
          <a:blip r:embed="rId4"/>
          <a:stretch>
            <a:fillRect/>
          </a:stretch>
        </p:blipFill>
        <p:spPr>
          <a:xfrm>
            <a:off x="3935554" y="3197085"/>
            <a:ext cx="288997" cy="288997"/>
          </a:xfrm>
          <a:prstGeom prst="rect">
            <a:avLst/>
          </a:prstGeom>
        </p:spPr>
      </p:pic>
      <p:sp>
        <p:nvSpPr>
          <p:cNvPr id="16" name="!!shm"/>
          <p:cNvSpPr/>
          <p:nvPr/>
        </p:nvSpPr>
        <p:spPr>
          <a:xfrm>
            <a:off x="2461565" y="4226357"/>
            <a:ext cx="3236976" cy="496336"/>
          </a:xfrm>
          <a:prstGeom prst="roundRect">
            <a:avLst>
              <a:gd name="adj" fmla="val 14738"/>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100" dirty="0">
                <a:solidFill>
                  <a:srgbClr val="791F1F"/>
                </a:solidFill>
                <a:latin typeface="Calibri" pitchFamily="34" charset="0"/>
                <a:ea typeface="Calibri" pitchFamily="34" charset="-122"/>
                <a:cs typeface="Calibri" pitchFamily="34" charset="-120"/>
              </a:rPr>
              <a:t>Shared context: every task, every result</a:t>
            </a:r>
            <a:endParaRPr lang="en-US" sz="1100" dirty="0"/>
          </a:p>
        </p:txBody>
      </p:sp>
      <p:sp>
        <p:nvSpPr>
          <p:cNvPr id="17" name="!!sm0"/>
          <p:cNvSpPr/>
          <p:nvPr/>
        </p:nvSpPr>
        <p:spPr>
          <a:xfrm>
            <a:off x="4080053" y="3816340"/>
            <a:ext cx="914" cy="388437"/>
          </a:xfrm>
          <a:prstGeom prst="line">
            <a:avLst/>
          </a:prstGeom>
          <a:noFill/>
          <a:ln w="15875">
            <a:solidFill>
              <a:srgbClr val="5F5E5A"/>
            </a:solidFill>
            <a:prstDash val="solid"/>
            <a:tailEnd type="triangle"/>
          </a:ln>
        </p:spPr>
      </p:sp>
      <p:sp>
        <p:nvSpPr>
          <p:cNvPr id="18"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Before</a:t>
            </a:r>
            <a:endParaRPr lang="en-US" sz="1200" dirty="0"/>
          </a:p>
        </p:txBody>
      </p:sp>
      <p:sp>
        <p:nvSpPr>
          <p:cNvPr id="19"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A32D2D"/>
                </a:solidFill>
                <a:latin typeface="Calibri" pitchFamily="34" charset="0"/>
                <a:ea typeface="Calibri" pitchFamily="34" charset="-122"/>
                <a:cs typeface="Calibri" pitchFamily="34" charset="-120"/>
              </a:rPr>
              <a:t>Root cause</a:t>
            </a:r>
            <a:endParaRPr lang="en-US" sz="2200" dirty="0"/>
          </a:p>
        </p:txBody>
      </p:sp>
      <p:sp>
        <p:nvSpPr>
          <p:cNvPr id="20"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One agent does thinking, acting and checking, shares one context, and only stops when finish_reason says so.</a:t>
            </a:r>
            <a:endParaRPr lang="en-US" sz="1400" dirty="0"/>
          </a:p>
        </p:txBody>
      </p:sp>
      <p:pic>
        <p:nvPicPr>
          <p:cNvPr id="21" name="!!cki0" descr="/home/claude/multi-agent-deck/assets/icons/TbCircle_B4B2A9.png">    </p:cNvPr>
          <p:cNvPicPr>
            <a:picLocks noChangeAspect="1"/>
          </p:cNvPicPr>
          <p:nvPr/>
        </p:nvPicPr>
        <p:blipFill>
          <a:blip r:embed="rId5"/>
          <a:stretch>
            <a:fillRect/>
          </a:stretch>
        </p:blipFill>
        <p:spPr>
          <a:xfrm>
            <a:off x="8092440" y="3191256"/>
            <a:ext cx="256032" cy="256032"/>
          </a:xfrm>
          <a:prstGeom prst="rect">
            <a:avLst/>
          </a:prstGeom>
        </p:spPr>
      </p:pic>
      <p:sp>
        <p:nvSpPr>
          <p:cNvPr id="22"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Separation of concerns</a:t>
            </a:r>
            <a:endParaRPr lang="en-US" sz="1400" dirty="0"/>
          </a:p>
        </p:txBody>
      </p:sp>
      <p:pic>
        <p:nvPicPr>
          <p:cNvPr id="23" name="!!cki1" descr="/home/claude/multi-agent-deck/assets/icons/TbCircle_B4B2A9.png">    </p:cNvPr>
          <p:cNvPicPr>
            <a:picLocks noChangeAspect="1"/>
          </p:cNvPicPr>
          <p:nvPr/>
        </p:nvPicPr>
        <p:blipFill>
          <a:blip r:embed="rId6"/>
          <a:stretch>
            <a:fillRect/>
          </a:stretch>
        </p:blipFill>
        <p:spPr>
          <a:xfrm>
            <a:off x="8092440" y="3648456"/>
            <a:ext cx="256032" cy="256032"/>
          </a:xfrm>
          <a:prstGeom prst="rect">
            <a:avLst/>
          </a:prstGeom>
        </p:spPr>
      </p:pic>
      <p:sp>
        <p:nvSpPr>
          <p:cNvPr id="24"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Isolated state</a:t>
            </a:r>
            <a:endParaRPr lang="en-US" sz="1400" dirty="0"/>
          </a:p>
        </p:txBody>
      </p:sp>
      <p:pic>
        <p:nvPicPr>
          <p:cNvPr id="25" name="!!cki2" descr="/home/claude/multi-agent-deck/assets/icons/TbCircle_B4B2A9.png">    </p:cNvPr>
          <p:cNvPicPr>
            <a:picLocks noChangeAspect="1"/>
          </p:cNvPicPr>
          <p:nvPr/>
        </p:nvPicPr>
        <p:blipFill>
          <a:blip r:embed="rId7"/>
          <a:stretch>
            <a:fillRect/>
          </a:stretch>
        </p:blipFill>
        <p:spPr>
          <a:xfrm>
            <a:off x="8092440" y="4105656"/>
            <a:ext cx="256032" cy="256032"/>
          </a:xfrm>
          <a:prstGeom prst="rect">
            <a:avLst/>
          </a:prstGeom>
        </p:spPr>
      </p:pic>
      <p:sp>
        <p:nvSpPr>
          <p:cNvPr id="26"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27" name="!!cki3" descr="/home/claude/multi-agent-deck/assets/icons/TbCircle_B4B2A9.png">    </p:cNvPr>
          <p:cNvPicPr>
            <a:picLocks noChangeAspect="1"/>
          </p:cNvPicPr>
          <p:nvPr/>
        </p:nvPicPr>
        <p:blipFill>
          <a:blip r:embed="rId8"/>
          <a:stretch>
            <a:fillRect/>
          </a:stretch>
        </p:blipFill>
        <p:spPr>
          <a:xfrm>
            <a:off x="8092440" y="4562856"/>
            <a:ext cx="256032" cy="256032"/>
          </a:xfrm>
          <a:prstGeom prst="rect">
            <a:avLst/>
          </a:prstGeom>
        </p:spPr>
      </p:pic>
      <p:sp>
        <p:nvSpPr>
          <p:cNvPr id="28"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29" name="!!cki4" descr="/home/claude/multi-agent-deck/assets/icons/TbCircle_B4B2A9.png">    </p:cNvPr>
          <p:cNvPicPr>
            <a:picLocks noChangeAspect="1"/>
          </p:cNvPicPr>
          <p:nvPr/>
        </p:nvPicPr>
        <p:blipFill>
          <a:blip r:embed="rId9"/>
          <a:stretch>
            <a:fillRect/>
          </a:stretch>
        </p:blipFill>
        <p:spPr>
          <a:xfrm>
            <a:off x="8092440" y="5020056"/>
            <a:ext cx="256032" cy="256032"/>
          </a:xfrm>
          <a:prstGeom prst="rect">
            <a:avLst/>
          </a:prstGeom>
        </p:spPr>
      </p:pic>
      <p:sp>
        <p:nvSpPr>
          <p:cNvPr id="30"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lt1a"/>
          <p:cNvSpPr/>
          <p:nvPr/>
        </p:nvSpPr>
        <p:spPr>
          <a:xfrm flipH="1">
            <a:off x="1727850" y="1528877"/>
            <a:ext cx="2093244" cy="914"/>
          </a:xfrm>
          <a:prstGeom prst="line">
            <a:avLst/>
          </a:prstGeom>
          <a:noFill/>
          <a:ln w="15875">
            <a:solidFill>
              <a:srgbClr val="5F5E5A"/>
            </a:solidFill>
            <a:prstDash val="solid"/>
          </a:ln>
        </p:spPr>
      </p:sp>
      <p:sp>
        <p:nvSpPr>
          <p:cNvPr id="7" name="!!lt1b"/>
          <p:cNvSpPr/>
          <p:nvPr/>
        </p:nvSpPr>
        <p:spPr>
          <a:xfrm>
            <a:off x="1727850" y="1528877"/>
            <a:ext cx="914" cy="1143732"/>
          </a:xfrm>
          <a:prstGeom prst="line">
            <a:avLst/>
          </a:prstGeom>
          <a:noFill/>
          <a:ln w="15875">
            <a:solidFill>
              <a:srgbClr val="5F5E5A"/>
            </a:solidFill>
            <a:prstDash val="solid"/>
            <a:tailEnd type="triangle"/>
          </a:ln>
        </p:spPr>
      </p:sp>
      <p:sp>
        <p:nvSpPr>
          <p:cNvPr id="8" name="!!lpw"/>
          <p:cNvSpPr/>
          <p:nvPr/>
        </p:nvSpPr>
        <p:spPr>
          <a:xfrm>
            <a:off x="2332086" y="3039466"/>
            <a:ext cx="1316370" cy="914"/>
          </a:xfrm>
          <a:prstGeom prst="line">
            <a:avLst/>
          </a:prstGeom>
          <a:noFill/>
          <a:ln w="15875">
            <a:solidFill>
              <a:srgbClr val="5F5E5A"/>
            </a:solidFill>
            <a:prstDash val="solid"/>
            <a:tailEnd type="triangle"/>
          </a:ln>
        </p:spPr>
      </p:sp>
      <p:sp>
        <p:nvSpPr>
          <p:cNvPr id="9" name="!!lwc"/>
          <p:cNvSpPr/>
          <p:nvPr/>
        </p:nvSpPr>
        <p:spPr>
          <a:xfrm>
            <a:off x="4490070" y="3039466"/>
            <a:ext cx="1316370" cy="914"/>
          </a:xfrm>
          <a:prstGeom prst="line">
            <a:avLst/>
          </a:prstGeom>
          <a:noFill/>
          <a:ln w="15875">
            <a:solidFill>
              <a:srgbClr val="5F5E5A"/>
            </a:solidFill>
            <a:prstDash val="solid"/>
            <a:tailEnd type="triangle"/>
          </a:ln>
        </p:spPr>
      </p:sp>
      <p:sp>
        <p:nvSpPr>
          <p:cNvPr id="10" name="!!fb1"/>
          <p:cNvSpPr/>
          <p:nvPr/>
        </p:nvSpPr>
        <p:spPr>
          <a:xfrm flipV="1">
            <a:off x="6238037" y="2370491"/>
            <a:ext cx="914" cy="280538"/>
          </a:xfrm>
          <a:prstGeom prst="line">
            <a:avLst/>
          </a:prstGeom>
          <a:noFill/>
          <a:ln w="15875">
            <a:solidFill>
              <a:srgbClr val="5F5E5A"/>
            </a:solidFill>
            <a:prstDash val="dash"/>
          </a:ln>
        </p:spPr>
      </p:sp>
      <p:sp>
        <p:nvSpPr>
          <p:cNvPr id="11" name="!!fb2"/>
          <p:cNvSpPr/>
          <p:nvPr/>
        </p:nvSpPr>
        <p:spPr>
          <a:xfrm flipH="1">
            <a:off x="2137867" y="2370491"/>
            <a:ext cx="4100170" cy="914"/>
          </a:xfrm>
          <a:prstGeom prst="line">
            <a:avLst/>
          </a:prstGeom>
          <a:noFill/>
          <a:ln w="15875">
            <a:solidFill>
              <a:srgbClr val="5F5E5A"/>
            </a:solidFill>
            <a:prstDash val="dash"/>
          </a:ln>
        </p:spPr>
      </p:sp>
      <p:sp>
        <p:nvSpPr>
          <p:cNvPr id="12" name="!!fb3"/>
          <p:cNvSpPr/>
          <p:nvPr/>
        </p:nvSpPr>
        <p:spPr>
          <a:xfrm>
            <a:off x="2137867" y="2370491"/>
            <a:ext cx="914" cy="302118"/>
          </a:xfrm>
          <a:prstGeom prst="line">
            <a:avLst/>
          </a:prstGeom>
          <a:noFill/>
          <a:ln w="15875">
            <a:solidFill>
              <a:srgbClr val="5F5E5A"/>
            </a:solidFill>
            <a:prstDash val="dash"/>
            <a:tailEnd type="triangle"/>
          </a:ln>
        </p:spPr>
      </p:sp>
      <p:sp>
        <p:nvSpPr>
          <p:cNvPr id="13" name="!!j0"/>
          <p:cNvSpPr/>
          <p:nvPr/>
        </p:nvSpPr>
        <p:spPr>
          <a:xfrm>
            <a:off x="1533632" y="265102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home/claude/multi-agent-deck/assets/icons/TbBrain_534AB7.png">    </p:cNvPr>
          <p:cNvPicPr>
            <a:picLocks noChangeAspect="1"/>
          </p:cNvPicPr>
          <p:nvPr/>
        </p:nvPicPr>
        <p:blipFill>
          <a:blip r:embed="rId2"/>
          <a:stretch>
            <a:fillRect/>
          </a:stretch>
        </p:blipFill>
        <p:spPr>
          <a:xfrm>
            <a:off x="1689007" y="2806403"/>
            <a:ext cx="466125" cy="466125"/>
          </a:xfrm>
          <a:prstGeom prst="rect">
            <a:avLst/>
          </a:prstGeom>
        </p:spPr>
      </p:pic>
      <p:sp>
        <p:nvSpPr>
          <p:cNvPr id="15" name="!!jl0"/>
          <p:cNvSpPr txBox="1"/>
          <p:nvPr/>
        </p:nvSpPr>
        <p:spPr>
          <a:xfrm>
            <a:off x="1281989" y="349264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6" name="!!j1"/>
          <p:cNvSpPr/>
          <p:nvPr/>
        </p:nvSpPr>
        <p:spPr>
          <a:xfrm>
            <a:off x="3691616" y="265102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7" name="!!ji1" descr="/home/claude/multi-agent-deck/assets/icons/TbTool_0F6E56.png">    </p:cNvPr>
          <p:cNvPicPr>
            <a:picLocks noChangeAspect="1"/>
          </p:cNvPicPr>
          <p:nvPr/>
        </p:nvPicPr>
        <p:blipFill>
          <a:blip r:embed="rId3"/>
          <a:stretch>
            <a:fillRect/>
          </a:stretch>
        </p:blipFill>
        <p:spPr>
          <a:xfrm>
            <a:off x="3846991" y="2806403"/>
            <a:ext cx="466125" cy="466125"/>
          </a:xfrm>
          <a:prstGeom prst="rect">
            <a:avLst/>
          </a:prstGeom>
        </p:spPr>
      </p:pic>
      <p:sp>
        <p:nvSpPr>
          <p:cNvPr id="18" name="!!jl1"/>
          <p:cNvSpPr txBox="1"/>
          <p:nvPr/>
        </p:nvSpPr>
        <p:spPr>
          <a:xfrm>
            <a:off x="3439973" y="349264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19" name="!!j2"/>
          <p:cNvSpPr/>
          <p:nvPr/>
        </p:nvSpPr>
        <p:spPr>
          <a:xfrm>
            <a:off x="5849600" y="2651028"/>
            <a:ext cx="776874" cy="776874"/>
          </a:xfrm>
          <a:prstGeom prst="ellipse">
            <a:avLst/>
          </a:prstGeom>
          <a:solidFill>
            <a:srgbClr val="FFFFFF"/>
          </a:solidFill>
          <a:ln w="444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0" name="!!ji2" descr="/home/claude/multi-agent-deck/assets/icons/TbChecklist_993C1D.png">    </p:cNvPr>
          <p:cNvPicPr>
            <a:picLocks noChangeAspect="1"/>
          </p:cNvPicPr>
          <p:nvPr/>
        </p:nvPicPr>
        <p:blipFill>
          <a:blip r:embed="rId4"/>
          <a:stretch>
            <a:fillRect/>
          </a:stretch>
        </p:blipFill>
        <p:spPr>
          <a:xfrm>
            <a:off x="6004975" y="2806403"/>
            <a:ext cx="466125" cy="466125"/>
          </a:xfrm>
          <a:prstGeom prst="rect">
            <a:avLst/>
          </a:prstGeom>
        </p:spPr>
      </p:pic>
      <p:sp>
        <p:nvSpPr>
          <p:cNvPr id="21" name="!!jl2"/>
          <p:cNvSpPr txBox="1"/>
          <p:nvPr/>
        </p:nvSpPr>
        <p:spPr>
          <a:xfrm>
            <a:off x="5597957" y="349264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2" name="!!own0"/>
          <p:cNvSpPr/>
          <p:nvPr/>
        </p:nvSpPr>
        <p:spPr>
          <a:xfrm>
            <a:off x="1220724" y="424793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3" name="!!owl0"/>
          <p:cNvSpPr/>
          <p:nvPr/>
        </p:nvSpPr>
        <p:spPr>
          <a:xfrm>
            <a:off x="1922069" y="3686861"/>
            <a:ext cx="914" cy="539496"/>
          </a:xfrm>
          <a:prstGeom prst="line">
            <a:avLst/>
          </a:prstGeom>
          <a:noFill/>
          <a:ln w="15875">
            <a:solidFill>
              <a:srgbClr val="5F5E5A"/>
            </a:solidFill>
            <a:prstDash val="solid"/>
            <a:tailEnd type="triangle"/>
          </a:ln>
        </p:spPr>
      </p:sp>
      <p:sp>
        <p:nvSpPr>
          <p:cNvPr id="24" name="!!own1"/>
          <p:cNvSpPr/>
          <p:nvPr/>
        </p:nvSpPr>
        <p:spPr>
          <a:xfrm>
            <a:off x="3378708" y="424793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5" name="!!owl1"/>
          <p:cNvSpPr/>
          <p:nvPr/>
        </p:nvSpPr>
        <p:spPr>
          <a:xfrm>
            <a:off x="4080053" y="3686861"/>
            <a:ext cx="914" cy="539496"/>
          </a:xfrm>
          <a:prstGeom prst="line">
            <a:avLst/>
          </a:prstGeom>
          <a:noFill/>
          <a:ln w="15875">
            <a:solidFill>
              <a:srgbClr val="5F5E5A"/>
            </a:solidFill>
            <a:prstDash val="solid"/>
            <a:tailEnd type="triangle"/>
          </a:ln>
        </p:spPr>
      </p:sp>
      <p:sp>
        <p:nvSpPr>
          <p:cNvPr id="26" name="!!own2"/>
          <p:cNvSpPr/>
          <p:nvPr/>
        </p:nvSpPr>
        <p:spPr>
          <a:xfrm>
            <a:off x="5536692" y="424793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7" name="!!owl2"/>
          <p:cNvSpPr/>
          <p:nvPr/>
        </p:nvSpPr>
        <p:spPr>
          <a:xfrm>
            <a:off x="6238037" y="3686861"/>
            <a:ext cx="914" cy="539496"/>
          </a:xfrm>
          <a:prstGeom prst="line">
            <a:avLst/>
          </a:prstGeom>
          <a:noFill/>
          <a:ln w="15875">
            <a:solidFill>
              <a:srgbClr val="5F5E5A"/>
            </a:solidFill>
            <a:prstDash val="solid"/>
            <a:tailEnd type="triangle"/>
          </a:ln>
        </p:spPr>
      </p:sp>
      <p:sp>
        <p:nvSpPr>
          <p:cNvPr id="28" name="!!retry"/>
          <p:cNvSpPr/>
          <p:nvPr/>
        </p:nvSpPr>
        <p:spPr>
          <a:xfrm>
            <a:off x="4603364" y="377318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29" name="!!flag0" descr="/home/claude/multi-agent-deck/assets/icons/TbFlag_5F5E5A.png">    </p:cNvPr>
          <p:cNvPicPr>
            <a:picLocks noChangeAspect="1"/>
          </p:cNvPicPr>
          <p:nvPr/>
        </p:nvPicPr>
        <p:blipFill>
          <a:blip r:embed="rId5"/>
          <a:stretch>
            <a:fillRect/>
          </a:stretch>
        </p:blipFill>
        <p:spPr>
          <a:xfrm>
            <a:off x="2903952" y="3212104"/>
            <a:ext cx="194219" cy="194219"/>
          </a:xfrm>
          <a:prstGeom prst="rect">
            <a:avLst/>
          </a:prstGeom>
        </p:spPr>
      </p:pic>
      <p:pic>
        <p:nvPicPr>
          <p:cNvPr id="30" name="!!flag1" descr="/home/claude/multi-agent-deck/assets/icons/TbFlag_5F5E5A.png">    </p:cNvPr>
          <p:cNvPicPr>
            <a:picLocks noChangeAspect="1"/>
          </p:cNvPicPr>
          <p:nvPr/>
        </p:nvPicPr>
        <p:blipFill>
          <a:blip r:embed="rId6"/>
          <a:stretch>
            <a:fillRect/>
          </a:stretch>
        </p:blipFill>
        <p:spPr>
          <a:xfrm>
            <a:off x="5061936" y="3212104"/>
            <a:ext cx="194219" cy="194219"/>
          </a:xfrm>
          <a:prstGeom prst="rect">
            <a:avLst/>
          </a:prstGeom>
        </p:spPr>
      </p:pic>
      <p:sp>
        <p:nvSpPr>
          <p:cNvPr id="31" name="!!lockc"/>
          <p:cNvSpPr/>
          <p:nvPr/>
        </p:nvSpPr>
        <p:spPr>
          <a:xfrm>
            <a:off x="6410676" y="2543129"/>
            <a:ext cx="280538" cy="280538"/>
          </a:xfrm>
          <a:prstGeom prst="ellipse">
            <a:avLst/>
          </a:prstGeom>
          <a:solidFill>
            <a:srgbClr val="FFFFFF"/>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2" name="!!locki" descr="/home/claude/multi-agent-deck/assets/icons/TbLock_993C1D.png">    </p:cNvPr>
          <p:cNvPicPr>
            <a:picLocks noChangeAspect="1"/>
          </p:cNvPicPr>
          <p:nvPr/>
        </p:nvPicPr>
        <p:blipFill>
          <a:blip r:embed="rId7"/>
          <a:stretch>
            <a:fillRect/>
          </a:stretch>
        </p:blipFill>
        <p:spPr>
          <a:xfrm>
            <a:off x="6464625" y="2597079"/>
            <a:ext cx="172639" cy="172639"/>
          </a:xfrm>
          <a:prstGeom prst="rect">
            <a:avLst/>
          </a:prstGeom>
        </p:spPr>
      </p:pic>
      <p:sp>
        <p:nvSpPr>
          <p:cNvPr id="33" name="!!pP"/>
          <p:cNvSpPr/>
          <p:nvPr/>
        </p:nvSpPr>
        <p:spPr>
          <a:xfrm>
            <a:off x="2655783" y="2715768"/>
            <a:ext cx="690555" cy="215798"/>
          </a:xfrm>
          <a:prstGeom prst="roundRect">
            <a:avLst>
              <a:gd name="adj" fmla="val 50000"/>
            </a:avLst>
          </a:prstGeom>
          <a:solidFill>
            <a:srgbClr val="EEEDFE"/>
          </a:solidFill>
          <a:ln w="12700">
            <a:solidFill>
              <a:srgbClr val="534AB7"/>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{plan}</a:t>
            </a:r>
            <a:endParaRPr lang="en-US" sz="900" dirty="0"/>
          </a:p>
        </p:txBody>
      </p:sp>
      <p:sp>
        <p:nvSpPr>
          <p:cNvPr id="34" name="!!pW"/>
          <p:cNvSpPr/>
          <p:nvPr/>
        </p:nvSpPr>
        <p:spPr>
          <a:xfrm>
            <a:off x="4738238" y="2715768"/>
            <a:ext cx="841614" cy="215798"/>
          </a:xfrm>
          <a:prstGeom prst="roundRect">
            <a:avLst>
              <a:gd name="adj" fmla="val 50000"/>
            </a:avLst>
          </a:prstGeom>
          <a:solidFill>
            <a:srgbClr val="E1F5EE"/>
          </a:solidFill>
          <a:ln w="12700">
            <a:solidFill>
              <a:srgbClr val="0F6E56"/>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{result}</a:t>
            </a:r>
            <a:endParaRPr lang="en-US" sz="900" dirty="0"/>
          </a:p>
        </p:txBody>
      </p:sp>
      <p:sp>
        <p:nvSpPr>
          <p:cNvPr id="35" name="!!pF"/>
          <p:cNvSpPr/>
          <p:nvPr/>
        </p:nvSpPr>
        <p:spPr>
          <a:xfrm>
            <a:off x="3351733" y="2089953"/>
            <a:ext cx="1672438" cy="215798"/>
          </a:xfrm>
          <a:prstGeom prst="roundRect">
            <a:avLst>
              <a:gd name="adj" fmla="val 50000"/>
            </a:avLst>
          </a:prstGeom>
          <a:solidFill>
            <a:srgbClr val="FAECE7"/>
          </a:solidFill>
          <a:ln w="12700">
            <a:solidFill>
              <a:srgbClr val="993C1D"/>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{status: fail, why}</a:t>
            </a:r>
            <a:endParaRPr lang="en-US" sz="900" dirty="0"/>
          </a:p>
        </p:txBody>
      </p:sp>
      <p:sp>
        <p:nvSpPr>
          <p:cNvPr id="36"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After · all five principles applied</a:t>
            </a:r>
            <a:endParaRPr lang="en-US" sz="1200" dirty="0"/>
          </a:p>
        </p:txBody>
      </p:sp>
      <p:sp>
        <p:nvSpPr>
          <p:cNvPr id="37"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Explicit hand-offs</a:t>
            </a:r>
            <a:endParaRPr lang="en-US" sz="2200" dirty="0"/>
          </a:p>
        </p:txBody>
      </p:sp>
      <p:sp>
        <p:nvSpPr>
          <p:cNvPr id="38"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Each step returns a structured status instead of relying on finish_reason. This is a multi-agent system.</a:t>
            </a:r>
            <a:endParaRPr lang="en-US" sz="1400" dirty="0"/>
          </a:p>
        </p:txBody>
      </p:sp>
      <p:pic>
        <p:nvPicPr>
          <p:cNvPr id="39" name="!!cki0" descr="/home/claude/multi-agent-deck/assets/icons/TbCircleCheck_1D9E75.png">    </p:cNvPr>
          <p:cNvPicPr>
            <a:picLocks noChangeAspect="1"/>
          </p:cNvPicPr>
          <p:nvPr/>
        </p:nvPicPr>
        <p:blipFill>
          <a:blip r:embed="rId8"/>
          <a:stretch>
            <a:fillRect/>
          </a:stretch>
        </p:blipFill>
        <p:spPr>
          <a:xfrm>
            <a:off x="8092440" y="3191256"/>
            <a:ext cx="256032" cy="256032"/>
          </a:xfrm>
          <a:prstGeom prst="rect">
            <a:avLst/>
          </a:prstGeom>
        </p:spPr>
      </p:pic>
      <p:sp>
        <p:nvSpPr>
          <p:cNvPr id="40"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41" name="!!cki1" descr="/home/claude/multi-agent-deck/assets/icons/TbCircleCheck_1D9E75.png">    </p:cNvPr>
          <p:cNvPicPr>
            <a:picLocks noChangeAspect="1"/>
          </p:cNvPicPr>
          <p:nvPr/>
        </p:nvPicPr>
        <p:blipFill>
          <a:blip r:embed="rId9"/>
          <a:stretch>
            <a:fillRect/>
          </a:stretch>
        </p:blipFill>
        <p:spPr>
          <a:xfrm>
            <a:off x="8092440" y="3648456"/>
            <a:ext cx="256032" cy="256032"/>
          </a:xfrm>
          <a:prstGeom prst="rect">
            <a:avLst/>
          </a:prstGeom>
        </p:spPr>
      </p:pic>
      <p:sp>
        <p:nvSpPr>
          <p:cNvPr id="42"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3" name="!!cki2" descr="/home/claude/multi-agent-deck/assets/icons/TbCircleCheck_1D9E75.png">    </p:cNvPr>
          <p:cNvPicPr>
            <a:picLocks noChangeAspect="1"/>
          </p:cNvPicPr>
          <p:nvPr/>
        </p:nvPicPr>
        <p:blipFill>
          <a:blip r:embed="rId10"/>
          <a:stretch>
            <a:fillRect/>
          </a:stretch>
        </p:blipFill>
        <p:spPr>
          <a:xfrm>
            <a:off x="8092440" y="4105656"/>
            <a:ext cx="256032" cy="256032"/>
          </a:xfrm>
          <a:prstGeom prst="rect">
            <a:avLst/>
          </a:prstGeom>
        </p:spPr>
      </p:pic>
      <p:sp>
        <p:nvSpPr>
          <p:cNvPr id="44"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5" name="!!cki3" descr="/home/claude/multi-agent-deck/assets/icons/TbCircleCheck_1D9E75.png">    </p:cNvPr>
          <p:cNvPicPr>
            <a:picLocks noChangeAspect="1"/>
          </p:cNvPicPr>
          <p:nvPr/>
        </p:nvPicPr>
        <p:blipFill>
          <a:blip r:embed="rId11"/>
          <a:stretch>
            <a:fillRect/>
          </a:stretch>
        </p:blipFill>
        <p:spPr>
          <a:xfrm>
            <a:off x="8092440" y="4562856"/>
            <a:ext cx="256032" cy="256032"/>
          </a:xfrm>
          <a:prstGeom prst="rect">
            <a:avLst/>
          </a:prstGeom>
        </p:spPr>
      </p:pic>
      <p:sp>
        <p:nvSpPr>
          <p:cNvPr id="46"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Maker-checker</a:t>
            </a:r>
            <a:endParaRPr lang="en-US" sz="1400" dirty="0"/>
          </a:p>
        </p:txBody>
      </p:sp>
      <p:pic>
        <p:nvPicPr>
          <p:cNvPr id="47" name="!!cki4" descr="/home/claude/multi-agent-deck/assets/icons/TbCircleCheck_1D9E75.png">    </p:cNvPr>
          <p:cNvPicPr>
            <a:picLocks noChangeAspect="1"/>
          </p:cNvPicPr>
          <p:nvPr/>
        </p:nvPicPr>
        <p:blipFill>
          <a:blip r:embed="rId12"/>
          <a:stretch>
            <a:fillRect/>
          </a:stretch>
        </p:blipFill>
        <p:spPr>
          <a:xfrm>
            <a:off x="8092440" y="5020056"/>
            <a:ext cx="256032" cy="256032"/>
          </a:xfrm>
          <a:prstGeom prst="rect">
            <a:avLst/>
          </a:prstGeom>
        </p:spPr>
      </p:pic>
      <p:sp>
        <p:nvSpPr>
          <p:cNvPr id="48"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Explicit hand-offs</a:t>
            </a:r>
            <a:endParaRPr lang="en-US" sz="1400" dirty="0"/>
          </a:p>
        </p:txBody>
      </p:sp>
      <p:sp>
        <p:nvSpPr>
          <p:cNvPr id="49" name="!!take5"/>
          <p:cNvSpPr txBox="1"/>
          <p:nvPr/>
        </p:nvSpPr>
        <p:spPr>
          <a:xfrm>
            <a:off x="548640" y="5897880"/>
            <a:ext cx="11064240" cy="50292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This isn't an AI problem. It's a system design problem we've already solved, just not for agents yet.</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594360"/>
          </a:xfrm>
          <a:prstGeom prst="rect">
            <a:avLst/>
          </a:prstGeom>
          <a:noFill/>
        </p:spPr>
        <p:txBody>
          <a:bodyPr wrap="square" lIns="0" rIns="0" tIns="0" bIns="0" anchor="t">
            <a:spAutoFit/>
          </a:bodyPr>
          <a:lstStyle/>
          <a:p>
            <a:r>
              <a:rPr sz="3000" b="1" i="0">
                <a:solidFill>
                  <a:srgbClr val="2C2C2A"/>
                </a:solidFill>
                <a:latin typeface="Calibri"/>
              </a:rPr>
              <a:t>Why Single Agents Fail · Happy Path</a:t>
            </a:r>
          </a:p>
        </p:txBody>
      </p:sp>
      <p:sp>
        <p:nvSpPr>
          <p:cNvPr id="3" name="Rounded Rectangle 2"/>
          <p:cNvSpPr/>
          <p:nvPr/>
        </p:nvSpPr>
        <p:spPr>
          <a:xfrm>
            <a:off x="1070551" y="950976"/>
            <a:ext cx="10050897" cy="4956048"/>
          </a:xfrm>
          <a:prstGeom prst="roundRect">
            <a:avLst>
              <a:gd name="adj" fmla="val 1000"/>
            </a:avLst>
          </a:prstGeom>
          <a:solidFill>
            <a:srgbClr val="FFFFFF"/>
          </a:solidFill>
          <a:ln w="9525">
            <a:solidFill>
              <a:srgbClr val="D3D1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2-why-single-agents-fail-happy-path.gif"/>
          <p:cNvPicPr>
            <a:picLocks noChangeAspect="1"/>
          </p:cNvPicPr>
          <p:nvPr/>
        </p:nvPicPr>
        <p:blipFill>
          <a:blip r:embed="rId2"/>
          <a:stretch>
            <a:fillRect/>
          </a:stretch>
        </p:blipFill>
        <p:spPr>
          <a:xfrm>
            <a:off x="1125415" y="1005840"/>
            <a:ext cx="9941169" cy="4846320"/>
          </a:xfrm>
          <a:prstGeom prst="rect">
            <a:avLst/>
          </a:prstGeom>
        </p:spPr>
      </p:pic>
      <p:sp>
        <p:nvSpPr>
          <p:cNvPr id="5" name="Rounded Rectangle 4"/>
          <p:cNvSpPr/>
          <p:nvPr/>
        </p:nvSpPr>
        <p:spPr>
          <a:xfrm>
            <a:off x="1125415" y="6035040"/>
            <a:ext cx="1737360" cy="310896"/>
          </a:xfrm>
          <a:prstGeom prst="roundRect">
            <a:avLst>
              <a:gd name="adj" fmla="val 50000"/>
            </a:avLst>
          </a:prstGeom>
          <a:solidFill>
            <a:srgbClr val="EEEDFE"/>
          </a:solidFill>
          <a:ln w="12700">
            <a:solidFill>
              <a:srgbClr val="534A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3C3489"/>
                </a:solidFill>
                <a:latin typeface="Calibri"/>
                <a:hlinkClick r:id="rId3"/>
              </a:rPr>
              <a:t>►  Play animation</a:t>
            </a:r>
          </a:p>
        </p:txBody>
      </p:sp>
      <p:sp>
        <p:nvSpPr>
          <p:cNvPr id="6" name="TextBox 5"/>
          <p:cNvSpPr txBox="1"/>
          <p:nvPr/>
        </p:nvSpPr>
        <p:spPr>
          <a:xfrm>
            <a:off x="3045655" y="6016752"/>
            <a:ext cx="8020929" cy="365760"/>
          </a:xfrm>
          <a:prstGeom prst="rect">
            <a:avLst/>
          </a:prstGeom>
          <a:noFill/>
        </p:spPr>
        <p:txBody>
          <a:bodyPr wrap="square" lIns="0" rIns="0" tIns="0" bIns="0" anchor="ctr">
            <a:spAutoFit/>
          </a:bodyPr>
          <a:lstStyle/>
          <a:p>
            <a:r>
              <a:rPr sz="1400" b="1" i="1">
                <a:solidFill>
                  <a:srgbClr val="2C2C2A"/>
                </a:solidFill>
                <a:latin typeface="Calibri"/>
              </a:rPr>
              <a:t>Same agent, same five tools: one ticket, fixed and signed off in 4 LLM calls.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594360"/>
          </a:xfrm>
          <a:prstGeom prst="rect">
            <a:avLst/>
          </a:prstGeom>
          <a:noFill/>
        </p:spPr>
        <p:txBody>
          <a:bodyPr wrap="square" lIns="0" rIns="0" tIns="0" bIns="0" anchor="t">
            <a:spAutoFit/>
          </a:bodyPr>
          <a:lstStyle/>
          <a:p>
            <a:r>
              <a:rPr sz="3000" b="1" i="0">
                <a:solidFill>
                  <a:srgbClr val="2C2C2A"/>
                </a:solidFill>
                <a:latin typeface="Calibri"/>
              </a:rPr>
              <a:t>Why Single Agents Fail · Chaotic Path</a:t>
            </a:r>
          </a:p>
        </p:txBody>
      </p:sp>
      <p:sp>
        <p:nvSpPr>
          <p:cNvPr id="3" name="Rounded Rectangle 2"/>
          <p:cNvSpPr/>
          <p:nvPr/>
        </p:nvSpPr>
        <p:spPr>
          <a:xfrm>
            <a:off x="1070551" y="950976"/>
            <a:ext cx="10050897" cy="4956048"/>
          </a:xfrm>
          <a:prstGeom prst="roundRect">
            <a:avLst>
              <a:gd name="adj" fmla="val 1000"/>
            </a:avLst>
          </a:prstGeom>
          <a:solidFill>
            <a:srgbClr val="FFFFFF"/>
          </a:solidFill>
          <a:ln w="9525">
            <a:solidFill>
              <a:srgbClr val="D3D1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2-why-single-agents-fail-chaotic-path.gif"/>
          <p:cNvPicPr>
            <a:picLocks noChangeAspect="1"/>
          </p:cNvPicPr>
          <p:nvPr/>
        </p:nvPicPr>
        <p:blipFill>
          <a:blip r:embed="rId2"/>
          <a:stretch>
            <a:fillRect/>
          </a:stretch>
        </p:blipFill>
        <p:spPr>
          <a:xfrm>
            <a:off x="1125415" y="1005840"/>
            <a:ext cx="9941169" cy="4846320"/>
          </a:xfrm>
          <a:prstGeom prst="rect">
            <a:avLst/>
          </a:prstGeom>
        </p:spPr>
      </p:pic>
      <p:sp>
        <p:nvSpPr>
          <p:cNvPr id="5" name="Rounded Rectangle 4"/>
          <p:cNvSpPr/>
          <p:nvPr/>
        </p:nvSpPr>
        <p:spPr>
          <a:xfrm>
            <a:off x="1125415" y="6035040"/>
            <a:ext cx="1737360" cy="310896"/>
          </a:xfrm>
          <a:prstGeom prst="roundRect">
            <a:avLst>
              <a:gd name="adj" fmla="val 50000"/>
            </a:avLst>
          </a:prstGeom>
          <a:solidFill>
            <a:srgbClr val="EEEDFE"/>
          </a:solidFill>
          <a:ln w="12700">
            <a:solidFill>
              <a:srgbClr val="534A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3C3489"/>
                </a:solidFill>
                <a:latin typeface="Calibri"/>
                <a:hlinkClick r:id="rId3"/>
              </a:rPr>
              <a:t>►  Play animation</a:t>
            </a:r>
          </a:p>
        </p:txBody>
      </p:sp>
      <p:sp>
        <p:nvSpPr>
          <p:cNvPr id="6" name="TextBox 5"/>
          <p:cNvSpPr txBox="1"/>
          <p:nvPr/>
        </p:nvSpPr>
        <p:spPr>
          <a:xfrm>
            <a:off x="3045655" y="6016752"/>
            <a:ext cx="8020929" cy="365760"/>
          </a:xfrm>
          <a:prstGeom prst="rect">
            <a:avLst/>
          </a:prstGeom>
          <a:noFill/>
        </p:spPr>
        <p:txBody>
          <a:bodyPr wrap="square" lIns="0" rIns="0" tIns="0" bIns="0" anchor="ctr">
            <a:spAutoFit/>
          </a:bodyPr>
          <a:lstStyle/>
          <a:p>
            <a:r>
              <a:rPr sz="1400" b="1" i="1">
                <a:solidFill>
                  <a:srgbClr val="2C2C2A"/>
                </a:solidFill>
                <a:latin typeface="Calibri"/>
              </a:rPr>
              <a:t>A single agent is a monolith: it works for one task and fails like a monolith when you scale the work.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594360"/>
          </a:xfrm>
          <a:prstGeom prst="rect">
            <a:avLst/>
          </a:prstGeom>
          <a:noFill/>
        </p:spPr>
        <p:txBody>
          <a:bodyPr wrap="square" lIns="0" rIns="0" tIns="0" bIns="0" anchor="t">
            <a:spAutoFit/>
          </a:bodyPr>
          <a:lstStyle/>
          <a:p>
            <a:r>
              <a:rPr sz="3000" b="1" i="0">
                <a:solidFill>
                  <a:srgbClr val="2C2C2A"/>
                </a:solidFill>
                <a:latin typeface="Calibri"/>
              </a:rPr>
              <a:t>The Core Idea of Multi-Agent Systems</a:t>
            </a:r>
          </a:p>
        </p:txBody>
      </p:sp>
      <p:sp>
        <p:nvSpPr>
          <p:cNvPr id="3" name="Rounded Rectangle 2"/>
          <p:cNvSpPr/>
          <p:nvPr/>
        </p:nvSpPr>
        <p:spPr>
          <a:xfrm>
            <a:off x="1070551" y="950976"/>
            <a:ext cx="10050897" cy="4956048"/>
          </a:xfrm>
          <a:prstGeom prst="roundRect">
            <a:avLst>
              <a:gd name="adj" fmla="val 1000"/>
            </a:avLst>
          </a:prstGeom>
          <a:solidFill>
            <a:srgbClr val="FFFFFF"/>
          </a:solidFill>
          <a:ln w="9525">
            <a:solidFill>
              <a:srgbClr val="D3D1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6-core-idea.gif"/>
          <p:cNvPicPr>
            <a:picLocks noChangeAspect="1"/>
          </p:cNvPicPr>
          <p:nvPr/>
        </p:nvPicPr>
        <p:blipFill>
          <a:blip r:embed="rId2"/>
          <a:stretch>
            <a:fillRect/>
          </a:stretch>
        </p:blipFill>
        <p:spPr>
          <a:xfrm>
            <a:off x="1125415" y="1005840"/>
            <a:ext cx="9941169" cy="4846320"/>
          </a:xfrm>
          <a:prstGeom prst="rect">
            <a:avLst/>
          </a:prstGeom>
        </p:spPr>
      </p:pic>
      <p:sp>
        <p:nvSpPr>
          <p:cNvPr id="5" name="Rounded Rectangle 4"/>
          <p:cNvSpPr/>
          <p:nvPr/>
        </p:nvSpPr>
        <p:spPr>
          <a:xfrm>
            <a:off x="1125415" y="6035040"/>
            <a:ext cx="1737360" cy="310896"/>
          </a:xfrm>
          <a:prstGeom prst="roundRect">
            <a:avLst>
              <a:gd name="adj" fmla="val 50000"/>
            </a:avLst>
          </a:prstGeom>
          <a:solidFill>
            <a:srgbClr val="EEEDFE"/>
          </a:solidFill>
          <a:ln w="12700">
            <a:solidFill>
              <a:srgbClr val="534A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3C3489"/>
                </a:solidFill>
                <a:latin typeface="Calibri"/>
                <a:hlinkClick r:id="rId3"/>
              </a:rPr>
              <a:t>►  Play animation</a:t>
            </a:r>
          </a:p>
        </p:txBody>
      </p:sp>
      <p:sp>
        <p:nvSpPr>
          <p:cNvPr id="6" name="TextBox 5"/>
          <p:cNvSpPr txBox="1"/>
          <p:nvPr/>
        </p:nvSpPr>
        <p:spPr>
          <a:xfrm>
            <a:off x="3045655" y="6016752"/>
            <a:ext cx="8020929" cy="365760"/>
          </a:xfrm>
          <a:prstGeom prst="rect">
            <a:avLst/>
          </a:prstGeom>
          <a:noFill/>
        </p:spPr>
        <p:txBody>
          <a:bodyPr wrap="square" lIns="0" rIns="0" tIns="0" bIns="0" anchor="ctr">
            <a:spAutoFit/>
          </a:bodyPr>
          <a:lstStyle/>
          <a:p>
            <a:r>
              <a:rPr sz="1400" b="1" i="1">
                <a:solidFill>
                  <a:srgbClr val="2C2C2A"/>
                </a:solidFill>
                <a:latin typeface="Calibri"/>
              </a:rPr>
              <a:t>A multi-agent system is a well-run team: one job each, clear hand-offs, a shared goal, and someone who signs 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Systems &amp; Subgraph Architecture</dc:title>
  <dc:subject>PptxGenJS Presentation</dc:subject>
  <dc:creator>Amitkumar</dc:creator>
  <cp:lastModifiedBy>Amitkumar</cp:lastModifiedBy>
  <cp:revision>1</cp:revision>
  <dcterms:created xsi:type="dcterms:W3CDTF">2026-10-23T05:02:10Z</dcterms:created>
  <dcterms:modified xsi:type="dcterms:W3CDTF">2026-10-23T05:02:10Z</dcterms:modified>
</cp:coreProperties>
</file>